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3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slides/charts/chart4.xml" ContentType="application/vnd.openxmlformats-officedocument.drawingml.chart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slides/charts/chart5.xml" ContentType="application/vnd.openxmlformats-officedocument.drawingml.chart+xml"/>
  <Override PartName="/ppt/slides/charts/chart6.xml" ContentType="application/vnd.openxmlformats-officedocument.drawingml.chart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slides/charts/chart7.xml" ContentType="application/vnd.openxmlformats-officedocument.drawingml.chart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slides/charts/chart8.xml" ContentType="application/vnd.openxmlformats-officedocument.drawingml.chart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slides/charts/chart9.xml" ContentType="application/vnd.openxmlformats-officedocument.drawingml.chart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456bc4aa9df443a" /><Relationship Type="http://schemas.openxmlformats.org/officeDocument/2006/relationships/extended-properties" Target="/docProps/app.xml" Id="R28fb30cfebb34f59" /><Relationship Type="http://schemas.openxmlformats.org/officeDocument/2006/relationships/officeDocument" Target="/ppt/presentation.xml" Id="Rc75db3683bf442e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2f5d5121dab42d7"/>
  </p:sldMasterIdLst>
  <p:notesMasterIdLst>
    <p:notesMasterId xmlns:r="http://schemas.openxmlformats.org/officeDocument/2006/relationships" r:id="Rbf833a57e15b4250"/>
  </p:notesMasterIdLst>
  <p:sldIdLst>
    <p:sldId xmlns:r="http://schemas.openxmlformats.org/officeDocument/2006/relationships" id="256" r:id="R966dee9a3dc248a4"/>
    <p:sldId xmlns:r="http://schemas.openxmlformats.org/officeDocument/2006/relationships" id="257" r:id="R5cc82e10c22044e6"/>
    <p:sldId xmlns:r="http://schemas.openxmlformats.org/officeDocument/2006/relationships" id="258" r:id="R7cbf6e185a654408"/>
    <p:sldId xmlns:r="http://schemas.openxmlformats.org/officeDocument/2006/relationships" id="259" r:id="R724f66aed6814414"/>
    <p:sldId xmlns:r="http://schemas.openxmlformats.org/officeDocument/2006/relationships" id="260" r:id="R9d6929a8d4e1458a"/>
    <p:sldId xmlns:r="http://schemas.openxmlformats.org/officeDocument/2006/relationships" id="261" r:id="R11a53a32f7594357"/>
    <p:sldId xmlns:r="http://schemas.openxmlformats.org/officeDocument/2006/relationships" id="262" r:id="Raddd95c9f62e47c4"/>
    <p:sldId xmlns:r="http://schemas.openxmlformats.org/officeDocument/2006/relationships" id="263" r:id="R45061789f25d4da2"/>
    <p:sldId xmlns:r="http://schemas.openxmlformats.org/officeDocument/2006/relationships" id="264" r:id="R89b3c8e45adc4bc2"/>
    <p:sldId xmlns:r="http://schemas.openxmlformats.org/officeDocument/2006/relationships" id="265" r:id="Ra7c6f18d146046eb"/>
    <p:sldId xmlns:r="http://schemas.openxmlformats.org/officeDocument/2006/relationships" id="266" r:id="R24e0af2ba8cb4488"/>
    <p:sldId xmlns:r="http://schemas.openxmlformats.org/officeDocument/2006/relationships" id="267" r:id="Rd84d3f5dc2174208"/>
    <p:sldId xmlns:r="http://schemas.openxmlformats.org/officeDocument/2006/relationships" id="268" r:id="Re01b86fa244844e9"/>
    <p:sldId xmlns:r="http://schemas.openxmlformats.org/officeDocument/2006/relationships" id="269" r:id="Raf9d40e7a6304a77"/>
    <p:sldId xmlns:r="http://schemas.openxmlformats.org/officeDocument/2006/relationships" id="270" r:id="R3e587b278a7d487c"/>
    <p:sldId xmlns:r="http://schemas.openxmlformats.org/officeDocument/2006/relationships" id="271" r:id="R41b86806648840c3"/>
    <p:sldId xmlns:r="http://schemas.openxmlformats.org/officeDocument/2006/relationships" id="272" r:id="R2e6ff228921a431b"/>
    <p:sldId xmlns:r="http://schemas.openxmlformats.org/officeDocument/2006/relationships" id="273" r:id="R9ea66799abd74d9f"/>
    <p:sldId xmlns:r="http://schemas.openxmlformats.org/officeDocument/2006/relationships" id="274" r:id="R105a3bfec1c1496a"/>
    <p:sldId xmlns:r="http://schemas.openxmlformats.org/officeDocument/2006/relationships" id="275" r:id="Ra5dd9ea72a0a44d6"/>
    <p:sldId xmlns:r="http://schemas.openxmlformats.org/officeDocument/2006/relationships" id="276" r:id="R4e7935a8f51c4aaf"/>
    <p:sldId xmlns:r="http://schemas.openxmlformats.org/officeDocument/2006/relationships" id="277" r:id="Rbf4b9a7230854b56"/>
    <p:sldId xmlns:r="http://schemas.openxmlformats.org/officeDocument/2006/relationships" id="278" r:id="R1ac97fbd29f9490b"/>
    <p:sldId xmlns:r="http://schemas.openxmlformats.org/officeDocument/2006/relationships" id="279" r:id="Ra38c6e70c1c14a43"/>
    <p:sldId xmlns:r="http://schemas.openxmlformats.org/officeDocument/2006/relationships" id="280" r:id="Rf5dccbc059924492"/>
    <p:sldId xmlns:r="http://schemas.openxmlformats.org/officeDocument/2006/relationships" id="281" r:id="R56052135f50040d8"/>
    <p:sldId xmlns:r="http://schemas.openxmlformats.org/officeDocument/2006/relationships" id="282" r:id="R3573707927c64f01"/>
    <p:sldId xmlns:r="http://schemas.openxmlformats.org/officeDocument/2006/relationships" id="283" r:id="R819fa02d890d48a4"/>
    <p:sldId xmlns:r="http://schemas.openxmlformats.org/officeDocument/2006/relationships" id="284" r:id="R90b8652ba31f4957"/>
    <p:sldId xmlns:r="http://schemas.openxmlformats.org/officeDocument/2006/relationships" id="285" r:id="Ra3bc9dbda3794188"/>
    <p:sldId xmlns:r="http://schemas.openxmlformats.org/officeDocument/2006/relationships" id="286" r:id="R0817fe58abec40dd"/>
    <p:sldId xmlns:r="http://schemas.openxmlformats.org/officeDocument/2006/relationships" id="287" r:id="Rbf23e6afbd894f6a"/>
    <p:sldId xmlns:r="http://schemas.openxmlformats.org/officeDocument/2006/relationships" id="288" r:id="R1b32e93c2dc14087"/>
    <p:sldId xmlns:r="http://schemas.openxmlformats.org/officeDocument/2006/relationships" id="289" r:id="Rfd8d8236dd7c4eeb"/>
    <p:sldId xmlns:r="http://schemas.openxmlformats.org/officeDocument/2006/relationships" id="290" r:id="Rf0f2ff4dec9348e6"/>
    <p:sldId xmlns:r="http://schemas.openxmlformats.org/officeDocument/2006/relationships" id="291" r:id="Rbda4c331c6994cf1"/>
    <p:sldId xmlns:r="http://schemas.openxmlformats.org/officeDocument/2006/relationships" id="292" r:id="R588e71e60e334f9e"/>
    <p:sldId xmlns:r="http://schemas.openxmlformats.org/officeDocument/2006/relationships" id="293" r:id="R60eb5fe62c484ad1"/>
    <p:sldId xmlns:r="http://schemas.openxmlformats.org/officeDocument/2006/relationships" id="294" r:id="R42b666cf637c4f6b"/>
    <p:sldId xmlns:r="http://schemas.openxmlformats.org/officeDocument/2006/relationships" id="295" r:id="R5974630b13fe4437"/>
    <p:sldId xmlns:r="http://schemas.openxmlformats.org/officeDocument/2006/relationships" id="296" r:id="Rd22ef8dc4d494035"/>
    <p:sldId xmlns:r="http://schemas.openxmlformats.org/officeDocument/2006/relationships" id="297" r:id="Re6029863898744e3"/>
    <p:sldId xmlns:r="http://schemas.openxmlformats.org/officeDocument/2006/relationships" id="298" r:id="R5657082fa4024d5e"/>
    <p:sldId xmlns:r="http://schemas.openxmlformats.org/officeDocument/2006/relationships" id="299" r:id="Rfe5477a5aeb14977"/>
    <p:sldId xmlns:r="http://schemas.openxmlformats.org/officeDocument/2006/relationships" id="300" r:id="R20a6bc77ee2f47ad"/>
    <p:sldId xmlns:r="http://schemas.openxmlformats.org/officeDocument/2006/relationships" id="301" r:id="R200573f882db45a3"/>
    <p:sldId xmlns:r="http://schemas.openxmlformats.org/officeDocument/2006/relationships" id="302" r:id="Rce60a58f64c445ae"/>
  </p:sldIdLst>
  <p:sldSz cx="12192000" cy="6858000"/>
  <p:notesSz cx="6858000" cy="9144000"/>
  <p:defaultTextStyle>
    <a:defPPr xmlns:a="http://schemas.openxmlformats.org/drawingml/2006/main">
      <a:buNone/>
    </a:defPPr>
    <a:lvl1pPr xmlns:a="http://schemas.openxmlformats.org/drawingml/2006/main"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302ee75adef4f61" /><Relationship Type="http://schemas.openxmlformats.org/officeDocument/2006/relationships/slideMaster" Target="/ppt/slideMasters/slideMaster1.xml" Id="R62f5d5121dab42d7" /><Relationship Type="http://schemas.openxmlformats.org/officeDocument/2006/relationships/notesMaster" Target="/ppt/notesMasters/notesMaster1.xml" Id="Rbf833a57e15b4250" /><Relationship Type="http://schemas.openxmlformats.org/officeDocument/2006/relationships/presProps" Target="/ppt/presProps.xml" Id="R841050683b2e478d" /><Relationship Type="http://schemas.openxmlformats.org/officeDocument/2006/relationships/viewProps" Target="/ppt/viewProps.xml" Id="Rdad655e6fb7e4299" /><Relationship Type="http://schemas.openxmlformats.org/officeDocument/2006/relationships/tableStyles" Target="/ppt/tableStyles.xml" Id="R4873248506cf480e" /><Relationship Type="http://schemas.openxmlformats.org/officeDocument/2006/relationships/slide" Target="/ppt/slides/slide1.xml" Id="R966dee9a3dc248a4" /><Relationship Type="http://schemas.openxmlformats.org/officeDocument/2006/relationships/slide" Target="/ppt/slides/slide2.xml" Id="R5cc82e10c22044e6" /><Relationship Type="http://schemas.openxmlformats.org/officeDocument/2006/relationships/slide" Target="/ppt/slides/slide3.xml" Id="R7cbf6e185a654408" /><Relationship Type="http://schemas.openxmlformats.org/officeDocument/2006/relationships/slide" Target="/ppt/slides/slide4.xml" Id="R724f66aed6814414" /><Relationship Type="http://schemas.openxmlformats.org/officeDocument/2006/relationships/slide" Target="/ppt/slides/slide5.xml" Id="R9d6929a8d4e1458a" /><Relationship Type="http://schemas.openxmlformats.org/officeDocument/2006/relationships/slide" Target="/ppt/slides/slide6.xml" Id="R11a53a32f7594357" /><Relationship Type="http://schemas.openxmlformats.org/officeDocument/2006/relationships/slide" Target="/ppt/slides/slide7.xml" Id="Raddd95c9f62e47c4" /><Relationship Type="http://schemas.openxmlformats.org/officeDocument/2006/relationships/slide" Target="/ppt/slides/slide8.xml" Id="R45061789f25d4da2" /><Relationship Type="http://schemas.openxmlformats.org/officeDocument/2006/relationships/slide" Target="/ppt/slides/slide9.xml" Id="R89b3c8e45adc4bc2" /><Relationship Type="http://schemas.openxmlformats.org/officeDocument/2006/relationships/slide" Target="/ppt/slides/slide10.xml" Id="Ra7c6f18d146046eb" /><Relationship Type="http://schemas.openxmlformats.org/officeDocument/2006/relationships/slide" Target="/ppt/slides/slide11.xml" Id="R24e0af2ba8cb4488" /><Relationship Type="http://schemas.openxmlformats.org/officeDocument/2006/relationships/slide" Target="/ppt/slides/slide12.xml" Id="Rd84d3f5dc2174208" /><Relationship Type="http://schemas.openxmlformats.org/officeDocument/2006/relationships/slide" Target="/ppt/slides/slide13.xml" Id="Re01b86fa244844e9" /><Relationship Type="http://schemas.openxmlformats.org/officeDocument/2006/relationships/slide" Target="/ppt/slides/slide14.xml" Id="Raf9d40e7a6304a77" /><Relationship Type="http://schemas.openxmlformats.org/officeDocument/2006/relationships/slide" Target="/ppt/slides/slide15.xml" Id="R3e587b278a7d487c" /><Relationship Type="http://schemas.openxmlformats.org/officeDocument/2006/relationships/slide" Target="/ppt/slides/slide16.xml" Id="R41b86806648840c3" /><Relationship Type="http://schemas.openxmlformats.org/officeDocument/2006/relationships/slide" Target="/ppt/slides/slide17.xml" Id="R2e6ff228921a431b" /><Relationship Type="http://schemas.openxmlformats.org/officeDocument/2006/relationships/slide" Target="/ppt/slides/slide18.xml" Id="R9ea66799abd74d9f" /><Relationship Type="http://schemas.openxmlformats.org/officeDocument/2006/relationships/slide" Target="/ppt/slides/slide19.xml" Id="R105a3bfec1c1496a" /><Relationship Type="http://schemas.openxmlformats.org/officeDocument/2006/relationships/slide" Target="/ppt/slides/slide20.xml" Id="Ra5dd9ea72a0a44d6" /><Relationship Type="http://schemas.openxmlformats.org/officeDocument/2006/relationships/slide" Target="/ppt/slides/slide21.xml" Id="R4e7935a8f51c4aaf" /><Relationship Type="http://schemas.openxmlformats.org/officeDocument/2006/relationships/slide" Target="/ppt/slides/slide22.xml" Id="Rbf4b9a7230854b56" /><Relationship Type="http://schemas.openxmlformats.org/officeDocument/2006/relationships/slide" Target="/ppt/slides/slide23.xml" Id="R1ac97fbd29f9490b" /><Relationship Type="http://schemas.openxmlformats.org/officeDocument/2006/relationships/slide" Target="/ppt/slides/slide24.xml" Id="Ra38c6e70c1c14a43" /><Relationship Type="http://schemas.openxmlformats.org/officeDocument/2006/relationships/slide" Target="/ppt/slides/slide25.xml" Id="Rf5dccbc059924492" /><Relationship Type="http://schemas.openxmlformats.org/officeDocument/2006/relationships/slide" Target="/ppt/slides/slide26.xml" Id="R56052135f50040d8" /><Relationship Type="http://schemas.openxmlformats.org/officeDocument/2006/relationships/slide" Target="/ppt/slides/slide27.xml" Id="R3573707927c64f01" /><Relationship Type="http://schemas.openxmlformats.org/officeDocument/2006/relationships/slide" Target="/ppt/slides/slide28.xml" Id="R819fa02d890d48a4" /><Relationship Type="http://schemas.openxmlformats.org/officeDocument/2006/relationships/slide" Target="/ppt/slides/slide29.xml" Id="R90b8652ba31f4957" /><Relationship Type="http://schemas.openxmlformats.org/officeDocument/2006/relationships/slide" Target="/ppt/slides/slide30.xml" Id="Ra3bc9dbda3794188" /><Relationship Type="http://schemas.openxmlformats.org/officeDocument/2006/relationships/slide" Target="/ppt/slides/slide31.xml" Id="R0817fe58abec40dd" /><Relationship Type="http://schemas.openxmlformats.org/officeDocument/2006/relationships/slide" Target="/ppt/slides/slide32.xml" Id="Rbf23e6afbd894f6a" /><Relationship Type="http://schemas.openxmlformats.org/officeDocument/2006/relationships/slide" Target="/ppt/slides/slide33.xml" Id="R1b32e93c2dc14087" /><Relationship Type="http://schemas.openxmlformats.org/officeDocument/2006/relationships/slide" Target="/ppt/slides/slide34.xml" Id="Rfd8d8236dd7c4eeb" /><Relationship Type="http://schemas.openxmlformats.org/officeDocument/2006/relationships/slide" Target="/ppt/slides/slide35.xml" Id="Rf0f2ff4dec9348e6" /><Relationship Type="http://schemas.openxmlformats.org/officeDocument/2006/relationships/slide" Target="/ppt/slides/slide36.xml" Id="Rbda4c331c6994cf1" /><Relationship Type="http://schemas.openxmlformats.org/officeDocument/2006/relationships/slide" Target="/ppt/slides/slide37.xml" Id="R588e71e60e334f9e" /><Relationship Type="http://schemas.openxmlformats.org/officeDocument/2006/relationships/slide" Target="/ppt/slides/slide38.xml" Id="R60eb5fe62c484ad1" /><Relationship Type="http://schemas.openxmlformats.org/officeDocument/2006/relationships/slide" Target="/ppt/slides/slide39.xml" Id="R42b666cf637c4f6b" /><Relationship Type="http://schemas.openxmlformats.org/officeDocument/2006/relationships/slide" Target="/ppt/slides/slide40.xml" Id="R5974630b13fe4437" /><Relationship Type="http://schemas.openxmlformats.org/officeDocument/2006/relationships/slide" Target="/ppt/slides/slide41.xml" Id="Rd22ef8dc4d494035" /><Relationship Type="http://schemas.openxmlformats.org/officeDocument/2006/relationships/slide" Target="/ppt/slides/slide42.xml" Id="Re6029863898744e3" /><Relationship Type="http://schemas.openxmlformats.org/officeDocument/2006/relationships/slide" Target="/ppt/slides/slide43.xml" Id="R5657082fa4024d5e" /><Relationship Type="http://schemas.openxmlformats.org/officeDocument/2006/relationships/slide" Target="/ppt/slides/slide44.xml" Id="Rfe5477a5aeb14977" /><Relationship Type="http://schemas.openxmlformats.org/officeDocument/2006/relationships/slide" Target="/ppt/slides/slide45.xml" Id="R20a6bc77ee2f47ad" /><Relationship Type="http://schemas.openxmlformats.org/officeDocument/2006/relationships/slide" Target="/ppt/slides/slide46.xml" Id="R200573f882db45a3" /><Relationship Type="http://schemas.openxmlformats.org/officeDocument/2006/relationships/slide" Target="/ppt/slides/slide47.xml" Id="Rce60a58f64c445a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9e4fc63ca594a9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756e58179da4c7f" /><Relationship Type="http://schemas.openxmlformats.org/officeDocument/2006/relationships/notesMaster" Target="/ppt/notesMasters/notesMaster1.xml" Id="R8742c7ead4924eb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a4d80d44f534d89" /><Relationship Type="http://schemas.openxmlformats.org/officeDocument/2006/relationships/notesMaster" Target="/ppt/notesMasters/notesMaster1.xml" Id="R739c4ea29d9c4a8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bfbcc8954d445c9" /><Relationship Type="http://schemas.openxmlformats.org/officeDocument/2006/relationships/notesMaster" Target="/ppt/notesMasters/notesMaster1.xml" Id="R8a7361ddf5864af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0e96aa8852847f9" /><Relationship Type="http://schemas.openxmlformats.org/officeDocument/2006/relationships/notesMaster" Target="/ppt/notesMasters/notesMaster1.xml" Id="R4257534e5dad486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182a16aba774c24" /><Relationship Type="http://schemas.openxmlformats.org/officeDocument/2006/relationships/notesMaster" Target="/ppt/notesMasters/notesMaster1.xml" Id="R6543fb90aab84f3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b6b3c4c01474318" /><Relationship Type="http://schemas.openxmlformats.org/officeDocument/2006/relationships/notesMaster" Target="/ppt/notesMasters/notesMaster1.xml" Id="R7d1383880f8249c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2ed97e155b64845" /><Relationship Type="http://schemas.openxmlformats.org/officeDocument/2006/relationships/notesMaster" Target="/ppt/notesMasters/notesMaster1.xml" Id="R241d5d62bdc74bb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7213af62c1d44f4" /><Relationship Type="http://schemas.openxmlformats.org/officeDocument/2006/relationships/notesMaster" Target="/ppt/notesMasters/notesMaster1.xml" Id="Ra42033aa8812407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113a0d0cb434ff8" /><Relationship Type="http://schemas.openxmlformats.org/officeDocument/2006/relationships/notesMaster" Target="/ppt/notesMasters/notesMaster1.xml" Id="Rca18fdbe522243f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5428565d80143cb" /><Relationship Type="http://schemas.openxmlformats.org/officeDocument/2006/relationships/notesMaster" Target="/ppt/notesMasters/notesMaster1.xml" Id="R4ef0c48f186e43f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d0abf917e074278" /><Relationship Type="http://schemas.openxmlformats.org/officeDocument/2006/relationships/notesMaster" Target="/ppt/notesMasters/notesMaster1.xml" Id="Rcb82e2917a2a4d6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98204b8df2c4c82" /><Relationship Type="http://schemas.openxmlformats.org/officeDocument/2006/relationships/notesMaster" Target="/ppt/notesMasters/notesMaster1.xml" Id="Rb9921bfcf1ba4f0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eaa029283f74d94" /><Relationship Type="http://schemas.openxmlformats.org/officeDocument/2006/relationships/notesMaster" Target="/ppt/notesMasters/notesMaster1.xml" Id="R3d63be56075441ae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95bb23670fd4f21" /><Relationship Type="http://schemas.openxmlformats.org/officeDocument/2006/relationships/notesMaster" Target="/ppt/notesMasters/notesMaster1.xml" Id="Rcc8a875bc7184514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1025370a53914756" /><Relationship Type="http://schemas.openxmlformats.org/officeDocument/2006/relationships/notesMaster" Target="/ppt/notesMasters/notesMaster1.xml" Id="R91496a2480e147ef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000b7803bed54b5e" /><Relationship Type="http://schemas.openxmlformats.org/officeDocument/2006/relationships/notesMaster" Target="/ppt/notesMasters/notesMaster1.xml" Id="Rebf5959ae0da4804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6a27587fbd62437e" /><Relationship Type="http://schemas.openxmlformats.org/officeDocument/2006/relationships/notesMaster" Target="/ppt/notesMasters/notesMaster1.xml" Id="Rcec91eb8917f481f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1ad9bd99cff74bdb" /><Relationship Type="http://schemas.openxmlformats.org/officeDocument/2006/relationships/notesMaster" Target="/ppt/notesMasters/notesMaster1.xml" Id="R39a7ddb13d934086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65dcc7695bfc4185" /><Relationship Type="http://schemas.openxmlformats.org/officeDocument/2006/relationships/notesMaster" Target="/ppt/notesMasters/notesMaster1.xml" Id="Rf820ed1596014a69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9ff1e7a2f95a44ee" /><Relationship Type="http://schemas.openxmlformats.org/officeDocument/2006/relationships/notesMaster" Target="/ppt/notesMasters/notesMaster1.xml" Id="R9cb80a5f739047cf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0fa337cc005d4482" /><Relationship Type="http://schemas.openxmlformats.org/officeDocument/2006/relationships/notesMaster" Target="/ppt/notesMasters/notesMaster1.xml" Id="Rcf851e54908d4dc0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b35d2bc2e0034e21" /><Relationship Type="http://schemas.openxmlformats.org/officeDocument/2006/relationships/notesMaster" Target="/ppt/notesMasters/notesMaster1.xml" Id="Rda0a26246e1d409e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34032baca6ec4f64" /><Relationship Type="http://schemas.openxmlformats.org/officeDocument/2006/relationships/notesMaster" Target="/ppt/notesMasters/notesMaster1.xml" Id="R57b240e79c4e4b56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3087c774b4be48c6" /><Relationship Type="http://schemas.openxmlformats.org/officeDocument/2006/relationships/notesMaster" Target="/ppt/notesMasters/notesMaster1.xml" Id="R2353b0a6ab7b4632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77708b8cc2bd4b78" /><Relationship Type="http://schemas.openxmlformats.org/officeDocument/2006/relationships/notesMaster" Target="/ppt/notesMasters/notesMaster1.xml" Id="Rdd03a657decd4af2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bfa94402f1b849de" /><Relationship Type="http://schemas.openxmlformats.org/officeDocument/2006/relationships/notesMaster" Target="/ppt/notesMasters/notesMaster1.xml" Id="R8bb08707fe8f438c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57ae8db0aca34f72" /><Relationship Type="http://schemas.openxmlformats.org/officeDocument/2006/relationships/notesMaster" Target="/ppt/notesMasters/notesMaster1.xml" Id="R0ab60cfc39434774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f822b0069f5d4bbe" /><Relationship Type="http://schemas.openxmlformats.org/officeDocument/2006/relationships/notesMaster" Target="/ppt/notesMasters/notesMaster1.xml" Id="Rf6b20fba0f754428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22eb6a4c41294938" /><Relationship Type="http://schemas.openxmlformats.org/officeDocument/2006/relationships/notesMaster" Target="/ppt/notesMasters/notesMaster1.xml" Id="R0d44c273cc0f4a71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b1710105caf543cf" /><Relationship Type="http://schemas.openxmlformats.org/officeDocument/2006/relationships/notesMaster" Target="/ppt/notesMasters/notesMaster1.xml" Id="Rd018fbca56a94011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f8e80117d8ee4be6" /><Relationship Type="http://schemas.openxmlformats.org/officeDocument/2006/relationships/notesMaster" Target="/ppt/notesMasters/notesMaster1.xml" Id="Rc75da687d71142e8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02feb8feac5e424c" /><Relationship Type="http://schemas.openxmlformats.org/officeDocument/2006/relationships/notesMaster" Target="/ppt/notesMasters/notesMaster1.xml" Id="R20b3103ef2c844f1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31a3a6baa3194f95" /><Relationship Type="http://schemas.openxmlformats.org/officeDocument/2006/relationships/notesMaster" Target="/ppt/notesMasters/notesMaster1.xml" Id="R91569d5317e94595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780cdffda94246a4" /><Relationship Type="http://schemas.openxmlformats.org/officeDocument/2006/relationships/notesMaster" Target="/ppt/notesMasters/notesMaster1.xml" Id="R9f66ddcc0d0b4b9c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3103743695444e4a" /><Relationship Type="http://schemas.openxmlformats.org/officeDocument/2006/relationships/notesMaster" Target="/ppt/notesMasters/notesMaster1.xml" Id="Rf48e0b981fdb4bc8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c2213143ebbe406a" /><Relationship Type="http://schemas.openxmlformats.org/officeDocument/2006/relationships/notesMaster" Target="/ppt/notesMasters/notesMaster1.xml" Id="Rd8f27fad2e7f4455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7ba1e3f6a29e450a" /><Relationship Type="http://schemas.openxmlformats.org/officeDocument/2006/relationships/notesMaster" Target="/ppt/notesMasters/notesMaster1.xml" Id="R3b78624fe06a4523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7daf0152b3f44f4c" /><Relationship Type="http://schemas.openxmlformats.org/officeDocument/2006/relationships/notesMaster" Target="/ppt/notesMasters/notesMaster1.xml" Id="Rd7f16c0fbcf4478e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92001ce5360944b7" /><Relationship Type="http://schemas.openxmlformats.org/officeDocument/2006/relationships/notesMaster" Target="/ppt/notesMasters/notesMaster1.xml" Id="Re94f9bf199f24be3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25d795092df34046" /><Relationship Type="http://schemas.openxmlformats.org/officeDocument/2006/relationships/notesMaster" Target="/ppt/notesMasters/notesMaster1.xml" Id="Rdeb45ed5cb89485b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d99c7d919c3c4138" /><Relationship Type="http://schemas.openxmlformats.org/officeDocument/2006/relationships/notesMaster" Target="/ppt/notesMasters/notesMaster1.xml" Id="R28579f0889ca41ec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6f2735f9d40c46ab" /><Relationship Type="http://schemas.openxmlformats.org/officeDocument/2006/relationships/notesMaster" Target="/ppt/notesMasters/notesMaster1.xml" Id="R5cac66daa7a84189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9b554725d19b4376" /><Relationship Type="http://schemas.openxmlformats.org/officeDocument/2006/relationships/notesMaster" Target="/ppt/notesMasters/notesMaster1.xml" Id="Rbc6283e90b0c4421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891250b7bfe44e38" /><Relationship Type="http://schemas.openxmlformats.org/officeDocument/2006/relationships/notesMaster" Target="/ppt/notesMasters/notesMaster1.xml" Id="Ra6345e9467d14d26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5dd69f2bfafe4c93" /><Relationship Type="http://schemas.openxmlformats.org/officeDocument/2006/relationships/notesMaster" Target="/ppt/notesMasters/notesMaster1.xml" Id="Rdee55863c3f04212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697899ad2cbd4ffa" /><Relationship Type="http://schemas.openxmlformats.org/officeDocument/2006/relationships/notesMaster" Target="/ppt/notesMasters/notesMaster1.xml" Id="R2c26fc62376947d9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e03e7a8816484da8" /><Relationship Type="http://schemas.openxmlformats.org/officeDocument/2006/relationships/notesMaster" Target="/ppt/notesMasters/notesMaster1.xml" Id="R54c678a70211466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Aula sugerida de 120 minutos, para participantes que já conhecem MLP, perda e atualização por gradiente. Roteiro: sequências e RNN (25 min), treinamento e gradientes (25 min), LSTM (40 min), aplicação e atividades (30 min). Os gráficos numéricos desta aula usam exemplos sintéticos. As ilustrações de humor funcionam como metáforas. Os slides de perguntas têm respostas nas notas.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Apresentar a sequência sem detalhar as fórmulas ainda. A pergunta que organiza a aula é: como usar o histórico e conseguir aprender quais eventos passados importam? Os tempos estão nas notas da capa. Uma versão de 90 minutos pode abreviar os slides 12, 13, 18, 31 e 42.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Pré-requisitos: vetor, matriz, função de ativação, erro de previsão e gradiente. No final, os grupos devem calcular os estados de uma célula e justificar o desenho de uma avaliação temporal.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Pergunta de abertura: se não chove hoje, a vazão necessariamente volta ao valor de antes? Ouvir exemplos de aquífero, reservação, solo e propagação. Apontar que os dois eixos usam unidades diferentes. As séries foram construídas para ilustrar uma resposta defasada. Dependências em séries não demonstram causalidade por si só.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https://hess.copernicus.org/articles/22/6005/2018/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Não interpretar estas curvas como um experimento físico calibrado. O exemplo fixa a vazão inicial para comparar duas respostas hipotéticas. Discutir chuva antecedente, evapotranspiração, estado do solo e sazonalidade. Uma RNN/LSTM pode aprender um resumo do histórico quando dados e objetivo fornecem informação suficiente.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https://hess.copernicus.org/articles/22/6005/2018/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MLP também usa memória quando recebe defasagens. A distinção aqui é a forma de processar a janela. A RNN usa a mesma transformação recorrente em cada passo, junto com um estado que resume entradas anteriores. O esquema inferior resume o fluxo e os próximos slides mostram os estados explicitamente.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https://keras.io/api/layers/recurrent_layers/simple_rnn/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Percorrer a tabela da linha mais antiga até t. O atributo Q é opcional e depende do uso operacional. A coluna Q(t+1) fica fora de X. Com 32 janelas, a primeira dimensão do tensor identifica amostras, não dias de uma única sequência. O uso da informação deve respeitar a latência de medição.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https://keras.io/api/layers/recurrent_layers/lstm/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 é um vetor. O esquema mostra uma única aplicação da transformação recorrente. O estado anterior e a entrada atual determinam o novo estado. A saída de interesse pode exigir uma camada adicional. Nos exemplos desta aula, o estado inicial é zero.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https://keras.io/api/layers/recurrent_layers/simple_rnn/</a:t>
            </a:r>
          </a:p>
          <a:p xmlns:a="http://schemas.openxmlformats.org/drawingml/2006/main">
            <a:r>
              <a:t>https://hess.copernicus.org/articles/22/6005/2018/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Ler de baixo para cima em cada passo e depois da esquerda para a direita. São cópias computacionais da mesma célula, com pesos compartilhados. O h inicial do esquema é zero e alimenta a primeira transformação. A camada de leitura aparece acima do último estado.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https://keras.io/api/layers/recurrent_layers/simple_rnn/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Wₓ e Wₕ seguem a convenção de vetores-coluna. O bias bₕ tem dimensão H. Para um alvo escalar, wᵧ tem dimensão H e bᵧ é escalar. A previsão desta aula usa o estado final em t para estimar a vazão de t+1. O mesmo estado pode alimentar outras camadas.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https://keras.io/api/layers/recurrent_layers/simple_rnn/</a:t>
            </a:r>
          </a:p>
          <a:p xmlns:a="http://schemas.openxmlformats.org/drawingml/2006/main">
            <a:r>
              <a:t>https://keras.io/api/layers/core_layers/dense/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Pedir o cálculo de h₂ antes de revelar a tabela completa, usando o modo de apresentação conforme a preferência do professor. Valores: h₁=0.197375320224904, h₂=0.09836852191735812, h₃=0.2441517025315416. O objetivo é entender a dependência entre estados, sem afirmar que estes coeficientes tenham sido treinados.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https://keras.io/api/layers/recurrent_layers/simple_rnn/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Evitar dar a cada dimensão uma etiqueta física automática. Estados podem capturar dependências relevantes, mas não têm unidades ou restrições físicas garantidas pela arquitetura. Perguntar que observações externas poderiam sustentar uma interpretação hidrológica.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https://hess.copernicus.org/articles/22/6005/2018/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primeira opção é comum em previsão com janelas. A segunda retorna um estado para cada passo, que uma camada de leitura pode transformar em previsões alinhadas. Definir cuidadosamente o alvo de cada posição e a disponibilidade dos dados. Retornar uma sequência não significa prever automaticamente vários horizontes futuros.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https://keras.io/api/layers/recurrent_layers/lstm/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Duração: 2 minutos em duplas. Resposta: não, para uma célula com pesos compartilhados e dimensões D e H fixas. São 16×3+16×16+16=320 parâmetros na célula. Uma camada escalar de saída acrescenta 16+1=17. O custo computacional e o grafo desenrolado aumentam com o comprimento da sequência. Perguntar se a mesma resposta vale para uma MLP que recebe todas as defasagens empilhadas.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https://keras.io/api/layers/recurrent_layers/simple_rnn/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 fluxo ciano mostra estados e entradas no forward. O laranja mostra a retropropagação da perda final para estados anteriores. Os mesmos pesos recebem contribuições de todas as posições em que foram usados. A ilustração resume o BPTT, sem expandir cada multiplicação de matriz.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https://proceedings.mlr.press/v28/pascanu13.pdf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Definir J como derivada do estado atual em relação ao anterior. A ordem do produto transposto segue a regra da cadeia para vetores-coluna. No exemplo escalar, a resume peso e derivada local. No caso matricial, a norma e as direções das Jacobianas importam, não apenas os valores dos pesos. A igualdade escalar exige o mesmo fator a em todos os passos.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https://proceedings.mlr.press/v28/pascanu13.pdf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Apontar que uma queda de 1 no eixo log₁₀ divide a magnitude por 10. O crescimento também é multiplicativo. Os fatores constantes são exemplos para visualizar a regra da cadeia, sem representar uma rede treinada. A norma de um gradiente real resulta de produtos matriciais e de contribuições de diferentes perdas.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https://proceedings.mlr.press/v28/pascanu13.pdf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Pedir que os alunos estimem 0,5²⁰ antes de mostrar o número. Em 50 passos, os valores são 8,881784e-16, 0,005153775 e 117,390853. Um gradiente pequeno gera uma contribuição pequena para a atualização associada ao evento distante. Um gradiente grande pode desestabilizar a atualização.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https://proceedings.mlr.press/v28/pascanu13.pdf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Comparar as extremidades de cada gráfico com a região central. A tanh tem derivada máxima 1 e a sigmoid, 0,25. O gradiente recorrente inclui também Wₕ. Portanto, saturação contribui para atenuação, mas a análise completa envolve a Jacobiana. As funções e derivadas são fórmulas matemáticas padrão.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https://proceedings.mlr.press/v28/pascanu13.pdf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Usar a piada depois das contas, para recuperar o conceito. A analogia descreve a dificuldade de aprender dependências distantes. Não significa que toda RNN apaga o estado em um número fixo de dias. Gradiente e estado oculto são objetos diferentes. A ilustração é original e gerada para a aula, com alusão a memes de peixe esquecido.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https://proceedings.mlr.press/v28/pascanu13.pdf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Não diagnosticar a causa de NaN apenas pelo sintoma. Verificar dados não finitos, escalas, taxa de aprendizado, função de perda e normas do gradiente. A amplificação recorrente é uma possível causa. A ilustração original faz alusão ao meme this is fine.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https://proceedings.mlr.press/v28/pascanu13.pdf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Clipping por norma reescala o gradiente quando ele excede um limiar, preservando sua direção no caso global. O BPTT truncado pode manter um estado entre trechos, mas corta o caminho de derivadas na fronteira. Isso limita o aprendizado das dependências mais distantes mesmo quando o forward carrega informações. Não apresentar clipping como solução para vanishing gradient.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https://proceedings.mlr.press/v28/pascanu13.pdf</a:t>
            </a:r>
          </a:p>
          <a:p xmlns:a="http://schemas.openxmlformats.org/drawingml/2006/main">
            <a:r>
              <a:t>https://bioinf.jku.at/publications/older/2604.pdf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Introduzir os dois vetores antes de mostrar a célula completa. As setas c representam o caminho de atualização do estado da célula. h também participa do cálculo das portas no passo seguinte, embora este detalhe não esteja expandido neste desenho de estados. A ligação vertical resume o cálculo de h a partir de c e da porta de saída.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https://bioinf.jku.at/publications/older/2604.pdf</a:t>
            </a:r>
          </a:p>
          <a:p xmlns:a="http://schemas.openxmlformats.org/drawingml/2006/main">
            <a:r>
              <a:t>https://doi.org/10.1162/089976600300015015</a:t>
            </a:r>
          </a:p>
          <a:p xmlns:a="http://schemas.openxmlformats.org/drawingml/2006/main">
            <a:r>
              <a:t>https://hess.copernicus.org/articles/22/6005/2018/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notação concatena h anterior e x atual. Cada W tem H linhas e H+D colunas, com um bias de dimensão H. g também pode aparecer como c com tilde em outras fontes. O LSTM original de 1997 antecede a porta de esquecimento. Nesta aula usamos a versão moderna com f. As equações são definicionais da arquitetura.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https://bioinf.jku.at/publications/older/2604.pdf</a:t>
            </a:r>
          </a:p>
          <a:p xmlns:a="http://schemas.openxmlformats.org/drawingml/2006/main">
            <a:r>
              <a:t>https://doi.org/10.1162/089976600300015015</a:t>
            </a:r>
          </a:p>
          <a:p xmlns:a="http://schemas.openxmlformats.org/drawingml/2006/main">
            <a:r>
              <a:t>https://hess.copernicus.org/articles/22/6005/2018/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sigmoid tem imagem (0,1), com 0 e 1 como limites. Não são portas estritamente binárias, nem probabilidades de que um atributo seja importante. Cada componente recebe uma modulação contínua. O gráfico mostra a função padrão, sem corresponder a portas de uma rede treinada.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https://hess.copernicus.org/articles/22/6005/2018/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Calcular os três produtos com a turma. O nome esquecimento indica modulação da informação anterior. f=0,9 mantém 90% daquele componente neste caminho direto. Os valores são exemplos de estados latentes e não têm unidade de armazenamento de água.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https://hess.copernicus.org/articles/22/6005/2018/</a:t>
            </a:r>
          </a:p>
          <a:p xmlns:a="http://schemas.openxmlformats.org/drawingml/2006/main">
            <a:r>
              <a:t>https://doi.org/10.1162/089976600300015015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 determina o quanto da candidata se soma ao estado. g oferece o conteúdo e pode ter sinal negativo. A tanh assume valores estritamente entre −1 e 1. Estes produtos somam ao conteúdo mantido no slide anterior.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https://hess.copernicus.org/articles/22/6005/2018/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Explicar que a atualização é aditiva no estado c, mas as portas dependem de transformações não lineares dos dados e de h anterior. Os valores são escolhidos para uma conta clara. Não são medidas de uma bacia. O diagrama destaca as duas parcelas; a célula integrada aparece adiante.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https://hess.copernicus.org/articles/22/6005/2018/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 e Q não são o mesmo objeto. No exemplo, h≈0.6722235719722914. Para prever Q, a leitura pode ser linear, com wᵀh+b. Se a tarefa exigir vazão não negativa, considerar uma transformação de saída compatível e avaliar seu efeito. Não atribuir unidade m³/s aos estados latentes.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https://hess.copernicus.org/articles/22/6005/2018/</a:t>
            </a:r>
          </a:p>
          <a:p xmlns:a="http://schemas.openxmlformats.org/drawingml/2006/main">
            <a:r>
              <a:t>https://keras.io/api/layers/core_layers/dense/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Figura clássica fornecida pelo docente nesta conversa. A origem bibliográfica exata da imagem não foi informada. Apontar primeiro o caminho superior de c(t-1) para c(t). A porta f modula o estado anterior. A soma adiciona a contribuição da candidata C tilde, regulada por i. Nesta aula, a candidata recebe o símbolo g: as duas notações representam o mesmo conteúdo. Por fim, a tanh de c(t), modulada pela porta o, produz h(t). Cada porta depende de x(t) e h(t-1), com seus próprios pesos. Os símbolos × indicam produtos elemento a elemento. Pergunta sugerida: o que acontece quando f se aproxima de 1 e i se aproxima de 0? Resposta: o caminho direto tende a conservar o estado anterior. Conectar esse caminho ao slide seguinte, que discute o gradiente.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Referências da formulação: Gers, Schmidhuber e Cummins (2000), Learning to Forget. DOI: https://doi.org/10.1162/089976600300015015 . Imagem: arquivo image(1).png fornecido pelo docente, incorporado sem alterar a figura.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Esta derivada isola a ligação direta entre estados, mantendo as portas constantes. A derivada total inclui caminhos indiretos porque f, i, g e o dependem de h anterior. LSTM reduz a dificuldade de propagar informação e gradientes em certas condições, sem garantir memória infinita nem eliminar todo vanishing/exploding gradient. Produtos de f menores que 1 ainda decaem.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https://bioinf.jku.at/publications/older/2604.pdf</a:t>
            </a:r>
          </a:p>
          <a:p xmlns:a="http://schemas.openxmlformats.org/drawingml/2006/main">
            <a:r>
              <a:t>https://proceedings.mlr.press/v28/pascanu13.pdf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Valores completos de c: 0.4, 0.36000000000000004, 0.32400000000000007; valores de h: 0.3039591698041799, 0.27617122730841676, 0.25049540131576076. O estado pode persistir mesmo quando a nova candidata é zero. Este exemplo de forward não mede norma de gradiente. Em uma rede real, as portas variam conforme x e 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https://hess.copernicus.org/articles/22/6005/2018/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figura é uma metáfora, com alusão a porteiros e listas de acesso. Na célula, não há uma escolha consciente ou categorias fixas de convidados. As portas são vetores contínuos produzidos por pesos aprendidos. A ilustração foi gerada para esta aula. Perguntar qual porta corresponde a preservar informação anterior.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https://hess.copernicus.org/articles/22/6005/2018/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LSTM tem quatro transformações: f, i, g e o. Para H=16 e D=3, cada uma usa 320 parâmetros, totalizando 1.280. A leitura escalar acrescenta 17. Em implementações com dois vetores de bias por bloco a contagem muda. A maior expressividade não assegura melhor desempenho em toda base. Comparar em períodos e recursos equivalentes.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https://keras.io/api/layers/recurrent_layers/simple_rnn/</a:t>
            </a:r>
          </a:p>
          <a:p xmlns:a="http://schemas.openxmlformats.org/drawingml/2006/main">
            <a:r>
              <a:t>https://keras.io/api/layers/recurrent_layers/lstm/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Separar previsão operacional de reconstrução da série. Se a chuva do dia futuro for necessária, usar a previsão meteorológica disponível em t, e avaliar seu erro. O modelo não recebe chuva futura observada. O diagrama utiliza P e T históricos como exemplo, com Q opcional.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https://hess.copernicus.org/articles/22/6005/2018/</a:t>
            </a:r>
          </a:p>
          <a:p xmlns:a="http://schemas.openxmlformats.org/drawingml/2006/main">
            <a:r>
              <a:t>https://scikit-learn.org/stable/common_pitfalls.html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30 e 90 dias são configurações para discutir, sem recomendação universal. Escolher a janela por processos, resolução dos dados e validação temporal. Para vários horizontes, definir saídas diretas ou uma estratégia recursiva, considerando os erros acumulados e as entradas futuras disponíveis.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Definir cortes por data do alvo, especialmente em previsão de vários horizontes. Ajustar transformadores no treino. Histórico anterior à fronteira pode entrar numa janela de previsão se estava disponível naquele instante. Janelas sobrepostas exigem interpretação da dependência e podem motivar separação adicional em certos desenhos de validação. Imputação bidirecional com dados futuros gera vazamento operacional.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https://scikit-learn.org/stable/common_pitfalls.html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piada é um diagnóstico de vazamento de informação. O uso de chuva futura observada pode ser válido em simulação retrospectiva, mas não representa previsão operacional emitida em t. Treinar e avaliar com o tipo de forçante que será realmente usado. Fazer a turma explicar a diferença entre os dois objetivos.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https://hess.copernicus.org/articles/22/6005/2018/</a:t>
            </a:r>
          </a:p>
          <a:p xmlns:a="http://schemas.openxmlformats.org/drawingml/2006/main">
            <a:r>
              <a:t>https://scikit-learn.org/stable/common_pitfalls.html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30 é o comprimento da sequência e 3 é o número de atributos. A opção padrão return_sequences=False retorna a saída do último passo. A LSTM tem 4×32×(3+32+1)=4.608 parâmetros. Dense(1) acrescenta 33, total de 4.641. Este trecho define a arquitetura, sem incluir carregamento, preparo ou divisão dos dados.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https://keras.io/api/layers/recurrent_layers/lstm/</a:t>
            </a:r>
          </a:p>
          <a:p xmlns:a="http://schemas.openxmlformats.org/drawingml/2006/main">
            <a:r>
              <a:t>https://keras.io/api/layers/core_layers/dense/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No Keras 3, monitor de EarlyStopping é val_loss por padrão. patience conta épocas sem melhora segundo os critérios definidos. restore_best_weights recupera pesos da melhor época. global_clipnorm restringe a norma conjunta, diferente de clipnorm, que age em cada tensor. shuffle=False simplifica a apresentação da ordem dos exemplos, mas não cria a separação temporal. Com janelas independentes e stateful=False, embaralhar apenas amostras de treino pode ser uma opção. O eixo temporal dentro da janela sempre permanece ordenado.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https://keras.io/api/optimizers/adam/</a:t>
            </a:r>
          </a:p>
          <a:p xmlns:a="http://schemas.openxmlformats.org/drawingml/2006/main">
            <a:r>
              <a:t>https://keras.io/api/callbacks/early_stopping/</a:t>
            </a:r>
          </a:p>
          <a:p xmlns:a="http://schemas.openxmlformats.org/drawingml/2006/main">
            <a:r>
              <a:t>https://keras.io/api/layers/recurrent_layers/lstm/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Distinguir memória no forward do comprimento de retropropagação. Em Keras, stateful=True transporta estados pela posição da amostra no lote seguinte, exigindo um desenho de lotes consistente. Não ativar essa opção apenas para obter mais memória. Reiniciar estados entre séries independentes e documentar como inicializar estados na validação e no teste.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https://keras.io/api/layers/recurrent_layers/lstm/</a:t>
            </a:r>
          </a:p>
          <a:p xmlns:a="http://schemas.openxmlformats.org/drawingml/2006/main">
            <a:r>
              <a:t>https://proceedings.mlr.press/v28/pascanu13.pdf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Perguntar que aspecto do hidrograma o RMSE destaca e o que pode esconder. Comparar o modelo com persistência e uma MLP com defasagens usando os mesmos alvos. Examinar viés, erros de picos e atrasos por horizonte. O desenho não prova superioridade da LSTM e não apresenta resultados de um ajuste real.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https://hess.copernicus.org/articles/22/6005/2018/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 artigo relata resultados favoráveis da LSTM naquele desenho e mostra o potencial da aprendizagem regional. O estudo usa meteorologia para modelar a resposta, com comparação explícita a um modelo hidrológico. Não usar esse resultado como garantia para previsão operacional em uma nova bacia com outros dados ou forçantes. Discutir como reproduzir uma comparação adequada no problema do grupo.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https://hess.copernicus.org/articles/22/6005/2018/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Resposta: mantido=0,8×1,5=1,2. Nova contribuição=0,2×(−0,5)=−0,1. cₜ=1,1. hₜ=0,75×tanh(1,1)=0.6003742663204723. Com f=0,2, mantido=0,3, cₜ=0,2, hₜ=0,75×tanh(0,2)=0.148031490168678. A mudança de f reduz o conteúdo anterior neste exemplo; o efeito na previsão depende da camada de leitura. Deixar os grupos calcularem antes de comentar o resultado.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https://hess.copernicus.org/articles/22/6005/2018/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1. Não: os pesos recorrentes são compartilhados. 2. Não: clipping contém valores grandes, sem restaurar gradientes atenuados. 3. Não: c é o estado da célula e h usa a porta de saída e tanh(c). 4. Não: retorna estados ao longo da sequência de entrada; o desenho das saídas futuras depende da tarefa. 5. Não: a janela oferece mais histórico, mas pode aumentar custo e dificultar o ajuste. Sua utilidade requer avaliação temporal. Retomar os gráficos para justificar as respostas.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https://keras.io/api/layers/recurrent_layers/simple_rnn/</a:t>
            </a:r>
          </a:p>
          <a:p xmlns:a="http://schemas.openxmlformats.org/drawingml/2006/main">
            <a:r>
              <a:t>https://proceedings.mlr.press/v28/pascanu13.pdf</a:t>
            </a:r>
          </a:p>
          <a:p xmlns:a="http://schemas.openxmlformats.org/drawingml/2006/main">
            <a:r>
              <a:t>https://keras.io/api/layers/recurrent_layers/lstm/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Fechamento: pedir que um aluno explique a LSTM com a analogia do porteiro e outro indique o limite dessa analogia. Conectar com a aula anterior: memória temporal, desempenho e incerteza são dimensões distintas do modelo. Uma LSTM convencional fornece previsão pontual; intervalos exigem um procedimento específico, como ensemble, bootstrap ou modelo probabilístico.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https://keras.io/api/layers/recurrent_layers/simple_rnn/</a:t>
            </a:r>
          </a:p>
          <a:p xmlns:a="http://schemas.openxmlformats.org/drawingml/2006/main">
            <a:r>
              <a:t>https://proceedings.mlr.press/v28/pascanu13.pdf</a:t>
            </a:r>
          </a:p>
          <a:p xmlns:a="http://schemas.openxmlformats.org/drawingml/2006/main">
            <a:r>
              <a:t>https://bioinf.jku.at/publications/older/2604.pdf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Referências técnicas utilizadas na aula. O artigo original da LSTM é de 1997; a porta de esquecimento pertence à extensão de 2000. A arquitetura mostrada é a versão usual com essa porta. Os trechos de código usam a API documentada do Keras 3. Os memes são alusões com ilustrações geradas para a aula, sem representar resultados científicos.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https://keras.io/api/layers/recurrent_layers/simple_rnn/</a:t>
            </a:r>
          </a:p>
          <a:p xmlns:a="http://schemas.openxmlformats.org/drawingml/2006/main">
            <a:r>
              <a:t>https://proceedings.mlr.press/v28/pascanu13.pdf</a:t>
            </a:r>
          </a:p>
          <a:p xmlns:a="http://schemas.openxmlformats.org/drawingml/2006/main">
            <a:r>
              <a:t>https://bioinf.jku.at/publications/older/2604.pdf</a:t>
            </a:r>
          </a:p>
          <a:p xmlns:a="http://schemas.openxmlformats.org/drawingml/2006/main">
            <a:r>
              <a:t>https://doi.org/10.1162/089976600300015015</a:t>
            </a:r>
          </a:p>
          <a:p xmlns:a="http://schemas.openxmlformats.org/drawingml/2006/main">
            <a:r>
              <a:t>https://hess.copernicus.org/articles/22/6005/2018/</a:t>
            </a:r>
          </a:p>
          <a:p xmlns:a="http://schemas.openxmlformats.org/drawingml/2006/main">
            <a:r>
              <a:t>https://keras.io/api/layers/recurrent_layers/lstm/</a:t>
            </a:r>
          </a:p>
          <a:p xmlns:a="http://schemas.openxmlformats.org/drawingml/2006/main">
            <a:r>
              <a:t>https://keras.io/api/optimizers/adam/</a:t>
            </a:r>
          </a:p>
          <a:p xmlns:a="http://schemas.openxmlformats.org/drawingml/2006/main">
            <a:r>
              <a:t>https://keras.io/api/callbacks/early_stopping/</a:t>
            </a:r>
          </a:p>
          <a:p xmlns:a="http://schemas.openxmlformats.org/drawingml/2006/main">
            <a:r>
              <a:t>https://keras.io/api/layers/core_layers/dense/</a:t>
            </a:r>
          </a:p>
          <a:p xmlns:a="http://schemas.openxmlformats.org/drawingml/2006/main">
            <a:r>
              <a:t>https://scikit-learn.org/stable/common_pitfalls.html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f29a866af5f4b0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a507a0160e4469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6ac9f41a084442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93805e31be64f5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6b83474374c49f4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a38bdc3b2dc403d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6fc1eac6b344b08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3ddcaf87a584102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3c3fdece0a54526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aab0476ac634951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884abcec7164737" /></Relationships>
</file>

<file path=ppt/slideLayouts/slideLayout1.xml><?xml version="1.0" encoding="utf-8"?>
<p:sldLayout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ítulo 1">
            <a:extLst xmlns:a="http://schemas.openxmlformats.org/drawingml/2006/main">
              <a:ext uri="{FF2B5EF4-FFF2-40B4-BE49-F238E27FC236}">
                <a16:creationId xmlns:a16="http://schemas.microsoft.com/office/drawing/2014/main" id="{B11BB454-8679-D779-91CD-901E65671285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Clique para editar o título Mestre</a:t>
            </a:r>
            <a:endParaRPr/>
          </a:p>
        </p:txBody>
      </p:sp>
      <p:sp>
        <p:nvSpPr>
          <p:cNvPr id="3" name="Subtítulo 2">
            <a:extLst xmlns:a="http://schemas.openxmlformats.org/drawingml/2006/main">
              <a:ext uri="{FF2B5EF4-FFF2-40B4-BE49-F238E27FC236}">
                <a16:creationId xmlns:a16="http://schemas.microsoft.com/office/drawing/2014/main" id="{00A0B855-82A6-73F3-ADAE-C145294CF55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Clique para editar o estilo do subtítulo Mestre</a:t>
            </a:r>
            <a:endParaRPr/>
          </a:p>
        </p:txBody>
      </p:sp>
      <p:sp>
        <p:nvSpPr>
          <p:cNvPr id="4" name="Espaço Reservado para Data 3">
            <a:extLst xmlns:a="http://schemas.openxmlformats.org/drawingml/2006/main">
              <a:ext uri="{FF2B5EF4-FFF2-40B4-BE49-F238E27FC236}">
                <a16:creationId xmlns:a16="http://schemas.microsoft.com/office/drawing/2014/main" id="{20558CA8-42E6-5BD9-D627-A3789914B25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F98861F-14F1-4638-96F3-2EC3397B8A64}" type="datetimeFigureOut">
              <a:t>10/1/2026</a:t>
            </a:fld>
            <a:endParaRPr/>
          </a:p>
        </p:txBody>
      </p:sp>
      <p:sp>
        <p:nvSpPr>
          <p:cNvPr id="5" name="Espaço Reservado para Rodapé 4">
            <a:extLst xmlns:a="http://schemas.openxmlformats.org/drawingml/2006/main">
              <a:ext uri="{FF2B5EF4-FFF2-40B4-BE49-F238E27FC236}">
                <a16:creationId xmlns:a16="http://schemas.microsoft.com/office/drawing/2014/main" id="{C09D1132-49C2-9933-73CE-0C476DDA01E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Espaço Reservado para Número de Slide 5">
            <a:extLst xmlns:a="http://schemas.openxmlformats.org/drawingml/2006/main">
              <a:ext uri="{FF2B5EF4-FFF2-40B4-BE49-F238E27FC236}">
                <a16:creationId xmlns:a16="http://schemas.microsoft.com/office/drawing/2014/main" id="{DC7B3DBD-80A4-9994-908D-07D68CC94DE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9D46433-43F6-4FA7-8C7B-D8B9997CD431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ítulo 1">
            <a:extLst xmlns:a="http://schemas.openxmlformats.org/drawingml/2006/main">
              <a:ext uri="{FF2B5EF4-FFF2-40B4-BE49-F238E27FC236}">
                <a16:creationId xmlns:a16="http://schemas.microsoft.com/office/drawing/2014/main" id="{7FA0E026-F824-9DB1-FE69-7D3514C6233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Clique para editar o título Mestre</a:t>
            </a:r>
            <a:endParaRPr/>
          </a:p>
        </p:txBody>
      </p:sp>
      <p:sp>
        <p:nvSpPr>
          <p:cNvPr id="3" name="Espaço Reservado para Conteúdo 2">
            <a:extLst xmlns:a="http://schemas.openxmlformats.org/drawingml/2006/main">
              <a:ext uri="{FF2B5EF4-FFF2-40B4-BE49-F238E27FC236}">
                <a16:creationId xmlns:a16="http://schemas.microsoft.com/office/drawing/2014/main" id="{EC3B507B-5DAE-5152-E1AD-EE68A64B5EF0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Clique para editar os estilos de texto Mestres</a:t>
            </a:r>
          </a:p>
          <a:p xmlns:a="http://schemas.openxmlformats.org/drawingml/2006/main">
            <a:pPr lvl="1">
              <a:buNone/>
            </a:pPr>
            <a:r>
              <a:t>Segundo nível</a:t>
            </a:r>
          </a:p>
          <a:p xmlns:a="http://schemas.openxmlformats.org/drawingml/2006/main">
            <a:pPr lvl="2">
              <a:buNone/>
            </a:pPr>
            <a:r>
              <a:t>Terceiro nível</a:t>
            </a:r>
          </a:p>
          <a:p xmlns:a="http://schemas.openxmlformats.org/drawingml/2006/main">
            <a:pPr lvl="3">
              <a:buNone/>
            </a:pPr>
            <a:r>
              <a:t>Quarto nível</a:t>
            </a:r>
          </a:p>
          <a:p xmlns:a="http://schemas.openxmlformats.org/drawingml/2006/main">
            <a:pPr lvl="4">
              <a:buNone/>
            </a:pPr>
            <a:r>
              <a:t>Quinto nível</a:t>
            </a:r>
            <a:endParaRPr/>
          </a:p>
        </p:txBody>
      </p:sp>
      <p:sp>
        <p:nvSpPr>
          <p:cNvPr id="4" name="Espaço Reservado para Data 3">
            <a:extLst xmlns:a="http://schemas.openxmlformats.org/drawingml/2006/main">
              <a:ext uri="{FF2B5EF4-FFF2-40B4-BE49-F238E27FC236}">
                <a16:creationId xmlns:a16="http://schemas.microsoft.com/office/drawing/2014/main" id="{14B70DB5-447D-DB44-9AF1-C0BAACC9A6A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F98861F-14F1-4638-96F3-2EC3397B8A64}" type="datetimeFigureOut">
              <a:t>10/1/2026</a:t>
            </a:fld>
            <a:endParaRPr/>
          </a:p>
        </p:txBody>
      </p:sp>
      <p:sp>
        <p:nvSpPr>
          <p:cNvPr id="5" name="Espaço Reservado para Rodapé 4">
            <a:extLst xmlns:a="http://schemas.openxmlformats.org/drawingml/2006/main">
              <a:ext uri="{FF2B5EF4-FFF2-40B4-BE49-F238E27FC236}">
                <a16:creationId xmlns:a16="http://schemas.microsoft.com/office/drawing/2014/main" id="{8E9A6542-33C6-4E8A-955A-FFF9456B913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Espaço Reservado para Número de Slide 5">
            <a:extLst xmlns:a="http://schemas.openxmlformats.org/drawingml/2006/main">
              <a:ext uri="{FF2B5EF4-FFF2-40B4-BE49-F238E27FC236}">
                <a16:creationId xmlns:a16="http://schemas.microsoft.com/office/drawing/2014/main" id="{97DEB9CC-0C72-DEF6-E0FD-F769BDB2AFC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9D46433-43F6-4FA7-8C7B-D8B9997CD431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ítulo 1">
            <a:extLst xmlns:a="http://schemas.openxmlformats.org/drawingml/2006/main">
              <a:ext uri="{FF2B5EF4-FFF2-40B4-BE49-F238E27FC236}">
                <a16:creationId xmlns:a16="http://schemas.microsoft.com/office/drawing/2014/main" id="{695D848F-D36E-1918-5D9C-23455336D3B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Clique para editar o título Mestre</a:t>
            </a:r>
            <a:endParaRPr/>
          </a:p>
        </p:txBody>
      </p:sp>
      <p:sp>
        <p:nvSpPr>
          <p:cNvPr id="3" name="Espaço Reservado para Texto 2">
            <a:extLst xmlns:a="http://schemas.openxmlformats.org/drawingml/2006/main">
              <a:ext uri="{FF2B5EF4-FFF2-40B4-BE49-F238E27FC236}">
                <a16:creationId xmlns:a16="http://schemas.microsoft.com/office/drawing/2014/main" id="{E36679D2-71E9-3160-A846-5ADD7544C20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Clique para editar os estilos de texto Mestres</a:t>
            </a:r>
          </a:p>
        </p:txBody>
      </p:sp>
      <p:sp>
        <p:nvSpPr>
          <p:cNvPr id="4" name="Espaço Reservado para Data 3">
            <a:extLst xmlns:a="http://schemas.openxmlformats.org/drawingml/2006/main">
              <a:ext uri="{FF2B5EF4-FFF2-40B4-BE49-F238E27FC236}">
                <a16:creationId xmlns:a16="http://schemas.microsoft.com/office/drawing/2014/main" id="{5537D26F-9630-40B2-0B39-EEF280B28FC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F98861F-14F1-4638-96F3-2EC3397B8A64}" type="datetimeFigureOut">
              <a:t>10/1/2026</a:t>
            </a:fld>
            <a:endParaRPr/>
          </a:p>
        </p:txBody>
      </p:sp>
      <p:sp>
        <p:nvSpPr>
          <p:cNvPr id="5" name="Espaço Reservado para Rodapé 4">
            <a:extLst xmlns:a="http://schemas.openxmlformats.org/drawingml/2006/main">
              <a:ext uri="{FF2B5EF4-FFF2-40B4-BE49-F238E27FC236}">
                <a16:creationId xmlns:a16="http://schemas.microsoft.com/office/drawing/2014/main" id="{413F4993-24E1-9D36-0A74-207423F4130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Espaço Reservado para Número de Slide 5">
            <a:extLst xmlns:a="http://schemas.openxmlformats.org/drawingml/2006/main">
              <a:ext uri="{FF2B5EF4-FFF2-40B4-BE49-F238E27FC236}">
                <a16:creationId xmlns:a16="http://schemas.microsoft.com/office/drawing/2014/main" id="{C195F4AE-DC88-EE3B-B261-373A24D74DA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9D46433-43F6-4FA7-8C7B-D8B9997CD431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ítulo 1">
            <a:extLst xmlns:a="http://schemas.openxmlformats.org/drawingml/2006/main">
              <a:ext uri="{FF2B5EF4-FFF2-40B4-BE49-F238E27FC236}">
                <a16:creationId xmlns:a16="http://schemas.microsoft.com/office/drawing/2014/main" id="{0ECB9B22-BE19-D53D-6BFE-7EE67D4BCF7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Clique para editar o título Mestre</a:t>
            </a:r>
            <a:endParaRPr/>
          </a:p>
        </p:txBody>
      </p:sp>
      <p:sp>
        <p:nvSpPr>
          <p:cNvPr id="3" name="Espaço Reservado para Conteúdo 2">
            <a:extLst xmlns:a="http://schemas.openxmlformats.org/drawingml/2006/main">
              <a:ext uri="{FF2B5EF4-FFF2-40B4-BE49-F238E27FC236}">
                <a16:creationId xmlns:a16="http://schemas.microsoft.com/office/drawing/2014/main" id="{7F52B350-C854-D597-1369-1251896D2E64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Clique para editar os estilos de texto Mestres</a:t>
            </a:r>
          </a:p>
          <a:p xmlns:a="http://schemas.openxmlformats.org/drawingml/2006/main">
            <a:pPr lvl="1">
              <a:buNone/>
            </a:pPr>
            <a:r>
              <a:t>Segundo nível</a:t>
            </a:r>
          </a:p>
          <a:p xmlns:a="http://schemas.openxmlformats.org/drawingml/2006/main">
            <a:pPr lvl="2">
              <a:buNone/>
            </a:pPr>
            <a:r>
              <a:t>Terceiro nível</a:t>
            </a:r>
          </a:p>
          <a:p xmlns:a="http://schemas.openxmlformats.org/drawingml/2006/main">
            <a:pPr lvl="3">
              <a:buNone/>
            </a:pPr>
            <a:r>
              <a:t>Quarto nível</a:t>
            </a:r>
          </a:p>
          <a:p xmlns:a="http://schemas.openxmlformats.org/drawingml/2006/main">
            <a:pPr lvl="4">
              <a:buNone/>
            </a:pPr>
            <a:r>
              <a:t>Quinto nível</a:t>
            </a:r>
            <a:endParaRPr/>
          </a:p>
        </p:txBody>
      </p:sp>
      <p:sp>
        <p:nvSpPr>
          <p:cNvPr id="4" name="Espaço Reservado para Conteúdo 3">
            <a:extLst xmlns:a="http://schemas.openxmlformats.org/drawingml/2006/main">
              <a:ext uri="{FF2B5EF4-FFF2-40B4-BE49-F238E27FC236}">
                <a16:creationId xmlns:a16="http://schemas.microsoft.com/office/drawing/2014/main" id="{F89E7523-364F-92D4-B857-4BE49AE299DB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Clique para editar os estilos de texto Mestres</a:t>
            </a:r>
          </a:p>
          <a:p xmlns:a="http://schemas.openxmlformats.org/drawingml/2006/main">
            <a:pPr lvl="1">
              <a:buNone/>
            </a:pPr>
            <a:r>
              <a:t>Segundo nível</a:t>
            </a:r>
          </a:p>
          <a:p xmlns:a="http://schemas.openxmlformats.org/drawingml/2006/main">
            <a:pPr lvl="2">
              <a:buNone/>
            </a:pPr>
            <a:r>
              <a:t>Terceiro nível</a:t>
            </a:r>
          </a:p>
          <a:p xmlns:a="http://schemas.openxmlformats.org/drawingml/2006/main">
            <a:pPr lvl="3">
              <a:buNone/>
            </a:pPr>
            <a:r>
              <a:t>Quarto nível</a:t>
            </a:r>
          </a:p>
          <a:p xmlns:a="http://schemas.openxmlformats.org/drawingml/2006/main">
            <a:pPr lvl="4">
              <a:buNone/>
            </a:pPr>
            <a:r>
              <a:t>Quinto nível</a:t>
            </a:r>
            <a:endParaRPr/>
          </a:p>
        </p:txBody>
      </p:sp>
      <p:sp>
        <p:nvSpPr>
          <p:cNvPr id="5" name="Espaço Reservado para Data 4">
            <a:extLst xmlns:a="http://schemas.openxmlformats.org/drawingml/2006/main">
              <a:ext uri="{FF2B5EF4-FFF2-40B4-BE49-F238E27FC236}">
                <a16:creationId xmlns:a16="http://schemas.microsoft.com/office/drawing/2014/main" id="{1CF1DC5B-BDD2-F986-8102-B2DB2F7E6A8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F98861F-14F1-4638-96F3-2EC3397B8A64}" type="datetimeFigureOut">
              <a:t>10/1/2026</a:t>
            </a:fld>
            <a:endParaRPr/>
          </a:p>
        </p:txBody>
      </p:sp>
      <p:sp>
        <p:nvSpPr>
          <p:cNvPr id="6" name="Espaço Reservado para Rodapé 5">
            <a:extLst xmlns:a="http://schemas.openxmlformats.org/drawingml/2006/main">
              <a:ext uri="{FF2B5EF4-FFF2-40B4-BE49-F238E27FC236}">
                <a16:creationId xmlns:a16="http://schemas.microsoft.com/office/drawing/2014/main" id="{D0DE4E83-F323-43DB-E264-DAF50F3BC69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Espaço Reservado para Número de Slide 6">
            <a:extLst xmlns:a="http://schemas.openxmlformats.org/drawingml/2006/main">
              <a:ext uri="{FF2B5EF4-FFF2-40B4-BE49-F238E27FC236}">
                <a16:creationId xmlns:a16="http://schemas.microsoft.com/office/drawing/2014/main" id="{0DADBB9A-EC0E-B450-3B25-7247EB26595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9D46433-43F6-4FA7-8C7B-D8B9997CD431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ítulo 1">
            <a:extLst xmlns:a="http://schemas.openxmlformats.org/drawingml/2006/main">
              <a:ext uri="{FF2B5EF4-FFF2-40B4-BE49-F238E27FC236}">
                <a16:creationId xmlns:a16="http://schemas.microsoft.com/office/drawing/2014/main" id="{837B58BD-5541-A732-72E6-D8AC31C873B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Clique para editar o título Mestre</a:t>
            </a:r>
            <a:endParaRPr/>
          </a:p>
        </p:txBody>
      </p:sp>
      <p:sp>
        <p:nvSpPr>
          <p:cNvPr id="3" name="Espaço Reservado para Texto 2">
            <a:extLst xmlns:a="http://schemas.openxmlformats.org/drawingml/2006/main">
              <a:ext uri="{FF2B5EF4-FFF2-40B4-BE49-F238E27FC236}">
                <a16:creationId xmlns:a16="http://schemas.microsoft.com/office/drawing/2014/main" id="{753C9DEB-CBF7-5347-F1E9-1F132805E98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Clique para editar os estilos de texto Mestres</a:t>
            </a:r>
          </a:p>
        </p:txBody>
      </p:sp>
      <p:sp>
        <p:nvSpPr>
          <p:cNvPr id="4" name="Espaço Reservado para Conteúdo 3">
            <a:extLst xmlns:a="http://schemas.openxmlformats.org/drawingml/2006/main">
              <a:ext uri="{FF2B5EF4-FFF2-40B4-BE49-F238E27FC236}">
                <a16:creationId xmlns:a16="http://schemas.microsoft.com/office/drawing/2014/main" id="{D8F4E0D4-0CC5-938D-5CD7-10F9CD06A6DF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Clique para editar os estilos de texto Mestres</a:t>
            </a:r>
          </a:p>
          <a:p xmlns:a="http://schemas.openxmlformats.org/drawingml/2006/main">
            <a:pPr lvl="1">
              <a:buNone/>
            </a:pPr>
            <a:r>
              <a:t>Segundo nível</a:t>
            </a:r>
          </a:p>
          <a:p xmlns:a="http://schemas.openxmlformats.org/drawingml/2006/main">
            <a:pPr lvl="2">
              <a:buNone/>
            </a:pPr>
            <a:r>
              <a:t>Terceiro nível</a:t>
            </a:r>
          </a:p>
          <a:p xmlns:a="http://schemas.openxmlformats.org/drawingml/2006/main">
            <a:pPr lvl="3">
              <a:buNone/>
            </a:pPr>
            <a:r>
              <a:t>Quarto nível</a:t>
            </a:r>
          </a:p>
          <a:p xmlns:a="http://schemas.openxmlformats.org/drawingml/2006/main">
            <a:pPr lvl="4">
              <a:buNone/>
            </a:pPr>
            <a:r>
              <a:t>Quinto nível</a:t>
            </a:r>
            <a:endParaRPr/>
          </a:p>
        </p:txBody>
      </p:sp>
      <p:sp>
        <p:nvSpPr>
          <p:cNvPr id="5" name="Espaço Reservado para Texto 4">
            <a:extLst xmlns:a="http://schemas.openxmlformats.org/drawingml/2006/main">
              <a:ext uri="{FF2B5EF4-FFF2-40B4-BE49-F238E27FC236}">
                <a16:creationId xmlns:a16="http://schemas.microsoft.com/office/drawing/2014/main" id="{C1F902CE-1195-FB85-7320-3FD03B83F65A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Clique para editar os estilos de texto Mestres</a:t>
            </a:r>
          </a:p>
        </p:txBody>
      </p:sp>
      <p:sp>
        <p:nvSpPr>
          <p:cNvPr id="6" name="Espaço Reservado para Conteúdo 5">
            <a:extLst xmlns:a="http://schemas.openxmlformats.org/drawingml/2006/main">
              <a:ext uri="{FF2B5EF4-FFF2-40B4-BE49-F238E27FC236}">
                <a16:creationId xmlns:a16="http://schemas.microsoft.com/office/drawing/2014/main" id="{E503EAA7-461E-E2A3-2CFC-3973368F53E2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Clique para editar os estilos de texto Mestres</a:t>
            </a:r>
          </a:p>
          <a:p xmlns:a="http://schemas.openxmlformats.org/drawingml/2006/main">
            <a:pPr lvl="1">
              <a:buNone/>
            </a:pPr>
            <a:r>
              <a:t>Segundo nível</a:t>
            </a:r>
          </a:p>
          <a:p xmlns:a="http://schemas.openxmlformats.org/drawingml/2006/main">
            <a:pPr lvl="2">
              <a:buNone/>
            </a:pPr>
            <a:r>
              <a:t>Terceiro nível</a:t>
            </a:r>
          </a:p>
          <a:p xmlns:a="http://schemas.openxmlformats.org/drawingml/2006/main">
            <a:pPr lvl="3">
              <a:buNone/>
            </a:pPr>
            <a:r>
              <a:t>Quarto nível</a:t>
            </a:r>
          </a:p>
          <a:p xmlns:a="http://schemas.openxmlformats.org/drawingml/2006/main">
            <a:pPr lvl="4">
              <a:buNone/>
            </a:pPr>
            <a:r>
              <a:t>Quinto nível</a:t>
            </a:r>
            <a:endParaRPr/>
          </a:p>
        </p:txBody>
      </p:sp>
      <p:sp>
        <p:nvSpPr>
          <p:cNvPr id="7" name="Espaço Reservado para Data 6">
            <a:extLst xmlns:a="http://schemas.openxmlformats.org/drawingml/2006/main">
              <a:ext uri="{FF2B5EF4-FFF2-40B4-BE49-F238E27FC236}">
                <a16:creationId xmlns:a16="http://schemas.microsoft.com/office/drawing/2014/main" id="{74063CC9-A056-14E6-E6BF-737C16A0E9F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F98861F-14F1-4638-96F3-2EC3397B8A64}" type="datetimeFigureOut">
              <a:t>10/1/2026</a:t>
            </a:fld>
            <a:endParaRPr/>
          </a:p>
        </p:txBody>
      </p:sp>
      <p:sp>
        <p:nvSpPr>
          <p:cNvPr id="8" name="Espaço Reservado para Rodapé 7">
            <a:extLst xmlns:a="http://schemas.openxmlformats.org/drawingml/2006/main">
              <a:ext uri="{FF2B5EF4-FFF2-40B4-BE49-F238E27FC236}">
                <a16:creationId xmlns:a16="http://schemas.microsoft.com/office/drawing/2014/main" id="{B85B70EF-9748-A8DF-3DDF-22F78459806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Espaço Reservado para Número de Slide 8">
            <a:extLst xmlns:a="http://schemas.openxmlformats.org/drawingml/2006/main">
              <a:ext uri="{FF2B5EF4-FFF2-40B4-BE49-F238E27FC236}">
                <a16:creationId xmlns:a16="http://schemas.microsoft.com/office/drawing/2014/main" id="{D96794A7-C9A0-350B-BBA7-F66657F5EB1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9D46433-43F6-4FA7-8C7B-D8B9997CD431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ítulo 1">
            <a:extLst xmlns:a="http://schemas.openxmlformats.org/drawingml/2006/main">
              <a:ext uri="{FF2B5EF4-FFF2-40B4-BE49-F238E27FC236}">
                <a16:creationId xmlns:a16="http://schemas.microsoft.com/office/drawing/2014/main" id="{9A235169-EBAF-2969-78DC-BD432CA630E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Clique para editar o título Mestre</a:t>
            </a:r>
            <a:endParaRPr/>
          </a:p>
        </p:txBody>
      </p:sp>
      <p:sp>
        <p:nvSpPr>
          <p:cNvPr id="3" name="Espaço Reservado para Data 2">
            <a:extLst xmlns:a="http://schemas.openxmlformats.org/drawingml/2006/main">
              <a:ext uri="{FF2B5EF4-FFF2-40B4-BE49-F238E27FC236}">
                <a16:creationId xmlns:a16="http://schemas.microsoft.com/office/drawing/2014/main" id="{E9B3E13C-6B25-EF21-F69D-8A5414F3FC0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F98861F-14F1-4638-96F3-2EC3397B8A64}" type="datetimeFigureOut">
              <a:t>10/1/2026</a:t>
            </a:fld>
            <a:endParaRPr/>
          </a:p>
        </p:txBody>
      </p:sp>
      <p:sp>
        <p:nvSpPr>
          <p:cNvPr id="4" name="Espaço Reservado para Rodapé 3">
            <a:extLst xmlns:a="http://schemas.openxmlformats.org/drawingml/2006/main">
              <a:ext uri="{FF2B5EF4-FFF2-40B4-BE49-F238E27FC236}">
                <a16:creationId xmlns:a16="http://schemas.microsoft.com/office/drawing/2014/main" id="{51F925A9-9B8D-DAF3-BAD5-7892B3D1EA6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Espaço Reservado para Número de Slide 4">
            <a:extLst xmlns:a="http://schemas.openxmlformats.org/drawingml/2006/main">
              <a:ext uri="{FF2B5EF4-FFF2-40B4-BE49-F238E27FC236}">
                <a16:creationId xmlns:a16="http://schemas.microsoft.com/office/drawing/2014/main" id="{FE20F86F-47CC-667E-85F1-096ACBD0E30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9D46433-43F6-4FA7-8C7B-D8B9997CD431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Espaço Reservado para Data 1">
            <a:extLst xmlns:a="http://schemas.openxmlformats.org/drawingml/2006/main">
              <a:ext uri="{FF2B5EF4-FFF2-40B4-BE49-F238E27FC236}">
                <a16:creationId xmlns:a16="http://schemas.microsoft.com/office/drawing/2014/main" id="{53E002A8-D20C-06ED-45F5-08417C2D625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F98861F-14F1-4638-96F3-2EC3397B8A64}" type="datetimeFigureOut">
              <a:t>10/1/2026</a:t>
            </a:fld>
            <a:endParaRPr/>
          </a:p>
        </p:txBody>
      </p:sp>
      <p:sp>
        <p:nvSpPr>
          <p:cNvPr id="3" name="Espaço Reservado para Rodapé 2">
            <a:extLst xmlns:a="http://schemas.openxmlformats.org/drawingml/2006/main">
              <a:ext uri="{FF2B5EF4-FFF2-40B4-BE49-F238E27FC236}">
                <a16:creationId xmlns:a16="http://schemas.microsoft.com/office/drawing/2014/main" id="{D5DEE1B6-CC94-A030-BEEC-7CCABF5AF8B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Espaço Reservado para Número de Slide 3">
            <a:extLst xmlns:a="http://schemas.openxmlformats.org/drawingml/2006/main">
              <a:ext uri="{FF2B5EF4-FFF2-40B4-BE49-F238E27FC236}">
                <a16:creationId xmlns:a16="http://schemas.microsoft.com/office/drawing/2014/main" id="{B3FEDB54-2E2A-FEC7-9ECE-88957B0DDF1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9D46433-43F6-4FA7-8C7B-D8B9997CD431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ítulo 1">
            <a:extLst xmlns:a="http://schemas.openxmlformats.org/drawingml/2006/main">
              <a:ext uri="{FF2B5EF4-FFF2-40B4-BE49-F238E27FC236}">
                <a16:creationId xmlns:a16="http://schemas.microsoft.com/office/drawing/2014/main" id="{6C18163C-452A-E993-953A-BD421689029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Clique para editar o título Mestre</a:t>
            </a:r>
            <a:endParaRPr/>
          </a:p>
        </p:txBody>
      </p:sp>
      <p:sp>
        <p:nvSpPr>
          <p:cNvPr id="3" name="Espaço Reservado para Conteúdo 2">
            <a:extLst xmlns:a="http://schemas.openxmlformats.org/drawingml/2006/main">
              <a:ext uri="{FF2B5EF4-FFF2-40B4-BE49-F238E27FC236}">
                <a16:creationId xmlns:a16="http://schemas.microsoft.com/office/drawing/2014/main" id="{05B76F12-7527-69D0-8C96-25FB246DBA02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Clique para editar os estilos de texto Mestres</a:t>
            </a:r>
          </a:p>
          <a:p xmlns:a="http://schemas.openxmlformats.org/drawingml/2006/main">
            <a:pPr lvl="1">
              <a:buNone/>
            </a:pPr>
            <a:r>
              <a:t>Segundo nível</a:t>
            </a:r>
          </a:p>
          <a:p xmlns:a="http://schemas.openxmlformats.org/drawingml/2006/main">
            <a:pPr lvl="2">
              <a:buNone/>
            </a:pPr>
            <a:r>
              <a:t>Terceiro nível</a:t>
            </a:r>
          </a:p>
          <a:p xmlns:a="http://schemas.openxmlformats.org/drawingml/2006/main">
            <a:pPr lvl="3">
              <a:buNone/>
            </a:pPr>
            <a:r>
              <a:t>Quarto nível</a:t>
            </a:r>
          </a:p>
          <a:p xmlns:a="http://schemas.openxmlformats.org/drawingml/2006/main">
            <a:pPr lvl="4">
              <a:buNone/>
            </a:pPr>
            <a:r>
              <a:t>Quinto nível</a:t>
            </a:r>
            <a:endParaRPr/>
          </a:p>
        </p:txBody>
      </p:sp>
      <p:sp>
        <p:nvSpPr>
          <p:cNvPr id="4" name="Espaço Reservado para Texto 3">
            <a:extLst xmlns:a="http://schemas.openxmlformats.org/drawingml/2006/main">
              <a:ext uri="{FF2B5EF4-FFF2-40B4-BE49-F238E27FC236}">
                <a16:creationId xmlns:a16="http://schemas.microsoft.com/office/drawing/2014/main" id="{901A367E-080A-7768-8B36-FF18F750E3C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Clique para editar os estilos de texto Mestres</a:t>
            </a:r>
          </a:p>
        </p:txBody>
      </p:sp>
      <p:sp>
        <p:nvSpPr>
          <p:cNvPr id="5" name="Espaço Reservado para Data 4">
            <a:extLst xmlns:a="http://schemas.openxmlformats.org/drawingml/2006/main">
              <a:ext uri="{FF2B5EF4-FFF2-40B4-BE49-F238E27FC236}">
                <a16:creationId xmlns:a16="http://schemas.microsoft.com/office/drawing/2014/main" id="{DD46E5A0-2775-2458-F8CA-8618054BE52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F98861F-14F1-4638-96F3-2EC3397B8A64}" type="datetimeFigureOut">
              <a:t>10/1/2026</a:t>
            </a:fld>
            <a:endParaRPr/>
          </a:p>
        </p:txBody>
      </p:sp>
      <p:sp>
        <p:nvSpPr>
          <p:cNvPr id="6" name="Espaço Reservado para Rodapé 5">
            <a:extLst xmlns:a="http://schemas.openxmlformats.org/drawingml/2006/main">
              <a:ext uri="{FF2B5EF4-FFF2-40B4-BE49-F238E27FC236}">
                <a16:creationId xmlns:a16="http://schemas.microsoft.com/office/drawing/2014/main" id="{7E011452-E5BC-9116-D5C9-62CE8EA3E9B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Espaço Reservado para Número de Slide 6">
            <a:extLst xmlns:a="http://schemas.openxmlformats.org/drawingml/2006/main">
              <a:ext uri="{FF2B5EF4-FFF2-40B4-BE49-F238E27FC236}">
                <a16:creationId xmlns:a16="http://schemas.microsoft.com/office/drawing/2014/main" id="{1FAA2280-2F9B-CD21-76FE-9B687CC4F11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9D46433-43F6-4FA7-8C7B-D8B9997CD431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ítulo 1">
            <a:extLst xmlns:a="http://schemas.openxmlformats.org/drawingml/2006/main">
              <a:ext uri="{FF2B5EF4-FFF2-40B4-BE49-F238E27FC236}">
                <a16:creationId xmlns:a16="http://schemas.microsoft.com/office/drawing/2014/main" id="{5A584B22-0037-D779-B31E-0CBD5D9590A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Clique para editar o título Mestre</a:t>
            </a:r>
            <a:endParaRPr/>
          </a:p>
        </p:txBody>
      </p:sp>
      <p:sp>
        <p:nvSpPr>
          <p:cNvPr id="3" name="Espaço Reservado para Imagem 2">
            <a:extLst xmlns:a="http://schemas.openxmlformats.org/drawingml/2006/main">
              <a:ext uri="{FF2B5EF4-FFF2-40B4-BE49-F238E27FC236}">
                <a16:creationId xmlns:a16="http://schemas.microsoft.com/office/drawing/2014/main" id="{63D9A5A8-522F-7442-423C-FF960A2172B0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Espaço Reservado para Texto 3">
            <a:extLst xmlns:a="http://schemas.openxmlformats.org/drawingml/2006/main">
              <a:ext uri="{FF2B5EF4-FFF2-40B4-BE49-F238E27FC236}">
                <a16:creationId xmlns:a16="http://schemas.microsoft.com/office/drawing/2014/main" id="{2CF14AF1-770E-87EA-708A-C58DFCD1690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Clique para editar os estilos de texto Mestres</a:t>
            </a:r>
          </a:p>
        </p:txBody>
      </p:sp>
      <p:sp>
        <p:nvSpPr>
          <p:cNvPr id="5" name="Espaço Reservado para Data 4">
            <a:extLst xmlns:a="http://schemas.openxmlformats.org/drawingml/2006/main">
              <a:ext uri="{FF2B5EF4-FFF2-40B4-BE49-F238E27FC236}">
                <a16:creationId xmlns:a16="http://schemas.microsoft.com/office/drawing/2014/main" id="{56FB4D3B-09A8-A617-C314-9B55A788B54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F98861F-14F1-4638-96F3-2EC3397B8A64}" type="datetimeFigureOut">
              <a:t>10/1/2026</a:t>
            </a:fld>
            <a:endParaRPr/>
          </a:p>
        </p:txBody>
      </p:sp>
      <p:sp>
        <p:nvSpPr>
          <p:cNvPr id="6" name="Espaço Reservado para Rodapé 5">
            <a:extLst xmlns:a="http://schemas.openxmlformats.org/drawingml/2006/main">
              <a:ext uri="{FF2B5EF4-FFF2-40B4-BE49-F238E27FC236}">
                <a16:creationId xmlns:a16="http://schemas.microsoft.com/office/drawing/2014/main" id="{7AA8C1D2-73FA-FB37-E0C4-450AB6B88EC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Espaço Reservado para Número de Slide 6">
            <a:extLst xmlns:a="http://schemas.openxmlformats.org/drawingml/2006/main">
              <a:ext uri="{FF2B5EF4-FFF2-40B4-BE49-F238E27FC236}">
                <a16:creationId xmlns:a16="http://schemas.microsoft.com/office/drawing/2014/main" id="{4F0F63AE-5C5C-7FB9-D135-73B43C1CD4E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9D46433-43F6-4FA7-8C7B-D8B9997CD431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ítulo 1">
            <a:extLst xmlns:a="http://schemas.openxmlformats.org/drawingml/2006/main">
              <a:ext uri="{FF2B5EF4-FFF2-40B4-BE49-F238E27FC236}">
                <a16:creationId xmlns:a16="http://schemas.microsoft.com/office/drawing/2014/main" id="{753D6BE3-10E2-6CD8-0769-71190CE3F27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Clique para editar o título Mestre</a:t>
            </a:r>
            <a:endParaRPr/>
          </a:p>
        </p:txBody>
      </p:sp>
      <p:sp>
        <p:nvSpPr>
          <p:cNvPr id="3" name="Espaço Reservado para Texto Vertical 2">
            <a:extLst xmlns:a="http://schemas.openxmlformats.org/drawingml/2006/main">
              <a:ext uri="{FF2B5EF4-FFF2-40B4-BE49-F238E27FC236}">
                <a16:creationId xmlns:a16="http://schemas.microsoft.com/office/drawing/2014/main" id="{3DA5C966-7F5A-6880-8665-CEE849BC291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Clique para editar os estilos de texto Mestres</a:t>
            </a:r>
          </a:p>
          <a:p xmlns:a="http://schemas.openxmlformats.org/drawingml/2006/main">
            <a:pPr lvl="1">
              <a:buNone/>
            </a:pPr>
            <a:r>
              <a:t>Segundo nível</a:t>
            </a:r>
          </a:p>
          <a:p xmlns:a="http://schemas.openxmlformats.org/drawingml/2006/main">
            <a:pPr lvl="2">
              <a:buNone/>
            </a:pPr>
            <a:r>
              <a:t>Terceiro nível</a:t>
            </a:r>
          </a:p>
          <a:p xmlns:a="http://schemas.openxmlformats.org/drawingml/2006/main">
            <a:pPr lvl="3">
              <a:buNone/>
            </a:pPr>
            <a:r>
              <a:t>Quarto nível</a:t>
            </a:r>
          </a:p>
          <a:p xmlns:a="http://schemas.openxmlformats.org/drawingml/2006/main">
            <a:pPr lvl="4">
              <a:buNone/>
            </a:pPr>
            <a:r>
              <a:t>Quinto nível</a:t>
            </a:r>
            <a:endParaRPr/>
          </a:p>
        </p:txBody>
      </p:sp>
      <p:sp>
        <p:nvSpPr>
          <p:cNvPr id="4" name="Espaço Reservado para Data 3">
            <a:extLst xmlns:a="http://schemas.openxmlformats.org/drawingml/2006/main">
              <a:ext uri="{FF2B5EF4-FFF2-40B4-BE49-F238E27FC236}">
                <a16:creationId xmlns:a16="http://schemas.microsoft.com/office/drawing/2014/main" id="{52E76C36-04BE-58DF-EF8D-5A7F366F4B9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F98861F-14F1-4638-96F3-2EC3397B8A64}" type="datetimeFigureOut">
              <a:t>10/1/2026</a:t>
            </a:fld>
            <a:endParaRPr/>
          </a:p>
        </p:txBody>
      </p:sp>
      <p:sp>
        <p:nvSpPr>
          <p:cNvPr id="5" name="Espaço Reservado para Rodapé 4">
            <a:extLst xmlns:a="http://schemas.openxmlformats.org/drawingml/2006/main">
              <a:ext uri="{FF2B5EF4-FFF2-40B4-BE49-F238E27FC236}">
                <a16:creationId xmlns:a16="http://schemas.microsoft.com/office/drawing/2014/main" id="{AB0FC24D-5B3A-704C-DFDF-8E866088A79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Espaço Reservado para Número de Slide 5">
            <a:extLst xmlns:a="http://schemas.openxmlformats.org/drawingml/2006/main">
              <a:ext uri="{FF2B5EF4-FFF2-40B4-BE49-F238E27FC236}">
                <a16:creationId xmlns:a16="http://schemas.microsoft.com/office/drawing/2014/main" id="{A18A054C-500B-9D07-AD5D-40EC067468D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9D46433-43F6-4FA7-8C7B-D8B9997CD431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ítulo Vertical 1">
            <a:extLst xmlns:a="http://schemas.openxmlformats.org/drawingml/2006/main">
              <a:ext uri="{FF2B5EF4-FFF2-40B4-BE49-F238E27FC236}">
                <a16:creationId xmlns:a16="http://schemas.microsoft.com/office/drawing/2014/main" id="{B6D4F47A-3228-1470-F934-DD8291D7D8C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Clique para editar o título Mestre</a:t>
            </a:r>
            <a:endParaRPr/>
          </a:p>
        </p:txBody>
      </p:sp>
      <p:sp>
        <p:nvSpPr>
          <p:cNvPr id="3" name="Espaço Reservado para Texto Vertical 2">
            <a:extLst xmlns:a="http://schemas.openxmlformats.org/drawingml/2006/main">
              <a:ext uri="{FF2B5EF4-FFF2-40B4-BE49-F238E27FC236}">
                <a16:creationId xmlns:a16="http://schemas.microsoft.com/office/drawing/2014/main" id="{15A5D2FF-F483-A3D2-DB8D-50C574FAE04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Clique para editar os estilos de texto Mestres</a:t>
            </a:r>
          </a:p>
          <a:p xmlns:a="http://schemas.openxmlformats.org/drawingml/2006/main">
            <a:pPr lvl="1">
              <a:buNone/>
            </a:pPr>
            <a:r>
              <a:t>Segundo nível</a:t>
            </a:r>
          </a:p>
          <a:p xmlns:a="http://schemas.openxmlformats.org/drawingml/2006/main">
            <a:pPr lvl="2">
              <a:buNone/>
            </a:pPr>
            <a:r>
              <a:t>Terceiro nível</a:t>
            </a:r>
          </a:p>
          <a:p xmlns:a="http://schemas.openxmlformats.org/drawingml/2006/main">
            <a:pPr lvl="3">
              <a:buNone/>
            </a:pPr>
            <a:r>
              <a:t>Quarto nível</a:t>
            </a:r>
          </a:p>
          <a:p xmlns:a="http://schemas.openxmlformats.org/drawingml/2006/main">
            <a:pPr lvl="4">
              <a:buNone/>
            </a:pPr>
            <a:r>
              <a:t>Quinto nível</a:t>
            </a:r>
            <a:endParaRPr/>
          </a:p>
        </p:txBody>
      </p:sp>
      <p:sp>
        <p:nvSpPr>
          <p:cNvPr id="4" name="Espaço Reservado para Data 3">
            <a:extLst xmlns:a="http://schemas.openxmlformats.org/drawingml/2006/main">
              <a:ext uri="{FF2B5EF4-FFF2-40B4-BE49-F238E27FC236}">
                <a16:creationId xmlns:a16="http://schemas.microsoft.com/office/drawing/2014/main" id="{B9970E35-3EDF-6C25-6972-B74A1B64AB4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F98861F-14F1-4638-96F3-2EC3397B8A64}" type="datetimeFigureOut">
              <a:t>10/1/2026</a:t>
            </a:fld>
            <a:endParaRPr/>
          </a:p>
        </p:txBody>
      </p:sp>
      <p:sp>
        <p:nvSpPr>
          <p:cNvPr id="5" name="Espaço Reservado para Rodapé 4">
            <a:extLst xmlns:a="http://schemas.openxmlformats.org/drawingml/2006/main">
              <a:ext uri="{FF2B5EF4-FFF2-40B4-BE49-F238E27FC236}">
                <a16:creationId xmlns:a16="http://schemas.microsoft.com/office/drawing/2014/main" id="{F4EFB325-6C23-AB9E-812A-C96962039F6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Espaço Reservado para Número de Slide 5">
            <a:extLst xmlns:a="http://schemas.openxmlformats.org/drawingml/2006/main">
              <a:ext uri="{FF2B5EF4-FFF2-40B4-BE49-F238E27FC236}">
                <a16:creationId xmlns:a16="http://schemas.microsoft.com/office/drawing/2014/main" id="{73F99347-9D35-5119-B481-C2D0DE24CC0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9D46433-43F6-4FA7-8C7B-D8B9997CD431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9c1b4dca0ee4e11" /><Relationship Type="http://schemas.openxmlformats.org/officeDocument/2006/relationships/slideLayout" Target="/ppt/slideLayouts/slideLayout1.xml" Id="R6b38264aef4d43f0" /><Relationship Type="http://schemas.openxmlformats.org/officeDocument/2006/relationships/slideLayout" Target="/ppt/slideLayouts/slideLayout2.xml" Id="R93c023d563374b78" /><Relationship Type="http://schemas.openxmlformats.org/officeDocument/2006/relationships/slideLayout" Target="/ppt/slideLayouts/slideLayout3.xml" Id="R23a7975ea4b94040" /><Relationship Type="http://schemas.openxmlformats.org/officeDocument/2006/relationships/slideLayout" Target="/ppt/slideLayouts/slideLayout4.xml" Id="R01e626e1ec8c4675" /><Relationship Type="http://schemas.openxmlformats.org/officeDocument/2006/relationships/slideLayout" Target="/ppt/slideLayouts/slideLayout5.xml" Id="R7b5d66146b9b4797" /><Relationship Type="http://schemas.openxmlformats.org/officeDocument/2006/relationships/slideLayout" Target="/ppt/slideLayouts/slideLayout6.xml" Id="Rce4c21028b4b4deb" /><Relationship Type="http://schemas.openxmlformats.org/officeDocument/2006/relationships/slideLayout" Target="/ppt/slideLayouts/slideLayout7.xml" Id="R606c4bdec67148d9" /><Relationship Type="http://schemas.openxmlformats.org/officeDocument/2006/relationships/slideLayout" Target="/ppt/slideLayouts/slideLayout8.xml" Id="R159b031fb8e44043" /><Relationship Type="http://schemas.openxmlformats.org/officeDocument/2006/relationships/slideLayout" Target="/ppt/slideLayouts/slideLayout9.xml" Id="Rccc3b2f4dde444cd" /><Relationship Type="http://schemas.openxmlformats.org/officeDocument/2006/relationships/slideLayout" Target="/ppt/slideLayouts/slideLayout10.xml" Id="R7d2008ad63a4405b" /><Relationship Type="http://schemas.openxmlformats.org/officeDocument/2006/relationships/slideLayout" Target="/ppt/slideLayouts/slideLayout11.xml" Id="R76b57318bf9c4c5c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Espaço Reservado para Título 1">
            <a:extLst xmlns:a="http://schemas.openxmlformats.org/drawingml/2006/main">
              <a:ext uri="{FF2B5EF4-FFF2-40B4-BE49-F238E27FC236}">
                <a16:creationId xmlns:a16="http://schemas.microsoft.com/office/drawing/2014/main" id="{D2D640A0-A006-56DE-BB11-892018C9016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Clique para editar o título Mestre</a:t>
            </a:r>
            <a:endParaRPr/>
          </a:p>
        </p:txBody>
      </p:sp>
      <p:sp>
        <p:nvSpPr>
          <p:cNvPr id="3" name="Espaço Reservado para Texto 2">
            <a:extLst xmlns:a="http://schemas.openxmlformats.org/drawingml/2006/main">
              <a:ext uri="{FF2B5EF4-FFF2-40B4-BE49-F238E27FC236}">
                <a16:creationId xmlns:a16="http://schemas.microsoft.com/office/drawing/2014/main" id="{5D37E2E5-7A2E-EB81-A941-9FB8B7603C3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Clique para editar os estilos de texto Mestres</a:t>
            </a:r>
          </a:p>
          <a:p xmlns:a="http://schemas.openxmlformats.org/drawingml/2006/main">
            <a:pPr lvl="1">
              <a:buNone/>
            </a:pPr>
            <a:r>
              <a:t>Segundo nível</a:t>
            </a:r>
          </a:p>
          <a:p xmlns:a="http://schemas.openxmlformats.org/drawingml/2006/main">
            <a:pPr lvl="2">
              <a:buNone/>
            </a:pPr>
            <a:r>
              <a:t>Terceiro nível</a:t>
            </a:r>
          </a:p>
          <a:p xmlns:a="http://schemas.openxmlformats.org/drawingml/2006/main">
            <a:pPr lvl="3">
              <a:buNone/>
            </a:pPr>
            <a:r>
              <a:t>Quarto nível</a:t>
            </a:r>
          </a:p>
          <a:p xmlns:a="http://schemas.openxmlformats.org/drawingml/2006/main">
            <a:pPr lvl="4">
              <a:buNone/>
            </a:pPr>
            <a:r>
              <a:t>Quinto nível</a:t>
            </a:r>
            <a:endParaRPr/>
          </a:p>
        </p:txBody>
      </p:sp>
      <p:sp>
        <p:nvSpPr>
          <p:cNvPr id="4" name="Espaço Reservado para Data 3">
            <a:extLst xmlns:a="http://schemas.openxmlformats.org/drawingml/2006/main">
              <a:ext uri="{FF2B5EF4-FFF2-40B4-BE49-F238E27FC236}">
                <a16:creationId xmlns:a16="http://schemas.microsoft.com/office/drawing/2014/main" id="{35E9C82A-E612-2AFA-6FF2-370208C7C51D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fld id="{0F98861F-14F1-4638-96F3-2EC3397B8A64}" type="datetimeFigureOut">
              <a:t>10/1/2026</a:t>
            </a:fld>
            <a:endParaRPr/>
          </a:p>
        </p:txBody>
      </p:sp>
      <p:sp>
        <p:nvSpPr>
          <p:cNvPr id="5" name="Espaço Reservado para Rodapé 4">
            <a:extLst xmlns:a="http://schemas.openxmlformats.org/drawingml/2006/main">
              <a:ext uri="{FF2B5EF4-FFF2-40B4-BE49-F238E27FC236}">
                <a16:creationId xmlns:a16="http://schemas.microsoft.com/office/drawing/2014/main" id="{2D627157-860F-B582-10C9-905A776EC2DA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Espaço Reservado para Número de Slide 5">
            <a:extLst xmlns:a="http://schemas.openxmlformats.org/drawingml/2006/main">
              <a:ext uri="{FF2B5EF4-FFF2-40B4-BE49-F238E27FC236}">
                <a16:creationId xmlns:a16="http://schemas.microsoft.com/office/drawing/2014/main" id="{E68955E3-4119-E011-F308-641E09FF921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fld id="{E9D46433-43F6-4FA7-8C7B-D8B9997CD431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b38264aef4d43f0"/>
    <p:sldLayoutId xmlns:r="http://schemas.openxmlformats.org/officeDocument/2006/relationships" id="2147483650" r:id="R93c023d563374b78"/>
    <p:sldLayoutId xmlns:r="http://schemas.openxmlformats.org/officeDocument/2006/relationships" id="2147483651" r:id="R23a7975ea4b94040"/>
    <p:sldLayoutId xmlns:r="http://schemas.openxmlformats.org/officeDocument/2006/relationships" id="2147483652" r:id="R01e626e1ec8c4675"/>
    <p:sldLayoutId xmlns:r="http://schemas.openxmlformats.org/officeDocument/2006/relationships" id="2147483653" r:id="R7b5d66146b9b4797"/>
    <p:sldLayoutId xmlns:r="http://schemas.openxmlformats.org/officeDocument/2006/relationships" id="2147483654" r:id="Rce4c21028b4b4deb"/>
    <p:sldLayoutId xmlns:r="http://schemas.openxmlformats.org/officeDocument/2006/relationships" id="2147483655" r:id="R606c4bdec67148d9"/>
    <p:sldLayoutId xmlns:r="http://schemas.openxmlformats.org/officeDocument/2006/relationships" id="2147483656" r:id="R159b031fb8e44043"/>
    <p:sldLayoutId xmlns:r="http://schemas.openxmlformats.org/officeDocument/2006/relationships" id="2147483657" r:id="Rccc3b2f4dde444cd"/>
    <p:sldLayoutId xmlns:r="http://schemas.openxmlformats.org/officeDocument/2006/relationships" id="2147483658" r:id="R7d2008ad63a4405b"/>
    <p:sldLayoutId xmlns:r="http://schemas.openxmlformats.org/officeDocument/2006/relationships" id="2147483659" r:id="R76b57318bf9c4c5c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4fcbb29f6c4e6e" /><Relationship Type="http://schemas.openxmlformats.org/officeDocument/2006/relationships/image" Target="/ppt/media/image.png" Id="Rd88f5c8533f6495a" /><Relationship Type="http://schemas.openxmlformats.org/officeDocument/2006/relationships/image" Target="/ppt/media/image2.png" Id="R8eb8a0cb4e9640d9" /><Relationship Type="http://schemas.openxmlformats.org/officeDocument/2006/relationships/image" Target="/ppt/media/image3.png" Id="R975c64f6dbef4d4e" /><Relationship Type="http://schemas.openxmlformats.org/officeDocument/2006/relationships/notesSlide" Target="/ppt/notesSlides/notesSlide1.xml" Id="Rb865f8a2420b4a8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6650b4e1c04ee6" /><Relationship Type="http://schemas.openxmlformats.org/officeDocument/2006/relationships/image" Target="/ppt/media/image2.png" Id="R4efdd43d0e934be2" /><Relationship Type="http://schemas.openxmlformats.org/officeDocument/2006/relationships/notesSlide" Target="/ppt/notesSlides/notesSlide2.xml" Id="R2cf54ea91de649d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c88c58cb1745ee" /><Relationship Type="http://schemas.openxmlformats.org/officeDocument/2006/relationships/image" Target="/ppt/media/image2.png" Id="R55f206aa18c846b7" /><Relationship Type="http://schemas.openxmlformats.org/officeDocument/2006/relationships/notesSlide" Target="/ppt/notesSlides/notesSlide3.xml" Id="Rf9b12e61fb944c4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5ec53bd1394021" /><Relationship Type="http://schemas.openxmlformats.org/officeDocument/2006/relationships/image" Target="/ppt/media/image2.png" Id="R11fda6fff74b4527" /><Relationship Type="http://schemas.openxmlformats.org/officeDocument/2006/relationships/chart" Target="/ppt/slides/charts/chart1.xml" Id="R707695ff1e254323" /><Relationship Type="http://schemas.openxmlformats.org/officeDocument/2006/relationships/chart" Target="/ppt/slides/charts/chart2.xml" Id="R2a1d5a23209d480c" /><Relationship Type="http://schemas.openxmlformats.org/officeDocument/2006/relationships/notesSlide" Target="/ppt/notesSlides/notesSlide4.xml" Id="Rb6ac105ebbc4474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aeb9bbe38448fb" /><Relationship Type="http://schemas.openxmlformats.org/officeDocument/2006/relationships/image" Target="/ppt/media/image2.png" Id="Rb28ea91c30f445da" /><Relationship Type="http://schemas.openxmlformats.org/officeDocument/2006/relationships/chart" Target="/ppt/slides/charts/chart3.xml" Id="Reba8861be8624bfa" /><Relationship Type="http://schemas.openxmlformats.org/officeDocument/2006/relationships/notesSlide" Target="/ppt/notesSlides/notesSlide5.xml" Id="Rbf24e2efedec482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183c07fd6947f2" /><Relationship Type="http://schemas.openxmlformats.org/officeDocument/2006/relationships/image" Target="/ppt/media/image2.png" Id="R6cf2f602ac394883" /><Relationship Type="http://schemas.openxmlformats.org/officeDocument/2006/relationships/notesSlide" Target="/ppt/notesSlides/notesSlide6.xml" Id="R3ef0941418434c1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63b71018534d73" /><Relationship Type="http://schemas.openxmlformats.org/officeDocument/2006/relationships/image" Target="/ppt/media/image2.png" Id="R14ee7e96bdf6490e" /><Relationship Type="http://schemas.openxmlformats.org/officeDocument/2006/relationships/notesSlide" Target="/ppt/notesSlides/notesSlide7.xml" Id="Re6e601eed7f648f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2671590cfc4e3a" /><Relationship Type="http://schemas.openxmlformats.org/officeDocument/2006/relationships/image" Target="/ppt/media/image2.png" Id="Ra219b6375bbc409a" /><Relationship Type="http://schemas.openxmlformats.org/officeDocument/2006/relationships/notesSlide" Target="/ppt/notesSlides/notesSlide8.xml" Id="R4a5070a1b2124b6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e6b3f6d39d4fad" /><Relationship Type="http://schemas.openxmlformats.org/officeDocument/2006/relationships/image" Target="/ppt/media/image2.png" Id="R4589307dcb974959" /><Relationship Type="http://schemas.openxmlformats.org/officeDocument/2006/relationships/notesSlide" Target="/ppt/notesSlides/notesSlide9.xml" Id="R107680abe1d8476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567e1b26f14ae7" /><Relationship Type="http://schemas.openxmlformats.org/officeDocument/2006/relationships/image" Target="/ppt/media/image2.png" Id="R1fb065b980b742c8" /><Relationship Type="http://schemas.openxmlformats.org/officeDocument/2006/relationships/notesSlide" Target="/ppt/notesSlides/notesSlide10.xml" Id="Rd02736ea0fa449f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9de22004314113" /><Relationship Type="http://schemas.openxmlformats.org/officeDocument/2006/relationships/image" Target="/ppt/media/image2.png" Id="R25fe4090c6804bec" /><Relationship Type="http://schemas.openxmlformats.org/officeDocument/2006/relationships/notesSlide" Target="/ppt/notesSlides/notesSlide11.xml" Id="R4c656679b51d48d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dac6e9050549f1" /><Relationship Type="http://schemas.openxmlformats.org/officeDocument/2006/relationships/image" Target="/ppt/media/image2.png" Id="R391a9bd9998e4bf1" /><Relationship Type="http://schemas.openxmlformats.org/officeDocument/2006/relationships/notesSlide" Target="/ppt/notesSlides/notesSlide12.xml" Id="R5355634c72f7418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1f138a5d364dfe" /><Relationship Type="http://schemas.openxmlformats.org/officeDocument/2006/relationships/image" Target="/ppt/media/image2.png" Id="Rc229947988c64384" /><Relationship Type="http://schemas.openxmlformats.org/officeDocument/2006/relationships/notesSlide" Target="/ppt/notesSlides/notesSlide13.xml" Id="Ra695bb9526bb4bc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c5dab0e55f4804" /><Relationship Type="http://schemas.openxmlformats.org/officeDocument/2006/relationships/image" Target="/ppt/media/image2.png" Id="Rae06a862605846ee" /><Relationship Type="http://schemas.openxmlformats.org/officeDocument/2006/relationships/notesSlide" Target="/ppt/notesSlides/notesSlide14.xml" Id="R7a0e6ddf684b4e24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fc8b7e89f44178" /><Relationship Type="http://schemas.openxmlformats.org/officeDocument/2006/relationships/image" Target="/ppt/media/image2.png" Id="Rb5af2257cb434b7d" /><Relationship Type="http://schemas.openxmlformats.org/officeDocument/2006/relationships/notesSlide" Target="/ppt/notesSlides/notesSlide15.xml" Id="R3cd31616a72b4da8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e9f0a052fe48d7" /><Relationship Type="http://schemas.openxmlformats.org/officeDocument/2006/relationships/image" Target="/ppt/media/image2.png" Id="Rc1ee6c586aaf4654" /><Relationship Type="http://schemas.openxmlformats.org/officeDocument/2006/relationships/notesSlide" Target="/ppt/notesSlides/notesSlide16.xml" Id="R1c5ff638a3824eba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1740c6977b4ccf" /><Relationship Type="http://schemas.openxmlformats.org/officeDocument/2006/relationships/image" Target="/ppt/media/image2.png" Id="Rf2f200b1ff8d4b84" /><Relationship Type="http://schemas.openxmlformats.org/officeDocument/2006/relationships/chart" Target="/ppt/slides/charts/chart4.xml" Id="Rce9998ce842a4028" /><Relationship Type="http://schemas.openxmlformats.org/officeDocument/2006/relationships/notesSlide" Target="/ppt/notesSlides/notesSlide17.xml" Id="Racdb887fe8d64b38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64f28fcaf74aec" /><Relationship Type="http://schemas.openxmlformats.org/officeDocument/2006/relationships/image" Target="/ppt/media/image2.png" Id="Rde4fc074a6de472f" /><Relationship Type="http://schemas.openxmlformats.org/officeDocument/2006/relationships/notesSlide" Target="/ppt/notesSlides/notesSlide18.xml" Id="Rb81ab446b8c74f8c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fc14db6913459f" /><Relationship Type="http://schemas.openxmlformats.org/officeDocument/2006/relationships/image" Target="/ppt/media/image2.png" Id="Rc2fa185fbc22447a" /><Relationship Type="http://schemas.openxmlformats.org/officeDocument/2006/relationships/chart" Target="/ppt/slides/charts/chart5.xml" Id="R61673435519e4928" /><Relationship Type="http://schemas.openxmlformats.org/officeDocument/2006/relationships/chart" Target="/ppt/slides/charts/chart6.xml" Id="Raa3243f79cde48fd" /><Relationship Type="http://schemas.openxmlformats.org/officeDocument/2006/relationships/notesSlide" Target="/ppt/notesSlides/notesSlide19.xml" Id="Rae76b7d6e25745e1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e0798acacb4271" /><Relationship Type="http://schemas.openxmlformats.org/officeDocument/2006/relationships/image" Target="/ppt/media/image2.png" Id="Rf793f790a5004c69" /><Relationship Type="http://schemas.openxmlformats.org/officeDocument/2006/relationships/image" Target="/ppt/media/image4.png" Id="Ra8a65da7e9514db8" /><Relationship Type="http://schemas.openxmlformats.org/officeDocument/2006/relationships/notesSlide" Target="/ppt/notesSlides/notesSlide20.xml" Id="R116e84d6f62746a0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9a8033b0b843e1" /><Relationship Type="http://schemas.openxmlformats.org/officeDocument/2006/relationships/image" Target="/ppt/media/image2.png" Id="Rd1f3e00ecc3d4a27" /><Relationship Type="http://schemas.openxmlformats.org/officeDocument/2006/relationships/image" Target="/ppt/media/image5.png" Id="Rcccfc6da4a934f4e" /><Relationship Type="http://schemas.openxmlformats.org/officeDocument/2006/relationships/notesSlide" Target="/ppt/notesSlides/notesSlide21.xml" Id="R5129c8d961bd40dd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fda42711874ba0" /><Relationship Type="http://schemas.openxmlformats.org/officeDocument/2006/relationships/image" Target="/ppt/media/image2.png" Id="R83c536841f6e4443" /><Relationship Type="http://schemas.openxmlformats.org/officeDocument/2006/relationships/notesSlide" Target="/ppt/notesSlides/notesSlide22.xml" Id="Rc58d61f16c8d4bec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2d6846c84042c2" /><Relationship Type="http://schemas.openxmlformats.org/officeDocument/2006/relationships/image" Target="/ppt/media/image2.png" Id="R4b0b3b8941304165" /><Relationship Type="http://schemas.openxmlformats.org/officeDocument/2006/relationships/notesSlide" Target="/ppt/notesSlides/notesSlide23.xml" Id="R7a857a736f7a4dd0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ea548750e0445d" /><Relationship Type="http://schemas.openxmlformats.org/officeDocument/2006/relationships/image" Target="/ppt/media/image2.png" Id="R2f8353b3503d4123" /><Relationship Type="http://schemas.openxmlformats.org/officeDocument/2006/relationships/notesSlide" Target="/ppt/notesSlides/notesSlide24.xml" Id="Ra602bb8949614d03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019fba9f7c46ac" /><Relationship Type="http://schemas.openxmlformats.org/officeDocument/2006/relationships/image" Target="/ppt/media/image2.png" Id="Re2be07892ade4a1f" /><Relationship Type="http://schemas.openxmlformats.org/officeDocument/2006/relationships/chart" Target="/ppt/slides/charts/chart7.xml" Id="R680784bee85847d7" /><Relationship Type="http://schemas.openxmlformats.org/officeDocument/2006/relationships/notesSlide" Target="/ppt/notesSlides/notesSlide25.xml" Id="Ra18017af6c914cf9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902f5b75ba4149" /><Relationship Type="http://schemas.openxmlformats.org/officeDocument/2006/relationships/image" Target="/ppt/media/image2.png" Id="Rd3facea3d30c40b5" /><Relationship Type="http://schemas.openxmlformats.org/officeDocument/2006/relationships/notesSlide" Target="/ppt/notesSlides/notesSlide26.xml" Id="R470bfaa36ba44479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042077cc534764" /><Relationship Type="http://schemas.openxmlformats.org/officeDocument/2006/relationships/image" Target="/ppt/media/image2.png" Id="R841ce3c3013d4067" /><Relationship Type="http://schemas.openxmlformats.org/officeDocument/2006/relationships/notesSlide" Target="/ppt/notesSlides/notesSlide27.xml" Id="R1590c91ed98c44e4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193a8ca5584ac9" /><Relationship Type="http://schemas.openxmlformats.org/officeDocument/2006/relationships/image" Target="/ppt/media/image2.png" Id="R199f0e3426284016" /><Relationship Type="http://schemas.openxmlformats.org/officeDocument/2006/relationships/notesSlide" Target="/ppt/notesSlides/notesSlide28.xml" Id="R1f6ece526cef4c75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70fbe22c8e41c5" /><Relationship Type="http://schemas.openxmlformats.org/officeDocument/2006/relationships/image" Target="/ppt/media/image2.png" Id="R34a5d2ca0a83428e" /><Relationship Type="http://schemas.openxmlformats.org/officeDocument/2006/relationships/notesSlide" Target="/ppt/notesSlides/notesSlide29.xml" Id="Ra0cdea42bc1c4489" /></Relationships>
</file>

<file path=ppt/slides/_rels/slide30.xml.rels><?xml version='1.0' encoding='UTF-8'?>
<Relationships xmlns="http://schemas.openxmlformats.org/package/2006/relationships"><Relationship Type="http://schemas.openxmlformats.org/officeDocument/2006/relationships/slideLayout" Target="/ppt/slideLayouts/slideLayout1.xml" Id="R3c4a34e64ba74fb3"/><Relationship Type="http://schemas.openxmlformats.org/officeDocument/2006/relationships/image" Target="/ppt/media/image2.png" Id="R8ec8d69813984cff"/><Relationship Type="http://schemas.openxmlformats.org/officeDocument/2006/relationships/image" Target="/ppt/media/lstm_classic_user.png" Id="Re70b4962dd8f4441"/><Relationship Type="http://schemas.openxmlformats.org/officeDocument/2006/relationships/notesSlide" Target="/ppt/notesSlides/notesSlide30.xml" Id="Re0d4c79da24b4b84"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da7ba13fbb4542" /><Relationship Type="http://schemas.openxmlformats.org/officeDocument/2006/relationships/image" Target="/ppt/media/image2.png" Id="Rc67612e43c554f6d" /><Relationship Type="http://schemas.openxmlformats.org/officeDocument/2006/relationships/chart" Target="/ppt/slides/charts/chart8.xml" Id="Rce9e723d4a054b90" /><Relationship Type="http://schemas.openxmlformats.org/officeDocument/2006/relationships/notesSlide" Target="/ppt/notesSlides/notesSlide31.xml" Id="R62a4d6a8020a4ae8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8e10386e6c4c81" /><Relationship Type="http://schemas.openxmlformats.org/officeDocument/2006/relationships/image" Target="/ppt/media/image2.png" Id="R0a2bc10425ed4aaa" /><Relationship Type="http://schemas.openxmlformats.org/officeDocument/2006/relationships/notesSlide" Target="/ppt/notesSlides/notesSlide32.xml" Id="R8ec4825071694d84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3c4d7dc1d24772" /><Relationship Type="http://schemas.openxmlformats.org/officeDocument/2006/relationships/image" Target="/ppt/media/image2.png" Id="R8febdb215b8f44ea" /><Relationship Type="http://schemas.openxmlformats.org/officeDocument/2006/relationships/image" Target="/ppt/media/image6.png" Id="R47d181f2cf514e9c" /><Relationship Type="http://schemas.openxmlformats.org/officeDocument/2006/relationships/notesSlide" Target="/ppt/notesSlides/notesSlide33.xml" Id="R9dd198d487314632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498ff404a54384" /><Relationship Type="http://schemas.openxmlformats.org/officeDocument/2006/relationships/image" Target="/ppt/media/image2.png" Id="Ra367d8d371e34885" /><Relationship Type="http://schemas.openxmlformats.org/officeDocument/2006/relationships/notesSlide" Target="/ppt/notesSlides/notesSlide34.xml" Id="Rd5925b7797194972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c8326db07144df" /><Relationship Type="http://schemas.openxmlformats.org/officeDocument/2006/relationships/image" Target="/ppt/media/image2.png" Id="R2b29bc481306457c" /><Relationship Type="http://schemas.openxmlformats.org/officeDocument/2006/relationships/notesSlide" Target="/ppt/notesSlides/notesSlide35.xml" Id="R30b0c2c3540e497b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62b382259440dd" /><Relationship Type="http://schemas.openxmlformats.org/officeDocument/2006/relationships/image" Target="/ppt/media/image2.png" Id="R0711545387294581" /><Relationship Type="http://schemas.openxmlformats.org/officeDocument/2006/relationships/notesSlide" Target="/ppt/notesSlides/notesSlide36.xml" Id="Ra2dd43e1616f4a96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8ffe58b25d4660" /><Relationship Type="http://schemas.openxmlformats.org/officeDocument/2006/relationships/image" Target="/ppt/media/image2.png" Id="R3af465fd3fee48e8" /><Relationship Type="http://schemas.openxmlformats.org/officeDocument/2006/relationships/notesSlide" Target="/ppt/notesSlides/notesSlide37.xml" Id="Rf321b5ed821842d7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778d326faa4d9d" /><Relationship Type="http://schemas.openxmlformats.org/officeDocument/2006/relationships/image" Target="/ppt/media/image2.png" Id="R88096c737e9c44ee" /><Relationship Type="http://schemas.openxmlformats.org/officeDocument/2006/relationships/notesSlide" Target="/ppt/notesSlides/notesSlide38.xml" Id="Rf2b08a09835941f8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33f0b36db54995" /><Relationship Type="http://schemas.openxmlformats.org/officeDocument/2006/relationships/image" Target="/ppt/media/image2.png" Id="R6ac6fbfd51e74aaf" /><Relationship Type="http://schemas.openxmlformats.org/officeDocument/2006/relationships/notesSlide" Target="/ppt/notesSlides/notesSlide39.xml" Id="R1f41c76008c24c32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b94f5c1e894836" /><Relationship Type="http://schemas.openxmlformats.org/officeDocument/2006/relationships/image" Target="/ppt/media/image2.png" Id="R2e0fe5d180b64162" /><Relationship Type="http://schemas.openxmlformats.org/officeDocument/2006/relationships/notesSlide" Target="/ppt/notesSlides/notesSlide40.xml" Id="R1e9d7343445c470d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e7476417844cd0" /><Relationship Type="http://schemas.openxmlformats.org/officeDocument/2006/relationships/image" Target="/ppt/media/image2.png" Id="R3c8b7d03f31b4975" /><Relationship Type="http://schemas.openxmlformats.org/officeDocument/2006/relationships/notesSlide" Target="/ppt/notesSlides/notesSlide41.xml" Id="Ra71fd5146e0d479c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71caa899e54272" /><Relationship Type="http://schemas.openxmlformats.org/officeDocument/2006/relationships/image" Target="/ppt/media/image2.png" Id="Rf90fa0e193624b5b" /><Relationship Type="http://schemas.openxmlformats.org/officeDocument/2006/relationships/chart" Target="/ppt/slides/charts/chart9.xml" Id="R8b5dce005b484491" /><Relationship Type="http://schemas.openxmlformats.org/officeDocument/2006/relationships/notesSlide" Target="/ppt/notesSlides/notesSlide42.xml" Id="R7b1759d0ae2a4a70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1ffe19cde04696" /><Relationship Type="http://schemas.openxmlformats.org/officeDocument/2006/relationships/image" Target="/ppt/media/image2.png" Id="R16bfb4dc9e854e0f" /><Relationship Type="http://schemas.openxmlformats.org/officeDocument/2006/relationships/notesSlide" Target="/ppt/notesSlides/notesSlide43.xml" Id="R81cbe4934c6b437d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434c7e4e014655" /><Relationship Type="http://schemas.openxmlformats.org/officeDocument/2006/relationships/image" Target="/ppt/media/image2.png" Id="R56ce77fa73024075" /><Relationship Type="http://schemas.openxmlformats.org/officeDocument/2006/relationships/notesSlide" Target="/ppt/notesSlides/notesSlide44.xml" Id="R3e412e77479141f5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156ad531924738" /><Relationship Type="http://schemas.openxmlformats.org/officeDocument/2006/relationships/image" Target="/ppt/media/image2.png" Id="R6c027c43d8744171" /><Relationship Type="http://schemas.openxmlformats.org/officeDocument/2006/relationships/notesSlide" Target="/ppt/notesSlides/notesSlide45.xml" Id="R144c710ac1604c98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46790365b34ed2" /><Relationship Type="http://schemas.openxmlformats.org/officeDocument/2006/relationships/image" Target="/ppt/media/image2.png" Id="R81bedc6722ee40f2" /><Relationship Type="http://schemas.openxmlformats.org/officeDocument/2006/relationships/notesSlide" Target="/ppt/notesSlides/notesSlide46.xml" Id="R665df08c7a2f4d60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ac0a247ed445b4" /><Relationship Type="http://schemas.openxmlformats.org/officeDocument/2006/relationships/image" Target="/ppt/media/image2.png" Id="Rda31236319844fda" /><Relationship Type="http://schemas.openxmlformats.org/officeDocument/2006/relationships/notesSlide" Target="/ppt/notesSlides/notesSlide47.xml" Id="Rd5e5b11e5b01403e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_rels/chart4.xml.rels><Relationships xmlns="http://schemas.openxmlformats.org/package/2006/relationships"><Relationship Id="rIdChartSnapshot1" Type="http://schemas.openxmlformats.org/officeDocument/2006/relationships/package" Target="../../embeddings/chart-data-snapshot-004.xlsx"/></Relationships>
</file>

<file path=ppt/slides/charts/_rels/chart5.xml.rels><Relationships xmlns="http://schemas.openxmlformats.org/package/2006/relationships"><Relationship Id="rIdChartSnapshot1" Type="http://schemas.openxmlformats.org/officeDocument/2006/relationships/package" Target="../../embeddings/chart-data-snapshot-005.xlsx"/></Relationships>
</file>

<file path=ppt/slides/charts/_rels/chart6.xml.rels><Relationships xmlns="http://schemas.openxmlformats.org/package/2006/relationships"><Relationship Id="rIdChartSnapshot1" Type="http://schemas.openxmlformats.org/officeDocument/2006/relationships/package" Target="../../embeddings/chart-data-snapshot-006.xlsx"/></Relationships>
</file>

<file path=ppt/slides/charts/_rels/chart7.xml.rels><Relationships xmlns="http://schemas.openxmlformats.org/package/2006/relationships"><Relationship Id="rIdChartSnapshot1" Type="http://schemas.openxmlformats.org/officeDocument/2006/relationships/package" Target="../../embeddings/chart-data-snapshot-007.xlsx"/></Relationships>
</file>

<file path=ppt/slides/charts/_rels/chart8.xml.rels><Relationships xmlns="http://schemas.openxmlformats.org/package/2006/relationships"><Relationship Id="rIdChartSnapshot1" Type="http://schemas.openxmlformats.org/officeDocument/2006/relationships/package" Target="../../embeddings/chart-data-snapshot-008.xlsx"/></Relationships>
</file>

<file path=ppt/slides/charts/_rels/chart9.xml.rels><Relationships xmlns="http://schemas.openxmlformats.org/package/2006/relationships"><Relationship Id="rIdChartSnapshot1" Type="http://schemas.openxmlformats.org/officeDocument/2006/relationships/package" Target="../../embeddings/chart-data-snapshot-009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Chuva sintética</c:v>
          </c:tx>
          <c:spPr>
            <a:solidFill xmlns:a="http://schemas.openxmlformats.org/drawingml/2006/main">
              <a:srgbClr val="83DFFF"/>
            </a:solidFill>
          </c:spPr>
          <c:cat>
            <c:numRef>
              <c:f>'Chart Data'!$A$2:$A$16</c:f>
              <c:numCache>
                <c:formatCode>0</c:formatCode>
                <c:ptCount val="15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</c:numCache>
            </c:numRef>
          </c:cat>
          <c:val>
            <c:numRef>
              <c:f>'Chart Data'!$B$2:$B$16</c:f>
              <c:numCache>
                <c:formatCode>0</c:formatCode>
                <c:ptCount val="15"/>
                <c:pt idx="0">
                  <c:v>0</c:v>
                </c:pt>
                <c:pt idx="1">
                  <c:v>0</c:v>
                </c:pt>
                <c:pt idx="2">
                  <c:v>5</c:v>
                </c:pt>
                <c:pt idx="3">
                  <c:v>25</c:v>
                </c:pt>
                <c:pt idx="4">
                  <c:v>12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JetBrains Mono"/>
                  <a:ea typeface="JetBrains Mono"/>
                  <a:cs typeface="JetBrains Mono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40"/>
        <c:axId val="48650112"/>
        <c:axId val="48672768"/>
      </c:barChart>
      <c:catAx>
        <c:axId val="48650112"/>
        <c:scaling>
          <c:orientation val="minMax"/>
        </c:scaling>
        <c:delete val="1"/>
        <c:axPos val="b"/>
        <c:majorGridlines>
          <c:spPr>
            <a:ln xmlns:a="http://schemas.openxmlformats.org/drawingml/2006/main" w="6668">
              <a:solidFill>
                <a:srgbClr val="263A53"/>
              </a:solidFill>
            </a:ln>
          </c:spPr>
        </c:majorGridlines>
        <c:numFmt formatCode="0"/>
        <c:majorTickMark val="none"/>
        <c:minorTickMark val="none"/>
        <c:tickLblPos val="low"/>
        <c:spPr>
          <a:ln xmlns:a="http://schemas.openxmlformats.org/drawingml/2006/main" w="9525">
            <a:solidFill>
              <a:srgbClr val="91A4BD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</a:p>
        </c:txPr>
        <c:crossAx val="48672768"/>
      </c:catAx>
      <c:valAx>
        <c:axId val="48672768"/>
        <c:scaling>
          <c:orientation val="minMax"/>
          <c:max val="30"/>
          <c:min val="0"/>
        </c:scaling>
        <c:delete val="0"/>
        <c:axPos val="l"/>
        <c:majorGridlines>
          <c:spPr>
            <a:ln xmlns:a="http://schemas.openxmlformats.org/drawingml/2006/main" w="6668">
              <a:solidFill>
                <a:srgbClr val="263A53"/>
              </a:solidFill>
            </a:ln>
          </c:spPr>
        </c:majorGridlines>
        <c:numFmt formatCode="0"/>
        <c:majorTickMark val="none"/>
        <c:minorTickMark val="none"/>
        <c:tickLblPos val="low"/>
        <c:spPr>
          <a:ln xmlns:a="http://schemas.openxmlformats.org/drawingml/2006/main" w="9525">
            <a:solidFill>
              <a:srgbClr val="91A4BD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</a:p>
        </c:txPr>
        <c:crossAx val="48650112"/>
        <c:crossBetween val="between"/>
        <c:majorUnit val="15"/>
      </c:valAx>
      <c:spPr>
        <a:solidFill xmlns:a="http://schemas.openxmlformats.org/drawingml/2006/main">
          <a:srgbClr val="000F29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000F29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ser>
          <c:idx val="0"/>
          <c:order val="0"/>
          <c:tx>
            <c:v>Vazão sintética</c:v>
          </c:tx>
          <c:spPr>
            <a:solidFill xmlns:a="http://schemas.openxmlformats.org/drawingml/2006/main">
              <a:srgbClr val="83DFFF"/>
            </a:solidFill>
            <a:ln xmlns:a="http://schemas.openxmlformats.org/drawingml/2006/main" w="28575">
              <a:solidFill>
                <a:srgbClr val="83DFFF"/>
              </a:solidFill>
            </a:ln>
          </c:spPr>
          <c:marker>
            <c:symbol val="none"/>
          </c:marker>
          <c:xVal>
            <c:numRef>
              <c:f>'Chart Data'!$A$2:$A$16</c:f>
              <c:numCache>
                <c:formatCode>General</c:formatCode>
                <c:ptCount val="15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</c:numCache>
            </c:numRef>
          </c:xVal>
          <c:yVal>
            <c:numRef>
              <c:f>'Chart Data'!$B$2:$B$16</c:f>
              <c:numCache>
                <c:formatCode>0</c:formatCode>
                <c:ptCount val="15"/>
                <c:pt idx="0">
                  <c:v>10</c:v>
                </c:pt>
                <c:pt idx="1">
                  <c:v>10</c:v>
                </c:pt>
                <c:pt idx="2">
                  <c:v>11</c:v>
                </c:pt>
                <c:pt idx="3">
                  <c:v>15</c:v>
                </c:pt>
                <c:pt idx="4">
                  <c:v>29</c:v>
                </c:pt>
                <c:pt idx="5">
                  <c:v>41</c:v>
                </c:pt>
                <c:pt idx="6">
                  <c:v>34</c:v>
                </c:pt>
                <c:pt idx="7">
                  <c:v>27</c:v>
                </c:pt>
                <c:pt idx="8">
                  <c:v>22</c:v>
                </c:pt>
                <c:pt idx="9">
                  <c:v>18</c:v>
                </c:pt>
                <c:pt idx="10">
                  <c:v>15</c:v>
                </c:pt>
                <c:pt idx="11">
                  <c:v>13</c:v>
                </c:pt>
                <c:pt idx="12">
                  <c:v>12</c:v>
                </c:pt>
                <c:pt idx="13">
                  <c:v>11</c:v>
                </c:pt>
                <c:pt idx="14">
                  <c:v>10</c:v>
                </c:pt>
              </c:numCache>
            </c:numRef>
          </c:y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JetBrains Mono"/>
                  <a:ea typeface="JetBrains Mono"/>
                  <a:cs typeface="JetBrains Mono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45"/>
          <c:min val="0"/>
        </c:scaling>
        <c:delete val="0"/>
        <c:axPos val="l"/>
        <c:majorGridlines>
          <c:spPr>
            <a:ln xmlns:a="http://schemas.openxmlformats.org/drawingml/2006/main" w="6668">
              <a:solidFill>
                <a:srgbClr val="263A53"/>
              </a:solidFill>
            </a:ln>
          </c:spPr>
        </c:majorGridlines>
        <c:numFmt formatCode="0"/>
        <c:majorTickMark val="none"/>
        <c:minorTickMark val="none"/>
        <c:tickLblPos val="low"/>
        <c:spPr>
          <a:ln xmlns:a="http://schemas.openxmlformats.org/drawingml/2006/main" w="9525">
            <a:solidFill>
              <a:srgbClr val="91A4BD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</a:p>
        </c:txPr>
        <c:crossAx val="48650112"/>
        <c:majorUnit val="15"/>
      </c:valAx>
      <c:valAx>
        <c:axId val="48650112"/>
        <c:scaling>
          <c:orientation val="minMax"/>
          <c:max val="15"/>
          <c:min val="1"/>
        </c:scaling>
        <c:delete val="0"/>
        <c:axPos val="b"/>
        <c:majorGridlines>
          <c:spPr>
            <a:ln xmlns:a="http://schemas.openxmlformats.org/drawingml/2006/main" w="6668">
              <a:solidFill>
                <a:srgbClr val="263A53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75">
                    <a:solidFill>
                      <a:srgbClr val="FFFFFF"/>
                    </a:solidFill>
                    <a:latin typeface="JetBrains Mono"/>
                    <a:ea typeface="JetBrains Mono"/>
                    <a:cs typeface="JetBrains Mono"/>
                  </a:rPr>
                  <a:t>Dia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75">
                  <a:solidFill>
                    <a:srgbClr val="FFFFFF"/>
                  </a:solidFill>
                  <a:latin typeface="JetBrains Mono"/>
                  <a:ea typeface="JetBrains Mono"/>
                  <a:cs typeface="JetBrains Mono"/>
                </a:defRPr>
              </a:pPr>
            </a:p>
          </c:txPr>
        </c:title>
        <c:numFmt formatCode="0"/>
        <c:majorTickMark val="none"/>
        <c:minorTickMark val="none"/>
        <c:tickLblPos val="low"/>
        <c:spPr>
          <a:ln xmlns:a="http://schemas.openxmlformats.org/drawingml/2006/main" w="9525">
            <a:solidFill>
              <a:srgbClr val="91A4BD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</a:p>
        </c:txPr>
        <c:crossAx val="48672768"/>
        <c:majorUnit val="7"/>
      </c:valAx>
      <c:spPr>
        <a:solidFill xmlns:a="http://schemas.openxmlformats.org/drawingml/2006/main">
          <a:srgbClr val="000F29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000F29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ser>
          <c:idx val="0"/>
          <c:order val="0"/>
          <c:tx>
            <c:v>Antecedente seco</c:v>
          </c:tx>
          <c:spPr>
            <a:solidFill xmlns:a="http://schemas.openxmlformats.org/drawingml/2006/main">
              <a:srgbClr val="91A4BD"/>
            </a:solidFill>
            <a:ln xmlns:a="http://schemas.openxmlformats.org/drawingml/2006/main" w="28575">
              <a:solidFill>
                <a:srgbClr val="91A4BD"/>
              </a:solidFill>
            </a:ln>
          </c:spPr>
          <c:marker>
            <c:symbol val="none"/>
          </c:marker>
          <c:xVal>
            <c:numRef>
              <c:f>'Chart Data'!$A$2:$A$8</c:f>
              <c:numCache>
                <c:formatCode>General</c:formatCode>
                <c:ptCount val="7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</c:numCache>
            </c:numRef>
          </c:xVal>
          <c:yVal>
            <c:numRef>
              <c:f>'Chart Data'!$B$2:$B$8</c:f>
              <c:numCache>
                <c:formatCode>0</c:formatCode>
                <c:ptCount val="7"/>
                <c:pt idx="0">
                  <c:v>10</c:v>
                </c:pt>
                <c:pt idx="1">
                  <c:v>13</c:v>
                </c:pt>
                <c:pt idx="2">
                  <c:v>22</c:v>
                </c:pt>
                <c:pt idx="3">
                  <c:v>19</c:v>
                </c:pt>
                <c:pt idx="4">
                  <c:v>15</c:v>
                </c:pt>
                <c:pt idx="5">
                  <c:v>12</c:v>
                </c:pt>
                <c:pt idx="6">
                  <c:v>10</c:v>
                </c:pt>
              </c:numCache>
            </c:numRef>
          </c:yVal>
          <c:smooth val="0"/>
        </c:ser>
        <c:ser>
          <c:idx val="1"/>
          <c:order val="1"/>
          <c:tx>
            <c:v>Antecedente úmido</c:v>
          </c:tx>
          <c:spPr>
            <a:solidFill xmlns:a="http://schemas.openxmlformats.org/drawingml/2006/main">
              <a:srgbClr val="83DFFF"/>
            </a:solidFill>
            <a:ln xmlns:a="http://schemas.openxmlformats.org/drawingml/2006/main" w="28575">
              <a:solidFill>
                <a:srgbClr val="83DFFF"/>
              </a:solidFill>
            </a:ln>
          </c:spPr>
          <c:marker>
            <c:symbol val="none"/>
          </c:marker>
          <c:xVal>
            <c:numRef>
              <c:f>'Chart Data'!$C$2:$C$8</c:f>
              <c:numCache>
                <c:formatCode>General</c:formatCode>
                <c:ptCount val="7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</c:numCache>
            </c:numRef>
          </c:xVal>
          <c:yVal>
            <c:numRef>
              <c:f>'Chart Data'!$D$2:$D$8</c:f>
              <c:numCache>
                <c:formatCode>0</c:formatCode>
                <c:ptCount val="7"/>
                <c:pt idx="0">
                  <c:v>10</c:v>
                </c:pt>
                <c:pt idx="1">
                  <c:v>24</c:v>
                </c:pt>
                <c:pt idx="2">
                  <c:v>42</c:v>
                </c:pt>
                <c:pt idx="3">
                  <c:v>35</c:v>
                </c:pt>
                <c:pt idx="4">
                  <c:v>25</c:v>
                </c:pt>
                <c:pt idx="5">
                  <c:v>17</c:v>
                </c:pt>
                <c:pt idx="6">
                  <c:v>12</c:v>
                </c:pt>
              </c:numCache>
            </c:numRef>
          </c:y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JetBrains Mono"/>
                  <a:ea typeface="JetBrains Mono"/>
                  <a:cs typeface="JetBrains Mono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50"/>
          <c:min val="0"/>
        </c:scaling>
        <c:delete val="0"/>
        <c:axPos val="l"/>
        <c:majorGridlines>
          <c:spPr>
            <a:ln xmlns:a="http://schemas.openxmlformats.org/drawingml/2006/main" w="6668">
              <a:solidFill>
                <a:srgbClr val="263A53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75">
                    <a:solidFill>
                      <a:srgbClr val="FFFFFF"/>
                    </a:solidFill>
                    <a:latin typeface="JetBrains Mono"/>
                    <a:ea typeface="JetBrains Mono"/>
                    <a:cs typeface="JetBrains Mono"/>
                  </a:rPr>
                  <a:t>Vazão (m³/s)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75">
                  <a:solidFill>
                    <a:srgbClr val="FFFFFF"/>
                  </a:solidFill>
                  <a:latin typeface="JetBrains Mono"/>
                  <a:ea typeface="JetBrains Mono"/>
                  <a:cs typeface="JetBrains Mono"/>
                </a:defRPr>
              </a:pPr>
            </a:p>
          </c:txPr>
        </c:title>
        <c:numFmt formatCode="0"/>
        <c:majorTickMark val="none"/>
        <c:minorTickMark val="none"/>
        <c:tickLblPos val="low"/>
        <c:spPr>
          <a:ln xmlns:a="http://schemas.openxmlformats.org/drawingml/2006/main" w="9525">
            <a:solidFill>
              <a:srgbClr val="91A4BD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</a:p>
        </c:txPr>
        <c:crossAx val="48650112"/>
        <c:majorUnit val="10"/>
      </c:valAx>
      <c:valAx>
        <c:axId val="48650112"/>
        <c:scaling>
          <c:orientation val="minMax"/>
          <c:max val="6"/>
          <c:min val="0"/>
        </c:scaling>
        <c:delete val="0"/>
        <c:axPos val="b"/>
        <c:majorGridlines>
          <c:spPr>
            <a:ln xmlns:a="http://schemas.openxmlformats.org/drawingml/2006/main" w="6668">
              <a:solidFill>
                <a:srgbClr val="263A53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75">
                    <a:solidFill>
                      <a:srgbClr val="FFFFFF"/>
                    </a:solidFill>
                    <a:latin typeface="JetBrains Mono"/>
                    <a:ea typeface="JetBrains Mono"/>
                    <a:cs typeface="JetBrains Mono"/>
                  </a:rPr>
                  <a:t>Dias após a chuva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75">
                  <a:solidFill>
                    <a:srgbClr val="FFFFFF"/>
                  </a:solidFill>
                  <a:latin typeface="JetBrains Mono"/>
                  <a:ea typeface="JetBrains Mono"/>
                  <a:cs typeface="JetBrains Mono"/>
                </a:defRPr>
              </a:pPr>
            </a:p>
          </c:txPr>
        </c:title>
        <c:numFmt formatCode="0"/>
        <c:majorTickMark val="none"/>
        <c:minorTickMark val="none"/>
        <c:tickLblPos val="low"/>
        <c:spPr>
          <a:ln xmlns:a="http://schemas.openxmlformats.org/drawingml/2006/main" w="9525">
            <a:solidFill>
              <a:srgbClr val="91A4BD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</a:p>
        </c:txPr>
        <c:crossAx val="48672768"/>
        <c:majorUnit val="2"/>
      </c:valAx>
      <c:spPr>
        <a:solidFill xmlns:a="http://schemas.openxmlformats.org/drawingml/2006/main">
          <a:srgbClr val="000F29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000F29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4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ser>
          <c:idx val="0"/>
          <c:order val="0"/>
          <c:tx>
            <c:v>a = 0,5</c:v>
          </c:tx>
          <c:spPr>
            <a:solidFill xmlns:a="http://schemas.openxmlformats.org/drawingml/2006/main">
              <a:srgbClr val="83DFFF"/>
            </a:solidFill>
            <a:ln xmlns:a="http://schemas.openxmlformats.org/drawingml/2006/main" w="28575">
              <a:solidFill>
                <a:srgbClr val="83DFFF"/>
              </a:solidFill>
            </a:ln>
          </c:spPr>
          <c:marker>
            <c:symbol val="none"/>
          </c:marker>
          <c:xVal>
            <c:numRef>
              <c:f>'Chart Data'!$A$2:$A$52</c:f>
              <c:numCache>
                <c:formatCode>General</c:formatCode>
                <c:ptCount val="5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  <c:pt idx="48">
                  <c:v>48</c:v>
                </c:pt>
                <c:pt idx="49">
                  <c:v>49</c:v>
                </c:pt>
                <c:pt idx="50">
                  <c:v>50</c:v>
                </c:pt>
              </c:numCache>
            </c:numRef>
          </c:xVal>
          <c:yVal>
            <c:numRef>
              <c:f>'Chart Data'!$B$2:$B$52</c:f>
              <c:numCache>
                <c:formatCode>0</c:formatCode>
                <c:ptCount val="51"/>
                <c:pt idx="0">
                  <c:v>0</c:v>
                </c:pt>
                <c:pt idx="1">
                  <c:v>-0.301029995664</c:v>
                </c:pt>
                <c:pt idx="2">
                  <c:v>-0.602059991328</c:v>
                </c:pt>
                <c:pt idx="3">
                  <c:v>-0.903089986992</c:v>
                </c:pt>
                <c:pt idx="4">
                  <c:v>-1.20411998266</c:v>
                </c:pt>
                <c:pt idx="5">
                  <c:v>-1.50514997832</c:v>
                </c:pt>
                <c:pt idx="6">
                  <c:v>-1.80617997398</c:v>
                </c:pt>
                <c:pt idx="7">
                  <c:v>-2.10720996965</c:v>
                </c:pt>
                <c:pt idx="8">
                  <c:v>-2.40823996531</c:v>
                </c:pt>
                <c:pt idx="9">
                  <c:v>-2.70926996098</c:v>
                </c:pt>
                <c:pt idx="10">
                  <c:v>-3.01029995664</c:v>
                </c:pt>
                <c:pt idx="11">
                  <c:v>-3.3113299523</c:v>
                </c:pt>
                <c:pt idx="12">
                  <c:v>-3.61235994797</c:v>
                </c:pt>
                <c:pt idx="13">
                  <c:v>-3.91338994363</c:v>
                </c:pt>
                <c:pt idx="14">
                  <c:v>-4.2144199393</c:v>
                </c:pt>
                <c:pt idx="15">
                  <c:v>-4.51544993496</c:v>
                </c:pt>
                <c:pt idx="16">
                  <c:v>-4.81647993062</c:v>
                </c:pt>
                <c:pt idx="17">
                  <c:v>-5.11750992629</c:v>
                </c:pt>
                <c:pt idx="18">
                  <c:v>-5.41853992195</c:v>
                </c:pt>
                <c:pt idx="19">
                  <c:v>-5.71956991762</c:v>
                </c:pt>
                <c:pt idx="20">
                  <c:v>-6.02059991328</c:v>
                </c:pt>
                <c:pt idx="21">
                  <c:v>-6.32162990894</c:v>
                </c:pt>
                <c:pt idx="22">
                  <c:v>-6.62265990461</c:v>
                </c:pt>
                <c:pt idx="23">
                  <c:v>-6.92368990027</c:v>
                </c:pt>
                <c:pt idx="24">
                  <c:v>-7.22471989594</c:v>
                </c:pt>
                <c:pt idx="25">
                  <c:v>-7.5257498916</c:v>
                </c:pt>
                <c:pt idx="26">
                  <c:v>-7.82677988726</c:v>
                </c:pt>
                <c:pt idx="27">
                  <c:v>-8.12780988293</c:v>
                </c:pt>
                <c:pt idx="28">
                  <c:v>-8.42883987859</c:v>
                </c:pt>
                <c:pt idx="29">
                  <c:v>-8.72986987426</c:v>
                </c:pt>
                <c:pt idx="30">
                  <c:v>-9.03089986992</c:v>
                </c:pt>
                <c:pt idx="31">
                  <c:v>-9.33192986558</c:v>
                </c:pt>
                <c:pt idx="32">
                  <c:v>-9.63295986125</c:v>
                </c:pt>
                <c:pt idx="33">
                  <c:v>-9.93398985691</c:v>
                </c:pt>
                <c:pt idx="34">
                  <c:v>-10.2350198526</c:v>
                </c:pt>
                <c:pt idx="35">
                  <c:v>-10.5360498482</c:v>
                </c:pt>
                <c:pt idx="36">
                  <c:v>-10.8370798439</c:v>
                </c:pt>
                <c:pt idx="37">
                  <c:v>-11.1381098396</c:v>
                </c:pt>
                <c:pt idx="38">
                  <c:v>-11.4391398352</c:v>
                </c:pt>
                <c:pt idx="39">
                  <c:v>-11.7401698309</c:v>
                </c:pt>
                <c:pt idx="40">
                  <c:v>-12.0411998266</c:v>
                </c:pt>
                <c:pt idx="41">
                  <c:v>-12.3422298222</c:v>
                </c:pt>
                <c:pt idx="42">
                  <c:v>-12.6432598179</c:v>
                </c:pt>
                <c:pt idx="43">
                  <c:v>-12.9442898136</c:v>
                </c:pt>
                <c:pt idx="44">
                  <c:v>-13.2453198092</c:v>
                </c:pt>
                <c:pt idx="45">
                  <c:v>-13.5463498049</c:v>
                </c:pt>
                <c:pt idx="46">
                  <c:v>-13.8473798005</c:v>
                </c:pt>
                <c:pt idx="47">
                  <c:v>-14.1484097962</c:v>
                </c:pt>
                <c:pt idx="48">
                  <c:v>-14.4494397919</c:v>
                </c:pt>
                <c:pt idx="49">
                  <c:v>-14.7504697875</c:v>
                </c:pt>
                <c:pt idx="50">
                  <c:v>-15.0514997832</c:v>
                </c:pt>
              </c:numCache>
            </c:numRef>
          </c:yVal>
          <c:smooth val="0"/>
        </c:ser>
        <c:ser>
          <c:idx val="1"/>
          <c:order val="1"/>
          <c:tx>
            <c:v>a = 0,9</c:v>
          </c:tx>
          <c:spPr>
            <a:solidFill xmlns:a="http://schemas.openxmlformats.org/drawingml/2006/main">
              <a:srgbClr val="71E7BD"/>
            </a:solidFill>
            <a:ln xmlns:a="http://schemas.openxmlformats.org/drawingml/2006/main" w="28575">
              <a:solidFill>
                <a:srgbClr val="71E7BD"/>
              </a:solidFill>
            </a:ln>
          </c:spPr>
          <c:marker>
            <c:symbol val="none"/>
          </c:marker>
          <c:xVal>
            <c:numRef>
              <c:f>'Chart Data'!$C$2:$C$52</c:f>
              <c:numCache>
                <c:formatCode>General</c:formatCode>
                <c:ptCount val="5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  <c:pt idx="48">
                  <c:v>48</c:v>
                </c:pt>
                <c:pt idx="49">
                  <c:v>49</c:v>
                </c:pt>
                <c:pt idx="50">
                  <c:v>50</c:v>
                </c:pt>
              </c:numCache>
            </c:numRef>
          </c:xVal>
          <c:yVal>
            <c:numRef>
              <c:f>'Chart Data'!$D$2:$D$52</c:f>
              <c:numCache>
                <c:formatCode>0</c:formatCode>
                <c:ptCount val="51"/>
                <c:pt idx="0">
                  <c:v>0</c:v>
                </c:pt>
                <c:pt idx="1">
                  <c:v>-0.0457574905607</c:v>
                </c:pt>
                <c:pt idx="2">
                  <c:v>-0.0915149811214</c:v>
                </c:pt>
                <c:pt idx="3">
                  <c:v>-0.137272471682</c:v>
                </c:pt>
                <c:pt idx="4">
                  <c:v>-0.183029962243</c:v>
                </c:pt>
                <c:pt idx="5">
                  <c:v>-0.228787452803</c:v>
                </c:pt>
                <c:pt idx="6">
                  <c:v>-0.274544943364</c:v>
                </c:pt>
                <c:pt idx="7">
                  <c:v>-0.320302433925</c:v>
                </c:pt>
                <c:pt idx="8">
                  <c:v>-0.366059924485</c:v>
                </c:pt>
                <c:pt idx="9">
                  <c:v>-0.411817415046</c:v>
                </c:pt>
                <c:pt idx="10">
                  <c:v>-0.457574905607</c:v>
                </c:pt>
                <c:pt idx="11">
                  <c:v>-0.503332396167</c:v>
                </c:pt>
                <c:pt idx="12">
                  <c:v>-0.549089886728</c:v>
                </c:pt>
                <c:pt idx="13">
                  <c:v>-0.594847377289</c:v>
                </c:pt>
                <c:pt idx="14">
                  <c:v>-0.640604867849</c:v>
                </c:pt>
                <c:pt idx="15">
                  <c:v>-0.68636235841</c:v>
                </c:pt>
                <c:pt idx="16">
                  <c:v>-0.732119848971</c:v>
                </c:pt>
                <c:pt idx="17">
                  <c:v>-0.777877339531</c:v>
                </c:pt>
                <c:pt idx="18">
                  <c:v>-0.823634830092</c:v>
                </c:pt>
                <c:pt idx="19">
                  <c:v>-0.869392320653</c:v>
                </c:pt>
                <c:pt idx="20">
                  <c:v>-0.915149811214</c:v>
                </c:pt>
                <c:pt idx="21">
                  <c:v>-0.960907301774</c:v>
                </c:pt>
                <c:pt idx="22">
                  <c:v>-1.00666479233</c:v>
                </c:pt>
                <c:pt idx="23">
                  <c:v>-1.0524222829</c:v>
                </c:pt>
                <c:pt idx="24">
                  <c:v>-1.09817977346</c:v>
                </c:pt>
                <c:pt idx="25">
                  <c:v>-1.14393726402</c:v>
                </c:pt>
                <c:pt idx="26">
                  <c:v>-1.18969475458</c:v>
                </c:pt>
                <c:pt idx="27">
                  <c:v>-1.23545224514</c:v>
                </c:pt>
                <c:pt idx="28">
                  <c:v>-1.2812097357</c:v>
                </c:pt>
                <c:pt idx="29">
                  <c:v>-1.32696722626</c:v>
                </c:pt>
                <c:pt idx="30">
                  <c:v>-1.37272471682</c:v>
                </c:pt>
                <c:pt idx="31">
                  <c:v>-1.41848220738</c:v>
                </c:pt>
                <c:pt idx="32">
                  <c:v>-1.46423969794</c:v>
                </c:pt>
                <c:pt idx="33">
                  <c:v>-1.5099971885</c:v>
                </c:pt>
                <c:pt idx="34">
                  <c:v>-1.55575467906</c:v>
                </c:pt>
                <c:pt idx="35">
                  <c:v>-1.60151216962</c:v>
                </c:pt>
                <c:pt idx="36">
                  <c:v>-1.64726966018</c:v>
                </c:pt>
                <c:pt idx="37">
                  <c:v>-1.69302715074</c:v>
                </c:pt>
                <c:pt idx="38">
                  <c:v>-1.73878464131</c:v>
                </c:pt>
                <c:pt idx="39">
                  <c:v>-1.78454213187</c:v>
                </c:pt>
                <c:pt idx="40">
                  <c:v>-1.83029962243</c:v>
                </c:pt>
                <c:pt idx="41">
                  <c:v>-1.87605711299</c:v>
                </c:pt>
                <c:pt idx="42">
                  <c:v>-1.92181460355</c:v>
                </c:pt>
                <c:pt idx="43">
                  <c:v>-1.96757209411</c:v>
                </c:pt>
                <c:pt idx="44">
                  <c:v>-2.01332958467</c:v>
                </c:pt>
                <c:pt idx="45">
                  <c:v>-2.05908707523</c:v>
                </c:pt>
                <c:pt idx="46">
                  <c:v>-2.10484456579</c:v>
                </c:pt>
                <c:pt idx="47">
                  <c:v>-2.15060205635</c:v>
                </c:pt>
                <c:pt idx="48">
                  <c:v>-2.19635954691</c:v>
                </c:pt>
                <c:pt idx="49">
                  <c:v>-2.24211703747</c:v>
                </c:pt>
                <c:pt idx="50">
                  <c:v>-2.28787452803</c:v>
                </c:pt>
              </c:numCache>
            </c:numRef>
          </c:yVal>
          <c:smooth val="0"/>
        </c:ser>
        <c:ser>
          <c:idx val="2"/>
          <c:order val="2"/>
          <c:tx>
            <c:v>a = 1,1</c:v>
          </c:tx>
          <c:spPr>
            <a:solidFill xmlns:a="http://schemas.openxmlformats.org/drawingml/2006/main">
              <a:srgbClr val="FFAD62"/>
            </a:solidFill>
            <a:ln xmlns:a="http://schemas.openxmlformats.org/drawingml/2006/main" w="28575">
              <a:solidFill>
                <a:srgbClr val="FFAD62"/>
              </a:solidFill>
            </a:ln>
          </c:spPr>
          <c:marker>
            <c:symbol val="none"/>
          </c:marker>
          <c:xVal>
            <c:numRef>
              <c:f>'Chart Data'!$E$2:$E$52</c:f>
              <c:numCache>
                <c:formatCode>General</c:formatCode>
                <c:ptCount val="5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  <c:pt idx="48">
                  <c:v>48</c:v>
                </c:pt>
                <c:pt idx="49">
                  <c:v>49</c:v>
                </c:pt>
                <c:pt idx="50">
                  <c:v>50</c:v>
                </c:pt>
              </c:numCache>
            </c:numRef>
          </c:xVal>
          <c:yVal>
            <c:numRef>
              <c:f>'Chart Data'!$F$2:$F$52</c:f>
              <c:numCache>
                <c:formatCode>0</c:formatCode>
                <c:ptCount val="51"/>
                <c:pt idx="0">
                  <c:v>0</c:v>
                </c:pt>
                <c:pt idx="1">
                  <c:v>0.0413926851582</c:v>
                </c:pt>
                <c:pt idx="2">
                  <c:v>0.0827853703165</c:v>
                </c:pt>
                <c:pt idx="3">
                  <c:v>0.124178055475</c:v>
                </c:pt>
                <c:pt idx="4">
                  <c:v>0.165570740633</c:v>
                </c:pt>
                <c:pt idx="5">
                  <c:v>0.206963425791</c:v>
                </c:pt>
                <c:pt idx="6">
                  <c:v>0.248356110949</c:v>
                </c:pt>
                <c:pt idx="7">
                  <c:v>0.289748796108</c:v>
                </c:pt>
                <c:pt idx="8">
                  <c:v>0.331141481266</c:v>
                </c:pt>
                <c:pt idx="9">
                  <c:v>0.372534166424</c:v>
                </c:pt>
                <c:pt idx="10">
                  <c:v>0.413926851582</c:v>
                </c:pt>
                <c:pt idx="11">
                  <c:v>0.45531953674</c:v>
                </c:pt>
                <c:pt idx="12">
                  <c:v>0.496712221899</c:v>
                </c:pt>
                <c:pt idx="13">
                  <c:v>0.538104907057</c:v>
                </c:pt>
                <c:pt idx="14">
                  <c:v>0.579497592215</c:v>
                </c:pt>
                <c:pt idx="15">
                  <c:v>0.620890277373</c:v>
                </c:pt>
                <c:pt idx="16">
                  <c:v>0.662282962532</c:v>
                </c:pt>
                <c:pt idx="17">
                  <c:v>0.70367564769</c:v>
                </c:pt>
                <c:pt idx="18">
                  <c:v>0.745068332848</c:v>
                </c:pt>
                <c:pt idx="19">
                  <c:v>0.786461018006</c:v>
                </c:pt>
                <c:pt idx="20">
                  <c:v>0.827853703165</c:v>
                </c:pt>
                <c:pt idx="21">
                  <c:v>0.869246388323</c:v>
                </c:pt>
                <c:pt idx="22">
                  <c:v>0.910639073481</c:v>
                </c:pt>
                <c:pt idx="23">
                  <c:v>0.952031758639</c:v>
                </c:pt>
                <c:pt idx="24">
                  <c:v>0.993424443797</c:v>
                </c:pt>
                <c:pt idx="25">
                  <c:v>1.03481712896</c:v>
                </c:pt>
                <c:pt idx="26">
                  <c:v>1.07620981411</c:v>
                </c:pt>
                <c:pt idx="27">
                  <c:v>1.11760249927</c:v>
                </c:pt>
                <c:pt idx="28">
                  <c:v>1.15899518443</c:v>
                </c:pt>
                <c:pt idx="29">
                  <c:v>1.20038786959</c:v>
                </c:pt>
                <c:pt idx="30">
                  <c:v>1.24178055475</c:v>
                </c:pt>
                <c:pt idx="31">
                  <c:v>1.2831732399</c:v>
                </c:pt>
                <c:pt idx="32">
                  <c:v>1.32456592506</c:v>
                </c:pt>
                <c:pt idx="33">
                  <c:v>1.36595861022</c:v>
                </c:pt>
                <c:pt idx="34">
                  <c:v>1.40735129538</c:v>
                </c:pt>
                <c:pt idx="35">
                  <c:v>1.44874398054</c:v>
                </c:pt>
                <c:pt idx="36">
                  <c:v>1.4901366657</c:v>
                </c:pt>
                <c:pt idx="37">
                  <c:v>1.53152935085</c:v>
                </c:pt>
                <c:pt idx="38">
                  <c:v>1.57292203601</c:v>
                </c:pt>
                <c:pt idx="39">
                  <c:v>1.61431472117</c:v>
                </c:pt>
                <c:pt idx="40">
                  <c:v>1.65570740633</c:v>
                </c:pt>
                <c:pt idx="41">
                  <c:v>1.69710009149</c:v>
                </c:pt>
                <c:pt idx="42">
                  <c:v>1.73849277665</c:v>
                </c:pt>
                <c:pt idx="43">
                  <c:v>1.7798854618</c:v>
                </c:pt>
                <c:pt idx="44">
                  <c:v>1.82127814696</c:v>
                </c:pt>
                <c:pt idx="45">
                  <c:v>1.86267083212</c:v>
                </c:pt>
                <c:pt idx="46">
                  <c:v>1.90406351728</c:v>
                </c:pt>
                <c:pt idx="47">
                  <c:v>1.94545620244</c:v>
                </c:pt>
                <c:pt idx="48">
                  <c:v>1.98684888759</c:v>
                </c:pt>
                <c:pt idx="49">
                  <c:v>2.02824157275</c:v>
                </c:pt>
                <c:pt idx="50">
                  <c:v>2.06963425791</c:v>
                </c:pt>
              </c:numCache>
            </c:numRef>
          </c:y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JetBrains Mono"/>
                  <a:ea typeface="JetBrains Mono"/>
                  <a:cs typeface="JetBrains Mono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4"/>
          <c:min val="-16"/>
        </c:scaling>
        <c:delete val="0"/>
        <c:axPos val="l"/>
        <c:majorGridlines>
          <c:spPr>
            <a:ln xmlns:a="http://schemas.openxmlformats.org/drawingml/2006/main" w="6668">
              <a:solidFill>
                <a:srgbClr val="263A53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75">
                    <a:solidFill>
                      <a:srgbClr val="FFFFFF"/>
                    </a:solidFill>
                    <a:latin typeface="JetBrains Mono"/>
                    <a:ea typeface="JetBrains Mono"/>
                    <a:cs typeface="JetBrains Mono"/>
                  </a:rPr>
                  <a:t>log₁₀ |gₖ|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75">
                  <a:solidFill>
                    <a:srgbClr val="FFFFFF"/>
                  </a:solidFill>
                  <a:latin typeface="JetBrains Mono"/>
                  <a:ea typeface="JetBrains Mono"/>
                  <a:cs typeface="JetBrains Mono"/>
                </a:defRPr>
              </a:pPr>
            </a:p>
          </c:txPr>
        </c:title>
        <c:numFmt formatCode="0"/>
        <c:majorTickMark val="none"/>
        <c:minorTickMark val="none"/>
        <c:tickLblPos val="low"/>
        <c:spPr>
          <a:ln xmlns:a="http://schemas.openxmlformats.org/drawingml/2006/main" w="9525">
            <a:solidFill>
              <a:srgbClr val="91A4BD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</a:p>
        </c:txPr>
        <c:crossAx val="48650112"/>
        <c:majorUnit val="4"/>
      </c:valAx>
      <c:valAx>
        <c:axId val="48650112"/>
        <c:scaling>
          <c:orientation val="minMax"/>
          <c:max val="50"/>
          <c:min val="0"/>
        </c:scaling>
        <c:delete val="0"/>
        <c:axPos val="b"/>
        <c:majorGridlines>
          <c:spPr>
            <a:ln xmlns:a="http://schemas.openxmlformats.org/drawingml/2006/main" w="6668">
              <a:solidFill>
                <a:srgbClr val="263A53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75">
                    <a:solidFill>
                      <a:srgbClr val="FFFFFF"/>
                    </a:solidFill>
                    <a:latin typeface="JetBrains Mono"/>
                    <a:ea typeface="JetBrains Mono"/>
                    <a:cs typeface="JetBrains Mono"/>
                  </a:rPr>
                  <a:t>Passos para trás (k)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75">
                  <a:solidFill>
                    <a:srgbClr val="FFFFFF"/>
                  </a:solidFill>
                  <a:latin typeface="JetBrains Mono"/>
                  <a:ea typeface="JetBrains Mono"/>
                  <a:cs typeface="JetBrains Mono"/>
                </a:defRPr>
              </a:pPr>
            </a:p>
          </c:txPr>
        </c:title>
        <c:numFmt formatCode="0"/>
        <c:majorTickMark val="none"/>
        <c:minorTickMark val="none"/>
        <c:tickLblPos val="low"/>
        <c:spPr>
          <a:ln xmlns:a="http://schemas.openxmlformats.org/drawingml/2006/main" w="9525">
            <a:solidFill>
              <a:srgbClr val="91A4BD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</a:p>
        </c:txPr>
        <c:crossAx val="48672768"/>
        <c:majorUnit val="10"/>
      </c:valAx>
      <c:spPr>
        <a:solidFill xmlns:a="http://schemas.openxmlformats.org/drawingml/2006/main">
          <a:srgbClr val="000F29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000F29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5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ser>
          <c:idx val="0"/>
          <c:order val="0"/>
          <c:tx>
            <c:v>tanh(z)</c:v>
          </c:tx>
          <c:spPr>
            <a:solidFill xmlns:a="http://schemas.openxmlformats.org/drawingml/2006/main">
              <a:srgbClr val="83DFFF"/>
            </a:solidFill>
            <a:ln xmlns:a="http://schemas.openxmlformats.org/drawingml/2006/main" w="28575">
              <a:solidFill>
                <a:srgbClr val="83DFFF"/>
              </a:solidFill>
            </a:ln>
          </c:spPr>
          <c:marker>
            <c:symbol val="none"/>
          </c:marker>
          <c:xVal>
            <c:numRef>
              <c:f>'Chart Data'!$A$2:$A$82</c:f>
              <c:numCache>
                <c:formatCode>General</c:formatCode>
                <c:ptCount val="81"/>
                <c:pt idx="0">
                  <c:v>-4</c:v>
                </c:pt>
                <c:pt idx="1">
                  <c:v>-3.9</c:v>
                </c:pt>
                <c:pt idx="2">
                  <c:v>-3.8</c:v>
                </c:pt>
                <c:pt idx="3">
                  <c:v>-3.7</c:v>
                </c:pt>
                <c:pt idx="4">
                  <c:v>-3.6</c:v>
                </c:pt>
                <c:pt idx="5">
                  <c:v>-3.5</c:v>
                </c:pt>
                <c:pt idx="6">
                  <c:v>-3.4</c:v>
                </c:pt>
                <c:pt idx="7">
                  <c:v>-3.3</c:v>
                </c:pt>
                <c:pt idx="8">
                  <c:v>-3.2</c:v>
                </c:pt>
                <c:pt idx="9">
                  <c:v>-3.1</c:v>
                </c:pt>
                <c:pt idx="10">
                  <c:v>-3</c:v>
                </c:pt>
                <c:pt idx="11">
                  <c:v>-2.9</c:v>
                </c:pt>
                <c:pt idx="12">
                  <c:v>-2.8</c:v>
                </c:pt>
                <c:pt idx="13">
                  <c:v>-2.7</c:v>
                </c:pt>
                <c:pt idx="14">
                  <c:v>-2.6</c:v>
                </c:pt>
                <c:pt idx="15">
                  <c:v>-2.5</c:v>
                </c:pt>
                <c:pt idx="16">
                  <c:v>-2.4</c:v>
                </c:pt>
                <c:pt idx="17">
                  <c:v>-2.3</c:v>
                </c:pt>
                <c:pt idx="18">
                  <c:v>-2.2</c:v>
                </c:pt>
                <c:pt idx="19">
                  <c:v>-2.1</c:v>
                </c:pt>
                <c:pt idx="20">
                  <c:v>-2</c:v>
                </c:pt>
                <c:pt idx="21">
                  <c:v>-1.9</c:v>
                </c:pt>
                <c:pt idx="22">
                  <c:v>-1.8</c:v>
                </c:pt>
                <c:pt idx="23">
                  <c:v>-1.7</c:v>
                </c:pt>
                <c:pt idx="24">
                  <c:v>-1.6</c:v>
                </c:pt>
                <c:pt idx="25">
                  <c:v>-1.5</c:v>
                </c:pt>
                <c:pt idx="26">
                  <c:v>-1.4</c:v>
                </c:pt>
                <c:pt idx="27">
                  <c:v>-1.3</c:v>
                </c:pt>
                <c:pt idx="28">
                  <c:v>-1.2</c:v>
                </c:pt>
                <c:pt idx="29">
                  <c:v>-1.1</c:v>
                </c:pt>
                <c:pt idx="30">
                  <c:v>-1</c:v>
                </c:pt>
                <c:pt idx="31">
                  <c:v>-0.9</c:v>
                </c:pt>
                <c:pt idx="32">
                  <c:v>-0.8</c:v>
                </c:pt>
                <c:pt idx="33">
                  <c:v>-0.7</c:v>
                </c:pt>
                <c:pt idx="34">
                  <c:v>-0.6</c:v>
                </c:pt>
                <c:pt idx="35">
                  <c:v>-0.5</c:v>
                </c:pt>
                <c:pt idx="36">
                  <c:v>-0.4</c:v>
                </c:pt>
                <c:pt idx="37">
                  <c:v>-0.3</c:v>
                </c:pt>
                <c:pt idx="38">
                  <c:v>-0.2</c:v>
                </c:pt>
                <c:pt idx="39">
                  <c:v>-0.1</c:v>
                </c:pt>
                <c:pt idx="40">
                  <c:v>0</c:v>
                </c:pt>
                <c:pt idx="41">
                  <c:v>0.1</c:v>
                </c:pt>
                <c:pt idx="42">
                  <c:v>0.2</c:v>
                </c:pt>
                <c:pt idx="43">
                  <c:v>0.3</c:v>
                </c:pt>
                <c:pt idx="44">
                  <c:v>0.4</c:v>
                </c:pt>
                <c:pt idx="45">
                  <c:v>0.5</c:v>
                </c:pt>
                <c:pt idx="46">
                  <c:v>0.6</c:v>
                </c:pt>
                <c:pt idx="47">
                  <c:v>0.7</c:v>
                </c:pt>
                <c:pt idx="48">
                  <c:v>0.8</c:v>
                </c:pt>
                <c:pt idx="49">
                  <c:v>0.9</c:v>
                </c:pt>
                <c:pt idx="50">
                  <c:v>1</c:v>
                </c:pt>
                <c:pt idx="51">
                  <c:v>1.1</c:v>
                </c:pt>
                <c:pt idx="52">
                  <c:v>1.2</c:v>
                </c:pt>
                <c:pt idx="53">
                  <c:v>1.3</c:v>
                </c:pt>
                <c:pt idx="54">
                  <c:v>1.4</c:v>
                </c:pt>
                <c:pt idx="55">
                  <c:v>1.5</c:v>
                </c:pt>
                <c:pt idx="56">
                  <c:v>1.6</c:v>
                </c:pt>
                <c:pt idx="57">
                  <c:v>1.7</c:v>
                </c:pt>
                <c:pt idx="58">
                  <c:v>1.8</c:v>
                </c:pt>
                <c:pt idx="59">
                  <c:v>1.9</c:v>
                </c:pt>
                <c:pt idx="60">
                  <c:v>2</c:v>
                </c:pt>
                <c:pt idx="61">
                  <c:v>2.1</c:v>
                </c:pt>
                <c:pt idx="62">
                  <c:v>2.2</c:v>
                </c:pt>
                <c:pt idx="63">
                  <c:v>2.3</c:v>
                </c:pt>
                <c:pt idx="64">
                  <c:v>2.4</c:v>
                </c:pt>
                <c:pt idx="65">
                  <c:v>2.5</c:v>
                </c:pt>
                <c:pt idx="66">
                  <c:v>2.6</c:v>
                </c:pt>
                <c:pt idx="67">
                  <c:v>2.7</c:v>
                </c:pt>
                <c:pt idx="68">
                  <c:v>2.8</c:v>
                </c:pt>
                <c:pt idx="69">
                  <c:v>2.9</c:v>
                </c:pt>
                <c:pt idx="70">
                  <c:v>3</c:v>
                </c:pt>
                <c:pt idx="71">
                  <c:v>3.1</c:v>
                </c:pt>
                <c:pt idx="72">
                  <c:v>3.2</c:v>
                </c:pt>
                <c:pt idx="73">
                  <c:v>3.3</c:v>
                </c:pt>
                <c:pt idx="74">
                  <c:v>3.4</c:v>
                </c:pt>
                <c:pt idx="75">
                  <c:v>3.5</c:v>
                </c:pt>
                <c:pt idx="76">
                  <c:v>3.6</c:v>
                </c:pt>
                <c:pt idx="77">
                  <c:v>3.7</c:v>
                </c:pt>
                <c:pt idx="78">
                  <c:v>3.8</c:v>
                </c:pt>
                <c:pt idx="79">
                  <c:v>3.9</c:v>
                </c:pt>
                <c:pt idx="80">
                  <c:v>4</c:v>
                </c:pt>
              </c:numCache>
            </c:numRef>
          </c:xVal>
          <c:yVal>
            <c:numRef>
              <c:f>'Chart Data'!$B$2:$B$82</c:f>
              <c:numCache>
                <c:formatCode>0.0</c:formatCode>
                <c:ptCount val="81"/>
                <c:pt idx="0">
                  <c:v>-0.999329299739</c:v>
                </c:pt>
                <c:pt idx="1">
                  <c:v>-0.99918086567</c:v>
                </c:pt>
                <c:pt idx="2">
                  <c:v>-0.998999597786</c:v>
                </c:pt>
                <c:pt idx="3">
                  <c:v>-0.998778241281</c:v>
                </c:pt>
                <c:pt idx="4">
                  <c:v>-0.998507942332</c:v>
                </c:pt>
                <c:pt idx="5">
                  <c:v>-0.998177897611</c:v>
                </c:pt>
                <c:pt idx="6">
                  <c:v>-0.997774927934</c:v>
                </c:pt>
                <c:pt idx="7">
                  <c:v>-0.997282960099</c:v>
                </c:pt>
                <c:pt idx="8">
                  <c:v>-0.99668239784</c:v>
                </c:pt>
                <c:pt idx="9">
                  <c:v>-0.995949359222</c:v>
                </c:pt>
                <c:pt idx="10">
                  <c:v>-0.995054753687</c:v>
                </c:pt>
                <c:pt idx="11">
                  <c:v>-0.993963167351</c:v>
                </c:pt>
                <c:pt idx="12">
                  <c:v>-0.992631520201</c:v>
                </c:pt>
                <c:pt idx="13">
                  <c:v>-0.991007453678</c:v>
                </c:pt>
                <c:pt idx="14">
                  <c:v>-0.989027402201</c:v>
                </c:pt>
                <c:pt idx="15">
                  <c:v>-0.986614298151</c:v>
                </c:pt>
                <c:pt idx="16">
                  <c:v>-0.983674857694</c:v>
                </c:pt>
                <c:pt idx="17">
                  <c:v>-0.980096396266</c:v>
                </c:pt>
                <c:pt idx="18">
                  <c:v>-0.975743130031</c:v>
                </c:pt>
                <c:pt idx="19">
                  <c:v>-0.970451936613</c:v>
                </c:pt>
                <c:pt idx="20">
                  <c:v>-0.964027580076</c:v>
                </c:pt>
                <c:pt idx="21">
                  <c:v>-0.956237458128</c:v>
                </c:pt>
                <c:pt idx="22">
                  <c:v>-0.946806012846</c:v>
                </c:pt>
                <c:pt idx="23">
                  <c:v>-0.935409070603</c:v>
                </c:pt>
                <c:pt idx="24">
                  <c:v>-0.921668554406</c:v>
                </c:pt>
                <c:pt idx="25">
                  <c:v>-0.905148253645</c:v>
                </c:pt>
                <c:pt idx="26">
                  <c:v>-0.885351648202</c:v>
                </c:pt>
                <c:pt idx="27">
                  <c:v>-0.861723159313</c:v>
                </c:pt>
                <c:pt idx="28">
                  <c:v>-0.833654607012</c:v>
                </c:pt>
                <c:pt idx="29">
                  <c:v>-0.800499021761</c:v>
                </c:pt>
                <c:pt idx="30">
                  <c:v>-0.761594155956</c:v>
                </c:pt>
                <c:pt idx="31">
                  <c:v>-0.716297870199</c:v>
                </c:pt>
                <c:pt idx="32">
                  <c:v>-0.664036770268</c:v>
                </c:pt>
                <c:pt idx="33">
                  <c:v>-0.604367777117</c:v>
                </c:pt>
                <c:pt idx="34">
                  <c:v>-0.537049566998</c:v>
                </c:pt>
                <c:pt idx="35">
                  <c:v>-0.46211715726</c:v>
                </c:pt>
                <c:pt idx="36">
                  <c:v>-0.379948962255</c:v>
                </c:pt>
                <c:pt idx="37">
                  <c:v>-0.291312612452</c:v>
                </c:pt>
                <c:pt idx="38">
                  <c:v>-0.197375320225</c:v>
                </c:pt>
                <c:pt idx="39">
                  <c:v>-0.099667994625</c:v>
                </c:pt>
                <c:pt idx="40">
                  <c:v>0</c:v>
                </c:pt>
                <c:pt idx="41">
                  <c:v>0.099667994625</c:v>
                </c:pt>
                <c:pt idx="42">
                  <c:v>0.197375320225</c:v>
                </c:pt>
                <c:pt idx="43">
                  <c:v>0.291312612452</c:v>
                </c:pt>
                <c:pt idx="44">
                  <c:v>0.379948962255</c:v>
                </c:pt>
                <c:pt idx="45">
                  <c:v>0.46211715726</c:v>
                </c:pt>
                <c:pt idx="46">
                  <c:v>0.537049566998</c:v>
                </c:pt>
                <c:pt idx="47">
                  <c:v>0.604367777117</c:v>
                </c:pt>
                <c:pt idx="48">
                  <c:v>0.664036770268</c:v>
                </c:pt>
                <c:pt idx="49">
                  <c:v>0.716297870199</c:v>
                </c:pt>
                <c:pt idx="50">
                  <c:v>0.761594155956</c:v>
                </c:pt>
                <c:pt idx="51">
                  <c:v>0.800499021761</c:v>
                </c:pt>
                <c:pt idx="52">
                  <c:v>0.833654607012</c:v>
                </c:pt>
                <c:pt idx="53">
                  <c:v>0.861723159313</c:v>
                </c:pt>
                <c:pt idx="54">
                  <c:v>0.885351648202</c:v>
                </c:pt>
                <c:pt idx="55">
                  <c:v>0.905148253645</c:v>
                </c:pt>
                <c:pt idx="56">
                  <c:v>0.921668554406</c:v>
                </c:pt>
                <c:pt idx="57">
                  <c:v>0.935409070603</c:v>
                </c:pt>
                <c:pt idx="58">
                  <c:v>0.946806012846</c:v>
                </c:pt>
                <c:pt idx="59">
                  <c:v>0.956237458128</c:v>
                </c:pt>
                <c:pt idx="60">
                  <c:v>0.964027580076</c:v>
                </c:pt>
                <c:pt idx="61">
                  <c:v>0.970451936613</c:v>
                </c:pt>
                <c:pt idx="62">
                  <c:v>0.975743130031</c:v>
                </c:pt>
                <c:pt idx="63">
                  <c:v>0.980096396266</c:v>
                </c:pt>
                <c:pt idx="64">
                  <c:v>0.983674857694</c:v>
                </c:pt>
                <c:pt idx="65">
                  <c:v>0.986614298151</c:v>
                </c:pt>
                <c:pt idx="66">
                  <c:v>0.989027402201</c:v>
                </c:pt>
                <c:pt idx="67">
                  <c:v>0.991007453678</c:v>
                </c:pt>
                <c:pt idx="68">
                  <c:v>0.992631520201</c:v>
                </c:pt>
                <c:pt idx="69">
                  <c:v>0.993963167351</c:v>
                </c:pt>
                <c:pt idx="70">
                  <c:v>0.995054753687</c:v>
                </c:pt>
                <c:pt idx="71">
                  <c:v>0.995949359222</c:v>
                </c:pt>
                <c:pt idx="72">
                  <c:v>0.99668239784</c:v>
                </c:pt>
                <c:pt idx="73">
                  <c:v>0.997282960099</c:v>
                </c:pt>
                <c:pt idx="74">
                  <c:v>0.997774927934</c:v>
                </c:pt>
                <c:pt idx="75">
                  <c:v>0.998177897611</c:v>
                </c:pt>
                <c:pt idx="76">
                  <c:v>0.998507942332</c:v>
                </c:pt>
                <c:pt idx="77">
                  <c:v>0.998778241281</c:v>
                </c:pt>
                <c:pt idx="78">
                  <c:v>0.998999597786</c:v>
                </c:pt>
                <c:pt idx="79">
                  <c:v>0.99918086567</c:v>
                </c:pt>
                <c:pt idx="80">
                  <c:v>0.999329299739</c:v>
                </c:pt>
              </c:numCache>
            </c:numRef>
          </c:yVal>
          <c:smooth val="0"/>
        </c:ser>
        <c:ser>
          <c:idx val="1"/>
          <c:order val="1"/>
          <c:tx>
            <c:v>σ(z)</c:v>
          </c:tx>
          <c:spPr>
            <a:solidFill xmlns:a="http://schemas.openxmlformats.org/drawingml/2006/main">
              <a:srgbClr val="FFAD62"/>
            </a:solidFill>
            <a:ln xmlns:a="http://schemas.openxmlformats.org/drawingml/2006/main" w="28575">
              <a:solidFill>
                <a:srgbClr val="FFAD62"/>
              </a:solidFill>
            </a:ln>
          </c:spPr>
          <c:marker>
            <c:symbol val="none"/>
          </c:marker>
          <c:xVal>
            <c:numRef>
              <c:f>'Chart Data'!$C$2:$C$82</c:f>
              <c:numCache>
                <c:formatCode>General</c:formatCode>
                <c:ptCount val="81"/>
                <c:pt idx="0">
                  <c:v>-4</c:v>
                </c:pt>
                <c:pt idx="1">
                  <c:v>-3.9</c:v>
                </c:pt>
                <c:pt idx="2">
                  <c:v>-3.8</c:v>
                </c:pt>
                <c:pt idx="3">
                  <c:v>-3.7</c:v>
                </c:pt>
                <c:pt idx="4">
                  <c:v>-3.6</c:v>
                </c:pt>
                <c:pt idx="5">
                  <c:v>-3.5</c:v>
                </c:pt>
                <c:pt idx="6">
                  <c:v>-3.4</c:v>
                </c:pt>
                <c:pt idx="7">
                  <c:v>-3.3</c:v>
                </c:pt>
                <c:pt idx="8">
                  <c:v>-3.2</c:v>
                </c:pt>
                <c:pt idx="9">
                  <c:v>-3.1</c:v>
                </c:pt>
                <c:pt idx="10">
                  <c:v>-3</c:v>
                </c:pt>
                <c:pt idx="11">
                  <c:v>-2.9</c:v>
                </c:pt>
                <c:pt idx="12">
                  <c:v>-2.8</c:v>
                </c:pt>
                <c:pt idx="13">
                  <c:v>-2.7</c:v>
                </c:pt>
                <c:pt idx="14">
                  <c:v>-2.6</c:v>
                </c:pt>
                <c:pt idx="15">
                  <c:v>-2.5</c:v>
                </c:pt>
                <c:pt idx="16">
                  <c:v>-2.4</c:v>
                </c:pt>
                <c:pt idx="17">
                  <c:v>-2.3</c:v>
                </c:pt>
                <c:pt idx="18">
                  <c:v>-2.2</c:v>
                </c:pt>
                <c:pt idx="19">
                  <c:v>-2.1</c:v>
                </c:pt>
                <c:pt idx="20">
                  <c:v>-2</c:v>
                </c:pt>
                <c:pt idx="21">
                  <c:v>-1.9</c:v>
                </c:pt>
                <c:pt idx="22">
                  <c:v>-1.8</c:v>
                </c:pt>
                <c:pt idx="23">
                  <c:v>-1.7</c:v>
                </c:pt>
                <c:pt idx="24">
                  <c:v>-1.6</c:v>
                </c:pt>
                <c:pt idx="25">
                  <c:v>-1.5</c:v>
                </c:pt>
                <c:pt idx="26">
                  <c:v>-1.4</c:v>
                </c:pt>
                <c:pt idx="27">
                  <c:v>-1.3</c:v>
                </c:pt>
                <c:pt idx="28">
                  <c:v>-1.2</c:v>
                </c:pt>
                <c:pt idx="29">
                  <c:v>-1.1</c:v>
                </c:pt>
                <c:pt idx="30">
                  <c:v>-1</c:v>
                </c:pt>
                <c:pt idx="31">
                  <c:v>-0.9</c:v>
                </c:pt>
                <c:pt idx="32">
                  <c:v>-0.8</c:v>
                </c:pt>
                <c:pt idx="33">
                  <c:v>-0.7</c:v>
                </c:pt>
                <c:pt idx="34">
                  <c:v>-0.6</c:v>
                </c:pt>
                <c:pt idx="35">
                  <c:v>-0.5</c:v>
                </c:pt>
                <c:pt idx="36">
                  <c:v>-0.4</c:v>
                </c:pt>
                <c:pt idx="37">
                  <c:v>-0.3</c:v>
                </c:pt>
                <c:pt idx="38">
                  <c:v>-0.2</c:v>
                </c:pt>
                <c:pt idx="39">
                  <c:v>-0.1</c:v>
                </c:pt>
                <c:pt idx="40">
                  <c:v>0</c:v>
                </c:pt>
                <c:pt idx="41">
                  <c:v>0.1</c:v>
                </c:pt>
                <c:pt idx="42">
                  <c:v>0.2</c:v>
                </c:pt>
                <c:pt idx="43">
                  <c:v>0.3</c:v>
                </c:pt>
                <c:pt idx="44">
                  <c:v>0.4</c:v>
                </c:pt>
                <c:pt idx="45">
                  <c:v>0.5</c:v>
                </c:pt>
                <c:pt idx="46">
                  <c:v>0.6</c:v>
                </c:pt>
                <c:pt idx="47">
                  <c:v>0.7</c:v>
                </c:pt>
                <c:pt idx="48">
                  <c:v>0.8</c:v>
                </c:pt>
                <c:pt idx="49">
                  <c:v>0.9</c:v>
                </c:pt>
                <c:pt idx="50">
                  <c:v>1</c:v>
                </c:pt>
                <c:pt idx="51">
                  <c:v>1.1</c:v>
                </c:pt>
                <c:pt idx="52">
                  <c:v>1.2</c:v>
                </c:pt>
                <c:pt idx="53">
                  <c:v>1.3</c:v>
                </c:pt>
                <c:pt idx="54">
                  <c:v>1.4</c:v>
                </c:pt>
                <c:pt idx="55">
                  <c:v>1.5</c:v>
                </c:pt>
                <c:pt idx="56">
                  <c:v>1.6</c:v>
                </c:pt>
                <c:pt idx="57">
                  <c:v>1.7</c:v>
                </c:pt>
                <c:pt idx="58">
                  <c:v>1.8</c:v>
                </c:pt>
                <c:pt idx="59">
                  <c:v>1.9</c:v>
                </c:pt>
                <c:pt idx="60">
                  <c:v>2</c:v>
                </c:pt>
                <c:pt idx="61">
                  <c:v>2.1</c:v>
                </c:pt>
                <c:pt idx="62">
                  <c:v>2.2</c:v>
                </c:pt>
                <c:pt idx="63">
                  <c:v>2.3</c:v>
                </c:pt>
                <c:pt idx="64">
                  <c:v>2.4</c:v>
                </c:pt>
                <c:pt idx="65">
                  <c:v>2.5</c:v>
                </c:pt>
                <c:pt idx="66">
                  <c:v>2.6</c:v>
                </c:pt>
                <c:pt idx="67">
                  <c:v>2.7</c:v>
                </c:pt>
                <c:pt idx="68">
                  <c:v>2.8</c:v>
                </c:pt>
                <c:pt idx="69">
                  <c:v>2.9</c:v>
                </c:pt>
                <c:pt idx="70">
                  <c:v>3</c:v>
                </c:pt>
                <c:pt idx="71">
                  <c:v>3.1</c:v>
                </c:pt>
                <c:pt idx="72">
                  <c:v>3.2</c:v>
                </c:pt>
                <c:pt idx="73">
                  <c:v>3.3</c:v>
                </c:pt>
                <c:pt idx="74">
                  <c:v>3.4</c:v>
                </c:pt>
                <c:pt idx="75">
                  <c:v>3.5</c:v>
                </c:pt>
                <c:pt idx="76">
                  <c:v>3.6</c:v>
                </c:pt>
                <c:pt idx="77">
                  <c:v>3.7</c:v>
                </c:pt>
                <c:pt idx="78">
                  <c:v>3.8</c:v>
                </c:pt>
                <c:pt idx="79">
                  <c:v>3.9</c:v>
                </c:pt>
                <c:pt idx="80">
                  <c:v>4</c:v>
                </c:pt>
              </c:numCache>
            </c:numRef>
          </c:xVal>
          <c:yVal>
            <c:numRef>
              <c:f>'Chart Data'!$D$2:$D$82</c:f>
              <c:numCache>
                <c:formatCode>0.0</c:formatCode>
                <c:ptCount val="81"/>
                <c:pt idx="0">
                  <c:v>0.0179862099621</c:v>
                </c:pt>
                <c:pt idx="1">
                  <c:v>0.0198403057341</c:v>
                </c:pt>
                <c:pt idx="2">
                  <c:v>0.0218812709361</c:v>
                </c:pt>
                <c:pt idx="3">
                  <c:v>0.0241270214177</c:v>
                </c:pt>
                <c:pt idx="4">
                  <c:v>0.0265969935769</c:v>
                </c:pt>
                <c:pt idx="5">
                  <c:v>0.0293122307514</c:v>
                </c:pt>
                <c:pt idx="6">
                  <c:v>0.0322954646985</c:v>
                </c:pt>
                <c:pt idx="7">
                  <c:v>0.0355711892726</c:v>
                </c:pt>
                <c:pt idx="8">
                  <c:v>0.0391657227968</c:v>
                </c:pt>
                <c:pt idx="9">
                  <c:v>0.0431072549411</c:v>
                </c:pt>
                <c:pt idx="10">
                  <c:v>0.0474258731776</c:v>
                </c:pt>
                <c:pt idx="11">
                  <c:v>0.0521535630784</c:v>
                </c:pt>
                <c:pt idx="12">
                  <c:v>0.0573241758989</c:v>
                </c:pt>
                <c:pt idx="13">
                  <c:v>0.062973356057</c:v>
                </c:pt>
                <c:pt idx="14">
                  <c:v>0.0691384203433</c:v>
                </c:pt>
                <c:pt idx="15">
                  <c:v>0.0758581800212</c:v>
                </c:pt>
                <c:pt idx="16">
                  <c:v>0.0831726964939</c:v>
                </c:pt>
                <c:pt idx="17">
                  <c:v>0.0911229610149</c:v>
                </c:pt>
                <c:pt idx="18">
                  <c:v>0.0997504891197</c:v>
                </c:pt>
                <c:pt idx="19">
                  <c:v>0.109096821196</c:v>
                </c:pt>
                <c:pt idx="20">
                  <c:v>0.119202922022</c:v>
                </c:pt>
                <c:pt idx="21">
                  <c:v>0.130108474363</c:v>
                </c:pt>
                <c:pt idx="22">
                  <c:v>0.1418510649</c:v>
                </c:pt>
                <c:pt idx="23">
                  <c:v>0.154465265084</c:v>
                </c:pt>
                <c:pt idx="24">
                  <c:v>0.167981614866</c:v>
                </c:pt>
                <c:pt idx="25">
                  <c:v>0.182425523806</c:v>
                </c:pt>
                <c:pt idx="26">
                  <c:v>0.197816111441</c:v>
                </c:pt>
                <c:pt idx="27">
                  <c:v>0.214165016957</c:v>
                </c:pt>
                <c:pt idx="28">
                  <c:v>0.231475216501</c:v>
                </c:pt>
                <c:pt idx="29">
                  <c:v>0.249739894405</c:v>
                </c:pt>
                <c:pt idx="30">
                  <c:v>0.26894142137</c:v>
                </c:pt>
                <c:pt idx="31">
                  <c:v>0.289050497375</c:v>
                </c:pt>
                <c:pt idx="32">
                  <c:v>0.310025518872</c:v>
                </c:pt>
                <c:pt idx="33">
                  <c:v>0.331812227832</c:v>
                </c:pt>
                <c:pt idx="34">
                  <c:v>0.354343693774</c:v>
                </c:pt>
                <c:pt idx="35">
                  <c:v>0.377540668798</c:v>
                </c:pt>
                <c:pt idx="36">
                  <c:v>0.401312339888</c:v>
                </c:pt>
                <c:pt idx="37">
                  <c:v>0.425557483188</c:v>
                </c:pt>
                <c:pt idx="38">
                  <c:v>0.450166002688</c:v>
                </c:pt>
                <c:pt idx="39">
                  <c:v>0.475020812521</c:v>
                </c:pt>
                <c:pt idx="40">
                  <c:v>0.5</c:v>
                </c:pt>
                <c:pt idx="41">
                  <c:v>0.524979187479</c:v>
                </c:pt>
                <c:pt idx="42">
                  <c:v>0.549833997312</c:v>
                </c:pt>
                <c:pt idx="43">
                  <c:v>0.574442516812</c:v>
                </c:pt>
                <c:pt idx="44">
                  <c:v>0.598687660112</c:v>
                </c:pt>
                <c:pt idx="45">
                  <c:v>0.622459331202</c:v>
                </c:pt>
                <c:pt idx="46">
                  <c:v>0.645656306226</c:v>
                </c:pt>
                <c:pt idx="47">
                  <c:v>0.668187772168</c:v>
                </c:pt>
                <c:pt idx="48">
                  <c:v>0.689974481128</c:v>
                </c:pt>
                <c:pt idx="49">
                  <c:v>0.710949502625</c:v>
                </c:pt>
                <c:pt idx="50">
                  <c:v>0.73105857863</c:v>
                </c:pt>
                <c:pt idx="51">
                  <c:v>0.750260105595</c:v>
                </c:pt>
                <c:pt idx="52">
                  <c:v>0.768524783499</c:v>
                </c:pt>
                <c:pt idx="53">
                  <c:v>0.785834983043</c:v>
                </c:pt>
                <c:pt idx="54">
                  <c:v>0.802183888559</c:v>
                </c:pt>
                <c:pt idx="55">
                  <c:v>0.817574476194</c:v>
                </c:pt>
                <c:pt idx="56">
                  <c:v>0.832018385134</c:v>
                </c:pt>
                <c:pt idx="57">
                  <c:v>0.845534734916</c:v>
                </c:pt>
                <c:pt idx="58">
                  <c:v>0.8581489351</c:v>
                </c:pt>
                <c:pt idx="59">
                  <c:v>0.869891525637</c:v>
                </c:pt>
                <c:pt idx="60">
                  <c:v>0.880797077978</c:v>
                </c:pt>
                <c:pt idx="61">
                  <c:v>0.890903178804</c:v>
                </c:pt>
                <c:pt idx="62">
                  <c:v>0.90024951088</c:v>
                </c:pt>
                <c:pt idx="63">
                  <c:v>0.908877038985</c:v>
                </c:pt>
                <c:pt idx="64">
                  <c:v>0.916827303506</c:v>
                </c:pt>
                <c:pt idx="65">
                  <c:v>0.924141819979</c:v>
                </c:pt>
                <c:pt idx="66">
                  <c:v>0.930861579657</c:v>
                </c:pt>
                <c:pt idx="67">
                  <c:v>0.937026643943</c:v>
                </c:pt>
                <c:pt idx="68">
                  <c:v>0.942675824101</c:v>
                </c:pt>
                <c:pt idx="69">
                  <c:v>0.947846436922</c:v>
                </c:pt>
                <c:pt idx="70">
                  <c:v>0.952574126822</c:v>
                </c:pt>
                <c:pt idx="71">
                  <c:v>0.956892745059</c:v>
                </c:pt>
                <c:pt idx="72">
                  <c:v>0.960834277203</c:v>
                </c:pt>
                <c:pt idx="73">
                  <c:v>0.964428810727</c:v>
                </c:pt>
                <c:pt idx="74">
                  <c:v>0.967704535302</c:v>
                </c:pt>
                <c:pt idx="75">
                  <c:v>0.970687769249</c:v>
                </c:pt>
                <c:pt idx="76">
                  <c:v>0.973403006423</c:v>
                </c:pt>
                <c:pt idx="77">
                  <c:v>0.975872978582</c:v>
                </c:pt>
                <c:pt idx="78">
                  <c:v>0.978118729064</c:v>
                </c:pt>
                <c:pt idx="79">
                  <c:v>0.980159694266</c:v>
                </c:pt>
                <c:pt idx="80">
                  <c:v>0.982013790038</c:v>
                </c:pt>
              </c:numCache>
            </c:numRef>
          </c:y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JetBrains Mono"/>
                  <a:ea typeface="JetBrains Mono"/>
                  <a:cs typeface="JetBrains Mono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"/>
          <c:min val="-1"/>
        </c:scaling>
        <c:delete val="0"/>
        <c:axPos val="l"/>
        <c:majorGridlines>
          <c:spPr>
            <a:ln xmlns:a="http://schemas.openxmlformats.org/drawingml/2006/main" w="6668">
              <a:solidFill>
                <a:srgbClr val="263A53"/>
              </a:solidFill>
            </a:ln>
          </c:spPr>
        </c:majorGridlines>
        <c:numFmt formatCode="0.0"/>
        <c:majorTickMark val="none"/>
        <c:minorTickMark val="none"/>
        <c:tickLblPos val="low"/>
        <c:spPr>
          <a:ln xmlns:a="http://schemas.openxmlformats.org/drawingml/2006/main" w="9525">
            <a:solidFill>
              <a:srgbClr val="91A4BD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</a:p>
        </c:txPr>
        <c:crossAx val="48650112"/>
        <c:majorUnit val="0.5"/>
      </c:valAx>
      <c:valAx>
        <c:axId val="48650112"/>
        <c:scaling>
          <c:orientation val="minMax"/>
          <c:max val="4"/>
          <c:min val="-4"/>
        </c:scaling>
        <c:delete val="0"/>
        <c:axPos val="b"/>
        <c:majorGridlines>
          <c:spPr>
            <a:ln xmlns:a="http://schemas.openxmlformats.org/drawingml/2006/main" w="6668">
              <a:solidFill>
                <a:srgbClr val="263A53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75">
                    <a:solidFill>
                      <a:srgbClr val="FFFFFF"/>
                    </a:solidFill>
                    <a:latin typeface="JetBrains Mono"/>
                    <a:ea typeface="JetBrains Mono"/>
                    <a:cs typeface="JetBrains Mono"/>
                  </a:rPr>
                  <a:t>z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75">
                  <a:solidFill>
                    <a:srgbClr val="FFFFFF"/>
                  </a:solidFill>
                  <a:latin typeface="JetBrains Mono"/>
                  <a:ea typeface="JetBrains Mono"/>
                  <a:cs typeface="JetBrains Mono"/>
                </a:defRPr>
              </a:pPr>
            </a:p>
          </c:txPr>
        </c:title>
        <c:numFmt formatCode="0"/>
        <c:majorTickMark val="none"/>
        <c:minorTickMark val="none"/>
        <c:tickLblPos val="low"/>
        <c:spPr>
          <a:ln xmlns:a="http://schemas.openxmlformats.org/drawingml/2006/main" w="9525">
            <a:solidFill>
              <a:srgbClr val="91A4BD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</a:p>
        </c:txPr>
        <c:crossAx val="48672768"/>
        <c:majorUnit val="2"/>
      </c:valAx>
      <c:spPr>
        <a:solidFill xmlns:a="http://schemas.openxmlformats.org/drawingml/2006/main">
          <a:srgbClr val="000F29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000F29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6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ser>
          <c:idx val="0"/>
          <c:order val="0"/>
          <c:tx>
            <c:v>tanh′(z)</c:v>
          </c:tx>
          <c:spPr>
            <a:solidFill xmlns:a="http://schemas.openxmlformats.org/drawingml/2006/main">
              <a:srgbClr val="83DFFF"/>
            </a:solidFill>
            <a:ln xmlns:a="http://schemas.openxmlformats.org/drawingml/2006/main" w="28575">
              <a:solidFill>
                <a:srgbClr val="83DFFF"/>
              </a:solidFill>
            </a:ln>
          </c:spPr>
          <c:marker>
            <c:symbol val="none"/>
          </c:marker>
          <c:xVal>
            <c:numRef>
              <c:f>'Chart Data'!$A$2:$A$82</c:f>
              <c:numCache>
                <c:formatCode>General</c:formatCode>
                <c:ptCount val="81"/>
                <c:pt idx="0">
                  <c:v>-4</c:v>
                </c:pt>
                <c:pt idx="1">
                  <c:v>-3.9</c:v>
                </c:pt>
                <c:pt idx="2">
                  <c:v>-3.8</c:v>
                </c:pt>
                <c:pt idx="3">
                  <c:v>-3.7</c:v>
                </c:pt>
                <c:pt idx="4">
                  <c:v>-3.6</c:v>
                </c:pt>
                <c:pt idx="5">
                  <c:v>-3.5</c:v>
                </c:pt>
                <c:pt idx="6">
                  <c:v>-3.4</c:v>
                </c:pt>
                <c:pt idx="7">
                  <c:v>-3.3</c:v>
                </c:pt>
                <c:pt idx="8">
                  <c:v>-3.2</c:v>
                </c:pt>
                <c:pt idx="9">
                  <c:v>-3.1</c:v>
                </c:pt>
                <c:pt idx="10">
                  <c:v>-3</c:v>
                </c:pt>
                <c:pt idx="11">
                  <c:v>-2.9</c:v>
                </c:pt>
                <c:pt idx="12">
                  <c:v>-2.8</c:v>
                </c:pt>
                <c:pt idx="13">
                  <c:v>-2.7</c:v>
                </c:pt>
                <c:pt idx="14">
                  <c:v>-2.6</c:v>
                </c:pt>
                <c:pt idx="15">
                  <c:v>-2.5</c:v>
                </c:pt>
                <c:pt idx="16">
                  <c:v>-2.4</c:v>
                </c:pt>
                <c:pt idx="17">
                  <c:v>-2.3</c:v>
                </c:pt>
                <c:pt idx="18">
                  <c:v>-2.2</c:v>
                </c:pt>
                <c:pt idx="19">
                  <c:v>-2.1</c:v>
                </c:pt>
                <c:pt idx="20">
                  <c:v>-2</c:v>
                </c:pt>
                <c:pt idx="21">
                  <c:v>-1.9</c:v>
                </c:pt>
                <c:pt idx="22">
                  <c:v>-1.8</c:v>
                </c:pt>
                <c:pt idx="23">
                  <c:v>-1.7</c:v>
                </c:pt>
                <c:pt idx="24">
                  <c:v>-1.6</c:v>
                </c:pt>
                <c:pt idx="25">
                  <c:v>-1.5</c:v>
                </c:pt>
                <c:pt idx="26">
                  <c:v>-1.4</c:v>
                </c:pt>
                <c:pt idx="27">
                  <c:v>-1.3</c:v>
                </c:pt>
                <c:pt idx="28">
                  <c:v>-1.2</c:v>
                </c:pt>
                <c:pt idx="29">
                  <c:v>-1.1</c:v>
                </c:pt>
                <c:pt idx="30">
                  <c:v>-1</c:v>
                </c:pt>
                <c:pt idx="31">
                  <c:v>-0.9</c:v>
                </c:pt>
                <c:pt idx="32">
                  <c:v>-0.8</c:v>
                </c:pt>
                <c:pt idx="33">
                  <c:v>-0.7</c:v>
                </c:pt>
                <c:pt idx="34">
                  <c:v>-0.6</c:v>
                </c:pt>
                <c:pt idx="35">
                  <c:v>-0.5</c:v>
                </c:pt>
                <c:pt idx="36">
                  <c:v>-0.4</c:v>
                </c:pt>
                <c:pt idx="37">
                  <c:v>-0.3</c:v>
                </c:pt>
                <c:pt idx="38">
                  <c:v>-0.2</c:v>
                </c:pt>
                <c:pt idx="39">
                  <c:v>-0.1</c:v>
                </c:pt>
                <c:pt idx="40">
                  <c:v>0</c:v>
                </c:pt>
                <c:pt idx="41">
                  <c:v>0.1</c:v>
                </c:pt>
                <c:pt idx="42">
                  <c:v>0.2</c:v>
                </c:pt>
                <c:pt idx="43">
                  <c:v>0.3</c:v>
                </c:pt>
                <c:pt idx="44">
                  <c:v>0.4</c:v>
                </c:pt>
                <c:pt idx="45">
                  <c:v>0.5</c:v>
                </c:pt>
                <c:pt idx="46">
                  <c:v>0.6</c:v>
                </c:pt>
                <c:pt idx="47">
                  <c:v>0.7</c:v>
                </c:pt>
                <c:pt idx="48">
                  <c:v>0.8</c:v>
                </c:pt>
                <c:pt idx="49">
                  <c:v>0.9</c:v>
                </c:pt>
                <c:pt idx="50">
                  <c:v>1</c:v>
                </c:pt>
                <c:pt idx="51">
                  <c:v>1.1</c:v>
                </c:pt>
                <c:pt idx="52">
                  <c:v>1.2</c:v>
                </c:pt>
                <c:pt idx="53">
                  <c:v>1.3</c:v>
                </c:pt>
                <c:pt idx="54">
                  <c:v>1.4</c:v>
                </c:pt>
                <c:pt idx="55">
                  <c:v>1.5</c:v>
                </c:pt>
                <c:pt idx="56">
                  <c:v>1.6</c:v>
                </c:pt>
                <c:pt idx="57">
                  <c:v>1.7</c:v>
                </c:pt>
                <c:pt idx="58">
                  <c:v>1.8</c:v>
                </c:pt>
                <c:pt idx="59">
                  <c:v>1.9</c:v>
                </c:pt>
                <c:pt idx="60">
                  <c:v>2</c:v>
                </c:pt>
                <c:pt idx="61">
                  <c:v>2.1</c:v>
                </c:pt>
                <c:pt idx="62">
                  <c:v>2.2</c:v>
                </c:pt>
                <c:pt idx="63">
                  <c:v>2.3</c:v>
                </c:pt>
                <c:pt idx="64">
                  <c:v>2.4</c:v>
                </c:pt>
                <c:pt idx="65">
                  <c:v>2.5</c:v>
                </c:pt>
                <c:pt idx="66">
                  <c:v>2.6</c:v>
                </c:pt>
                <c:pt idx="67">
                  <c:v>2.7</c:v>
                </c:pt>
                <c:pt idx="68">
                  <c:v>2.8</c:v>
                </c:pt>
                <c:pt idx="69">
                  <c:v>2.9</c:v>
                </c:pt>
                <c:pt idx="70">
                  <c:v>3</c:v>
                </c:pt>
                <c:pt idx="71">
                  <c:v>3.1</c:v>
                </c:pt>
                <c:pt idx="72">
                  <c:v>3.2</c:v>
                </c:pt>
                <c:pt idx="73">
                  <c:v>3.3</c:v>
                </c:pt>
                <c:pt idx="74">
                  <c:v>3.4</c:v>
                </c:pt>
                <c:pt idx="75">
                  <c:v>3.5</c:v>
                </c:pt>
                <c:pt idx="76">
                  <c:v>3.6</c:v>
                </c:pt>
                <c:pt idx="77">
                  <c:v>3.7</c:v>
                </c:pt>
                <c:pt idx="78">
                  <c:v>3.8</c:v>
                </c:pt>
                <c:pt idx="79">
                  <c:v>3.9</c:v>
                </c:pt>
                <c:pt idx="80">
                  <c:v>4</c:v>
                </c:pt>
              </c:numCache>
            </c:numRef>
          </c:xVal>
          <c:yVal>
            <c:numRef>
              <c:f>'Chart Data'!$B$2:$B$82</c:f>
              <c:numCache>
                <c:formatCode>0.00</c:formatCode>
                <c:ptCount val="81"/>
                <c:pt idx="0">
                  <c:v>0.00134095068303</c:v>
                </c:pt>
                <c:pt idx="1">
                  <c:v>0.00163759767889</c:v>
                </c:pt>
                <c:pt idx="2">
                  <c:v>0.00199980362373</c:v>
                </c:pt>
                <c:pt idx="3">
                  <c:v>0.00244202474337</c:v>
                </c:pt>
                <c:pt idx="4">
                  <c:v>0.00298188909926</c:v>
                </c:pt>
                <c:pt idx="5">
                  <c:v>0.00364088472049</c:v>
                </c:pt>
                <c:pt idx="6">
                  <c:v>0.00444519318574</c:v>
                </c:pt>
                <c:pt idx="7">
                  <c:v>0.00542669749589</c:v>
                </c:pt>
                <c:pt idx="8">
                  <c:v>0.0066241978366</c:v>
                </c:pt>
                <c:pt idx="9">
                  <c:v>0.00808487386549</c:v>
                </c:pt>
                <c:pt idx="10">
                  <c:v>0.00986603716544</c:v>
                </c:pt>
                <c:pt idx="11">
                  <c:v>0.0120372219504</c:v>
                </c:pt>
                <c:pt idx="12">
                  <c:v>0.0146826651032</c:v>
                </c:pt>
                <c:pt idx="13">
                  <c:v>0.0179042267544</c:v>
                </c:pt>
                <c:pt idx="14">
                  <c:v>0.0218247976953</c:v>
                </c:pt>
                <c:pt idx="15">
                  <c:v>0.0265922266832</c:v>
                </c:pt>
                <c:pt idx="16">
                  <c:v>0.0323837743413</c:v>
                </c:pt>
                <c:pt idx="17">
                  <c:v>0.039411054026</c:v>
                </c:pt>
                <c:pt idx="18">
                  <c:v>0.0479253441964</c:v>
                </c:pt>
                <c:pt idx="19">
                  <c:v>0.0582230387232</c:v>
                </c:pt>
                <c:pt idx="20">
                  <c:v>0.0706508248532</c:v>
                </c:pt>
                <c:pt idx="21">
                  <c:v>0.0856099236734</c:v>
                </c:pt>
                <c:pt idx="22">
                  <c:v>0.103558374038</c:v>
                </c:pt>
                <c:pt idx="23">
                  <c:v>0.125009870633</c:v>
                </c:pt>
                <c:pt idx="24">
                  <c:v>0.150527075818</c:v>
                </c:pt>
                <c:pt idx="25">
                  <c:v>0.180706638924</c:v>
                </c:pt>
                <c:pt idx="26">
                  <c:v>0.216152459026</c:v>
                </c:pt>
                <c:pt idx="27">
                  <c:v>0.257433196703</c:v>
                </c:pt>
                <c:pt idx="28">
                  <c:v>0.305019996207</c:v>
                </c:pt>
                <c:pt idx="29">
                  <c:v>0.35920131616</c:v>
                </c:pt>
                <c:pt idx="30">
                  <c:v>0.419974341614</c:v>
                </c:pt>
                <c:pt idx="31">
                  <c:v>0.486917361148</c:v>
                </c:pt>
                <c:pt idx="32">
                  <c:v>0.559055167732</c:v>
                </c:pt>
                <c:pt idx="33">
                  <c:v>0.634739589982</c:v>
                </c:pt>
                <c:pt idx="34">
                  <c:v>0.711577762587</c:v>
                </c:pt>
                <c:pt idx="35">
                  <c:v>0.786447732966</c:v>
                </c:pt>
                <c:pt idx="36">
                  <c:v>0.855638786081</c:v>
                </c:pt>
                <c:pt idx="37">
                  <c:v>0.915136961827</c:v>
                </c:pt>
                <c:pt idx="38">
                  <c:v>0.961042982966</c:v>
                </c:pt>
                <c:pt idx="39">
                  <c:v>0.990066290847</c:v>
                </c:pt>
                <c:pt idx="40">
                  <c:v>1</c:v>
                </c:pt>
                <c:pt idx="41">
                  <c:v>0.990066290847</c:v>
                </c:pt>
                <c:pt idx="42">
                  <c:v>0.961042982966</c:v>
                </c:pt>
                <c:pt idx="43">
                  <c:v>0.915136961827</c:v>
                </c:pt>
                <c:pt idx="44">
                  <c:v>0.855638786081</c:v>
                </c:pt>
                <c:pt idx="45">
                  <c:v>0.786447732966</c:v>
                </c:pt>
                <c:pt idx="46">
                  <c:v>0.711577762587</c:v>
                </c:pt>
                <c:pt idx="47">
                  <c:v>0.634739589982</c:v>
                </c:pt>
                <c:pt idx="48">
                  <c:v>0.559055167732</c:v>
                </c:pt>
                <c:pt idx="49">
                  <c:v>0.486917361148</c:v>
                </c:pt>
                <c:pt idx="50">
                  <c:v>0.419974341614</c:v>
                </c:pt>
                <c:pt idx="51">
                  <c:v>0.35920131616</c:v>
                </c:pt>
                <c:pt idx="52">
                  <c:v>0.305019996207</c:v>
                </c:pt>
                <c:pt idx="53">
                  <c:v>0.257433196703</c:v>
                </c:pt>
                <c:pt idx="54">
                  <c:v>0.216152459026</c:v>
                </c:pt>
                <c:pt idx="55">
                  <c:v>0.180706638924</c:v>
                </c:pt>
                <c:pt idx="56">
                  <c:v>0.150527075818</c:v>
                </c:pt>
                <c:pt idx="57">
                  <c:v>0.125009870633</c:v>
                </c:pt>
                <c:pt idx="58">
                  <c:v>0.103558374038</c:v>
                </c:pt>
                <c:pt idx="59">
                  <c:v>0.0856099236734</c:v>
                </c:pt>
                <c:pt idx="60">
                  <c:v>0.0706508248532</c:v>
                </c:pt>
                <c:pt idx="61">
                  <c:v>0.0582230387232</c:v>
                </c:pt>
                <c:pt idx="62">
                  <c:v>0.0479253441964</c:v>
                </c:pt>
                <c:pt idx="63">
                  <c:v>0.039411054026</c:v>
                </c:pt>
                <c:pt idx="64">
                  <c:v>0.0323837743413</c:v>
                </c:pt>
                <c:pt idx="65">
                  <c:v>0.0265922266832</c:v>
                </c:pt>
                <c:pt idx="66">
                  <c:v>0.0218247976953</c:v>
                </c:pt>
                <c:pt idx="67">
                  <c:v>0.0179042267544</c:v>
                </c:pt>
                <c:pt idx="68">
                  <c:v>0.0146826651032</c:v>
                </c:pt>
                <c:pt idx="69">
                  <c:v>0.0120372219504</c:v>
                </c:pt>
                <c:pt idx="70">
                  <c:v>0.00986603716544</c:v>
                </c:pt>
                <c:pt idx="71">
                  <c:v>0.00808487386549</c:v>
                </c:pt>
                <c:pt idx="72">
                  <c:v>0.0066241978366</c:v>
                </c:pt>
                <c:pt idx="73">
                  <c:v>0.00542669749589</c:v>
                </c:pt>
                <c:pt idx="74">
                  <c:v>0.00444519318574</c:v>
                </c:pt>
                <c:pt idx="75">
                  <c:v>0.00364088472049</c:v>
                </c:pt>
                <c:pt idx="76">
                  <c:v>0.00298188909926</c:v>
                </c:pt>
                <c:pt idx="77">
                  <c:v>0.00244202474337</c:v>
                </c:pt>
                <c:pt idx="78">
                  <c:v>0.00199980362373</c:v>
                </c:pt>
                <c:pt idx="79">
                  <c:v>0.00163759767889</c:v>
                </c:pt>
                <c:pt idx="80">
                  <c:v>0.00134095068303</c:v>
                </c:pt>
              </c:numCache>
            </c:numRef>
          </c:yVal>
          <c:smooth val="0"/>
        </c:ser>
        <c:ser>
          <c:idx val="1"/>
          <c:order val="1"/>
          <c:tx>
            <c:v>σ′(z)</c:v>
          </c:tx>
          <c:spPr>
            <a:solidFill xmlns:a="http://schemas.openxmlformats.org/drawingml/2006/main">
              <a:srgbClr val="FFAD62"/>
            </a:solidFill>
            <a:ln xmlns:a="http://schemas.openxmlformats.org/drawingml/2006/main" w="28575">
              <a:solidFill>
                <a:srgbClr val="FFAD62"/>
              </a:solidFill>
            </a:ln>
          </c:spPr>
          <c:marker>
            <c:symbol val="none"/>
          </c:marker>
          <c:xVal>
            <c:numRef>
              <c:f>'Chart Data'!$C$2:$C$82</c:f>
              <c:numCache>
                <c:formatCode>General</c:formatCode>
                <c:ptCount val="81"/>
                <c:pt idx="0">
                  <c:v>-4</c:v>
                </c:pt>
                <c:pt idx="1">
                  <c:v>-3.9</c:v>
                </c:pt>
                <c:pt idx="2">
                  <c:v>-3.8</c:v>
                </c:pt>
                <c:pt idx="3">
                  <c:v>-3.7</c:v>
                </c:pt>
                <c:pt idx="4">
                  <c:v>-3.6</c:v>
                </c:pt>
                <c:pt idx="5">
                  <c:v>-3.5</c:v>
                </c:pt>
                <c:pt idx="6">
                  <c:v>-3.4</c:v>
                </c:pt>
                <c:pt idx="7">
                  <c:v>-3.3</c:v>
                </c:pt>
                <c:pt idx="8">
                  <c:v>-3.2</c:v>
                </c:pt>
                <c:pt idx="9">
                  <c:v>-3.1</c:v>
                </c:pt>
                <c:pt idx="10">
                  <c:v>-3</c:v>
                </c:pt>
                <c:pt idx="11">
                  <c:v>-2.9</c:v>
                </c:pt>
                <c:pt idx="12">
                  <c:v>-2.8</c:v>
                </c:pt>
                <c:pt idx="13">
                  <c:v>-2.7</c:v>
                </c:pt>
                <c:pt idx="14">
                  <c:v>-2.6</c:v>
                </c:pt>
                <c:pt idx="15">
                  <c:v>-2.5</c:v>
                </c:pt>
                <c:pt idx="16">
                  <c:v>-2.4</c:v>
                </c:pt>
                <c:pt idx="17">
                  <c:v>-2.3</c:v>
                </c:pt>
                <c:pt idx="18">
                  <c:v>-2.2</c:v>
                </c:pt>
                <c:pt idx="19">
                  <c:v>-2.1</c:v>
                </c:pt>
                <c:pt idx="20">
                  <c:v>-2</c:v>
                </c:pt>
                <c:pt idx="21">
                  <c:v>-1.9</c:v>
                </c:pt>
                <c:pt idx="22">
                  <c:v>-1.8</c:v>
                </c:pt>
                <c:pt idx="23">
                  <c:v>-1.7</c:v>
                </c:pt>
                <c:pt idx="24">
                  <c:v>-1.6</c:v>
                </c:pt>
                <c:pt idx="25">
                  <c:v>-1.5</c:v>
                </c:pt>
                <c:pt idx="26">
                  <c:v>-1.4</c:v>
                </c:pt>
                <c:pt idx="27">
                  <c:v>-1.3</c:v>
                </c:pt>
                <c:pt idx="28">
                  <c:v>-1.2</c:v>
                </c:pt>
                <c:pt idx="29">
                  <c:v>-1.1</c:v>
                </c:pt>
                <c:pt idx="30">
                  <c:v>-1</c:v>
                </c:pt>
                <c:pt idx="31">
                  <c:v>-0.9</c:v>
                </c:pt>
                <c:pt idx="32">
                  <c:v>-0.8</c:v>
                </c:pt>
                <c:pt idx="33">
                  <c:v>-0.7</c:v>
                </c:pt>
                <c:pt idx="34">
                  <c:v>-0.6</c:v>
                </c:pt>
                <c:pt idx="35">
                  <c:v>-0.5</c:v>
                </c:pt>
                <c:pt idx="36">
                  <c:v>-0.4</c:v>
                </c:pt>
                <c:pt idx="37">
                  <c:v>-0.3</c:v>
                </c:pt>
                <c:pt idx="38">
                  <c:v>-0.2</c:v>
                </c:pt>
                <c:pt idx="39">
                  <c:v>-0.1</c:v>
                </c:pt>
                <c:pt idx="40">
                  <c:v>0</c:v>
                </c:pt>
                <c:pt idx="41">
                  <c:v>0.1</c:v>
                </c:pt>
                <c:pt idx="42">
                  <c:v>0.2</c:v>
                </c:pt>
                <c:pt idx="43">
                  <c:v>0.3</c:v>
                </c:pt>
                <c:pt idx="44">
                  <c:v>0.4</c:v>
                </c:pt>
                <c:pt idx="45">
                  <c:v>0.5</c:v>
                </c:pt>
                <c:pt idx="46">
                  <c:v>0.6</c:v>
                </c:pt>
                <c:pt idx="47">
                  <c:v>0.7</c:v>
                </c:pt>
                <c:pt idx="48">
                  <c:v>0.8</c:v>
                </c:pt>
                <c:pt idx="49">
                  <c:v>0.9</c:v>
                </c:pt>
                <c:pt idx="50">
                  <c:v>1</c:v>
                </c:pt>
                <c:pt idx="51">
                  <c:v>1.1</c:v>
                </c:pt>
                <c:pt idx="52">
                  <c:v>1.2</c:v>
                </c:pt>
                <c:pt idx="53">
                  <c:v>1.3</c:v>
                </c:pt>
                <c:pt idx="54">
                  <c:v>1.4</c:v>
                </c:pt>
                <c:pt idx="55">
                  <c:v>1.5</c:v>
                </c:pt>
                <c:pt idx="56">
                  <c:v>1.6</c:v>
                </c:pt>
                <c:pt idx="57">
                  <c:v>1.7</c:v>
                </c:pt>
                <c:pt idx="58">
                  <c:v>1.8</c:v>
                </c:pt>
                <c:pt idx="59">
                  <c:v>1.9</c:v>
                </c:pt>
                <c:pt idx="60">
                  <c:v>2</c:v>
                </c:pt>
                <c:pt idx="61">
                  <c:v>2.1</c:v>
                </c:pt>
                <c:pt idx="62">
                  <c:v>2.2</c:v>
                </c:pt>
                <c:pt idx="63">
                  <c:v>2.3</c:v>
                </c:pt>
                <c:pt idx="64">
                  <c:v>2.4</c:v>
                </c:pt>
                <c:pt idx="65">
                  <c:v>2.5</c:v>
                </c:pt>
                <c:pt idx="66">
                  <c:v>2.6</c:v>
                </c:pt>
                <c:pt idx="67">
                  <c:v>2.7</c:v>
                </c:pt>
                <c:pt idx="68">
                  <c:v>2.8</c:v>
                </c:pt>
                <c:pt idx="69">
                  <c:v>2.9</c:v>
                </c:pt>
                <c:pt idx="70">
                  <c:v>3</c:v>
                </c:pt>
                <c:pt idx="71">
                  <c:v>3.1</c:v>
                </c:pt>
                <c:pt idx="72">
                  <c:v>3.2</c:v>
                </c:pt>
                <c:pt idx="73">
                  <c:v>3.3</c:v>
                </c:pt>
                <c:pt idx="74">
                  <c:v>3.4</c:v>
                </c:pt>
                <c:pt idx="75">
                  <c:v>3.5</c:v>
                </c:pt>
                <c:pt idx="76">
                  <c:v>3.6</c:v>
                </c:pt>
                <c:pt idx="77">
                  <c:v>3.7</c:v>
                </c:pt>
                <c:pt idx="78">
                  <c:v>3.8</c:v>
                </c:pt>
                <c:pt idx="79">
                  <c:v>3.9</c:v>
                </c:pt>
                <c:pt idx="80">
                  <c:v>4</c:v>
                </c:pt>
              </c:numCache>
            </c:numRef>
          </c:xVal>
          <c:yVal>
            <c:numRef>
              <c:f>'Chart Data'!$D$2:$D$82</c:f>
              <c:numCache>
                <c:formatCode>0.00</c:formatCode>
                <c:ptCount val="81"/>
                <c:pt idx="0">
                  <c:v>0.0176627062133</c:v>
                </c:pt>
                <c:pt idx="1">
                  <c:v>0.0194466680025</c:v>
                </c:pt>
                <c:pt idx="2">
                  <c:v>0.0214024809184</c:v>
                </c:pt>
                <c:pt idx="3">
                  <c:v>0.0235449082552</c:v>
                </c:pt>
                <c:pt idx="4">
                  <c:v>0.0258895935095</c:v>
                </c:pt>
                <c:pt idx="5">
                  <c:v>0.0284530238797</c:v>
                </c:pt>
                <c:pt idx="6">
                  <c:v>0.0312524676584</c:v>
                </c:pt>
                <c:pt idx="7">
                  <c:v>0.0343058797664</c:v>
                </c:pt>
                <c:pt idx="8">
                  <c:v>0.0376317689546</c:v>
                </c:pt>
                <c:pt idx="9">
                  <c:v>0.0412490195125</c:v>
                </c:pt>
                <c:pt idx="10">
                  <c:v>0.0451766597309</c:v>
                </c:pt>
                <c:pt idx="11">
                  <c:v>0.0494335689366</c:v>
                </c:pt>
                <c:pt idx="12">
                  <c:v>0.0540381147564</c:v>
                </c:pt>
                <c:pt idx="13">
                  <c:v>0.0590077124839</c:v>
                </c:pt>
                <c:pt idx="14">
                  <c:v>0.0643582991758</c:v>
                </c:pt>
                <c:pt idx="15">
                  <c:v>0.0701037165451</c:v>
                </c:pt>
                <c:pt idx="16">
                  <c:v>0.0762549990519</c:v>
                </c:pt>
                <c:pt idx="17">
                  <c:v>0.0828195669907</c:v>
                </c:pt>
                <c:pt idx="18">
                  <c:v>0.0898003290401</c:v>
                </c:pt>
                <c:pt idx="19">
                  <c:v>0.0971947048006</c:v>
                </c:pt>
                <c:pt idx="20">
                  <c:v>0.104993585404</c:v>
                </c:pt>
                <c:pt idx="21">
                  <c:v>0.113180259262</c:v>
                </c:pt>
                <c:pt idx="22">
                  <c:v>0.121729340287</c:v>
                </c:pt>
                <c:pt idx="23">
                  <c:v>0.130605746966</c:v>
                </c:pt>
                <c:pt idx="24">
                  <c:v>0.139763791933</c:v>
                </c:pt>
                <c:pt idx="25">
                  <c:v>0.14914645207</c:v>
                </c:pt>
                <c:pt idx="26">
                  <c:v>0.158684897496</c:v>
                </c:pt>
                <c:pt idx="27">
                  <c:v>0.168298362469</c:v>
                </c:pt>
                <c:pt idx="28">
                  <c:v>0.177894440647</c:v>
                </c:pt>
                <c:pt idx="29">
                  <c:v>0.187369879548</c:v>
                </c:pt>
                <c:pt idx="30">
                  <c:v>0.196611933241</c:v>
                </c:pt>
                <c:pt idx="31">
                  <c:v>0.205500307342</c:v>
                </c:pt>
                <c:pt idx="32">
                  <c:v>0.21390969652</c:v>
                </c:pt>
                <c:pt idx="33">
                  <c:v>0.221712873293</c:v>
                </c:pt>
                <c:pt idx="34">
                  <c:v>0.228784240457</c:v>
                </c:pt>
                <c:pt idx="35">
                  <c:v>0.235003712202</c:v>
                </c:pt>
                <c:pt idx="36">
                  <c:v>0.240260745742</c:v>
                </c:pt>
                <c:pt idx="37">
                  <c:v>0.244458311691</c:v>
                </c:pt>
                <c:pt idx="38">
                  <c:v>0.247516572712</c:v>
                </c:pt>
                <c:pt idx="39">
                  <c:v>0.249376040193</c:v>
                </c:pt>
                <c:pt idx="40">
                  <c:v>0.25</c:v>
                </c:pt>
                <c:pt idx="41">
                  <c:v>0.249376040193</c:v>
                </c:pt>
                <c:pt idx="42">
                  <c:v>0.247516572712</c:v>
                </c:pt>
                <c:pt idx="43">
                  <c:v>0.244458311691</c:v>
                </c:pt>
                <c:pt idx="44">
                  <c:v>0.240260745742</c:v>
                </c:pt>
                <c:pt idx="45">
                  <c:v>0.235003712202</c:v>
                </c:pt>
                <c:pt idx="46">
                  <c:v>0.228784240457</c:v>
                </c:pt>
                <c:pt idx="47">
                  <c:v>0.221712873293</c:v>
                </c:pt>
                <c:pt idx="48">
                  <c:v>0.21390969652</c:v>
                </c:pt>
                <c:pt idx="49">
                  <c:v>0.205500307342</c:v>
                </c:pt>
                <c:pt idx="50">
                  <c:v>0.196611933241</c:v>
                </c:pt>
                <c:pt idx="51">
                  <c:v>0.187369879548</c:v>
                </c:pt>
                <c:pt idx="52">
                  <c:v>0.177894440647</c:v>
                </c:pt>
                <c:pt idx="53">
                  <c:v>0.168298362469</c:v>
                </c:pt>
                <c:pt idx="54">
                  <c:v>0.158684897496</c:v>
                </c:pt>
                <c:pt idx="55">
                  <c:v>0.14914645207</c:v>
                </c:pt>
                <c:pt idx="56">
                  <c:v>0.139763791933</c:v>
                </c:pt>
                <c:pt idx="57">
                  <c:v>0.130605746966</c:v>
                </c:pt>
                <c:pt idx="58">
                  <c:v>0.121729340287</c:v>
                </c:pt>
                <c:pt idx="59">
                  <c:v>0.113180259262</c:v>
                </c:pt>
                <c:pt idx="60">
                  <c:v>0.104993585404</c:v>
                </c:pt>
                <c:pt idx="61">
                  <c:v>0.0971947048006</c:v>
                </c:pt>
                <c:pt idx="62">
                  <c:v>0.0898003290401</c:v>
                </c:pt>
                <c:pt idx="63">
                  <c:v>0.0828195669907</c:v>
                </c:pt>
                <c:pt idx="64">
                  <c:v>0.0762549990519</c:v>
                </c:pt>
                <c:pt idx="65">
                  <c:v>0.0701037165451</c:v>
                </c:pt>
                <c:pt idx="66">
                  <c:v>0.0643582991758</c:v>
                </c:pt>
                <c:pt idx="67">
                  <c:v>0.0590077124839</c:v>
                </c:pt>
                <c:pt idx="68">
                  <c:v>0.0540381147564</c:v>
                </c:pt>
                <c:pt idx="69">
                  <c:v>0.0494335689366</c:v>
                </c:pt>
                <c:pt idx="70">
                  <c:v>0.0451766597309</c:v>
                </c:pt>
                <c:pt idx="71">
                  <c:v>0.0412490195125</c:v>
                </c:pt>
                <c:pt idx="72">
                  <c:v>0.0376317689546</c:v>
                </c:pt>
                <c:pt idx="73">
                  <c:v>0.0343058797664</c:v>
                </c:pt>
                <c:pt idx="74">
                  <c:v>0.0312524676584</c:v>
                </c:pt>
                <c:pt idx="75">
                  <c:v>0.0284530238797</c:v>
                </c:pt>
                <c:pt idx="76">
                  <c:v>0.0258895935095</c:v>
                </c:pt>
                <c:pt idx="77">
                  <c:v>0.0235449082552</c:v>
                </c:pt>
                <c:pt idx="78">
                  <c:v>0.0214024809184</c:v>
                </c:pt>
                <c:pt idx="79">
                  <c:v>0.0194466680025</c:v>
                </c:pt>
                <c:pt idx="80">
                  <c:v>0.0176627062133</c:v>
                </c:pt>
              </c:numCache>
            </c:numRef>
          </c:y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JetBrains Mono"/>
                  <a:ea typeface="JetBrains Mono"/>
                  <a:cs typeface="JetBrains Mono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6668">
              <a:solidFill>
                <a:srgbClr val="263A53"/>
              </a:solidFill>
            </a:ln>
          </c:spPr>
        </c:majorGridlines>
        <c:numFmt formatCode="0.00"/>
        <c:majorTickMark val="none"/>
        <c:minorTickMark val="none"/>
        <c:tickLblPos val="low"/>
        <c:spPr>
          <a:ln xmlns:a="http://schemas.openxmlformats.org/drawingml/2006/main" w="9525">
            <a:solidFill>
              <a:srgbClr val="91A4BD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</a:p>
        </c:txPr>
        <c:crossAx val="48650112"/>
        <c:majorUnit val="0.25"/>
      </c:valAx>
      <c:valAx>
        <c:axId val="48650112"/>
        <c:scaling>
          <c:orientation val="minMax"/>
          <c:max val="4"/>
          <c:min val="-4"/>
        </c:scaling>
        <c:delete val="0"/>
        <c:axPos val="b"/>
        <c:majorGridlines>
          <c:spPr>
            <a:ln xmlns:a="http://schemas.openxmlformats.org/drawingml/2006/main" w="6668">
              <a:solidFill>
                <a:srgbClr val="263A53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75">
                    <a:solidFill>
                      <a:srgbClr val="FFFFFF"/>
                    </a:solidFill>
                    <a:latin typeface="JetBrains Mono"/>
                    <a:ea typeface="JetBrains Mono"/>
                    <a:cs typeface="JetBrains Mono"/>
                  </a:rPr>
                  <a:t>z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75">
                  <a:solidFill>
                    <a:srgbClr val="FFFFFF"/>
                  </a:solidFill>
                  <a:latin typeface="JetBrains Mono"/>
                  <a:ea typeface="JetBrains Mono"/>
                  <a:cs typeface="JetBrains Mono"/>
                </a:defRPr>
              </a:pPr>
            </a:p>
          </c:txPr>
        </c:title>
        <c:numFmt formatCode="0"/>
        <c:majorTickMark val="none"/>
        <c:minorTickMark val="none"/>
        <c:tickLblPos val="low"/>
        <c:spPr>
          <a:ln xmlns:a="http://schemas.openxmlformats.org/drawingml/2006/main" w="9525">
            <a:solidFill>
              <a:srgbClr val="91A4BD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</a:p>
        </c:txPr>
        <c:crossAx val="48672768"/>
        <c:majorUnit val="2"/>
      </c:valAx>
      <c:spPr>
        <a:solidFill xmlns:a="http://schemas.openxmlformats.org/drawingml/2006/main">
          <a:srgbClr val="000F29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000F29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7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ser>
          <c:idx val="0"/>
          <c:order val="0"/>
          <c:tx>
            <c:v>σ(z)</c:v>
          </c:tx>
          <c:spPr>
            <a:solidFill xmlns:a="http://schemas.openxmlformats.org/drawingml/2006/main">
              <a:srgbClr val="83DFFF"/>
            </a:solidFill>
            <a:ln xmlns:a="http://schemas.openxmlformats.org/drawingml/2006/main" w="28575">
              <a:solidFill>
                <a:srgbClr val="83DFFF"/>
              </a:solidFill>
            </a:ln>
          </c:spPr>
          <c:marker>
            <c:symbol val="none"/>
          </c:marker>
          <c:xVal>
            <c:numRef>
              <c:f>'Chart Data'!$A$2:$A$62</c:f>
              <c:numCache>
                <c:formatCode>General</c:formatCode>
                <c:ptCount val="61"/>
                <c:pt idx="0">
                  <c:v>-6</c:v>
                </c:pt>
                <c:pt idx="1">
                  <c:v>-5.8</c:v>
                </c:pt>
                <c:pt idx="2">
                  <c:v>-5.6</c:v>
                </c:pt>
                <c:pt idx="3">
                  <c:v>-5.4</c:v>
                </c:pt>
                <c:pt idx="4">
                  <c:v>-5.2</c:v>
                </c:pt>
                <c:pt idx="5">
                  <c:v>-5</c:v>
                </c:pt>
                <c:pt idx="6">
                  <c:v>-4.8</c:v>
                </c:pt>
                <c:pt idx="7">
                  <c:v>-4.6</c:v>
                </c:pt>
                <c:pt idx="8">
                  <c:v>-4.4</c:v>
                </c:pt>
                <c:pt idx="9">
                  <c:v>-4.2</c:v>
                </c:pt>
                <c:pt idx="10">
                  <c:v>-4</c:v>
                </c:pt>
                <c:pt idx="11">
                  <c:v>-3.8</c:v>
                </c:pt>
                <c:pt idx="12">
                  <c:v>-3.6</c:v>
                </c:pt>
                <c:pt idx="13">
                  <c:v>-3.4</c:v>
                </c:pt>
                <c:pt idx="14">
                  <c:v>-3.2</c:v>
                </c:pt>
                <c:pt idx="15">
                  <c:v>-3</c:v>
                </c:pt>
                <c:pt idx="16">
                  <c:v>-2.8</c:v>
                </c:pt>
                <c:pt idx="17">
                  <c:v>-2.6</c:v>
                </c:pt>
                <c:pt idx="18">
                  <c:v>-2.4</c:v>
                </c:pt>
                <c:pt idx="19">
                  <c:v>-2.2</c:v>
                </c:pt>
                <c:pt idx="20">
                  <c:v>-2</c:v>
                </c:pt>
                <c:pt idx="21">
                  <c:v>-1.8</c:v>
                </c:pt>
                <c:pt idx="22">
                  <c:v>-1.6</c:v>
                </c:pt>
                <c:pt idx="23">
                  <c:v>-1.4</c:v>
                </c:pt>
                <c:pt idx="24">
                  <c:v>-1.2</c:v>
                </c:pt>
                <c:pt idx="25">
                  <c:v>-1</c:v>
                </c:pt>
                <c:pt idx="26">
                  <c:v>-0.8</c:v>
                </c:pt>
                <c:pt idx="27">
                  <c:v>-0.6</c:v>
                </c:pt>
                <c:pt idx="28">
                  <c:v>-0.4</c:v>
                </c:pt>
                <c:pt idx="29">
                  <c:v>-0.2</c:v>
                </c:pt>
                <c:pt idx="30">
                  <c:v>0</c:v>
                </c:pt>
                <c:pt idx="31">
                  <c:v>0.2</c:v>
                </c:pt>
                <c:pt idx="32">
                  <c:v>0.4</c:v>
                </c:pt>
                <c:pt idx="33">
                  <c:v>0.6</c:v>
                </c:pt>
                <c:pt idx="34">
                  <c:v>0.8</c:v>
                </c:pt>
                <c:pt idx="35">
                  <c:v>1</c:v>
                </c:pt>
                <c:pt idx="36">
                  <c:v>1.2</c:v>
                </c:pt>
                <c:pt idx="37">
                  <c:v>1.4</c:v>
                </c:pt>
                <c:pt idx="38">
                  <c:v>1.6</c:v>
                </c:pt>
                <c:pt idx="39">
                  <c:v>1.8</c:v>
                </c:pt>
                <c:pt idx="40">
                  <c:v>2</c:v>
                </c:pt>
                <c:pt idx="41">
                  <c:v>2.2</c:v>
                </c:pt>
                <c:pt idx="42">
                  <c:v>2.4</c:v>
                </c:pt>
                <c:pt idx="43">
                  <c:v>2.6</c:v>
                </c:pt>
                <c:pt idx="44">
                  <c:v>2.8</c:v>
                </c:pt>
                <c:pt idx="45">
                  <c:v>3</c:v>
                </c:pt>
                <c:pt idx="46">
                  <c:v>3.2</c:v>
                </c:pt>
                <c:pt idx="47">
                  <c:v>3.4</c:v>
                </c:pt>
                <c:pt idx="48">
                  <c:v>3.6</c:v>
                </c:pt>
                <c:pt idx="49">
                  <c:v>3.8</c:v>
                </c:pt>
                <c:pt idx="50">
                  <c:v>4</c:v>
                </c:pt>
                <c:pt idx="51">
                  <c:v>4.2</c:v>
                </c:pt>
                <c:pt idx="52">
                  <c:v>4.4</c:v>
                </c:pt>
                <c:pt idx="53">
                  <c:v>4.6</c:v>
                </c:pt>
                <c:pt idx="54">
                  <c:v>4.8</c:v>
                </c:pt>
                <c:pt idx="55">
                  <c:v>5</c:v>
                </c:pt>
                <c:pt idx="56">
                  <c:v>5.2</c:v>
                </c:pt>
                <c:pt idx="57">
                  <c:v>5.4</c:v>
                </c:pt>
                <c:pt idx="58">
                  <c:v>5.6</c:v>
                </c:pt>
                <c:pt idx="59">
                  <c:v>5.8</c:v>
                </c:pt>
                <c:pt idx="60">
                  <c:v>6</c:v>
                </c:pt>
              </c:numCache>
            </c:numRef>
          </c:xVal>
          <c:yVal>
            <c:numRef>
              <c:f>'Chart Data'!$B$2:$B$62</c:f>
              <c:numCache>
                <c:formatCode>0.00</c:formatCode>
                <c:ptCount val="61"/>
                <c:pt idx="0">
                  <c:v>0.00247262315663</c:v>
                </c:pt>
                <c:pt idx="1">
                  <c:v>0.00301841632471</c:v>
                </c:pt>
                <c:pt idx="2">
                  <c:v>0.00368423989944</c:v>
                </c:pt>
                <c:pt idx="3">
                  <c:v>0.00449627316094</c:v>
                </c:pt>
                <c:pt idx="4">
                  <c:v>0.00548629889945</c:v>
                </c:pt>
                <c:pt idx="5">
                  <c:v>0.00669285092428</c:v>
                </c:pt>
                <c:pt idx="6">
                  <c:v>0.00816257115316</c:v>
                </c:pt>
                <c:pt idx="7">
                  <c:v>0.0099518018669</c:v>
                </c:pt>
                <c:pt idx="8">
                  <c:v>0.0121284349843</c:v>
                </c:pt>
                <c:pt idx="9">
                  <c:v>0.0147740316933</c:v>
                </c:pt>
                <c:pt idx="10">
                  <c:v>0.0179862099621</c:v>
                </c:pt>
                <c:pt idx="11">
                  <c:v>0.0218812709361</c:v>
                </c:pt>
                <c:pt idx="12">
                  <c:v>0.0265969935769</c:v>
                </c:pt>
                <c:pt idx="13">
                  <c:v>0.0322954646985</c:v>
                </c:pt>
                <c:pt idx="14">
                  <c:v>0.0391657227968</c:v>
                </c:pt>
                <c:pt idx="15">
                  <c:v>0.0474258731776</c:v>
                </c:pt>
                <c:pt idx="16">
                  <c:v>0.0573241758989</c:v>
                </c:pt>
                <c:pt idx="17">
                  <c:v>0.0691384203433</c:v>
                </c:pt>
                <c:pt idx="18">
                  <c:v>0.0831726964939</c:v>
                </c:pt>
                <c:pt idx="19">
                  <c:v>0.0997504891197</c:v>
                </c:pt>
                <c:pt idx="20">
                  <c:v>0.119202922022</c:v>
                </c:pt>
                <c:pt idx="21">
                  <c:v>0.1418510649</c:v>
                </c:pt>
                <c:pt idx="22">
                  <c:v>0.167981614866</c:v>
                </c:pt>
                <c:pt idx="23">
                  <c:v>0.197816111441</c:v>
                </c:pt>
                <c:pt idx="24">
                  <c:v>0.231475216501</c:v>
                </c:pt>
                <c:pt idx="25">
                  <c:v>0.26894142137</c:v>
                </c:pt>
                <c:pt idx="26">
                  <c:v>0.310025518872</c:v>
                </c:pt>
                <c:pt idx="27">
                  <c:v>0.354343693774</c:v>
                </c:pt>
                <c:pt idx="28">
                  <c:v>0.401312339888</c:v>
                </c:pt>
                <c:pt idx="29">
                  <c:v>0.450166002688</c:v>
                </c:pt>
                <c:pt idx="30">
                  <c:v>0.5</c:v>
                </c:pt>
                <c:pt idx="31">
                  <c:v>0.549833997312</c:v>
                </c:pt>
                <c:pt idx="32">
                  <c:v>0.598687660112</c:v>
                </c:pt>
                <c:pt idx="33">
                  <c:v>0.645656306226</c:v>
                </c:pt>
                <c:pt idx="34">
                  <c:v>0.689974481128</c:v>
                </c:pt>
                <c:pt idx="35">
                  <c:v>0.73105857863</c:v>
                </c:pt>
                <c:pt idx="36">
                  <c:v>0.768524783499</c:v>
                </c:pt>
                <c:pt idx="37">
                  <c:v>0.802183888559</c:v>
                </c:pt>
                <c:pt idx="38">
                  <c:v>0.832018385134</c:v>
                </c:pt>
                <c:pt idx="39">
                  <c:v>0.8581489351</c:v>
                </c:pt>
                <c:pt idx="40">
                  <c:v>0.880797077978</c:v>
                </c:pt>
                <c:pt idx="41">
                  <c:v>0.90024951088</c:v>
                </c:pt>
                <c:pt idx="42">
                  <c:v>0.916827303506</c:v>
                </c:pt>
                <c:pt idx="43">
                  <c:v>0.930861579657</c:v>
                </c:pt>
                <c:pt idx="44">
                  <c:v>0.942675824101</c:v>
                </c:pt>
                <c:pt idx="45">
                  <c:v>0.952574126822</c:v>
                </c:pt>
                <c:pt idx="46">
                  <c:v>0.960834277203</c:v>
                </c:pt>
                <c:pt idx="47">
                  <c:v>0.967704535302</c:v>
                </c:pt>
                <c:pt idx="48">
                  <c:v>0.973403006423</c:v>
                </c:pt>
                <c:pt idx="49">
                  <c:v>0.978118729064</c:v>
                </c:pt>
                <c:pt idx="50">
                  <c:v>0.982013790038</c:v>
                </c:pt>
                <c:pt idx="51">
                  <c:v>0.985225968307</c:v>
                </c:pt>
                <c:pt idx="52">
                  <c:v>0.987871565016</c:v>
                </c:pt>
                <c:pt idx="53">
                  <c:v>0.990048198133</c:v>
                </c:pt>
                <c:pt idx="54">
                  <c:v>0.991837428847</c:v>
                </c:pt>
                <c:pt idx="55">
                  <c:v>0.993307149076</c:v>
                </c:pt>
                <c:pt idx="56">
                  <c:v>0.994513701101</c:v>
                </c:pt>
                <c:pt idx="57">
                  <c:v>0.995503726839</c:v>
                </c:pt>
                <c:pt idx="58">
                  <c:v>0.996315760101</c:v>
                </c:pt>
                <c:pt idx="59">
                  <c:v>0.996981583675</c:v>
                </c:pt>
                <c:pt idx="60">
                  <c:v>0.997527376843</c:v>
                </c:pt>
              </c:numCache>
            </c:numRef>
          </c:y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JetBrains Mono"/>
                  <a:ea typeface="JetBrains Mono"/>
                  <a:cs typeface="JetBrains Mono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6668">
              <a:solidFill>
                <a:srgbClr val="263A53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75">
                    <a:solidFill>
                      <a:srgbClr val="FFFFFF"/>
                    </a:solidFill>
                    <a:latin typeface="JetBrains Mono"/>
                    <a:ea typeface="JetBrains Mono"/>
                    <a:cs typeface="JetBrains Mono"/>
                  </a:rPr>
                  <a:t>Valor da porta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75">
                  <a:solidFill>
                    <a:srgbClr val="FFFFFF"/>
                  </a:solidFill>
                  <a:latin typeface="JetBrains Mono"/>
                  <a:ea typeface="JetBrains Mono"/>
                  <a:cs typeface="JetBrains Mono"/>
                </a:defRPr>
              </a:pPr>
            </a:p>
          </c:txPr>
        </c:title>
        <c:numFmt formatCode="0.00"/>
        <c:majorTickMark val="none"/>
        <c:minorTickMark val="none"/>
        <c:tickLblPos val="low"/>
        <c:spPr>
          <a:ln xmlns:a="http://schemas.openxmlformats.org/drawingml/2006/main" w="9525">
            <a:solidFill>
              <a:srgbClr val="91A4BD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</a:p>
        </c:txPr>
        <c:crossAx val="48650112"/>
        <c:majorUnit val="0.25"/>
      </c:valAx>
      <c:valAx>
        <c:axId val="48650112"/>
        <c:scaling>
          <c:orientation val="minMax"/>
          <c:max val="6"/>
          <c:min val="-6"/>
        </c:scaling>
        <c:delete val="0"/>
        <c:axPos val="b"/>
        <c:majorGridlines>
          <c:spPr>
            <a:ln xmlns:a="http://schemas.openxmlformats.org/drawingml/2006/main" w="6668">
              <a:solidFill>
                <a:srgbClr val="263A53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75">
                    <a:solidFill>
                      <a:srgbClr val="FFFFFF"/>
                    </a:solidFill>
                    <a:latin typeface="JetBrains Mono"/>
                    <a:ea typeface="JetBrains Mono"/>
                    <a:cs typeface="JetBrains Mono"/>
                  </a:rPr>
                  <a:t>Logit z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75">
                  <a:solidFill>
                    <a:srgbClr val="FFFFFF"/>
                  </a:solidFill>
                  <a:latin typeface="JetBrains Mono"/>
                  <a:ea typeface="JetBrains Mono"/>
                  <a:cs typeface="JetBrains Mono"/>
                </a:defRPr>
              </a:pPr>
            </a:p>
          </c:txPr>
        </c:title>
        <c:numFmt formatCode="0"/>
        <c:majorTickMark val="none"/>
        <c:minorTickMark val="none"/>
        <c:tickLblPos val="low"/>
        <c:spPr>
          <a:ln xmlns:a="http://schemas.openxmlformats.org/drawingml/2006/main" w="9525">
            <a:solidFill>
              <a:srgbClr val="91A4BD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</a:p>
        </c:txPr>
        <c:crossAx val="48672768"/>
        <c:majorUnit val="3"/>
      </c:valAx>
      <c:spPr>
        <a:solidFill xmlns:a="http://schemas.openxmlformats.org/drawingml/2006/main">
          <a:srgbClr val="000F29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000F29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8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ser>
          <c:idx val="0"/>
          <c:order val="0"/>
          <c:tx>
            <c:v>f = 0,90</c:v>
          </c:tx>
          <c:spPr>
            <a:solidFill xmlns:a="http://schemas.openxmlformats.org/drawingml/2006/main">
              <a:srgbClr val="83DFFF"/>
            </a:solidFill>
            <a:ln xmlns:a="http://schemas.openxmlformats.org/drawingml/2006/main" w="28575">
              <a:solidFill>
                <a:srgbClr val="83DFFF"/>
              </a:solidFill>
            </a:ln>
          </c:spPr>
          <c:marker>
            <c:symbol val="none"/>
          </c:marker>
          <c:xVal>
            <c:numRef>
              <c:f>'Chart Data'!$A$2:$A$52</c:f>
              <c:numCache>
                <c:formatCode>General</c:formatCode>
                <c:ptCount val="5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  <c:pt idx="48">
                  <c:v>48</c:v>
                </c:pt>
                <c:pt idx="49">
                  <c:v>49</c:v>
                </c:pt>
                <c:pt idx="50">
                  <c:v>50</c:v>
                </c:pt>
              </c:numCache>
            </c:numRef>
          </c:xVal>
          <c:yVal>
            <c:numRef>
              <c:f>'Chart Data'!$B$2:$B$52</c:f>
              <c:numCache>
                <c:formatCode>0.00</c:formatCode>
                <c:ptCount val="51"/>
                <c:pt idx="0">
                  <c:v>1</c:v>
                </c:pt>
                <c:pt idx="1">
                  <c:v>0.9</c:v>
                </c:pt>
                <c:pt idx="2">
                  <c:v>0.81</c:v>
                </c:pt>
                <c:pt idx="3">
                  <c:v>0.729</c:v>
                </c:pt>
                <c:pt idx="4">
                  <c:v>0.6561</c:v>
                </c:pt>
                <c:pt idx="5">
                  <c:v>0.59049</c:v>
                </c:pt>
                <c:pt idx="6">
                  <c:v>0.531441</c:v>
                </c:pt>
                <c:pt idx="7">
                  <c:v>0.4782969</c:v>
                </c:pt>
                <c:pt idx="8">
                  <c:v>0.43046721</c:v>
                </c:pt>
                <c:pt idx="9">
                  <c:v>0.387420489</c:v>
                </c:pt>
                <c:pt idx="10">
                  <c:v>0.3486784401</c:v>
                </c:pt>
                <c:pt idx="11">
                  <c:v>0.31381059609</c:v>
                </c:pt>
                <c:pt idx="12">
                  <c:v>0.282429536481</c:v>
                </c:pt>
                <c:pt idx="13">
                  <c:v>0.254186582833</c:v>
                </c:pt>
                <c:pt idx="14">
                  <c:v>0.22876792455</c:v>
                </c:pt>
                <c:pt idx="15">
                  <c:v>0.205891132095</c:v>
                </c:pt>
                <c:pt idx="16">
                  <c:v>0.185302018885</c:v>
                </c:pt>
                <c:pt idx="17">
                  <c:v>0.166771816997</c:v>
                </c:pt>
                <c:pt idx="18">
                  <c:v>0.150094635297</c:v>
                </c:pt>
                <c:pt idx="19">
                  <c:v>0.135085171767</c:v>
                </c:pt>
                <c:pt idx="20">
                  <c:v>0.121576654591</c:v>
                </c:pt>
                <c:pt idx="21">
                  <c:v>0.109418989132</c:v>
                </c:pt>
                <c:pt idx="22">
                  <c:v>0.0984770902184</c:v>
                </c:pt>
                <c:pt idx="23">
                  <c:v>0.0886293811965</c:v>
                </c:pt>
                <c:pt idx="24">
                  <c:v>0.0797664430769</c:v>
                </c:pt>
                <c:pt idx="25">
                  <c:v>0.0717897987692</c:v>
                </c:pt>
                <c:pt idx="26">
                  <c:v>0.0646108188923</c:v>
                </c:pt>
                <c:pt idx="27">
                  <c:v>0.058149737003</c:v>
                </c:pt>
                <c:pt idx="28">
                  <c:v>0.0523347633027</c:v>
                </c:pt>
                <c:pt idx="29">
                  <c:v>0.0471012869725</c:v>
                </c:pt>
                <c:pt idx="30">
                  <c:v>0.0423911582752</c:v>
                </c:pt>
                <c:pt idx="31">
                  <c:v>0.0381520424477</c:v>
                </c:pt>
                <c:pt idx="32">
                  <c:v>0.0343368382029</c:v>
                </c:pt>
                <c:pt idx="33">
                  <c:v>0.0309031543826</c:v>
                </c:pt>
                <c:pt idx="34">
                  <c:v>0.0278128389444</c:v>
                </c:pt>
                <c:pt idx="35">
                  <c:v>0.0250315550499</c:v>
                </c:pt>
                <c:pt idx="36">
                  <c:v>0.0225283995449</c:v>
                </c:pt>
                <c:pt idx="37">
                  <c:v>0.0202755595904</c:v>
                </c:pt>
                <c:pt idx="38">
                  <c:v>0.0182480036314</c:v>
                </c:pt>
                <c:pt idx="39">
                  <c:v>0.0164232032683</c:v>
                </c:pt>
                <c:pt idx="40">
                  <c:v>0.0147808829414</c:v>
                </c:pt>
                <c:pt idx="41">
                  <c:v>0.0133027946473</c:v>
                </c:pt>
                <c:pt idx="42">
                  <c:v>0.0119725151826</c:v>
                </c:pt>
                <c:pt idx="43">
                  <c:v>0.0107752636643</c:v>
                </c:pt>
                <c:pt idx="44">
                  <c:v>0.00969773729788</c:v>
                </c:pt>
                <c:pt idx="45">
                  <c:v>0.00872796356809</c:v>
                </c:pt>
                <c:pt idx="46">
                  <c:v>0.00785516721128</c:v>
                </c:pt>
                <c:pt idx="47">
                  <c:v>0.00706965049015</c:v>
                </c:pt>
                <c:pt idx="48">
                  <c:v>0.00636268544114</c:v>
                </c:pt>
                <c:pt idx="49">
                  <c:v>0.00572641689702</c:v>
                </c:pt>
                <c:pt idx="50">
                  <c:v>0.00515377520732</c:v>
                </c:pt>
              </c:numCache>
            </c:numRef>
          </c:yVal>
          <c:smooth val="0"/>
        </c:ser>
        <c:ser>
          <c:idx val="1"/>
          <c:order val="1"/>
          <c:tx>
            <c:v>f = 0,99</c:v>
          </c:tx>
          <c:spPr>
            <a:solidFill xmlns:a="http://schemas.openxmlformats.org/drawingml/2006/main">
              <a:srgbClr val="FFAD62"/>
            </a:solidFill>
            <a:ln xmlns:a="http://schemas.openxmlformats.org/drawingml/2006/main" w="28575">
              <a:solidFill>
                <a:srgbClr val="FFAD62"/>
              </a:solidFill>
            </a:ln>
          </c:spPr>
          <c:marker>
            <c:symbol val="none"/>
          </c:marker>
          <c:xVal>
            <c:numRef>
              <c:f>'Chart Data'!$C$2:$C$52</c:f>
              <c:numCache>
                <c:formatCode>General</c:formatCode>
                <c:ptCount val="5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  <c:pt idx="48">
                  <c:v>48</c:v>
                </c:pt>
                <c:pt idx="49">
                  <c:v>49</c:v>
                </c:pt>
                <c:pt idx="50">
                  <c:v>50</c:v>
                </c:pt>
              </c:numCache>
            </c:numRef>
          </c:xVal>
          <c:yVal>
            <c:numRef>
              <c:f>'Chart Data'!$D$2:$D$52</c:f>
              <c:numCache>
                <c:formatCode>0.00</c:formatCode>
                <c:ptCount val="51"/>
                <c:pt idx="0">
                  <c:v>1</c:v>
                </c:pt>
                <c:pt idx="1">
                  <c:v>0.99</c:v>
                </c:pt>
                <c:pt idx="2">
                  <c:v>0.9801</c:v>
                </c:pt>
                <c:pt idx="3">
                  <c:v>0.970299</c:v>
                </c:pt>
                <c:pt idx="4">
                  <c:v>0.96059601</c:v>
                </c:pt>
                <c:pt idx="5">
                  <c:v>0.9509900499</c:v>
                </c:pt>
                <c:pt idx="6">
                  <c:v>0.941480149401</c:v>
                </c:pt>
                <c:pt idx="7">
                  <c:v>0.932065347907</c:v>
                </c:pt>
                <c:pt idx="8">
                  <c:v>0.922744694428</c:v>
                </c:pt>
                <c:pt idx="9">
                  <c:v>0.913517247484</c:v>
                </c:pt>
                <c:pt idx="10">
                  <c:v>0.904382075009</c:v>
                </c:pt>
                <c:pt idx="11">
                  <c:v>0.895338254259</c:v>
                </c:pt>
                <c:pt idx="12">
                  <c:v>0.886384871716</c:v>
                </c:pt>
                <c:pt idx="13">
                  <c:v>0.877521022999</c:v>
                </c:pt>
                <c:pt idx="14">
                  <c:v>0.868745812769</c:v>
                </c:pt>
                <c:pt idx="15">
                  <c:v>0.860058354641</c:v>
                </c:pt>
                <c:pt idx="16">
                  <c:v>0.851457771095</c:v>
                </c:pt>
                <c:pt idx="17">
                  <c:v>0.842943193384</c:v>
                </c:pt>
                <c:pt idx="18">
                  <c:v>0.83451376145</c:v>
                </c:pt>
                <c:pt idx="19">
                  <c:v>0.826168623836</c:v>
                </c:pt>
                <c:pt idx="20">
                  <c:v>0.817906937597</c:v>
                </c:pt>
                <c:pt idx="21">
                  <c:v>0.809727868221</c:v>
                </c:pt>
                <c:pt idx="22">
                  <c:v>0.801630589539</c:v>
                </c:pt>
                <c:pt idx="23">
                  <c:v>0.793614283644</c:v>
                </c:pt>
                <c:pt idx="24">
                  <c:v>0.785678140807</c:v>
                </c:pt>
                <c:pt idx="25">
                  <c:v>0.777821359399</c:v>
                </c:pt>
                <c:pt idx="26">
                  <c:v>0.770043145805</c:v>
                </c:pt>
                <c:pt idx="27">
                  <c:v>0.762342714347</c:v>
                </c:pt>
                <c:pt idx="28">
                  <c:v>0.754719287204</c:v>
                </c:pt>
                <c:pt idx="29">
                  <c:v>0.747172094332</c:v>
                </c:pt>
                <c:pt idx="30">
                  <c:v>0.739700373388</c:v>
                </c:pt>
                <c:pt idx="31">
                  <c:v>0.732303369654</c:v>
                </c:pt>
                <c:pt idx="32">
                  <c:v>0.724980335958</c:v>
                </c:pt>
                <c:pt idx="33">
                  <c:v>0.717730532598</c:v>
                </c:pt>
                <c:pt idx="34">
                  <c:v>0.710553227272</c:v>
                </c:pt>
                <c:pt idx="35">
                  <c:v>0.703447695</c:v>
                </c:pt>
                <c:pt idx="36">
                  <c:v>0.69641321805</c:v>
                </c:pt>
                <c:pt idx="37">
                  <c:v>0.689449085869</c:v>
                </c:pt>
                <c:pt idx="38">
                  <c:v>0.68255459501</c:v>
                </c:pt>
                <c:pt idx="39">
                  <c:v>0.67572904906</c:v>
                </c:pt>
                <c:pt idx="40">
                  <c:v>0.66897175857</c:v>
                </c:pt>
                <c:pt idx="41">
                  <c:v>0.662282040984</c:v>
                </c:pt>
                <c:pt idx="42">
                  <c:v>0.655659220574</c:v>
                </c:pt>
                <c:pt idx="43">
                  <c:v>0.649102628368</c:v>
                </c:pt>
                <c:pt idx="44">
                  <c:v>0.642611602085</c:v>
                </c:pt>
                <c:pt idx="45">
                  <c:v>0.636185486064</c:v>
                </c:pt>
                <c:pt idx="46">
                  <c:v>0.629823631203</c:v>
                </c:pt>
                <c:pt idx="47">
                  <c:v>0.623525394891</c:v>
                </c:pt>
                <c:pt idx="48">
                  <c:v>0.617290140942</c:v>
                </c:pt>
                <c:pt idx="49">
                  <c:v>0.611117239533</c:v>
                </c:pt>
                <c:pt idx="50">
                  <c:v>0.605006067138</c:v>
                </c:pt>
              </c:numCache>
            </c:numRef>
          </c:y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JetBrains Mono"/>
                  <a:ea typeface="JetBrains Mono"/>
                  <a:cs typeface="JetBrains Mono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6668">
              <a:solidFill>
                <a:srgbClr val="263A53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75">
                    <a:solidFill>
                      <a:srgbClr val="FFFFFF"/>
                    </a:solidFill>
                    <a:latin typeface="JetBrains Mono"/>
                    <a:ea typeface="JetBrains Mono"/>
                    <a:cs typeface="JetBrains Mono"/>
                  </a:rPr>
                  <a:t>Produto das portas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75">
                  <a:solidFill>
                    <a:srgbClr val="FFFFFF"/>
                  </a:solidFill>
                  <a:latin typeface="JetBrains Mono"/>
                  <a:ea typeface="JetBrains Mono"/>
                  <a:cs typeface="JetBrains Mono"/>
                </a:defRPr>
              </a:pPr>
            </a:p>
          </c:txPr>
        </c:title>
        <c:numFmt formatCode="0.00"/>
        <c:majorTickMark val="none"/>
        <c:minorTickMark val="none"/>
        <c:tickLblPos val="low"/>
        <c:spPr>
          <a:ln xmlns:a="http://schemas.openxmlformats.org/drawingml/2006/main" w="9525">
            <a:solidFill>
              <a:srgbClr val="91A4BD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</a:p>
        </c:txPr>
        <c:crossAx val="48650112"/>
        <c:majorUnit val="0.25"/>
      </c:valAx>
      <c:valAx>
        <c:axId val="48650112"/>
        <c:scaling>
          <c:orientation val="minMax"/>
          <c:max val="50"/>
          <c:min val="0"/>
        </c:scaling>
        <c:delete val="0"/>
        <c:axPos val="b"/>
        <c:majorGridlines>
          <c:spPr>
            <a:ln xmlns:a="http://schemas.openxmlformats.org/drawingml/2006/main" w="6668">
              <a:solidFill>
                <a:srgbClr val="263A53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75">
                    <a:solidFill>
                      <a:srgbClr val="FFFFFF"/>
                    </a:solidFill>
                    <a:latin typeface="JetBrains Mono"/>
                    <a:ea typeface="JetBrains Mono"/>
                    <a:cs typeface="JetBrains Mono"/>
                  </a:rPr>
                  <a:t>Passos no caminho direto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75">
                  <a:solidFill>
                    <a:srgbClr val="FFFFFF"/>
                  </a:solidFill>
                  <a:latin typeface="JetBrains Mono"/>
                  <a:ea typeface="JetBrains Mono"/>
                  <a:cs typeface="JetBrains Mono"/>
                </a:defRPr>
              </a:pPr>
            </a:p>
          </c:txPr>
        </c:title>
        <c:numFmt formatCode="0"/>
        <c:majorTickMark val="none"/>
        <c:minorTickMark val="none"/>
        <c:tickLblPos val="low"/>
        <c:spPr>
          <a:ln xmlns:a="http://schemas.openxmlformats.org/drawingml/2006/main" w="9525">
            <a:solidFill>
              <a:srgbClr val="91A4BD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</a:p>
        </c:txPr>
        <c:crossAx val="48672768"/>
        <c:majorUnit val="10"/>
      </c:valAx>
      <c:spPr>
        <a:solidFill xmlns:a="http://schemas.openxmlformats.org/drawingml/2006/main">
          <a:srgbClr val="000F29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000F29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9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ser>
          <c:idx val="0"/>
          <c:order val="0"/>
          <c:tx>
            <c:v>Observado sintético</c:v>
          </c:tx>
          <c:spPr>
            <a:solidFill xmlns:a="http://schemas.openxmlformats.org/drawingml/2006/main">
              <a:srgbClr val="83DFFF"/>
            </a:solidFill>
            <a:ln xmlns:a="http://schemas.openxmlformats.org/drawingml/2006/main" w="28575">
              <a:solidFill>
                <a:srgbClr val="83DFFF"/>
              </a:solidFill>
            </a:ln>
          </c:spPr>
          <c:marker>
            <c:symbol val="none"/>
          </c:marker>
          <c:xVal>
            <c:numRef>
              <c:f>'Chart Data'!$A$2:$A$16</c:f>
              <c:numCache>
                <c:formatCode>General</c:formatCode>
                <c:ptCount val="15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</c:numCache>
            </c:numRef>
          </c:xVal>
          <c:yVal>
            <c:numRef>
              <c:f>'Chart Data'!$B$2:$B$16</c:f>
              <c:numCache>
                <c:formatCode>0</c:formatCode>
                <c:ptCount val="15"/>
                <c:pt idx="0">
                  <c:v>10</c:v>
                </c:pt>
                <c:pt idx="1">
                  <c:v>10</c:v>
                </c:pt>
                <c:pt idx="2">
                  <c:v>11</c:v>
                </c:pt>
                <c:pt idx="3">
                  <c:v>15</c:v>
                </c:pt>
                <c:pt idx="4">
                  <c:v>29</c:v>
                </c:pt>
                <c:pt idx="5">
                  <c:v>41</c:v>
                </c:pt>
                <c:pt idx="6">
                  <c:v>34</c:v>
                </c:pt>
                <c:pt idx="7">
                  <c:v>27</c:v>
                </c:pt>
                <c:pt idx="8">
                  <c:v>22</c:v>
                </c:pt>
                <c:pt idx="9">
                  <c:v>18</c:v>
                </c:pt>
                <c:pt idx="10">
                  <c:v>15</c:v>
                </c:pt>
                <c:pt idx="11">
                  <c:v>13</c:v>
                </c:pt>
                <c:pt idx="12">
                  <c:v>12</c:v>
                </c:pt>
                <c:pt idx="13">
                  <c:v>11</c:v>
                </c:pt>
                <c:pt idx="14">
                  <c:v>10</c:v>
                </c:pt>
              </c:numCache>
            </c:numRef>
          </c:yVal>
          <c:smooth val="0"/>
        </c:ser>
        <c:ser>
          <c:idx val="1"/>
          <c:order val="1"/>
          <c:tx>
            <c:v>Previsão ilustrativa</c:v>
          </c:tx>
          <c:spPr>
            <a:solidFill xmlns:a="http://schemas.openxmlformats.org/drawingml/2006/main">
              <a:srgbClr val="FFAD62"/>
            </a:solidFill>
            <a:ln xmlns:a="http://schemas.openxmlformats.org/drawingml/2006/main" w="28575">
              <a:solidFill>
                <a:srgbClr val="FFAD62"/>
              </a:solidFill>
            </a:ln>
          </c:spPr>
          <c:marker>
            <c:symbol val="none"/>
          </c:marker>
          <c:xVal>
            <c:numRef>
              <c:f>'Chart Data'!$C$2:$C$16</c:f>
              <c:numCache>
                <c:formatCode>General</c:formatCode>
                <c:ptCount val="15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</c:numCache>
            </c:numRef>
          </c:xVal>
          <c:yVal>
            <c:numRef>
              <c:f>'Chart Data'!$D$2:$D$16</c:f>
              <c:numCache>
                <c:formatCode>0</c:formatCode>
                <c:ptCount val="15"/>
                <c:pt idx="0">
                  <c:v>11</c:v>
                </c:pt>
                <c:pt idx="1">
                  <c:v>11</c:v>
                </c:pt>
                <c:pt idx="2">
                  <c:v>12</c:v>
                </c:pt>
                <c:pt idx="3">
                  <c:v>14</c:v>
                </c:pt>
                <c:pt idx="4">
                  <c:v>23</c:v>
                </c:pt>
                <c:pt idx="5">
                  <c:v>31</c:v>
                </c:pt>
                <c:pt idx="6">
                  <c:v>29</c:v>
                </c:pt>
                <c:pt idx="7">
                  <c:v>25</c:v>
                </c:pt>
                <c:pt idx="8">
                  <c:v>23</c:v>
                </c:pt>
                <c:pt idx="9">
                  <c:v>20</c:v>
                </c:pt>
                <c:pt idx="10">
                  <c:v>17</c:v>
                </c:pt>
                <c:pt idx="11">
                  <c:v>15</c:v>
                </c:pt>
                <c:pt idx="12">
                  <c:v>14</c:v>
                </c:pt>
                <c:pt idx="13">
                  <c:v>13</c:v>
                </c:pt>
                <c:pt idx="14">
                  <c:v>12</c:v>
                </c:pt>
              </c:numCache>
            </c:numRef>
          </c:y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JetBrains Mono"/>
                  <a:ea typeface="JetBrains Mono"/>
                  <a:cs typeface="JetBrains Mono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45"/>
          <c:min val="0"/>
        </c:scaling>
        <c:delete val="0"/>
        <c:axPos val="l"/>
        <c:majorGridlines>
          <c:spPr>
            <a:ln xmlns:a="http://schemas.openxmlformats.org/drawingml/2006/main" w="6668">
              <a:solidFill>
                <a:srgbClr val="263A53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75">
                    <a:solidFill>
                      <a:srgbClr val="FFFFFF"/>
                    </a:solidFill>
                    <a:latin typeface="JetBrains Mono"/>
                    <a:ea typeface="JetBrains Mono"/>
                    <a:cs typeface="JetBrains Mono"/>
                  </a:rPr>
                  <a:t>Vazão (m³/s)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75">
                  <a:solidFill>
                    <a:srgbClr val="FFFFFF"/>
                  </a:solidFill>
                  <a:latin typeface="JetBrains Mono"/>
                  <a:ea typeface="JetBrains Mono"/>
                  <a:cs typeface="JetBrains Mono"/>
                </a:defRPr>
              </a:pPr>
            </a:p>
          </c:txPr>
        </c:title>
        <c:numFmt formatCode="0"/>
        <c:majorTickMark val="none"/>
        <c:minorTickMark val="none"/>
        <c:tickLblPos val="low"/>
        <c:spPr>
          <a:ln xmlns:a="http://schemas.openxmlformats.org/drawingml/2006/main" w="9525">
            <a:solidFill>
              <a:srgbClr val="91A4BD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</a:p>
        </c:txPr>
        <c:crossAx val="48650112"/>
        <c:majorUnit val="15"/>
      </c:valAx>
      <c:valAx>
        <c:axId val="48650112"/>
        <c:scaling>
          <c:orientation val="minMax"/>
          <c:max val="15"/>
          <c:min val="1"/>
        </c:scaling>
        <c:delete val="0"/>
        <c:axPos val="b"/>
        <c:majorGridlines>
          <c:spPr>
            <a:ln xmlns:a="http://schemas.openxmlformats.org/drawingml/2006/main" w="6668">
              <a:solidFill>
                <a:srgbClr val="263A53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75">
                    <a:solidFill>
                      <a:srgbClr val="FFFFFF"/>
                    </a:solidFill>
                    <a:latin typeface="JetBrains Mono"/>
                    <a:ea typeface="JetBrains Mono"/>
                    <a:cs typeface="JetBrains Mono"/>
                  </a:rPr>
                  <a:t>Dia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75">
                  <a:solidFill>
                    <a:srgbClr val="FFFFFF"/>
                  </a:solidFill>
                  <a:latin typeface="JetBrains Mono"/>
                  <a:ea typeface="JetBrains Mono"/>
                  <a:cs typeface="JetBrains Mono"/>
                </a:defRPr>
              </a:pPr>
            </a:p>
          </c:txPr>
        </c:title>
        <c:numFmt formatCode="0"/>
        <c:majorTickMark val="none"/>
        <c:minorTickMark val="none"/>
        <c:tickLblPos val="low"/>
        <c:spPr>
          <a:ln xmlns:a="http://schemas.openxmlformats.org/drawingml/2006/main" w="9525">
            <a:solidFill>
              <a:srgbClr val="91A4BD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</a:p>
        </c:txPr>
        <c:crossAx val="48672768"/>
        <c:majorUnit val="7"/>
      </c:valAx>
      <c:spPr>
        <a:solidFill xmlns:a="http://schemas.openxmlformats.org/drawingml/2006/main">
          <a:srgbClr val="000F29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000F29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spTree>
      <p:nvGrpSpPr>
        <p:cNvPr id="1001" name=""/>
        <p:cNvGrpSpPr/>
        <p:nvPr/>
      </p:nvGrpSpPr>
      <p:grpSpPr>
        <a:xfrm xmlns:a="http://schemas.openxmlformats.org/drawingml/2006/main"/>
      </p:grpSpPr>
      <p:sp>
        <p:nvSpPr>
          <p:cNvPr id="1002" name="Retângulo 6">
            <a:extLst xmlns:a="http://schemas.openxmlformats.org/drawingml/2006/main">
              <a:ext uri="{FF2B5EF4-FFF2-40B4-BE49-F238E27FC236}">
                <a16:creationId xmlns:a16="http://schemas.microsoft.com/office/drawing/2014/main" id="{044CBE56-D027-5972-8E06-9BAFBA1D6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F29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03" name="Título 1">
            <a:extLst xmlns:a="http://schemas.openxmlformats.org/drawingml/2006/main">
              <a:ext uri="{FF2B5EF4-FFF2-40B4-BE49-F238E27FC236}">
                <a16:creationId xmlns:a16="http://schemas.microsoft.com/office/drawing/2014/main" id="{E9847F86-9F28-5B04-81C8-13923DC3337D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453700" y="1803493"/>
            <a:ext cx="6153926" cy="678363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4000" b="1">
                <a:solidFill>
                  <a:srgbClr val="FFFFFF"/>
                </a:solidFill>
                <a:latin typeface="JetBrains Mono ExtraBold"/>
                <a:ea typeface="JetBrains Mono ExtraBold"/>
                <a:cs typeface="JetBrains Mono ExtraBold"/>
              </a:defRPr>
            </a:pPr>
            <a:r>
              <a:rPr sz="4000" b="1">
                <a:solidFill>
                  <a:srgbClr val="FFFFFF"/>
                </a:solidFill>
                <a:latin typeface="JetBrains Mono ExtraBold"/>
                <a:ea typeface="JetBrains Mono ExtraBold"/>
                <a:cs typeface="JetBrains Mono ExtraBold"/>
              </a:rPr>
              <a:t>Hydro-UAI Course</a:t>
            </a:r>
          </a:p>
        </p:txBody>
      </p:sp>
      <p:sp>
        <p:nvSpPr>
          <p:cNvPr id="1004" name="Título 1">
            <a:extLst xmlns:a="http://schemas.openxmlformats.org/drawingml/2006/main">
              <a:ext uri="{FF2B5EF4-FFF2-40B4-BE49-F238E27FC236}">
                <a16:creationId xmlns:a16="http://schemas.microsoft.com/office/drawing/2014/main" id="{E73714B5-22FB-5813-AA86-0A76DFE9E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86050"/>
            <a:ext cx="6162675" cy="95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Autofit/>
          </a:bodyPr>
          <a:lstStyle xmlns:a="http://schemas.openxmlformats.org/drawingml/2006/main"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algn="l">
              <a:buNone/>
              <a:defRPr sz="2400" b="1" i="1">
                <a:solidFill>
                  <a:srgbClr val="83D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2400" b="1" i="1">
                <a:solidFill>
                  <a:srgbClr val="83DFFF"/>
                </a:solidFill>
                <a:latin typeface="JetBrains Mono"/>
                <a:ea typeface="JetBrains Mono"/>
                <a:cs typeface="JetBrains Mono"/>
              </a:rPr>
              <a:t>Redes recorrentes</a:t>
            </a:r>
          </a:p>
          <a:p xmlns:a="http://schemas.openxmlformats.org/drawingml/2006/main">
            <a:pPr algn="l">
              <a:buNone/>
              <a:defRPr sz="2400" b="1" i="1">
                <a:solidFill>
                  <a:srgbClr val="83D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2400" b="1" i="1">
                <a:solidFill>
                  <a:srgbClr val="83DFFF"/>
                </a:solidFill>
                <a:latin typeface="JetBrains Mono"/>
                <a:ea typeface="JetBrains Mono"/>
                <a:cs typeface="JetBrains Mono"/>
              </a:rPr>
              <a:t>e LSTM</a:t>
            </a:r>
          </a:p>
        </p:txBody>
      </p:sp>
      <p:sp>
        <p:nvSpPr>
          <p:cNvPr id="1005" name="Conector reto 3">
            <a:extLst xmlns:a="http://schemas.openxmlformats.org/drawingml/2006/main">
              <a:ext uri="{FF2B5EF4-FFF2-40B4-BE49-F238E27FC236}">
                <a16:creationId xmlns:a16="http://schemas.microsoft.com/office/drawing/2014/main" id="{82B38ECD-0726-5123-B7BE-73EC6DC79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06" name="Título 1">
            <a:extLst xmlns:a="http://schemas.openxmlformats.org/drawingml/2006/main">
              <a:ext uri="{FF2B5EF4-FFF2-40B4-BE49-F238E27FC236}">
                <a16:creationId xmlns:a16="http://schemas.microsoft.com/office/drawing/2014/main" id="{DF4E1F78-E311-5221-B008-F683638EC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29175"/>
            <a:ext cx="6153150" cy="95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Autofit/>
          </a:bodyPr>
          <a:lstStyle xmlns:a="http://schemas.openxmlformats.org/drawingml/2006/main"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algn="l">
              <a:lnSpc>
                <a:spcPct val="150000"/>
              </a:lnSpc>
              <a:buNone/>
              <a:defRPr sz="1425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425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André Ferreira Rodrigues</a:t>
            </a:r>
          </a:p>
          <a:p xmlns:a="http://schemas.openxmlformats.org/drawingml/2006/main">
            <a:pPr algn="l">
              <a:lnSpc>
                <a:spcPct val="150000"/>
              </a:lnSpc>
              <a:buNone/>
              <a:defRPr sz="1425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425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Bruno Melo Brentan</a:t>
            </a:r>
          </a:p>
          <a:p xmlns:a="http://schemas.openxmlformats.org/drawingml/2006/main">
            <a:pPr algn="l">
              <a:lnSpc>
                <a:spcPct val="150000"/>
              </a:lnSpc>
              <a:buNone/>
              <a:defRPr sz="1425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425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Rodrigo Perdigão Bezerra</a:t>
            </a:r>
          </a:p>
        </p:txBody>
      </p:sp>
      <p:sp>
        <p:nvSpPr>
          <p:cNvPr id="1007" name="Descrição da aula">
            <a:extLst xmlns:a="http://schemas.openxmlformats.org/drawingml/2006/main">
              <a:ext uri="{FF2B5EF4-FFF2-40B4-BE49-F238E27FC236}">
                <a16:creationId xmlns:a16="http://schemas.microsoft.com/office/drawing/2014/main" id="{1878D95B-63EF-5B11-A66E-0FCE01D0D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43325"/>
            <a:ext cx="6172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650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Memória, gradientes e</a:t>
            </a:r>
          </a:p>
          <a:p xmlns:a="http://schemas.openxmlformats.org/drawingml/2006/main">
            <a:pPr algn="l">
              <a:buNone/>
              <a:defRPr sz="1650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650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previsão de séries hidrológicas</a:t>
            </a:r>
          </a:p>
        </p:txBody>
      </p:sp>
      <p:sp>
        <p:nvSpPr>
          <p:cNvPr id="1008" name="Identificação">
            <a:extLst xmlns:a="http://schemas.openxmlformats.org/drawingml/2006/main">
              <a:ext uri="{FF2B5EF4-FFF2-40B4-BE49-F238E27FC236}">
                <a16:creationId xmlns:a16="http://schemas.microsoft.com/office/drawing/2014/main" id="{06D9197B-2C16-51ED-BB3C-5384FE01A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371975"/>
            <a:ext cx="61531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91A4BD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75" b="0" i="0">
                <a:solidFill>
                  <a:srgbClr val="91A4BD"/>
                </a:solidFill>
                <a:latin typeface="JetBrains Mono"/>
                <a:ea typeface="JetBrains Mono"/>
                <a:cs typeface="JetBrains Mono"/>
              </a:rPr>
              <a:t>REDES NEURAIS PARA SÉRIES TEMPORAIS</a:t>
            </a:r>
          </a:p>
        </p:txBody>
      </p:sp>
      <p:pic>
        <p:nvPicPr>
          <p:cNvPr id="1009" name="Imagem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8f5c8533f6495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61326" y="0"/>
            <a:ext cx="5143500" cy="6858000"/>
          </a:xfrm>
          <a:prstGeom xmlns:a="http://schemas.openxmlformats.org/drawingml/2006/main" prst="rect">
            <a:avLst/>
          </a:prstGeom>
        </p:spPr>
      </p:pic>
      <p:pic>
        <p:nvPicPr>
          <p:cNvPr id="1010" name="Imagem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b8a0cb4e9640d9"/>
          <a:srcRect xmlns:a="http://schemas.openxmlformats.org/drawingml/2006/main" l="3570" t="0" r="8084" b="1819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47287" y="5924579"/>
            <a:ext cx="592780" cy="523392"/>
          </a:xfrm>
          <a:prstGeom xmlns:a="http://schemas.openxmlformats.org/drawingml/2006/main" prst="rect">
            <a:avLst/>
          </a:prstGeom>
        </p:spPr>
      </p:pic>
      <p:pic>
        <p:nvPicPr>
          <p:cNvPr id="1011" name="Imagem 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5c64f6dbef4d4e"/>
          <a:srcRect xmlns:a="http://schemas.openxmlformats.org/drawingml/2006/main" l="1924" t="7917" r="1239" b="518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3700" y="410029"/>
            <a:ext cx="1080460" cy="37488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8522473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2001" name=""/>
        <p:cNvGrpSpPr/>
        <p:nvPr/>
      </p:nvGrpSpPr>
      <p:grpSpPr>
        <a:xfrm xmlns:a="http://schemas.openxmlformats.org/drawingml/2006/main"/>
      </p:grpSpPr>
      <p:sp>
        <p:nvSpPr>
          <p:cNvPr id="2002" name="Retângulo 6">
            <a:extLst xmlns:a="http://schemas.openxmlformats.org/drawingml/2006/main">
              <a:ext uri="{FF2B5EF4-FFF2-40B4-BE49-F238E27FC236}">
                <a16:creationId xmlns:a16="http://schemas.microsoft.com/office/drawing/2014/main" id="{7515018C-D25B-570A-AA28-EFF900304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F29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003" name="Tema do slide">
            <a:extLst xmlns:a="http://schemas.openxmlformats.org/drawingml/2006/main">
              <a:ext uri="{FF2B5EF4-FFF2-40B4-BE49-F238E27FC236}">
                <a16:creationId xmlns:a16="http://schemas.microsoft.com/office/drawing/2014/main" id="{5DD7856F-B4B4-5266-8EEA-DA7A4E9B0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90700"/>
            <a:ext cx="11277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2025" b="1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Percurso da aula</a:t>
            </a:r>
          </a:p>
        </p:txBody>
      </p:sp>
      <p:sp>
        <p:nvSpPr>
          <p:cNvPr id="2004" name="Etapa 0">
            <a:extLst xmlns:a="http://schemas.openxmlformats.org/drawingml/2006/main">
              <a:ext uri="{FF2B5EF4-FFF2-40B4-BE49-F238E27FC236}">
                <a16:creationId xmlns:a16="http://schemas.microsoft.com/office/drawing/2014/main" id="{AA0E7979-A543-5FD6-B659-DB15E8840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57450"/>
            <a:ext cx="7429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83D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2550" b="1">
                <a:solidFill>
                  <a:srgbClr val="83DFFF"/>
                </a:solidFill>
                <a:latin typeface="JetBrains Mono"/>
                <a:ea typeface="JetBrains Mono"/>
                <a:cs typeface="JetBrains Mono"/>
              </a:rPr>
              <a:t>01</a:t>
            </a:r>
          </a:p>
        </p:txBody>
      </p:sp>
      <p:sp>
        <p:nvSpPr>
          <p:cNvPr id="2005" name="Tema 0">
            <a:extLst xmlns:a="http://schemas.openxmlformats.org/drawingml/2006/main">
              <a:ext uri="{FF2B5EF4-FFF2-40B4-BE49-F238E27FC236}">
                <a16:creationId xmlns:a16="http://schemas.microsoft.com/office/drawing/2014/main" id="{011469CF-B484-522D-BF6E-DAD35BE1D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457450"/>
            <a:ext cx="103060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83D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725" b="1">
                <a:solidFill>
                  <a:srgbClr val="83DFFF"/>
                </a:solidFill>
                <a:latin typeface="JetBrains Mono"/>
                <a:ea typeface="JetBrains Mono"/>
                <a:cs typeface="JetBrains Mono"/>
              </a:rPr>
              <a:t>Memória de uma série</a:t>
            </a:r>
          </a:p>
        </p:txBody>
      </p:sp>
      <p:sp>
        <p:nvSpPr>
          <p:cNvPr id="2006" name="Descrição 0">
            <a:extLst xmlns:a="http://schemas.openxmlformats.org/drawingml/2006/main">
              <a:ext uri="{FF2B5EF4-FFF2-40B4-BE49-F238E27FC236}">
                <a16:creationId xmlns:a16="http://schemas.microsoft.com/office/drawing/2014/main" id="{A404E2E0-DBAB-5A1A-86CE-45C691467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781300"/>
            <a:ext cx="103060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500" b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Chuva, estado antecedente e resposta da bacia.</a:t>
            </a:r>
          </a:p>
        </p:txBody>
      </p:sp>
      <p:sp>
        <p:nvSpPr>
          <p:cNvPr id="2007" name="Etapa 1">
            <a:extLst xmlns:a="http://schemas.openxmlformats.org/drawingml/2006/main">
              <a:ext uri="{FF2B5EF4-FFF2-40B4-BE49-F238E27FC236}">
                <a16:creationId xmlns:a16="http://schemas.microsoft.com/office/drawing/2014/main" id="{3C798235-F950-560B-A220-135D674EE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33725"/>
            <a:ext cx="7429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83D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2550" b="1">
                <a:solidFill>
                  <a:srgbClr val="83DFFF"/>
                </a:solidFill>
                <a:latin typeface="JetBrains Mono"/>
                <a:ea typeface="JetBrains Mono"/>
                <a:cs typeface="JetBrains Mono"/>
              </a:rPr>
              <a:t>02</a:t>
            </a:r>
          </a:p>
        </p:txBody>
      </p:sp>
      <p:sp>
        <p:nvSpPr>
          <p:cNvPr id="2008" name="Tema 1">
            <a:extLst xmlns:a="http://schemas.openxmlformats.org/drawingml/2006/main">
              <a:ext uri="{FF2B5EF4-FFF2-40B4-BE49-F238E27FC236}">
                <a16:creationId xmlns:a16="http://schemas.microsoft.com/office/drawing/2014/main" id="{2A94EC36-50BF-52F3-ADAA-AF7E16DC1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133725"/>
            <a:ext cx="103060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83D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725" b="1">
                <a:solidFill>
                  <a:srgbClr val="83DFFF"/>
                </a:solidFill>
                <a:latin typeface="JetBrains Mono"/>
                <a:ea typeface="JetBrains Mono"/>
                <a:cs typeface="JetBrains Mono"/>
              </a:rPr>
              <a:t>RNN e treinamento</a:t>
            </a:r>
          </a:p>
        </p:txBody>
      </p:sp>
      <p:sp>
        <p:nvSpPr>
          <p:cNvPr id="2009" name="Descrição 1">
            <a:extLst xmlns:a="http://schemas.openxmlformats.org/drawingml/2006/main">
              <a:ext uri="{FF2B5EF4-FFF2-40B4-BE49-F238E27FC236}">
                <a16:creationId xmlns:a16="http://schemas.microsoft.com/office/drawing/2014/main" id="{7FA51189-91B7-570F-BCB2-7A8C3C69D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457575"/>
            <a:ext cx="103060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500" b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Estado oculto, pesos compartilhados e BPTT.</a:t>
            </a:r>
          </a:p>
        </p:txBody>
      </p:sp>
      <p:sp>
        <p:nvSpPr>
          <p:cNvPr id="2010" name="Etapa 2">
            <a:extLst xmlns:a="http://schemas.openxmlformats.org/drawingml/2006/main">
              <a:ext uri="{FF2B5EF4-FFF2-40B4-BE49-F238E27FC236}">
                <a16:creationId xmlns:a16="http://schemas.microsoft.com/office/drawing/2014/main" id="{4C0D2B79-5439-5F85-BE7C-C671D9CF3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0000"/>
            <a:ext cx="7429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83D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2550" b="1">
                <a:solidFill>
                  <a:srgbClr val="83DFFF"/>
                </a:solidFill>
                <a:latin typeface="JetBrains Mono"/>
                <a:ea typeface="JetBrains Mono"/>
                <a:cs typeface="JetBrains Mono"/>
              </a:rPr>
              <a:t>03</a:t>
            </a:r>
          </a:p>
        </p:txBody>
      </p:sp>
      <p:sp>
        <p:nvSpPr>
          <p:cNvPr id="2011" name="Tema 2">
            <a:extLst xmlns:a="http://schemas.openxmlformats.org/drawingml/2006/main">
              <a:ext uri="{FF2B5EF4-FFF2-40B4-BE49-F238E27FC236}">
                <a16:creationId xmlns:a16="http://schemas.microsoft.com/office/drawing/2014/main" id="{199BCA73-1C9E-554E-826F-CC7187921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810000"/>
            <a:ext cx="103060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83D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725" b="1">
                <a:solidFill>
                  <a:srgbClr val="83DFFF"/>
                </a:solidFill>
                <a:latin typeface="JetBrains Mono"/>
                <a:ea typeface="JetBrains Mono"/>
                <a:cs typeface="JetBrains Mono"/>
              </a:rPr>
              <a:t>Vanishing e exploding gradient</a:t>
            </a:r>
          </a:p>
        </p:txBody>
      </p:sp>
      <p:sp>
        <p:nvSpPr>
          <p:cNvPr id="2012" name="Descrição 2">
            <a:extLst xmlns:a="http://schemas.openxmlformats.org/drawingml/2006/main">
              <a:ext uri="{FF2B5EF4-FFF2-40B4-BE49-F238E27FC236}">
                <a16:creationId xmlns:a16="http://schemas.microsoft.com/office/drawing/2014/main" id="{8D6F42BF-AF50-5C5C-84DD-470E7AA9C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133850"/>
            <a:ext cx="103060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500" b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Produtos de derivadas e dificuldades no aprendizado.</a:t>
            </a:r>
          </a:p>
        </p:txBody>
      </p:sp>
      <p:sp>
        <p:nvSpPr>
          <p:cNvPr id="2013" name="Etapa 3">
            <a:extLst xmlns:a="http://schemas.openxmlformats.org/drawingml/2006/main">
              <a:ext uri="{FF2B5EF4-FFF2-40B4-BE49-F238E27FC236}">
                <a16:creationId xmlns:a16="http://schemas.microsoft.com/office/drawing/2014/main" id="{E70E53EC-5763-5874-866D-4816B5946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486275"/>
            <a:ext cx="7429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83D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2550" b="1">
                <a:solidFill>
                  <a:srgbClr val="83DFFF"/>
                </a:solidFill>
                <a:latin typeface="JetBrains Mono"/>
                <a:ea typeface="JetBrains Mono"/>
                <a:cs typeface="JetBrains Mono"/>
              </a:rPr>
              <a:t>04</a:t>
            </a:r>
          </a:p>
        </p:txBody>
      </p:sp>
      <p:sp>
        <p:nvSpPr>
          <p:cNvPr id="2014" name="Tema 3">
            <a:extLst xmlns:a="http://schemas.openxmlformats.org/drawingml/2006/main">
              <a:ext uri="{FF2B5EF4-FFF2-40B4-BE49-F238E27FC236}">
                <a16:creationId xmlns:a16="http://schemas.microsoft.com/office/drawing/2014/main" id="{81D52C22-D6D7-5273-813E-22757A512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486275"/>
            <a:ext cx="103060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83D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725" b="1">
                <a:solidFill>
                  <a:srgbClr val="83DFFF"/>
                </a:solidFill>
                <a:latin typeface="JetBrains Mono"/>
                <a:ea typeface="JetBrains Mono"/>
                <a:cs typeface="JetBrains Mono"/>
              </a:rPr>
              <a:t>Célula LSTM</a:t>
            </a:r>
          </a:p>
        </p:txBody>
      </p:sp>
      <p:sp>
        <p:nvSpPr>
          <p:cNvPr id="2015" name="Descrição 3">
            <a:extLst xmlns:a="http://schemas.openxmlformats.org/drawingml/2006/main">
              <a:ext uri="{FF2B5EF4-FFF2-40B4-BE49-F238E27FC236}">
                <a16:creationId xmlns:a16="http://schemas.microsoft.com/office/drawing/2014/main" id="{AD60227E-D37C-57BD-ADA1-07670E595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810125"/>
            <a:ext cx="103060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500" b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Portas, estado da célula e caminho do gradiente.</a:t>
            </a:r>
          </a:p>
        </p:txBody>
      </p:sp>
      <p:sp>
        <p:nvSpPr>
          <p:cNvPr id="2016" name="Etapa 4">
            <a:extLst xmlns:a="http://schemas.openxmlformats.org/drawingml/2006/main">
              <a:ext uri="{FF2B5EF4-FFF2-40B4-BE49-F238E27FC236}">
                <a16:creationId xmlns:a16="http://schemas.microsoft.com/office/drawing/2014/main" id="{158F5A88-2E5C-5D1B-8453-1DF7A06D4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62550"/>
            <a:ext cx="7429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83D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2550" b="1">
                <a:solidFill>
                  <a:srgbClr val="83DFFF"/>
                </a:solidFill>
                <a:latin typeface="JetBrains Mono"/>
                <a:ea typeface="JetBrains Mono"/>
                <a:cs typeface="JetBrains Mono"/>
              </a:rPr>
              <a:t>05</a:t>
            </a:r>
          </a:p>
        </p:txBody>
      </p:sp>
      <p:sp>
        <p:nvSpPr>
          <p:cNvPr id="2017" name="Tema 4">
            <a:extLst xmlns:a="http://schemas.openxmlformats.org/drawingml/2006/main">
              <a:ext uri="{FF2B5EF4-FFF2-40B4-BE49-F238E27FC236}">
                <a16:creationId xmlns:a16="http://schemas.microsoft.com/office/drawing/2014/main" id="{6D98FC59-4C1F-5C36-BAB3-50C37FD7E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162550"/>
            <a:ext cx="103060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83D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725" b="1">
                <a:solidFill>
                  <a:srgbClr val="83DFFF"/>
                </a:solidFill>
                <a:latin typeface="JetBrains Mono"/>
                <a:ea typeface="JetBrains Mono"/>
                <a:cs typeface="JetBrains Mono"/>
              </a:rPr>
              <a:t>Previsão hidrológica</a:t>
            </a:r>
          </a:p>
        </p:txBody>
      </p:sp>
      <p:sp>
        <p:nvSpPr>
          <p:cNvPr id="2018" name="Descrição 4">
            <a:extLst xmlns:a="http://schemas.openxmlformats.org/drawingml/2006/main">
              <a:ext uri="{FF2B5EF4-FFF2-40B4-BE49-F238E27FC236}">
                <a16:creationId xmlns:a16="http://schemas.microsoft.com/office/drawing/2014/main" id="{D479173D-9EAC-5DEE-A818-0A2C947AA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486400"/>
            <a:ext cx="103060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500" b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Janelas, validação temporal e exercício de aplicação.</a:t>
            </a:r>
          </a:p>
        </p:txBody>
      </p:sp>
      <p:pic>
        <p:nvPicPr>
          <p:cNvPr id="2019" name="Imagem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fdd43d0e934be2"/>
          <a:srcRect xmlns:a="http://schemas.openxmlformats.org/drawingml/2006/main" l="3570" t="0" r="8084" b="1819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3701" y="6294313"/>
            <a:ext cx="308300" cy="272211"/>
          </a:xfrm>
          <a:prstGeom xmlns:a="http://schemas.openxmlformats.org/drawingml/2006/main" prst="rect">
            <a:avLst/>
          </a:prstGeom>
        </p:spPr>
      </p:pic>
      <p:sp>
        <p:nvSpPr>
          <p:cNvPr id="2020" name="Hydro-UAI Redes recorrentes e LSTM">
            <a:extLst xmlns:a="http://schemas.openxmlformats.org/drawingml/2006/main">
              <a:ext uri="{FF2B5EF4-FFF2-40B4-BE49-F238E27FC236}">
                <a16:creationId xmlns:a16="http://schemas.microsoft.com/office/drawing/2014/main" id="{8758C059-593C-596F-8B59-8F2E63083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676" y="741617"/>
            <a:ext cx="11284553" cy="4855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 i="1">
                <a:solidFill>
                  <a:srgbClr val="FFFFFF"/>
                </a:solidFill>
                <a:latin typeface="JetBrains Mono ExtraBold"/>
                <a:ea typeface="JetBrains Mono ExtraBold"/>
                <a:cs typeface="JetBrains Mono ExtraBold"/>
              </a:defRPr>
            </a:pPr>
            <a:r>
              <a:rPr sz="2400" b="1" i="1">
                <a:solidFill>
                  <a:srgbClr val="FFFFFF"/>
                </a:solidFill>
                <a:latin typeface="JetBrains Mono ExtraBold"/>
                <a:ea typeface="JetBrains Mono ExtraBold"/>
                <a:cs typeface="JetBrains Mono ExtraBold"/>
              </a:rPr>
              <a:t>Redes recorrentes e LSTM</a:t>
            </a:r>
          </a:p>
        </p:txBody>
      </p:sp>
      <p:sp>
        <p:nvSpPr>
          <p:cNvPr id="2021" name="Divisor Hydro-UAI">
            <a:extLst xmlns:a="http://schemas.openxmlformats.org/drawingml/2006/main">
              <a:ext uri="{FF2B5EF4-FFF2-40B4-BE49-F238E27FC236}">
                <a16:creationId xmlns:a16="http://schemas.microsoft.com/office/drawing/2014/main" id="{A0389455-DCFA-564A-8046-BF5381D1B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08259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668">
            <a:solidFill>
              <a:srgbClr val="FFFFFF"/>
            </a:solidFill>
          </a:ln>
        </p:spPr>
      </p:sp>
      <p:sp>
        <p:nvSpPr>
          <p:cNvPr id="2022" name="Hydro-UAI Hydro-UAI Course">
            <a:extLst xmlns:a="http://schemas.openxmlformats.org/drawingml/2006/main">
              <a:ext uri="{FF2B5EF4-FFF2-40B4-BE49-F238E27FC236}">
                <a16:creationId xmlns:a16="http://schemas.microsoft.com/office/drawing/2014/main" id="{D9DD6BF0-E194-51F6-8642-6F08AE1EF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63436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45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945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Hydro-UAI Course</a:t>
            </a:r>
          </a:p>
        </p:txBody>
      </p:sp>
      <p:sp>
        <p:nvSpPr>
          <p:cNvPr id="2023" name="Hydro-UAI 02 / 47">
            <a:extLst xmlns:a="http://schemas.openxmlformats.org/drawingml/2006/main">
              <a:ext uri="{FF2B5EF4-FFF2-40B4-BE49-F238E27FC236}">
                <a16:creationId xmlns:a16="http://schemas.microsoft.com/office/drawing/2014/main" id="{023A3EA8-AEF7-5EE4-80AB-A40E92DB3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343650"/>
            <a:ext cx="1219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91A4BD"/>
                </a:solidFill>
                <a:latin typeface="JetBrains Mono"/>
                <a:ea typeface="JetBrains Mono"/>
                <a:cs typeface="JetBrains Mono"/>
              </a:defRPr>
            </a:pPr>
            <a:r>
              <a:rPr sz="975" b="0" i="0">
                <a:solidFill>
                  <a:srgbClr val="91A4BD"/>
                </a:solidFill>
                <a:latin typeface="JetBrains Mono"/>
                <a:ea typeface="JetBrains Mono"/>
                <a:cs typeface="JetBrains Mono"/>
              </a:rPr>
              <a:t>02 / 47</a:t>
            </a:r>
          </a:p>
        </p:txBody>
      </p:sp>
    </p:spTree>
    <p:extLst>
      <p:ext uri="{BB962C8B-B14F-4D97-AF65-F5344CB8AC3E}">
        <p14:creationId xmlns:p14="http://schemas.microsoft.com/office/powerpoint/2010/main" val="399128371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3001" name=""/>
        <p:cNvGrpSpPr/>
        <p:nvPr/>
      </p:nvGrpSpPr>
      <p:grpSpPr>
        <a:xfrm xmlns:a="http://schemas.openxmlformats.org/drawingml/2006/main"/>
      </p:grpSpPr>
      <p:sp>
        <p:nvSpPr>
          <p:cNvPr id="3002" name="Retângulo 6">
            <a:extLst xmlns:a="http://schemas.openxmlformats.org/drawingml/2006/main">
              <a:ext uri="{FF2B5EF4-FFF2-40B4-BE49-F238E27FC236}">
                <a16:creationId xmlns:a16="http://schemas.microsoft.com/office/drawing/2014/main" id="{824CDA41-8C17-5E11-9199-EA898F13D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F29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003" name="Tema do slide">
            <a:extLst xmlns:a="http://schemas.openxmlformats.org/drawingml/2006/main">
              <a:ext uri="{FF2B5EF4-FFF2-40B4-BE49-F238E27FC236}">
                <a16:creationId xmlns:a16="http://schemas.microsoft.com/office/drawing/2014/main" id="{CDDD3B35-DA60-5073-A3F6-222F50A1A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90700"/>
            <a:ext cx="11277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2025" b="1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Objetivos de aprendizagem</a:t>
            </a:r>
          </a:p>
        </p:txBody>
      </p:sp>
      <p:sp>
        <p:nvSpPr>
          <p:cNvPr id="3004" name="Objetivo 0">
            <a:extLst xmlns:a="http://schemas.openxmlformats.org/drawingml/2006/main">
              <a:ext uri="{FF2B5EF4-FFF2-40B4-BE49-F238E27FC236}">
                <a16:creationId xmlns:a16="http://schemas.microsoft.com/office/drawing/2014/main" id="{E85E5B7B-FAFF-5131-ABBF-F02F45696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71750"/>
            <a:ext cx="112776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83D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800" b="1">
                <a:solidFill>
                  <a:srgbClr val="83DFFF"/>
                </a:solidFill>
                <a:latin typeface="JetBrains Mono"/>
                <a:ea typeface="JetBrains Mono"/>
                <a:cs typeface="JetBrains Mono"/>
              </a:rPr>
              <a:t>Representar o histórico</a:t>
            </a:r>
          </a:p>
        </p:txBody>
      </p:sp>
      <p:sp>
        <p:nvSpPr>
          <p:cNvPr id="3005" name="Objetivo detalhe 0">
            <a:extLst xmlns:a="http://schemas.openxmlformats.org/drawingml/2006/main">
              <a:ext uri="{FF2B5EF4-FFF2-40B4-BE49-F238E27FC236}">
                <a16:creationId xmlns:a16="http://schemas.microsoft.com/office/drawing/2014/main" id="{CAF41A95-0B4D-59E2-A296-4EBA931DB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33700"/>
            <a:ext cx="112776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650" b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Montar uma sequência de entradas e identificar o alvo futuro.</a:t>
            </a:r>
          </a:p>
        </p:txBody>
      </p:sp>
      <p:sp>
        <p:nvSpPr>
          <p:cNvPr id="3006" name="Objetivo 1">
            <a:extLst xmlns:a="http://schemas.openxmlformats.org/drawingml/2006/main">
              <a:ext uri="{FF2B5EF4-FFF2-40B4-BE49-F238E27FC236}">
                <a16:creationId xmlns:a16="http://schemas.microsoft.com/office/drawing/2014/main" id="{818B5EA3-F086-5008-99B9-7BDB86D35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81375"/>
            <a:ext cx="112776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83D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800" b="1">
                <a:solidFill>
                  <a:srgbClr val="83DFFF"/>
                </a:solidFill>
                <a:latin typeface="JetBrains Mono"/>
                <a:ea typeface="JetBrains Mono"/>
                <a:cs typeface="JetBrains Mono"/>
              </a:rPr>
              <a:t>Explicar o problema de treinamento</a:t>
            </a:r>
          </a:p>
        </p:txBody>
      </p:sp>
      <p:sp>
        <p:nvSpPr>
          <p:cNvPr id="3007" name="Objetivo detalhe 1">
            <a:extLst xmlns:a="http://schemas.openxmlformats.org/drawingml/2006/main">
              <a:ext uri="{FF2B5EF4-FFF2-40B4-BE49-F238E27FC236}">
                <a16:creationId xmlns:a16="http://schemas.microsoft.com/office/drawing/2014/main" id="{3EFA580D-4BE0-562F-AB86-33EE95E1F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43325"/>
            <a:ext cx="112776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650" b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Relacionar o gradiente distante ao produto de Jacobianas.</a:t>
            </a:r>
          </a:p>
        </p:txBody>
      </p:sp>
      <p:sp>
        <p:nvSpPr>
          <p:cNvPr id="3008" name="Objetivo 2">
            <a:extLst xmlns:a="http://schemas.openxmlformats.org/drawingml/2006/main">
              <a:ext uri="{FF2B5EF4-FFF2-40B4-BE49-F238E27FC236}">
                <a16:creationId xmlns:a16="http://schemas.microsoft.com/office/drawing/2014/main" id="{7D038C97-0E98-591A-83B4-819BE5D3F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83D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800" b="1">
                <a:solidFill>
                  <a:srgbClr val="83DFFF"/>
                </a:solidFill>
                <a:latin typeface="JetBrains Mono"/>
                <a:ea typeface="JetBrains Mono"/>
                <a:cs typeface="JetBrains Mono"/>
              </a:rPr>
              <a:t>Calcular uma célula LSTM</a:t>
            </a:r>
          </a:p>
        </p:txBody>
      </p:sp>
      <p:sp>
        <p:nvSpPr>
          <p:cNvPr id="3009" name="Objetivo detalhe 2">
            <a:extLst xmlns:a="http://schemas.openxmlformats.org/drawingml/2006/main">
              <a:ext uri="{FF2B5EF4-FFF2-40B4-BE49-F238E27FC236}">
                <a16:creationId xmlns:a16="http://schemas.microsoft.com/office/drawing/2014/main" id="{31F8D7E0-921D-58C9-8070-162B869CB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52950"/>
            <a:ext cx="112776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650" b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Interpretar f, i, o, a candidata g e os estados c e h.</a:t>
            </a:r>
          </a:p>
        </p:txBody>
      </p:sp>
      <p:sp>
        <p:nvSpPr>
          <p:cNvPr id="3010" name="Objetivo 3">
            <a:extLst xmlns:a="http://schemas.openxmlformats.org/drawingml/2006/main">
              <a:ext uri="{FF2B5EF4-FFF2-40B4-BE49-F238E27FC236}">
                <a16:creationId xmlns:a16="http://schemas.microsoft.com/office/drawing/2014/main" id="{23299357-8645-5DAF-B40E-079A9A4BE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00625"/>
            <a:ext cx="112776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83D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800" b="1">
                <a:solidFill>
                  <a:srgbClr val="83DFFF"/>
                </a:solidFill>
                <a:latin typeface="JetBrains Mono"/>
                <a:ea typeface="JetBrains Mono"/>
                <a:cs typeface="JetBrains Mono"/>
              </a:rPr>
              <a:t>Planejar uma previsão de vazão</a:t>
            </a:r>
          </a:p>
        </p:txBody>
      </p:sp>
      <p:sp>
        <p:nvSpPr>
          <p:cNvPr id="3011" name="Objetivo detalhe 3">
            <a:extLst xmlns:a="http://schemas.openxmlformats.org/drawingml/2006/main">
              <a:ext uri="{FF2B5EF4-FFF2-40B4-BE49-F238E27FC236}">
                <a16:creationId xmlns:a16="http://schemas.microsoft.com/office/drawing/2014/main" id="{B190C3C2-CBDB-5AAF-8CFD-91F30316B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62575"/>
            <a:ext cx="112776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650" b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Definir informação disponível, validação e comparação com baselines.</a:t>
            </a:r>
          </a:p>
        </p:txBody>
      </p:sp>
      <p:pic>
        <p:nvPicPr>
          <p:cNvPr id="3012" name="Imagem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f206aa18c846b7"/>
          <a:srcRect xmlns:a="http://schemas.openxmlformats.org/drawingml/2006/main" l="3570" t="0" r="8084" b="1819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3701" y="6294313"/>
            <a:ext cx="308300" cy="272211"/>
          </a:xfrm>
          <a:prstGeom xmlns:a="http://schemas.openxmlformats.org/drawingml/2006/main" prst="rect">
            <a:avLst/>
          </a:prstGeom>
        </p:spPr>
      </p:pic>
      <p:sp>
        <p:nvSpPr>
          <p:cNvPr id="3013" name="Hydro-UAI Redes recorrentes e LSTM">
            <a:extLst xmlns:a="http://schemas.openxmlformats.org/drawingml/2006/main">
              <a:ext uri="{FF2B5EF4-FFF2-40B4-BE49-F238E27FC236}">
                <a16:creationId xmlns:a16="http://schemas.microsoft.com/office/drawing/2014/main" id="{387FA6A4-7B8E-53A1-BBB2-539BCC1BC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676" y="741617"/>
            <a:ext cx="11284553" cy="4855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 i="1">
                <a:solidFill>
                  <a:srgbClr val="FFFFFF"/>
                </a:solidFill>
                <a:latin typeface="JetBrains Mono ExtraBold"/>
                <a:ea typeface="JetBrains Mono ExtraBold"/>
                <a:cs typeface="JetBrains Mono ExtraBold"/>
              </a:defRPr>
            </a:pPr>
            <a:r>
              <a:rPr sz="2400" b="1" i="1">
                <a:solidFill>
                  <a:srgbClr val="FFFFFF"/>
                </a:solidFill>
                <a:latin typeface="JetBrains Mono ExtraBold"/>
                <a:ea typeface="JetBrains Mono ExtraBold"/>
                <a:cs typeface="JetBrains Mono ExtraBold"/>
              </a:rPr>
              <a:t>Redes recorrentes e LSTM</a:t>
            </a:r>
          </a:p>
        </p:txBody>
      </p:sp>
      <p:sp>
        <p:nvSpPr>
          <p:cNvPr id="3014" name="Divisor Hydro-UAI">
            <a:extLst xmlns:a="http://schemas.openxmlformats.org/drawingml/2006/main">
              <a:ext uri="{FF2B5EF4-FFF2-40B4-BE49-F238E27FC236}">
                <a16:creationId xmlns:a16="http://schemas.microsoft.com/office/drawing/2014/main" id="{54A27E08-DE93-50F6-807F-7EDEE61EC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08259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668">
            <a:solidFill>
              <a:srgbClr val="FFFFFF"/>
            </a:solidFill>
          </a:ln>
        </p:spPr>
      </p:sp>
      <p:sp>
        <p:nvSpPr>
          <p:cNvPr id="3015" name="Hydro-UAI Hydro-UAI Course">
            <a:extLst xmlns:a="http://schemas.openxmlformats.org/drawingml/2006/main">
              <a:ext uri="{FF2B5EF4-FFF2-40B4-BE49-F238E27FC236}">
                <a16:creationId xmlns:a16="http://schemas.microsoft.com/office/drawing/2014/main" id="{BFDA7349-0DC7-5F33-BAAA-C887BEC97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63436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45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945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Hydro-UAI Course</a:t>
            </a:r>
          </a:p>
        </p:txBody>
      </p:sp>
      <p:sp>
        <p:nvSpPr>
          <p:cNvPr id="3016" name="Hydro-UAI 03 / 47">
            <a:extLst xmlns:a="http://schemas.openxmlformats.org/drawingml/2006/main">
              <a:ext uri="{FF2B5EF4-FFF2-40B4-BE49-F238E27FC236}">
                <a16:creationId xmlns:a16="http://schemas.microsoft.com/office/drawing/2014/main" id="{74B30D1B-1324-5604-9DAB-2331B0FE4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343650"/>
            <a:ext cx="1219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91A4BD"/>
                </a:solidFill>
                <a:latin typeface="JetBrains Mono"/>
                <a:ea typeface="JetBrains Mono"/>
                <a:cs typeface="JetBrains Mono"/>
              </a:defRPr>
            </a:pPr>
            <a:r>
              <a:rPr sz="975" b="0" i="0">
                <a:solidFill>
                  <a:srgbClr val="91A4BD"/>
                </a:solidFill>
                <a:latin typeface="JetBrains Mono"/>
                <a:ea typeface="JetBrains Mono"/>
                <a:cs typeface="JetBrains Mono"/>
              </a:rPr>
              <a:t>03 / 47</a:t>
            </a:r>
          </a:p>
        </p:txBody>
      </p:sp>
    </p:spTree>
    <p:extLst>
      <p:ext uri="{BB962C8B-B14F-4D97-AF65-F5344CB8AC3E}">
        <p14:creationId xmlns:p14="http://schemas.microsoft.com/office/powerpoint/2010/main" val="399128371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4001" name=""/>
        <p:cNvGrpSpPr/>
        <p:nvPr/>
      </p:nvGrpSpPr>
      <p:grpSpPr>
        <a:xfrm xmlns:a="http://schemas.openxmlformats.org/drawingml/2006/main"/>
      </p:grpSpPr>
      <p:sp>
        <p:nvSpPr>
          <p:cNvPr id="4002" name="Retângulo 6">
            <a:extLst xmlns:a="http://schemas.openxmlformats.org/drawingml/2006/main">
              <a:ext uri="{FF2B5EF4-FFF2-40B4-BE49-F238E27FC236}">
                <a16:creationId xmlns:a16="http://schemas.microsoft.com/office/drawing/2014/main" id="{B112993A-CF4F-502C-8B08-E5ABB3687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F29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graphicFrame>
        <p:nvGraphicFramePr>
          <p:cNvPr id="4003" name="Chart"/>
          <p:cNvGraphicFramePr/>
          <p:nvPr/>
        </p:nvGraphicFramePr>
        <p:xfrm>
          <a:off xmlns:a="http://schemas.openxmlformats.org/drawingml/2006/main" x="457200" y="2695575"/>
          <a:ext xmlns:a="http://schemas.openxmlformats.org/drawingml/2006/main" cx="6953250" cy="1238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07695ff1e254323"/>
          </a:graphicData>
        </a:graphic>
      </p:graphicFrame>
      <p:graphicFrame>
        <p:nvGraphicFramePr>
          <p:cNvPr id="4004" name="Chart"/>
          <p:cNvGraphicFramePr/>
          <p:nvPr/>
        </p:nvGraphicFramePr>
        <p:xfrm>
          <a:off xmlns:a="http://schemas.openxmlformats.org/drawingml/2006/main" x="457200" y="4295775"/>
          <a:ext xmlns:a="http://schemas.openxmlformats.org/drawingml/2006/main" cx="6953250" cy="15144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a1d5a23209d480c"/>
          </a:graphicData>
        </a:graphic>
      </p:graphicFrame>
      <p:sp>
        <p:nvSpPr>
          <p:cNvPr id="4005" name="Tema do slide">
            <a:extLst xmlns:a="http://schemas.openxmlformats.org/drawingml/2006/main">
              <a:ext uri="{FF2B5EF4-FFF2-40B4-BE49-F238E27FC236}">
                <a16:creationId xmlns:a16="http://schemas.microsoft.com/office/drawing/2014/main" id="{63F73427-F62C-576E-A6A3-FF1B3E020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90700"/>
            <a:ext cx="11277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2025" b="1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Memória hidrológica</a:t>
            </a:r>
          </a:p>
        </p:txBody>
      </p:sp>
      <p:sp>
        <p:nvSpPr>
          <p:cNvPr id="4006" name="Chuva">
            <a:extLst xmlns:a="http://schemas.openxmlformats.org/drawingml/2006/main">
              <a:ext uri="{FF2B5EF4-FFF2-40B4-BE49-F238E27FC236}">
                <a16:creationId xmlns:a16="http://schemas.microsoft.com/office/drawing/2014/main" id="{F83784E6-ED7E-595A-AB97-DB65C04CD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09825"/>
            <a:ext cx="6619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83D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500" b="1">
                <a:solidFill>
                  <a:srgbClr val="83DFFF"/>
                </a:solidFill>
                <a:latin typeface="JetBrains Mono"/>
                <a:ea typeface="JetBrains Mono"/>
                <a:cs typeface="JetBrains Mono"/>
              </a:rPr>
              <a:t>Chuva (mm/dia)</a:t>
            </a:r>
          </a:p>
        </p:txBody>
      </p:sp>
      <p:sp>
        <p:nvSpPr>
          <p:cNvPr id="4007" name="Vazão">
            <a:extLst xmlns:a="http://schemas.openxmlformats.org/drawingml/2006/main">
              <a:ext uri="{FF2B5EF4-FFF2-40B4-BE49-F238E27FC236}">
                <a16:creationId xmlns:a16="http://schemas.microsoft.com/office/drawing/2014/main" id="{3C9DD577-F74E-5132-B877-9B8AB69B2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10025"/>
            <a:ext cx="6619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83D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500" b="1">
                <a:solidFill>
                  <a:srgbClr val="83DFFF"/>
                </a:solidFill>
                <a:latin typeface="JetBrains Mono"/>
                <a:ea typeface="JetBrains Mono"/>
                <a:cs typeface="JetBrains Mono"/>
              </a:rPr>
              <a:t>Vazão (m³/s)</a:t>
            </a:r>
          </a:p>
        </p:txBody>
      </p:sp>
      <p:sp>
        <p:nvSpPr>
          <p:cNvPr id="4008" name="Resposta">
            <a:extLst xmlns:a="http://schemas.openxmlformats.org/drawingml/2006/main">
              <a:ext uri="{FF2B5EF4-FFF2-40B4-BE49-F238E27FC236}">
                <a16:creationId xmlns:a16="http://schemas.microsoft.com/office/drawing/2014/main" id="{4D1B2C2A-5933-5AD3-9EAD-E7432E4D9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752725"/>
            <a:ext cx="3733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83D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875" b="1">
                <a:solidFill>
                  <a:srgbClr val="83DFFF"/>
                </a:solidFill>
                <a:latin typeface="JetBrains Mono"/>
                <a:ea typeface="JetBrains Mono"/>
                <a:cs typeface="JetBrains Mono"/>
              </a:rPr>
              <a:t>A resposta continua</a:t>
            </a:r>
          </a:p>
          <a:p xmlns:a="http://schemas.openxmlformats.org/drawingml/2006/main">
            <a:pPr algn="l">
              <a:buNone/>
              <a:defRPr sz="1875" b="1">
                <a:solidFill>
                  <a:srgbClr val="83D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875" b="1">
                <a:solidFill>
                  <a:srgbClr val="83DFFF"/>
                </a:solidFill>
                <a:latin typeface="JetBrains Mono"/>
                <a:ea typeface="JetBrains Mono"/>
                <a:cs typeface="JetBrains Mono"/>
              </a:rPr>
              <a:t>após o evento de chuva.</a:t>
            </a:r>
          </a:p>
        </p:txBody>
      </p:sp>
      <p:sp>
        <p:nvSpPr>
          <p:cNvPr id="4009" name="Armazenamento">
            <a:extLst xmlns:a="http://schemas.openxmlformats.org/drawingml/2006/main">
              <a:ext uri="{FF2B5EF4-FFF2-40B4-BE49-F238E27FC236}">
                <a16:creationId xmlns:a16="http://schemas.microsoft.com/office/drawing/2014/main" id="{D835F484-2950-5906-B0FE-C8A9ECD63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990975"/>
            <a:ext cx="37338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725" b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Armazenamento e trânsito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725" b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da água conectam o passado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725" b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ao estado atual da bacia.</a:t>
            </a:r>
          </a:p>
        </p:txBody>
      </p:sp>
      <p:sp>
        <p:nvSpPr>
          <p:cNvPr id="4010" name="Contexto">
            <a:extLst xmlns:a="http://schemas.openxmlformats.org/drawingml/2006/main">
              <a:ext uri="{FF2B5EF4-FFF2-40B4-BE49-F238E27FC236}">
                <a16:creationId xmlns:a16="http://schemas.microsoft.com/office/drawing/2014/main" id="{64A7B17E-8802-5E0D-BB18-865868857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29325"/>
            <a:ext cx="11277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91A4BD"/>
                </a:solidFill>
                <a:latin typeface="JetBrains Mono"/>
                <a:ea typeface="JetBrains Mono"/>
                <a:cs typeface="JetBrains Mono"/>
              </a:defRPr>
            </a:pPr>
            <a:r>
              <a:rPr sz="1125" b="0">
                <a:solidFill>
                  <a:srgbClr val="91A4BD"/>
                </a:solidFill>
                <a:latin typeface="JetBrains Mono"/>
                <a:ea typeface="JetBrains Mono"/>
                <a:cs typeface="JetBrains Mono"/>
              </a:rPr>
              <a:t>Hidrograma sintético. O atraso ilustra memória e não representa uma bacia observada.</a:t>
            </a:r>
          </a:p>
        </p:txBody>
      </p:sp>
      <p:pic>
        <p:nvPicPr>
          <p:cNvPr id="4011" name="Imagem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fda6fff74b4527"/>
          <a:srcRect xmlns:a="http://schemas.openxmlformats.org/drawingml/2006/main" l="3570" t="0" r="8084" b="1819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3701" y="6294313"/>
            <a:ext cx="308300" cy="272211"/>
          </a:xfrm>
          <a:prstGeom xmlns:a="http://schemas.openxmlformats.org/drawingml/2006/main" prst="rect">
            <a:avLst/>
          </a:prstGeom>
        </p:spPr>
      </p:pic>
      <p:sp>
        <p:nvSpPr>
          <p:cNvPr id="4012" name="Hydro-UAI Sequências e memória">
            <a:extLst xmlns:a="http://schemas.openxmlformats.org/drawingml/2006/main">
              <a:ext uri="{FF2B5EF4-FFF2-40B4-BE49-F238E27FC236}">
                <a16:creationId xmlns:a16="http://schemas.microsoft.com/office/drawing/2014/main" id="{66B654DC-F343-5544-ABDC-1DEDB39ED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676" y="741617"/>
            <a:ext cx="11284553" cy="4855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 i="1">
                <a:solidFill>
                  <a:srgbClr val="FFFFFF"/>
                </a:solidFill>
                <a:latin typeface="JetBrains Mono ExtraBold"/>
                <a:ea typeface="JetBrains Mono ExtraBold"/>
                <a:cs typeface="JetBrains Mono ExtraBold"/>
              </a:defRPr>
            </a:pPr>
            <a:r>
              <a:rPr sz="2400" b="1" i="1">
                <a:solidFill>
                  <a:srgbClr val="FFFFFF"/>
                </a:solidFill>
                <a:latin typeface="JetBrains Mono ExtraBold"/>
                <a:ea typeface="JetBrains Mono ExtraBold"/>
                <a:cs typeface="JetBrains Mono ExtraBold"/>
              </a:rPr>
              <a:t>Sequências e memória</a:t>
            </a:r>
          </a:p>
        </p:txBody>
      </p:sp>
      <p:sp>
        <p:nvSpPr>
          <p:cNvPr id="4013" name="Divisor Hydro-UAI">
            <a:extLst xmlns:a="http://schemas.openxmlformats.org/drawingml/2006/main">
              <a:ext uri="{FF2B5EF4-FFF2-40B4-BE49-F238E27FC236}">
                <a16:creationId xmlns:a16="http://schemas.microsoft.com/office/drawing/2014/main" id="{D4428782-7323-524D-9445-5CEB64075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08259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668">
            <a:solidFill>
              <a:srgbClr val="FFFFFF"/>
            </a:solidFill>
          </a:ln>
        </p:spPr>
      </p:sp>
      <p:sp>
        <p:nvSpPr>
          <p:cNvPr id="4014" name="Hydro-UAI Hydro-UAI Course">
            <a:extLst xmlns:a="http://schemas.openxmlformats.org/drawingml/2006/main">
              <a:ext uri="{FF2B5EF4-FFF2-40B4-BE49-F238E27FC236}">
                <a16:creationId xmlns:a16="http://schemas.microsoft.com/office/drawing/2014/main" id="{E9B7D7F4-E9CD-54EF-A0EF-88806F1BE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63436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45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945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Hydro-UAI Course</a:t>
            </a:r>
          </a:p>
        </p:txBody>
      </p:sp>
      <p:sp>
        <p:nvSpPr>
          <p:cNvPr id="4015" name="Hydro-UAI 04 / 47">
            <a:extLst xmlns:a="http://schemas.openxmlformats.org/drawingml/2006/main">
              <a:ext uri="{FF2B5EF4-FFF2-40B4-BE49-F238E27FC236}">
                <a16:creationId xmlns:a16="http://schemas.microsoft.com/office/drawing/2014/main" id="{31196576-7BDA-5457-98B0-69925EA65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343650"/>
            <a:ext cx="1219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91A4BD"/>
                </a:solidFill>
                <a:latin typeface="JetBrains Mono"/>
                <a:ea typeface="JetBrains Mono"/>
                <a:cs typeface="JetBrains Mono"/>
              </a:defRPr>
            </a:pPr>
            <a:r>
              <a:rPr sz="975" b="0" i="0">
                <a:solidFill>
                  <a:srgbClr val="91A4BD"/>
                </a:solidFill>
                <a:latin typeface="JetBrains Mono"/>
                <a:ea typeface="JetBrains Mono"/>
                <a:cs typeface="JetBrains Mono"/>
              </a:rPr>
              <a:t>04 / 47</a:t>
            </a:r>
          </a:p>
        </p:txBody>
      </p:sp>
    </p:spTree>
    <p:extLst>
      <p:ext uri="{BB962C8B-B14F-4D97-AF65-F5344CB8AC3E}">
        <p14:creationId xmlns:p14="http://schemas.microsoft.com/office/powerpoint/2010/main" val="399128371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5001" name=""/>
        <p:cNvGrpSpPr/>
        <p:nvPr/>
      </p:nvGrpSpPr>
      <p:grpSpPr>
        <a:xfrm xmlns:a="http://schemas.openxmlformats.org/drawingml/2006/main"/>
      </p:grpSpPr>
      <p:sp>
        <p:nvSpPr>
          <p:cNvPr id="5002" name="Retângulo 6">
            <a:extLst xmlns:a="http://schemas.openxmlformats.org/drawingml/2006/main">
              <a:ext uri="{FF2B5EF4-FFF2-40B4-BE49-F238E27FC236}">
                <a16:creationId xmlns:a16="http://schemas.microsoft.com/office/drawing/2014/main" id="{DF122D2F-7241-528A-84D8-A34CA1949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F29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graphicFrame>
        <p:nvGraphicFramePr>
          <p:cNvPr id="5003" name="Chart"/>
          <p:cNvGraphicFramePr/>
          <p:nvPr/>
        </p:nvGraphicFramePr>
        <p:xfrm>
          <a:off xmlns:a="http://schemas.openxmlformats.org/drawingml/2006/main" x="457200" y="2676525"/>
          <a:ext xmlns:a="http://schemas.openxmlformats.org/drawingml/2006/main" cx="6991350" cy="28765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ba8861be8624bfa"/>
          </a:graphicData>
        </a:graphic>
      </p:graphicFrame>
      <p:sp>
        <p:nvSpPr>
          <p:cNvPr id="5004" name="Tema do slide">
            <a:extLst xmlns:a="http://schemas.openxmlformats.org/drawingml/2006/main">
              <a:ext uri="{FF2B5EF4-FFF2-40B4-BE49-F238E27FC236}">
                <a16:creationId xmlns:a16="http://schemas.microsoft.com/office/drawing/2014/main" id="{62BF1947-E644-51AD-AFFA-6D742273F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90700"/>
            <a:ext cx="11277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2025" b="1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Mesma chuva, condições antecedentes diferentes</a:t>
            </a:r>
          </a:p>
        </p:txBody>
      </p:sp>
      <p:sp>
        <p:nvSpPr>
          <p:cNvPr id="5005" name="Evento">
            <a:extLst xmlns:a="http://schemas.openxmlformats.org/drawingml/2006/main">
              <a:ext uri="{FF2B5EF4-FFF2-40B4-BE49-F238E27FC236}">
                <a16:creationId xmlns:a16="http://schemas.microsoft.com/office/drawing/2014/main" id="{ACB6D8DA-BFD4-5992-800D-4B5B8516A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771775"/>
            <a:ext cx="38290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83D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800" b="1">
                <a:solidFill>
                  <a:srgbClr val="83DFFF"/>
                </a:solidFill>
                <a:latin typeface="JetBrains Mono"/>
                <a:ea typeface="JetBrains Mono"/>
                <a:cs typeface="JetBrains Mono"/>
              </a:rPr>
              <a:t>Evento: 30 mm de chuva</a:t>
            </a:r>
          </a:p>
        </p:txBody>
      </p:sp>
      <p:sp>
        <p:nvSpPr>
          <p:cNvPr id="5006" name="Condição">
            <a:extLst xmlns:a="http://schemas.openxmlformats.org/drawingml/2006/main">
              <a:ext uri="{FF2B5EF4-FFF2-40B4-BE49-F238E27FC236}">
                <a16:creationId xmlns:a16="http://schemas.microsoft.com/office/drawing/2014/main" id="{AF3DA563-C85E-59B0-946C-D6068C492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781425"/>
            <a:ext cx="38290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725" b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O histórico pode ajudar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725" b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a representar condições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725" b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que mudam a resposta.</a:t>
            </a:r>
          </a:p>
        </p:txBody>
      </p:sp>
      <p:sp>
        <p:nvSpPr>
          <p:cNvPr id="5007" name="Pergunta">
            <a:extLst xmlns:a="http://schemas.openxmlformats.org/drawingml/2006/main">
              <a:ext uri="{FF2B5EF4-FFF2-40B4-BE49-F238E27FC236}">
                <a16:creationId xmlns:a16="http://schemas.microsoft.com/office/drawing/2014/main" id="{3C510EC1-9CBD-5960-A5A5-C89087827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162550"/>
            <a:ext cx="38290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71E7BD"/>
                </a:solidFill>
                <a:latin typeface="JetBrains Mono"/>
                <a:ea typeface="JetBrains Mono"/>
                <a:cs typeface="JetBrains Mono"/>
              </a:defRPr>
            </a:pPr>
            <a:r>
              <a:rPr sz="1650" b="1">
                <a:solidFill>
                  <a:srgbClr val="71E7BD"/>
                </a:solidFill>
                <a:latin typeface="JetBrains Mono"/>
                <a:ea typeface="JetBrains Mono"/>
                <a:cs typeface="JetBrains Mono"/>
              </a:rPr>
              <a:t>Qual informação passada</a:t>
            </a:r>
          </a:p>
          <a:p xmlns:a="http://schemas.openxmlformats.org/drawingml/2006/main">
            <a:pPr algn="l">
              <a:buNone/>
              <a:defRPr sz="1650" b="1">
                <a:solidFill>
                  <a:srgbClr val="71E7BD"/>
                </a:solidFill>
                <a:latin typeface="JetBrains Mono"/>
                <a:ea typeface="JetBrains Mono"/>
                <a:cs typeface="JetBrains Mono"/>
              </a:defRPr>
            </a:pPr>
            <a:r>
              <a:rPr sz="1650" b="1">
                <a:solidFill>
                  <a:srgbClr val="71E7BD"/>
                </a:solidFill>
                <a:latin typeface="JetBrains Mono"/>
                <a:ea typeface="JetBrains Mono"/>
                <a:cs typeface="JetBrains Mono"/>
              </a:rPr>
              <a:t>você incluiria?</a:t>
            </a:r>
          </a:p>
        </p:txBody>
      </p:sp>
      <p:sp>
        <p:nvSpPr>
          <p:cNvPr id="5008" name="Legenda Antecedente seco">
            <a:extLst xmlns:a="http://schemas.openxmlformats.org/drawingml/2006/main">
              <a:ext uri="{FF2B5EF4-FFF2-40B4-BE49-F238E27FC236}">
                <a16:creationId xmlns:a16="http://schemas.microsoft.com/office/drawing/2014/main" id="{68956924-2854-5642-9D6F-E7421790F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24525"/>
            <a:ext cx="247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91A4BD"/>
            </a:solidFill>
          </a:ln>
        </p:spPr>
      </p:sp>
      <p:sp>
        <p:nvSpPr>
          <p:cNvPr id="5009" name="Legenda texto Antecedente seco">
            <a:extLst xmlns:a="http://schemas.openxmlformats.org/drawingml/2006/main">
              <a:ext uri="{FF2B5EF4-FFF2-40B4-BE49-F238E27FC236}">
                <a16:creationId xmlns:a16="http://schemas.microsoft.com/office/drawing/2014/main" id="{F0FF0B6C-8C9F-59E6-B0D0-2F5D5E6BD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629275"/>
            <a:ext cx="3190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350" b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Antecedente seco</a:t>
            </a:r>
          </a:p>
        </p:txBody>
      </p:sp>
      <p:sp>
        <p:nvSpPr>
          <p:cNvPr id="5010" name="Legenda Antecedente úmido">
            <a:extLst xmlns:a="http://schemas.openxmlformats.org/drawingml/2006/main">
              <a:ext uri="{FF2B5EF4-FFF2-40B4-BE49-F238E27FC236}">
                <a16:creationId xmlns:a16="http://schemas.microsoft.com/office/drawing/2014/main" id="{293C09CC-67ED-504C-91BD-F7C39D3A1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9075" y="5724525"/>
            <a:ext cx="247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83DFFF"/>
            </a:solidFill>
          </a:ln>
        </p:spPr>
      </p:sp>
      <p:sp>
        <p:nvSpPr>
          <p:cNvPr id="5011" name="Legenda texto Antecedente úmido">
            <a:extLst xmlns:a="http://schemas.openxmlformats.org/drawingml/2006/main">
              <a:ext uri="{FF2B5EF4-FFF2-40B4-BE49-F238E27FC236}">
                <a16:creationId xmlns:a16="http://schemas.microsoft.com/office/drawing/2014/main" id="{B2F11618-7792-5071-A683-2F956FA10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5629275"/>
            <a:ext cx="3190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350" b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Antecedente úmido</a:t>
            </a:r>
          </a:p>
        </p:txBody>
      </p:sp>
      <p:sp>
        <p:nvSpPr>
          <p:cNvPr id="5012" name="Contexto">
            <a:extLst xmlns:a="http://schemas.openxmlformats.org/drawingml/2006/main">
              <a:ext uri="{FF2B5EF4-FFF2-40B4-BE49-F238E27FC236}">
                <a16:creationId xmlns:a16="http://schemas.microsoft.com/office/drawing/2014/main" id="{637D8425-EAC0-55AC-88D0-DDBDD5CBF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29325"/>
            <a:ext cx="11277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91A4BD"/>
                </a:solidFill>
                <a:latin typeface="JetBrains Mono"/>
                <a:ea typeface="JetBrains Mono"/>
                <a:cs typeface="JetBrains Mono"/>
              </a:defRPr>
            </a:pPr>
            <a:r>
              <a:rPr sz="1125" b="0">
                <a:solidFill>
                  <a:srgbClr val="91A4BD"/>
                </a:solidFill>
                <a:latin typeface="JetBrains Mono"/>
                <a:ea typeface="JetBrains Mono"/>
                <a:cs typeface="JetBrains Mono"/>
              </a:rPr>
              <a:t>Cenários sintéticos, com o mesmo valor inicial de vazão para isolar a ideia didática.</a:t>
            </a:r>
          </a:p>
        </p:txBody>
      </p:sp>
      <p:pic>
        <p:nvPicPr>
          <p:cNvPr id="5013" name="Imagem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8ea91c30f445da"/>
          <a:srcRect xmlns:a="http://schemas.openxmlformats.org/drawingml/2006/main" l="3570" t="0" r="8084" b="1819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3701" y="6294313"/>
            <a:ext cx="308300" cy="272211"/>
          </a:xfrm>
          <a:prstGeom xmlns:a="http://schemas.openxmlformats.org/drawingml/2006/main" prst="rect">
            <a:avLst/>
          </a:prstGeom>
        </p:spPr>
      </p:pic>
      <p:sp>
        <p:nvSpPr>
          <p:cNvPr id="5014" name="Hydro-UAI Sequências e memória">
            <a:extLst xmlns:a="http://schemas.openxmlformats.org/drawingml/2006/main">
              <a:ext uri="{FF2B5EF4-FFF2-40B4-BE49-F238E27FC236}">
                <a16:creationId xmlns:a16="http://schemas.microsoft.com/office/drawing/2014/main" id="{E3177639-D428-573C-82CB-713AAE921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676" y="741617"/>
            <a:ext cx="11284553" cy="4855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 i="1">
                <a:solidFill>
                  <a:srgbClr val="FFFFFF"/>
                </a:solidFill>
                <a:latin typeface="JetBrains Mono ExtraBold"/>
                <a:ea typeface="JetBrains Mono ExtraBold"/>
                <a:cs typeface="JetBrains Mono ExtraBold"/>
              </a:defRPr>
            </a:pPr>
            <a:r>
              <a:rPr sz="2400" b="1" i="1">
                <a:solidFill>
                  <a:srgbClr val="FFFFFF"/>
                </a:solidFill>
                <a:latin typeface="JetBrains Mono ExtraBold"/>
                <a:ea typeface="JetBrains Mono ExtraBold"/>
                <a:cs typeface="JetBrains Mono ExtraBold"/>
              </a:rPr>
              <a:t>Sequências e memória</a:t>
            </a:r>
          </a:p>
        </p:txBody>
      </p:sp>
      <p:sp>
        <p:nvSpPr>
          <p:cNvPr id="5015" name="Divisor Hydro-UAI">
            <a:extLst xmlns:a="http://schemas.openxmlformats.org/drawingml/2006/main">
              <a:ext uri="{FF2B5EF4-FFF2-40B4-BE49-F238E27FC236}">
                <a16:creationId xmlns:a16="http://schemas.microsoft.com/office/drawing/2014/main" id="{99A4CC31-C731-553C-9B80-ED6376C9F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08259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668">
            <a:solidFill>
              <a:srgbClr val="FFFFFF"/>
            </a:solidFill>
          </a:ln>
        </p:spPr>
      </p:sp>
      <p:sp>
        <p:nvSpPr>
          <p:cNvPr id="5016" name="Hydro-UAI Hydro-UAI Course">
            <a:extLst xmlns:a="http://schemas.openxmlformats.org/drawingml/2006/main">
              <a:ext uri="{FF2B5EF4-FFF2-40B4-BE49-F238E27FC236}">
                <a16:creationId xmlns:a16="http://schemas.microsoft.com/office/drawing/2014/main" id="{FE553359-DA71-54D9-AD09-0E550443C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63436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45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945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Hydro-UAI Course</a:t>
            </a:r>
          </a:p>
        </p:txBody>
      </p:sp>
      <p:sp>
        <p:nvSpPr>
          <p:cNvPr id="5017" name="Hydro-UAI 05 / 47">
            <a:extLst xmlns:a="http://schemas.openxmlformats.org/drawingml/2006/main">
              <a:ext uri="{FF2B5EF4-FFF2-40B4-BE49-F238E27FC236}">
                <a16:creationId xmlns:a16="http://schemas.microsoft.com/office/drawing/2014/main" id="{FED27078-DE32-5AFC-A71C-289899DA2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343650"/>
            <a:ext cx="1219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91A4BD"/>
                </a:solidFill>
                <a:latin typeface="JetBrains Mono"/>
                <a:ea typeface="JetBrains Mono"/>
                <a:cs typeface="JetBrains Mono"/>
              </a:defRPr>
            </a:pPr>
            <a:r>
              <a:rPr sz="975" b="0" i="0">
                <a:solidFill>
                  <a:srgbClr val="91A4BD"/>
                </a:solidFill>
                <a:latin typeface="JetBrains Mono"/>
                <a:ea typeface="JetBrains Mono"/>
                <a:cs typeface="JetBrains Mono"/>
              </a:rPr>
              <a:t>05 / 47</a:t>
            </a:r>
          </a:p>
        </p:txBody>
      </p:sp>
    </p:spTree>
    <p:extLst>
      <p:ext uri="{BB962C8B-B14F-4D97-AF65-F5344CB8AC3E}">
        <p14:creationId xmlns:p14="http://schemas.microsoft.com/office/powerpoint/2010/main" val="399128371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6001" name=""/>
        <p:cNvGrpSpPr/>
        <p:nvPr/>
      </p:nvGrpSpPr>
      <p:grpSpPr>
        <a:xfrm xmlns:a="http://schemas.openxmlformats.org/drawingml/2006/main"/>
      </p:grpSpPr>
      <p:sp>
        <p:nvSpPr>
          <p:cNvPr id="6002" name="Retângulo 6">
            <a:extLst xmlns:a="http://schemas.openxmlformats.org/drawingml/2006/main">
              <a:ext uri="{FF2B5EF4-FFF2-40B4-BE49-F238E27FC236}">
                <a16:creationId xmlns:a16="http://schemas.microsoft.com/office/drawing/2014/main" id="{30F9EC9D-6AE2-562D-B31F-B36D824E2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F29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003" name="Tema do slide">
            <a:extLst xmlns:a="http://schemas.openxmlformats.org/drawingml/2006/main">
              <a:ext uri="{FF2B5EF4-FFF2-40B4-BE49-F238E27FC236}">
                <a16:creationId xmlns:a16="http://schemas.microsoft.com/office/drawing/2014/main" id="{F0DFC556-F8B3-5CD4-8076-361E6753F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90700"/>
            <a:ext cx="11277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2025" b="1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MLP com defasagens e rede recorrente</a:t>
            </a:r>
          </a:p>
        </p:txBody>
      </p:sp>
      <p:sp>
        <p:nvSpPr>
          <p:cNvPr id="6004" name="MLP">
            <a:extLst xmlns:a="http://schemas.openxmlformats.org/drawingml/2006/main">
              <a:ext uri="{FF2B5EF4-FFF2-40B4-BE49-F238E27FC236}">
                <a16:creationId xmlns:a16="http://schemas.microsoft.com/office/drawing/2014/main" id="{9DCD877B-D8A9-5C7C-9101-68F3C7CFC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05075"/>
            <a:ext cx="11277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83D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800" b="1">
                <a:solidFill>
                  <a:srgbClr val="83DFFF"/>
                </a:solidFill>
                <a:latin typeface="JetBrains Mono"/>
                <a:ea typeface="JetBrains Mono"/>
                <a:cs typeface="JetBrains Mono"/>
              </a:rPr>
              <a:t>MLP: histórico empilhado</a:t>
            </a:r>
          </a:p>
        </p:txBody>
      </p:sp>
      <p:sp>
        <p:nvSpPr>
          <p:cNvPr id="6005" name="Diagrama x(t − 2), x(t − 1), x(t)">
            <a:extLst xmlns:a="http://schemas.openxmlformats.org/drawingml/2006/main">
              <a:ext uri="{FF2B5EF4-FFF2-40B4-BE49-F238E27FC236}">
                <a16:creationId xmlns:a16="http://schemas.microsoft.com/office/drawing/2014/main" id="{E94DA6B5-D827-5A42-A4FA-0F751BF0D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09900"/>
            <a:ext cx="4191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F29"/>
          </a:solidFill>
          <a:ln xmlns:a="http://schemas.openxmlformats.org/drawingml/2006/main" w="19050">
            <a:solidFill>
              <a:srgbClr val="83DFFF"/>
            </a:solidFill>
          </a:ln>
        </p:spPr>
        <p:txBody>
          <a:bodyPr xmlns:a="http://schemas.openxmlformats.org/drawingml/2006/main" lIns="76200" tIns="47625" rIns="762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725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x(t − 2), x(t − 1), x(t)</a:t>
            </a:r>
          </a:p>
        </p:txBody>
      </p:sp>
      <p:sp>
        <p:nvSpPr>
          <p:cNvPr id="6006" name="Diagrama MLP">
            <a:extLst xmlns:a="http://schemas.openxmlformats.org/drawingml/2006/main">
              <a:ext uri="{FF2B5EF4-FFF2-40B4-BE49-F238E27FC236}">
                <a16:creationId xmlns:a16="http://schemas.microsoft.com/office/drawing/2014/main" id="{E81005FA-153B-5C16-87C0-EE8E495A3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3009900"/>
            <a:ext cx="18097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F29"/>
          </a:solidFill>
          <a:ln xmlns:a="http://schemas.openxmlformats.org/drawingml/2006/main" w="19050">
            <a:solidFill>
              <a:srgbClr val="83DFFF"/>
            </a:solidFill>
          </a:ln>
        </p:spPr>
        <p:txBody>
          <a:bodyPr xmlns:a="http://schemas.openxmlformats.org/drawingml/2006/main" lIns="76200" tIns="47625" rIns="762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725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MLP</a:t>
            </a:r>
          </a:p>
        </p:txBody>
      </p:sp>
      <p:sp>
        <p:nvSpPr>
          <p:cNvPr id="6007" name="Diagrama Q̂(t + 1)">
            <a:extLst xmlns:a="http://schemas.openxmlformats.org/drawingml/2006/main">
              <a:ext uri="{FF2B5EF4-FFF2-40B4-BE49-F238E27FC236}">
                <a16:creationId xmlns:a16="http://schemas.microsoft.com/office/drawing/2014/main" id="{9825512D-CE31-56D4-9CC5-11B6DE9DC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009900"/>
            <a:ext cx="23812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F29"/>
          </a:solidFill>
          <a:ln xmlns:a="http://schemas.openxmlformats.org/drawingml/2006/main" w="19050">
            <a:solidFill>
              <a:srgbClr val="83DFFF"/>
            </a:solidFill>
          </a:ln>
        </p:spPr>
        <p:txBody>
          <a:bodyPr xmlns:a="http://schemas.openxmlformats.org/drawingml/2006/main" lIns="76200" tIns="47625" rIns="762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725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Q̂(t + 1)</a:t>
            </a:r>
          </a:p>
        </p:txBody>
      </p:sp>
      <p:cxnSp>
        <p:nvCxnSpPr>
          <p:cNvPr id="6008" name=""/>
          <p:cNvCxnSpPr>
            <a:stCxn xmlns:a="http://schemas.openxmlformats.org/drawingml/2006/main" id="6005" idx="3"/>
            <a:endCxn xmlns:a="http://schemas.openxmlformats.org/drawingml/2006/main" id="6006" idx="1"/>
          </p:cNvCxnSpPr>
          <p:nvPr/>
        </p:nvCxnSpPr>
        <p:spPr>
          <a:xfrm xmlns:a="http://schemas.openxmlformats.org/drawingml/2006/main">
            <a:off x="4648200" y="3390900"/>
            <a:ext cx="952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3DFFF"/>
            </a:solidFill>
            <a:tailEnd type="triangle" w="med" len="med"/>
          </a:ln>
        </p:spPr>
      </p:cxnSp>
      <p:cxnSp>
        <p:nvCxnSpPr>
          <p:cNvPr id="6009" name=""/>
          <p:cNvCxnSpPr>
            <a:stCxn xmlns:a="http://schemas.openxmlformats.org/drawingml/2006/main" id="6006" idx="3"/>
            <a:endCxn xmlns:a="http://schemas.openxmlformats.org/drawingml/2006/main" id="6007" idx="1"/>
          </p:cNvCxnSpPr>
          <p:nvPr/>
        </p:nvCxnSpPr>
        <p:spPr>
          <a:xfrm xmlns:a="http://schemas.openxmlformats.org/drawingml/2006/main">
            <a:off x="7410450" y="3390900"/>
            <a:ext cx="1428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3DFFF"/>
            </a:solidFill>
            <a:tailEnd type="triangle" w="med" len="med"/>
          </a:ln>
        </p:spPr>
      </p:cxnSp>
      <p:sp>
        <p:nvSpPr>
          <p:cNvPr id="6010" name="RNN">
            <a:extLst xmlns:a="http://schemas.openxmlformats.org/drawingml/2006/main">
              <a:ext uri="{FF2B5EF4-FFF2-40B4-BE49-F238E27FC236}">
                <a16:creationId xmlns:a16="http://schemas.microsoft.com/office/drawing/2014/main" id="{9C75D2E0-6CC1-5761-9065-AA0DA3D06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62425"/>
            <a:ext cx="11277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83D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800" b="1">
                <a:solidFill>
                  <a:srgbClr val="83DFFF"/>
                </a:solidFill>
                <a:latin typeface="JetBrains Mono"/>
                <a:ea typeface="JetBrains Mono"/>
                <a:cs typeface="JetBrains Mono"/>
              </a:rPr>
              <a:t>RNN: leitura sequencial</a:t>
            </a:r>
          </a:p>
        </p:txBody>
      </p:sp>
      <p:sp>
        <p:nvSpPr>
          <p:cNvPr id="6011" name="Diagrama x(t − 2)&#10;+ estado anterior">
            <a:extLst xmlns:a="http://schemas.openxmlformats.org/drawingml/2006/main">
              <a:ext uri="{FF2B5EF4-FFF2-40B4-BE49-F238E27FC236}">
                <a16:creationId xmlns:a16="http://schemas.microsoft.com/office/drawing/2014/main" id="{1ABD9A09-F301-5827-912E-C6C9F727E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619625"/>
            <a:ext cx="283845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F29"/>
          </a:solidFill>
          <a:ln xmlns:a="http://schemas.openxmlformats.org/drawingml/2006/main" w="19050">
            <a:solidFill>
              <a:srgbClr val="83DFFF"/>
            </a:solidFill>
          </a:ln>
        </p:spPr>
        <p:txBody>
          <a:bodyPr xmlns:a="http://schemas.openxmlformats.org/drawingml/2006/main" lIns="76200" tIns="47625" rIns="762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65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x(t − 2)</a:t>
            </a:r>
          </a:p>
          <a:p xmlns:a="http://schemas.openxmlformats.org/drawingml/2006/main">
            <a:pPr algn="ctr">
              <a:buNone/>
              <a:defRPr sz="165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65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+ estado anterior</a:t>
            </a:r>
          </a:p>
        </p:txBody>
      </p:sp>
      <p:sp>
        <p:nvSpPr>
          <p:cNvPr id="6012" name="Diagrama x(t − 1)&#10;+ estado anterior">
            <a:extLst xmlns:a="http://schemas.openxmlformats.org/drawingml/2006/main">
              <a:ext uri="{FF2B5EF4-FFF2-40B4-BE49-F238E27FC236}">
                <a16:creationId xmlns:a16="http://schemas.microsoft.com/office/drawing/2014/main" id="{B6093781-C18D-55F4-86A6-6A006BA99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619625"/>
            <a:ext cx="283845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F29"/>
          </a:solidFill>
          <a:ln xmlns:a="http://schemas.openxmlformats.org/drawingml/2006/main" w="19050">
            <a:solidFill>
              <a:srgbClr val="83DFFF"/>
            </a:solidFill>
          </a:ln>
        </p:spPr>
        <p:txBody>
          <a:bodyPr xmlns:a="http://schemas.openxmlformats.org/drawingml/2006/main" lIns="76200" tIns="47625" rIns="762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65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x(t − 1)</a:t>
            </a:r>
          </a:p>
          <a:p xmlns:a="http://schemas.openxmlformats.org/drawingml/2006/main">
            <a:pPr algn="ctr">
              <a:buNone/>
              <a:defRPr sz="165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65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+ estado anterior</a:t>
            </a:r>
          </a:p>
        </p:txBody>
      </p:sp>
      <p:sp>
        <p:nvSpPr>
          <p:cNvPr id="6013" name="Diagrama x(t)&#10;+ estado anterior">
            <a:extLst xmlns:a="http://schemas.openxmlformats.org/drawingml/2006/main">
              <a:ext uri="{FF2B5EF4-FFF2-40B4-BE49-F238E27FC236}">
                <a16:creationId xmlns:a16="http://schemas.microsoft.com/office/drawing/2014/main" id="{A76F9F04-5B62-55C9-8F95-2D8BD408A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619625"/>
            <a:ext cx="283845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F29"/>
          </a:solidFill>
          <a:ln xmlns:a="http://schemas.openxmlformats.org/drawingml/2006/main" w="19050">
            <a:solidFill>
              <a:srgbClr val="83DFFF"/>
            </a:solidFill>
          </a:ln>
        </p:spPr>
        <p:txBody>
          <a:bodyPr xmlns:a="http://schemas.openxmlformats.org/drawingml/2006/main" lIns="76200" tIns="47625" rIns="762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65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x(t)</a:t>
            </a:r>
          </a:p>
          <a:p xmlns:a="http://schemas.openxmlformats.org/drawingml/2006/main">
            <a:pPr algn="ctr">
              <a:buNone/>
              <a:defRPr sz="165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65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+ estado anterior</a:t>
            </a:r>
          </a:p>
        </p:txBody>
      </p:sp>
      <p:cxnSp>
        <p:nvCxnSpPr>
          <p:cNvPr id="6014" name=""/>
          <p:cNvCxnSpPr>
            <a:stCxn xmlns:a="http://schemas.openxmlformats.org/drawingml/2006/main" id="6011" idx="3"/>
            <a:endCxn xmlns:a="http://schemas.openxmlformats.org/drawingml/2006/main" id="6012" idx="1"/>
          </p:cNvCxnSpPr>
          <p:nvPr/>
        </p:nvCxnSpPr>
        <p:spPr>
          <a:xfrm xmlns:a="http://schemas.openxmlformats.org/drawingml/2006/main">
            <a:off x="3295650" y="5072063"/>
            <a:ext cx="8763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3DFFF"/>
            </a:solidFill>
            <a:tailEnd type="triangle" w="med" len="med"/>
          </a:ln>
        </p:spPr>
      </p:cxnSp>
      <p:cxnSp>
        <p:nvCxnSpPr>
          <p:cNvPr id="6015" name=""/>
          <p:cNvCxnSpPr>
            <a:stCxn xmlns:a="http://schemas.openxmlformats.org/drawingml/2006/main" id="6012" idx="3"/>
            <a:endCxn xmlns:a="http://schemas.openxmlformats.org/drawingml/2006/main" id="6013" idx="1"/>
          </p:cNvCxnSpPr>
          <p:nvPr/>
        </p:nvCxnSpPr>
        <p:spPr>
          <a:xfrm xmlns:a="http://schemas.openxmlformats.org/drawingml/2006/main">
            <a:off x="7010400" y="5072063"/>
            <a:ext cx="8763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3DFFF"/>
            </a:solidFill>
            <a:tailEnd type="triangle" w="med" len="med"/>
          </a:ln>
        </p:spPr>
      </p:cxnSp>
      <p:sp>
        <p:nvSpPr>
          <p:cNvPr id="6016" name="Contexto">
            <a:extLst xmlns:a="http://schemas.openxmlformats.org/drawingml/2006/main">
              <a:ext uri="{FF2B5EF4-FFF2-40B4-BE49-F238E27FC236}">
                <a16:creationId xmlns:a16="http://schemas.microsoft.com/office/drawing/2014/main" id="{C25CC9B4-5AD2-5122-94F5-19E414571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29325"/>
            <a:ext cx="11277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91A4BD"/>
                </a:solidFill>
                <a:latin typeface="JetBrains Mono"/>
                <a:ea typeface="JetBrains Mono"/>
                <a:cs typeface="JetBrains Mono"/>
              </a:defRPr>
            </a:pPr>
            <a:r>
              <a:rPr sz="1125" b="0">
                <a:solidFill>
                  <a:srgbClr val="91A4BD"/>
                </a:solidFill>
                <a:latin typeface="JetBrains Mono"/>
                <a:ea typeface="JetBrains Mono"/>
                <a:cs typeface="JetBrains Mono"/>
              </a:rPr>
              <a:t>Ambas as abordagens podem usar histórico. A recorrência compartilha a transformação ao longo do tempo.</a:t>
            </a:r>
          </a:p>
        </p:txBody>
      </p:sp>
      <p:pic>
        <p:nvPicPr>
          <p:cNvPr id="6017" name="Imagem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f2f602ac394883"/>
          <a:srcRect xmlns:a="http://schemas.openxmlformats.org/drawingml/2006/main" l="3570" t="0" r="8084" b="1819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3701" y="6294313"/>
            <a:ext cx="308300" cy="272211"/>
          </a:xfrm>
          <a:prstGeom xmlns:a="http://schemas.openxmlformats.org/drawingml/2006/main" prst="rect">
            <a:avLst/>
          </a:prstGeom>
        </p:spPr>
      </p:pic>
      <p:sp>
        <p:nvSpPr>
          <p:cNvPr id="6018" name="Hydro-UAI Sequências e memória">
            <a:extLst xmlns:a="http://schemas.openxmlformats.org/drawingml/2006/main">
              <a:ext uri="{FF2B5EF4-FFF2-40B4-BE49-F238E27FC236}">
                <a16:creationId xmlns:a16="http://schemas.microsoft.com/office/drawing/2014/main" id="{26B3046A-DCD7-5E92-968C-7CD187C96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676" y="741617"/>
            <a:ext cx="11284553" cy="4855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 i="1">
                <a:solidFill>
                  <a:srgbClr val="FFFFFF"/>
                </a:solidFill>
                <a:latin typeface="JetBrains Mono ExtraBold"/>
                <a:ea typeface="JetBrains Mono ExtraBold"/>
                <a:cs typeface="JetBrains Mono ExtraBold"/>
              </a:defRPr>
            </a:pPr>
            <a:r>
              <a:rPr sz="2400" b="1" i="1">
                <a:solidFill>
                  <a:srgbClr val="FFFFFF"/>
                </a:solidFill>
                <a:latin typeface="JetBrains Mono ExtraBold"/>
                <a:ea typeface="JetBrains Mono ExtraBold"/>
                <a:cs typeface="JetBrains Mono ExtraBold"/>
              </a:rPr>
              <a:t>Sequências e memória</a:t>
            </a:r>
          </a:p>
        </p:txBody>
      </p:sp>
      <p:sp>
        <p:nvSpPr>
          <p:cNvPr id="6019" name="Divisor Hydro-UAI">
            <a:extLst xmlns:a="http://schemas.openxmlformats.org/drawingml/2006/main">
              <a:ext uri="{FF2B5EF4-FFF2-40B4-BE49-F238E27FC236}">
                <a16:creationId xmlns:a16="http://schemas.microsoft.com/office/drawing/2014/main" id="{433556C1-1020-5BC3-BBA7-5DF7DFD0A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08259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668">
            <a:solidFill>
              <a:srgbClr val="FFFFFF"/>
            </a:solidFill>
          </a:ln>
        </p:spPr>
      </p:sp>
      <p:sp>
        <p:nvSpPr>
          <p:cNvPr id="6020" name="Hydro-UAI Hydro-UAI Course">
            <a:extLst xmlns:a="http://schemas.openxmlformats.org/drawingml/2006/main">
              <a:ext uri="{FF2B5EF4-FFF2-40B4-BE49-F238E27FC236}">
                <a16:creationId xmlns:a16="http://schemas.microsoft.com/office/drawing/2014/main" id="{951209F0-5A2A-5B06-B1DB-792968C9F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63436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45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945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Hydro-UAI Course</a:t>
            </a:r>
          </a:p>
        </p:txBody>
      </p:sp>
      <p:sp>
        <p:nvSpPr>
          <p:cNvPr id="6021" name="Hydro-UAI 06 / 47">
            <a:extLst xmlns:a="http://schemas.openxmlformats.org/drawingml/2006/main">
              <a:ext uri="{FF2B5EF4-FFF2-40B4-BE49-F238E27FC236}">
                <a16:creationId xmlns:a16="http://schemas.microsoft.com/office/drawing/2014/main" id="{F3DA3A48-7D6F-5E68-8B30-22E05723A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343650"/>
            <a:ext cx="1219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91A4BD"/>
                </a:solidFill>
                <a:latin typeface="JetBrains Mono"/>
                <a:ea typeface="JetBrains Mono"/>
                <a:cs typeface="JetBrains Mono"/>
              </a:defRPr>
            </a:pPr>
            <a:r>
              <a:rPr sz="975" b="0" i="0">
                <a:solidFill>
                  <a:srgbClr val="91A4BD"/>
                </a:solidFill>
                <a:latin typeface="JetBrains Mono"/>
                <a:ea typeface="JetBrains Mono"/>
                <a:cs typeface="JetBrains Mono"/>
              </a:rPr>
              <a:t>06 / 47</a:t>
            </a:r>
          </a:p>
        </p:txBody>
      </p:sp>
    </p:spTree>
    <p:extLst>
      <p:ext uri="{BB962C8B-B14F-4D97-AF65-F5344CB8AC3E}">
        <p14:creationId xmlns:p14="http://schemas.microsoft.com/office/powerpoint/2010/main" val="3991283715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7001" name=""/>
        <p:cNvGrpSpPr/>
        <p:nvPr/>
      </p:nvGrpSpPr>
      <p:grpSpPr>
        <a:xfrm xmlns:a="http://schemas.openxmlformats.org/drawingml/2006/main"/>
      </p:grpSpPr>
      <p:sp>
        <p:nvSpPr>
          <p:cNvPr id="7002" name="Retângulo 6">
            <a:extLst xmlns:a="http://schemas.openxmlformats.org/drawingml/2006/main">
              <a:ext uri="{FF2B5EF4-FFF2-40B4-BE49-F238E27FC236}">
                <a16:creationId xmlns:a16="http://schemas.microsoft.com/office/drawing/2014/main" id="{D76265DF-1601-5ACD-B216-27837EF8F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F29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graphicFrame>
        <p:nvGraphicFramePr>
          <p:cNvPr id="7003" name=""/>
          <p:cNvGraphicFramePr/>
          <p:nvPr/>
        </p:nvGraphicFramePr>
        <p:xfrm>
          <a:off xmlns:a="http://schemas.openxmlformats.org/drawingml/2006/main" x="457200" y="2505075"/>
          <a:ext xmlns:a="http://schemas.openxmlformats.org/drawingml/2006/main" cx="6667500" cy="33528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1809750"/>
                <a:gridCol w="1619250"/>
                <a:gridCol w="1619250"/>
                <a:gridCol w="1619250"/>
              </a:tblGrid>
              <a:tr h="419100"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Passo</a:t>
                      </a:r>
                    </a:p>
                  </a:txBody>
                  <a:tcPr marL="91440" marR="91440" marT="45720" marB="45720" anchor="ctr">
                    <a:solidFill>
                      <a:srgbClr val="0053EB"/>
                    </a:solidFill>
                  </a:tcPr>
                </a:tc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P (mm)</a:t>
                      </a:r>
                    </a:p>
                  </a:txBody>
                  <a:tcPr marL="91440" marR="91440" marT="45720" marB="45720" anchor="ctr">
                    <a:solidFill>
                      <a:srgbClr val="0053EB"/>
                    </a:solidFill>
                  </a:tcPr>
                </a:tc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T (°C)</a:t>
                      </a:r>
                    </a:p>
                  </a:txBody>
                  <a:tcPr marL="91440" marR="91440" marT="45720" marB="45720" anchor="ctr">
                    <a:solidFill>
                      <a:srgbClr val="0053EB"/>
                    </a:solidFill>
                  </a:tcPr>
                </a:tc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Q (m³/s)</a:t>
                      </a:r>
                    </a:p>
                  </a:txBody>
                  <a:tcPr marL="91440" marR="91440" marT="45720" marB="45720" anchor="ctr">
                    <a:solidFill>
                      <a:srgbClr val="0053EB"/>
                    </a:solidFill>
                  </a:tcPr>
                </a:tc>
              </a:tr>
              <a:tr h="419100"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t − 6</a:t>
                      </a:r>
                    </a:p>
                  </a:txBody>
                  <a:tcPr marL="91440" marR="91440" marT="45720" marB="45720" anchor="ctr">
                    <a:solidFill>
                      <a:srgbClr val="000F29"/>
                    </a:solidFill>
                  </a:tcPr>
                </a:tc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000F29"/>
                    </a:solidFill>
                  </a:tcPr>
                </a:tc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20</a:t>
                      </a:r>
                    </a:p>
                  </a:txBody>
                  <a:tcPr marL="91440" marR="91440" marT="45720" marB="45720" anchor="ctr">
                    <a:solidFill>
                      <a:srgbClr val="000F29"/>
                    </a:solidFill>
                  </a:tcPr>
                </a:tc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15</a:t>
                      </a:r>
                    </a:p>
                  </a:txBody>
                  <a:tcPr marL="91440" marR="91440" marT="45720" marB="45720" anchor="ctr">
                    <a:solidFill>
                      <a:srgbClr val="000F29"/>
                    </a:solidFill>
                  </a:tcPr>
                </a:tc>
              </a:tr>
              <a:tr h="419100"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t − 5</a:t>
                      </a:r>
                    </a:p>
                  </a:txBody>
                  <a:tcPr marL="91440" marR="91440" marT="45720" marB="45720" anchor="ctr">
                    <a:solidFill>
                      <a:srgbClr val="000F29"/>
                    </a:solidFill>
                  </a:tcPr>
                </a:tc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2</a:t>
                      </a:r>
                    </a:p>
                  </a:txBody>
                  <a:tcPr marL="91440" marR="91440" marT="45720" marB="45720" anchor="ctr">
                    <a:solidFill>
                      <a:srgbClr val="000F29"/>
                    </a:solidFill>
                  </a:tcPr>
                </a:tc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21</a:t>
                      </a:r>
                    </a:p>
                  </a:txBody>
                  <a:tcPr marL="91440" marR="91440" marT="45720" marB="45720" anchor="ctr">
                    <a:solidFill>
                      <a:srgbClr val="000F29"/>
                    </a:solidFill>
                  </a:tcPr>
                </a:tc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15</a:t>
                      </a:r>
                    </a:p>
                  </a:txBody>
                  <a:tcPr marL="91440" marR="91440" marT="45720" marB="45720" anchor="ctr">
                    <a:solidFill>
                      <a:srgbClr val="000F29"/>
                    </a:solidFill>
                  </a:tcPr>
                </a:tc>
              </a:tr>
              <a:tr h="419100"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t − 4</a:t>
                      </a:r>
                    </a:p>
                  </a:txBody>
                  <a:tcPr marL="91440" marR="91440" marT="45720" marB="45720" anchor="ctr">
                    <a:solidFill>
                      <a:srgbClr val="000F29"/>
                    </a:solidFill>
                  </a:tcPr>
                </a:tc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10</a:t>
                      </a:r>
                    </a:p>
                  </a:txBody>
                  <a:tcPr marL="91440" marR="91440" marT="45720" marB="45720" anchor="ctr">
                    <a:solidFill>
                      <a:srgbClr val="000F29"/>
                    </a:solidFill>
                  </a:tcPr>
                </a:tc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21</a:t>
                      </a:r>
                    </a:p>
                  </a:txBody>
                  <a:tcPr marL="91440" marR="91440" marT="45720" marB="45720" anchor="ctr">
                    <a:solidFill>
                      <a:srgbClr val="000F29"/>
                    </a:solidFill>
                  </a:tcPr>
                </a:tc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17</a:t>
                      </a:r>
                    </a:p>
                  </a:txBody>
                  <a:tcPr marL="91440" marR="91440" marT="45720" marB="45720" anchor="ctr">
                    <a:solidFill>
                      <a:srgbClr val="000F29"/>
                    </a:solidFill>
                  </a:tcPr>
                </a:tc>
              </a:tr>
              <a:tr h="419100"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t − 3</a:t>
                      </a:r>
                    </a:p>
                  </a:txBody>
                  <a:tcPr marL="91440" marR="91440" marT="45720" marB="45720" anchor="ctr">
                    <a:solidFill>
                      <a:srgbClr val="000F29"/>
                    </a:solidFill>
                  </a:tcPr>
                </a:tc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25</a:t>
                      </a:r>
                    </a:p>
                  </a:txBody>
                  <a:tcPr marL="91440" marR="91440" marT="45720" marB="45720" anchor="ctr">
                    <a:solidFill>
                      <a:srgbClr val="000F29"/>
                    </a:solidFill>
                  </a:tcPr>
                </a:tc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20</a:t>
                      </a:r>
                    </a:p>
                  </a:txBody>
                  <a:tcPr marL="91440" marR="91440" marT="45720" marB="45720" anchor="ctr">
                    <a:solidFill>
                      <a:srgbClr val="000F29"/>
                    </a:solidFill>
                  </a:tcPr>
                </a:tc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25</a:t>
                      </a:r>
                    </a:p>
                  </a:txBody>
                  <a:tcPr marL="91440" marR="91440" marT="45720" marB="45720" anchor="ctr">
                    <a:solidFill>
                      <a:srgbClr val="000F29"/>
                    </a:solidFill>
                  </a:tcPr>
                </a:tc>
              </a:tr>
              <a:tr h="419100"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t − 2</a:t>
                      </a:r>
                    </a:p>
                  </a:txBody>
                  <a:tcPr marL="91440" marR="91440" marT="45720" marB="45720" anchor="ctr">
                    <a:solidFill>
                      <a:srgbClr val="000F29"/>
                    </a:solidFill>
                  </a:tcPr>
                </a:tc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12</a:t>
                      </a:r>
                    </a:p>
                  </a:txBody>
                  <a:tcPr marL="91440" marR="91440" marT="45720" marB="45720" anchor="ctr">
                    <a:solidFill>
                      <a:srgbClr val="000F29"/>
                    </a:solidFill>
                  </a:tcPr>
                </a:tc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19</a:t>
                      </a:r>
                    </a:p>
                  </a:txBody>
                  <a:tcPr marL="91440" marR="91440" marT="45720" marB="45720" anchor="ctr">
                    <a:solidFill>
                      <a:srgbClr val="000F29"/>
                    </a:solidFill>
                  </a:tcPr>
                </a:tc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38</a:t>
                      </a:r>
                    </a:p>
                  </a:txBody>
                  <a:tcPr marL="91440" marR="91440" marT="45720" marB="45720" anchor="ctr">
                    <a:solidFill>
                      <a:srgbClr val="000F29"/>
                    </a:solidFill>
                  </a:tcPr>
                </a:tc>
              </a:tr>
              <a:tr h="419100"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t − 1</a:t>
                      </a:r>
                    </a:p>
                  </a:txBody>
                  <a:tcPr marL="91440" marR="91440" marT="45720" marB="45720" anchor="ctr">
                    <a:solidFill>
                      <a:srgbClr val="000F29"/>
                    </a:solidFill>
                  </a:tcPr>
                </a:tc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000F29"/>
                    </a:solidFill>
                  </a:tcPr>
                </a:tc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20</a:t>
                      </a:r>
                    </a:p>
                  </a:txBody>
                  <a:tcPr marL="91440" marR="91440" marT="45720" marB="45720" anchor="ctr">
                    <a:solidFill>
                      <a:srgbClr val="000F29"/>
                    </a:solidFill>
                  </a:tcPr>
                </a:tc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31</a:t>
                      </a:r>
                    </a:p>
                  </a:txBody>
                  <a:tcPr marL="91440" marR="91440" marT="45720" marB="45720" anchor="ctr">
                    <a:solidFill>
                      <a:srgbClr val="000F29"/>
                    </a:solidFill>
                  </a:tcPr>
                </a:tc>
              </a:tr>
              <a:tr h="419100"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t</a:t>
                      </a:r>
                    </a:p>
                  </a:txBody>
                  <a:tcPr marL="91440" marR="91440" marT="45720" marB="45720" anchor="ctr">
                    <a:solidFill>
                      <a:srgbClr val="000F29"/>
                    </a:solidFill>
                  </a:tcPr>
                </a:tc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000F29"/>
                    </a:solidFill>
                  </a:tcPr>
                </a:tc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22</a:t>
                      </a:r>
                    </a:p>
                  </a:txBody>
                  <a:tcPr marL="91440" marR="91440" marT="45720" marB="45720" anchor="ctr">
                    <a:solidFill>
                      <a:srgbClr val="000F29"/>
                    </a:solidFill>
                  </a:tcPr>
                </a:tc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25</a:t>
                      </a:r>
                    </a:p>
                  </a:txBody>
                  <a:tcPr marL="91440" marR="91440" marT="45720" marB="45720" anchor="ctr">
                    <a:solidFill>
                      <a:srgbClr val="000F29"/>
                    </a:solidFill>
                  </a:tcPr>
                </a:tc>
              </a:tr>
            </a:tbl>
          </a:graphicData>
        </a:graphic>
      </p:graphicFrame>
      <p:sp>
        <p:nvSpPr>
          <p:cNvPr id="7004" name="Tema do slide">
            <a:extLst xmlns:a="http://schemas.openxmlformats.org/drawingml/2006/main">
              <a:ext uri="{FF2B5EF4-FFF2-40B4-BE49-F238E27FC236}">
                <a16:creationId xmlns:a16="http://schemas.microsoft.com/office/drawing/2014/main" id="{4A735162-B2C9-5C53-BDDF-FFA28A07F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90700"/>
            <a:ext cx="11277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2025" b="1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Uma janela de entrada e um alvo futuro</a:t>
            </a:r>
          </a:p>
        </p:txBody>
      </p:sp>
      <p:sp>
        <p:nvSpPr>
          <p:cNvPr id="7005" name="Forma">
            <a:extLst xmlns:a="http://schemas.openxmlformats.org/drawingml/2006/main">
              <a:ext uri="{FF2B5EF4-FFF2-40B4-BE49-F238E27FC236}">
                <a16:creationId xmlns:a16="http://schemas.microsoft.com/office/drawing/2014/main" id="{177215C4-07D3-57C5-978D-6160E4342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2714625"/>
            <a:ext cx="3952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83D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875" b="1">
                <a:solidFill>
                  <a:srgbClr val="83DFFF"/>
                </a:solidFill>
                <a:latin typeface="JetBrains Mono"/>
                <a:ea typeface="JetBrains Mono"/>
                <a:cs typeface="JetBrains Mono"/>
              </a:rPr>
              <a:t>Uma amostra: (7, 3)</a:t>
            </a:r>
          </a:p>
        </p:txBody>
      </p:sp>
      <p:sp>
        <p:nvSpPr>
          <p:cNvPr id="7006" name="Tensor">
            <a:extLst xmlns:a="http://schemas.openxmlformats.org/drawingml/2006/main">
              <a:ext uri="{FF2B5EF4-FFF2-40B4-BE49-F238E27FC236}">
                <a16:creationId xmlns:a16="http://schemas.microsoft.com/office/drawing/2014/main" id="{AF2E037E-F9AF-5E33-8C93-1732CAA91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3324225"/>
            <a:ext cx="3952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725" b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7 passos temporais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725" b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3 atributos em cada passo</a:t>
            </a:r>
          </a:p>
        </p:txBody>
      </p:sp>
      <p:sp>
        <p:nvSpPr>
          <p:cNvPr id="7007" name="Alvo">
            <a:extLst xmlns:a="http://schemas.openxmlformats.org/drawingml/2006/main">
              <a:ext uri="{FF2B5EF4-FFF2-40B4-BE49-F238E27FC236}">
                <a16:creationId xmlns:a16="http://schemas.microsoft.com/office/drawing/2014/main" id="{3C83067A-680D-51CE-835F-72F3F8AAE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4371975"/>
            <a:ext cx="3952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71E7BD"/>
                </a:solidFill>
                <a:latin typeface="JetBrains Mono"/>
                <a:ea typeface="JetBrains Mono"/>
                <a:cs typeface="JetBrains Mono"/>
              </a:defRPr>
            </a:pPr>
            <a:r>
              <a:rPr sz="1875" b="1">
                <a:solidFill>
                  <a:srgbClr val="71E7BD"/>
                </a:solidFill>
                <a:latin typeface="JetBrains Mono"/>
                <a:ea typeface="JetBrains Mono"/>
                <a:cs typeface="JetBrains Mono"/>
              </a:rPr>
              <a:t>Alvo: Q(t + 1)</a:t>
            </a:r>
          </a:p>
        </p:txBody>
      </p:sp>
      <p:sp>
        <p:nvSpPr>
          <p:cNvPr id="7008" name="Lote">
            <a:extLst xmlns:a="http://schemas.openxmlformats.org/drawingml/2006/main">
              <a:ext uri="{FF2B5EF4-FFF2-40B4-BE49-F238E27FC236}">
                <a16:creationId xmlns:a16="http://schemas.microsoft.com/office/drawing/2014/main" id="{003664D7-3102-5A4A-9F50-BA9B8CAA1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5057775"/>
            <a:ext cx="3952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650" b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Lote de 32 amostras: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650" b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X.shape = (32, 7, 3)</a:t>
            </a:r>
          </a:p>
        </p:txBody>
      </p:sp>
      <p:sp>
        <p:nvSpPr>
          <p:cNvPr id="7009" name="Contexto">
            <a:extLst xmlns:a="http://schemas.openxmlformats.org/drawingml/2006/main">
              <a:ext uri="{FF2B5EF4-FFF2-40B4-BE49-F238E27FC236}">
                <a16:creationId xmlns:a16="http://schemas.microsoft.com/office/drawing/2014/main" id="{BEB2C4BC-EF8F-5249-9923-9DC3B46B8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29325"/>
            <a:ext cx="11277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91A4BD"/>
                </a:solidFill>
                <a:latin typeface="JetBrains Mono"/>
                <a:ea typeface="JetBrains Mono"/>
                <a:cs typeface="JetBrains Mono"/>
              </a:defRPr>
            </a:pPr>
            <a:r>
              <a:rPr sz="1125" b="0">
                <a:solidFill>
                  <a:srgbClr val="91A4BD"/>
                </a:solidFill>
                <a:latin typeface="JetBrains Mono"/>
                <a:ea typeface="JetBrains Mono"/>
                <a:cs typeface="JetBrains Mono"/>
              </a:rPr>
              <a:t>Valores sintéticos. Q(t) só entra se estiver disponível no instante real de emissão da previsão.</a:t>
            </a:r>
          </a:p>
        </p:txBody>
      </p:sp>
      <p:pic>
        <p:nvPicPr>
          <p:cNvPr id="7010" name="Imagem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ee7e96bdf6490e"/>
          <a:srcRect xmlns:a="http://schemas.openxmlformats.org/drawingml/2006/main" l="3570" t="0" r="8084" b="1819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3701" y="6294313"/>
            <a:ext cx="308300" cy="272211"/>
          </a:xfrm>
          <a:prstGeom xmlns:a="http://schemas.openxmlformats.org/drawingml/2006/main" prst="rect">
            <a:avLst/>
          </a:prstGeom>
        </p:spPr>
      </p:pic>
      <p:sp>
        <p:nvSpPr>
          <p:cNvPr id="7011" name="Hydro-UAI Sequências e memória">
            <a:extLst xmlns:a="http://schemas.openxmlformats.org/drawingml/2006/main">
              <a:ext uri="{FF2B5EF4-FFF2-40B4-BE49-F238E27FC236}">
                <a16:creationId xmlns:a16="http://schemas.microsoft.com/office/drawing/2014/main" id="{785D9FBA-E7EF-51C5-8199-0619B7477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676" y="741617"/>
            <a:ext cx="11284553" cy="4855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 i="1">
                <a:solidFill>
                  <a:srgbClr val="FFFFFF"/>
                </a:solidFill>
                <a:latin typeface="JetBrains Mono ExtraBold"/>
                <a:ea typeface="JetBrains Mono ExtraBold"/>
                <a:cs typeface="JetBrains Mono ExtraBold"/>
              </a:defRPr>
            </a:pPr>
            <a:r>
              <a:rPr sz="2400" b="1" i="1">
                <a:solidFill>
                  <a:srgbClr val="FFFFFF"/>
                </a:solidFill>
                <a:latin typeface="JetBrains Mono ExtraBold"/>
                <a:ea typeface="JetBrains Mono ExtraBold"/>
                <a:cs typeface="JetBrains Mono ExtraBold"/>
              </a:rPr>
              <a:t>Sequências e memória</a:t>
            </a:r>
          </a:p>
        </p:txBody>
      </p:sp>
      <p:sp>
        <p:nvSpPr>
          <p:cNvPr id="7012" name="Divisor Hydro-UAI">
            <a:extLst xmlns:a="http://schemas.openxmlformats.org/drawingml/2006/main">
              <a:ext uri="{FF2B5EF4-FFF2-40B4-BE49-F238E27FC236}">
                <a16:creationId xmlns:a16="http://schemas.microsoft.com/office/drawing/2014/main" id="{E0FDBA63-E32D-5A4E-9005-CABCCDDB8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08259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668">
            <a:solidFill>
              <a:srgbClr val="FFFFFF"/>
            </a:solidFill>
          </a:ln>
        </p:spPr>
      </p:sp>
      <p:sp>
        <p:nvSpPr>
          <p:cNvPr id="7013" name="Hydro-UAI Hydro-UAI Course">
            <a:extLst xmlns:a="http://schemas.openxmlformats.org/drawingml/2006/main">
              <a:ext uri="{FF2B5EF4-FFF2-40B4-BE49-F238E27FC236}">
                <a16:creationId xmlns:a16="http://schemas.microsoft.com/office/drawing/2014/main" id="{2FF8CA9B-F7B5-5A23-A49B-6B95DB63F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63436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45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945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Hydro-UAI Course</a:t>
            </a:r>
          </a:p>
        </p:txBody>
      </p:sp>
      <p:sp>
        <p:nvSpPr>
          <p:cNvPr id="7014" name="Hydro-UAI 07 / 47">
            <a:extLst xmlns:a="http://schemas.openxmlformats.org/drawingml/2006/main">
              <a:ext uri="{FF2B5EF4-FFF2-40B4-BE49-F238E27FC236}">
                <a16:creationId xmlns:a16="http://schemas.microsoft.com/office/drawing/2014/main" id="{1547006E-EF89-55BB-9DBF-7EAD78BEF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343650"/>
            <a:ext cx="1219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91A4BD"/>
                </a:solidFill>
                <a:latin typeface="JetBrains Mono"/>
                <a:ea typeface="JetBrains Mono"/>
                <a:cs typeface="JetBrains Mono"/>
              </a:defRPr>
            </a:pPr>
            <a:r>
              <a:rPr sz="975" b="0" i="0">
                <a:solidFill>
                  <a:srgbClr val="91A4BD"/>
                </a:solidFill>
                <a:latin typeface="JetBrains Mono"/>
                <a:ea typeface="JetBrains Mono"/>
                <a:cs typeface="JetBrains Mono"/>
              </a:rPr>
              <a:t>07 / 47</a:t>
            </a:r>
          </a:p>
        </p:txBody>
      </p:sp>
    </p:spTree>
    <p:extLst>
      <p:ext uri="{BB962C8B-B14F-4D97-AF65-F5344CB8AC3E}">
        <p14:creationId xmlns:p14="http://schemas.microsoft.com/office/powerpoint/2010/main" val="3991283715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8001" name=""/>
        <p:cNvGrpSpPr/>
        <p:nvPr/>
      </p:nvGrpSpPr>
      <p:grpSpPr>
        <a:xfrm xmlns:a="http://schemas.openxmlformats.org/drawingml/2006/main"/>
      </p:grpSpPr>
      <p:sp>
        <p:nvSpPr>
          <p:cNvPr id="8002" name="Retângulo 6">
            <a:extLst xmlns:a="http://schemas.openxmlformats.org/drawingml/2006/main">
              <a:ext uri="{FF2B5EF4-FFF2-40B4-BE49-F238E27FC236}">
                <a16:creationId xmlns:a16="http://schemas.microsoft.com/office/drawing/2014/main" id="{13DDD950-6821-5532-AD2E-70EC47BB5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F29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003" name="Tema do slide">
            <a:extLst xmlns:a="http://schemas.openxmlformats.org/drawingml/2006/main">
              <a:ext uri="{FF2B5EF4-FFF2-40B4-BE49-F238E27FC236}">
                <a16:creationId xmlns:a16="http://schemas.microsoft.com/office/drawing/2014/main" id="{5CC9E5AF-B995-5E85-A023-AE5D8AE29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90700"/>
            <a:ext cx="11277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2025" b="1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Uma célula recorrente simples</a:t>
            </a:r>
          </a:p>
        </p:txBody>
      </p:sp>
      <p:sp>
        <p:nvSpPr>
          <p:cNvPr id="8004" name="Diagrama h(t − 1)">
            <a:extLst xmlns:a="http://schemas.openxmlformats.org/drawingml/2006/main">
              <a:ext uri="{FF2B5EF4-FFF2-40B4-BE49-F238E27FC236}">
                <a16:creationId xmlns:a16="http://schemas.microsoft.com/office/drawing/2014/main" id="{6AD9F4E4-3D62-5F6B-A3EF-09E423545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38525"/>
            <a:ext cx="20002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F29"/>
          </a:solidFill>
          <a:ln xmlns:a="http://schemas.openxmlformats.org/drawingml/2006/main" w="19050">
            <a:solidFill>
              <a:srgbClr val="FFAD62"/>
            </a:solidFill>
          </a:ln>
        </p:spPr>
        <p:txBody>
          <a:bodyPr xmlns:a="http://schemas.openxmlformats.org/drawingml/2006/main" lIns="76200" tIns="47625" rIns="762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875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h(t − 1)</a:t>
            </a:r>
          </a:p>
        </p:txBody>
      </p:sp>
      <p:sp>
        <p:nvSpPr>
          <p:cNvPr id="8005" name="Diagrama Célula RNN">
            <a:extLst xmlns:a="http://schemas.openxmlformats.org/drawingml/2006/main">
              <a:ext uri="{FF2B5EF4-FFF2-40B4-BE49-F238E27FC236}">
                <a16:creationId xmlns:a16="http://schemas.microsoft.com/office/drawing/2014/main" id="{50D5D4BA-C374-5329-8F5D-6CE40D266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3209925"/>
            <a:ext cx="3476625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F29"/>
          </a:solidFill>
          <a:ln xmlns:a="http://schemas.openxmlformats.org/drawingml/2006/main" w="19050">
            <a:solidFill>
              <a:srgbClr val="83DFFF"/>
            </a:solidFill>
          </a:ln>
        </p:spPr>
        <p:txBody>
          <a:bodyPr xmlns:a="http://schemas.openxmlformats.org/drawingml/2006/main" lIns="76200" tIns="47625" rIns="762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210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Célula RNN</a:t>
            </a:r>
          </a:p>
        </p:txBody>
      </p:sp>
      <p:sp>
        <p:nvSpPr>
          <p:cNvPr id="8006" name="Diagrama h(t)">
            <a:extLst xmlns:a="http://schemas.openxmlformats.org/drawingml/2006/main">
              <a:ext uri="{FF2B5EF4-FFF2-40B4-BE49-F238E27FC236}">
                <a16:creationId xmlns:a16="http://schemas.microsoft.com/office/drawing/2014/main" id="{5849A7D6-406B-5A0A-B2CF-ABDD49131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438525"/>
            <a:ext cx="2095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F29"/>
          </a:solidFill>
          <a:ln xmlns:a="http://schemas.openxmlformats.org/drawingml/2006/main" w="19050">
            <a:solidFill>
              <a:srgbClr val="FFAD62"/>
            </a:solidFill>
          </a:ln>
        </p:spPr>
        <p:txBody>
          <a:bodyPr xmlns:a="http://schemas.openxmlformats.org/drawingml/2006/main" lIns="76200" tIns="47625" rIns="762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875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h(t)</a:t>
            </a:r>
          </a:p>
        </p:txBody>
      </p:sp>
      <p:sp>
        <p:nvSpPr>
          <p:cNvPr id="8007" name="Diagrama x(t)">
            <a:extLst xmlns:a="http://schemas.openxmlformats.org/drawingml/2006/main">
              <a:ext uri="{FF2B5EF4-FFF2-40B4-BE49-F238E27FC236}">
                <a16:creationId xmlns:a16="http://schemas.microsoft.com/office/drawing/2014/main" id="{2A88EE43-692D-5A45-80DB-A41B82C96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153025"/>
            <a:ext cx="185737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F29"/>
          </a:solidFill>
          <a:ln xmlns:a="http://schemas.openxmlformats.org/drawingml/2006/main" w="19050">
            <a:solidFill>
              <a:srgbClr val="83DFFF"/>
            </a:solidFill>
          </a:ln>
        </p:spPr>
        <p:txBody>
          <a:bodyPr xmlns:a="http://schemas.openxmlformats.org/drawingml/2006/main" lIns="76200" tIns="47625" rIns="762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875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x(t)</a:t>
            </a:r>
          </a:p>
        </p:txBody>
      </p:sp>
      <p:cxnSp>
        <p:nvCxnSpPr>
          <p:cNvPr id="8008" name=""/>
          <p:cNvCxnSpPr>
            <a:stCxn xmlns:a="http://schemas.openxmlformats.org/drawingml/2006/main" id="8004" idx="3"/>
            <a:endCxn xmlns:a="http://schemas.openxmlformats.org/drawingml/2006/main" id="8005" idx="1"/>
          </p:cNvCxnSpPr>
          <p:nvPr/>
        </p:nvCxnSpPr>
        <p:spPr>
          <a:xfrm xmlns:a="http://schemas.openxmlformats.org/drawingml/2006/main">
            <a:off x="2457450" y="3867150"/>
            <a:ext cx="15906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FAD62"/>
            </a:solidFill>
            <a:tailEnd type="triangle" w="med" len="med"/>
          </a:ln>
        </p:spPr>
      </p:cxnSp>
      <p:cxnSp>
        <p:nvCxnSpPr>
          <p:cNvPr id="8009" name=""/>
          <p:cNvCxnSpPr>
            <a:stCxn xmlns:a="http://schemas.openxmlformats.org/drawingml/2006/main" id="8005" idx="3"/>
            <a:endCxn xmlns:a="http://schemas.openxmlformats.org/drawingml/2006/main" id="8006" idx="1"/>
          </p:cNvCxnSpPr>
          <p:nvPr/>
        </p:nvCxnSpPr>
        <p:spPr>
          <a:xfrm xmlns:a="http://schemas.openxmlformats.org/drawingml/2006/main">
            <a:off x="7524750" y="3867150"/>
            <a:ext cx="16002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FAD62"/>
            </a:solidFill>
            <a:tailEnd type="triangle" w="med" len="med"/>
          </a:ln>
        </p:spPr>
      </p:cxnSp>
      <p:cxnSp>
        <p:nvCxnSpPr>
          <p:cNvPr id="8010" name=""/>
          <p:cNvCxnSpPr>
            <a:stCxn xmlns:a="http://schemas.openxmlformats.org/drawingml/2006/main" id="8007" idx="0"/>
            <a:endCxn xmlns:a="http://schemas.openxmlformats.org/drawingml/2006/main" id="8005" idx="2"/>
          </p:cNvCxnSpPr>
          <p:nvPr/>
        </p:nvCxnSpPr>
        <p:spPr>
          <a:xfrm xmlns:a="http://schemas.openxmlformats.org/drawingml/2006/main" flipV="1">
            <a:off x="5786438" y="4524375"/>
            <a:ext cx="0" cy="6286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3DFFF"/>
            </a:solidFill>
            <a:tailEnd type="triangle" w="med" len="med"/>
          </a:ln>
        </p:spPr>
      </p:cxnSp>
      <p:sp>
        <p:nvSpPr>
          <p:cNvPr id="8011" name="Estado">
            <a:extLst xmlns:a="http://schemas.openxmlformats.org/drawingml/2006/main">
              <a:ext uri="{FF2B5EF4-FFF2-40B4-BE49-F238E27FC236}">
                <a16:creationId xmlns:a16="http://schemas.microsoft.com/office/drawing/2014/main" id="{66E6E60C-3E44-57EC-863D-577F7A624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47975"/>
            <a:ext cx="238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FFAD62"/>
                </a:solidFill>
                <a:latin typeface="JetBrains Mono"/>
                <a:ea typeface="JetBrains Mono"/>
                <a:cs typeface="JetBrains Mono"/>
              </a:defRPr>
            </a:pPr>
            <a:r>
              <a:rPr sz="1575" b="0">
                <a:solidFill>
                  <a:srgbClr val="FFAD62"/>
                </a:solidFill>
                <a:latin typeface="JetBrains Mono"/>
                <a:ea typeface="JetBrains Mono"/>
                <a:cs typeface="JetBrains Mono"/>
              </a:rPr>
              <a:t>Resumo anterior</a:t>
            </a:r>
          </a:p>
        </p:txBody>
      </p:sp>
      <p:sp>
        <p:nvSpPr>
          <p:cNvPr id="8012" name="Entrada">
            <a:extLst xmlns:a="http://schemas.openxmlformats.org/drawingml/2006/main">
              <a:ext uri="{FF2B5EF4-FFF2-40B4-BE49-F238E27FC236}">
                <a16:creationId xmlns:a16="http://schemas.microsoft.com/office/drawing/2014/main" id="{069E34FB-E452-587A-9711-0B316CE03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5210175"/>
            <a:ext cx="3143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83D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650" b="0">
                <a:solidFill>
                  <a:srgbClr val="83DFFF"/>
                </a:solidFill>
                <a:latin typeface="JetBrains Mono"/>
                <a:ea typeface="JetBrains Mono"/>
                <a:cs typeface="JetBrains Mono"/>
              </a:rPr>
              <a:t>Entrada atual</a:t>
            </a:r>
          </a:p>
        </p:txBody>
      </p:sp>
      <p:sp>
        <p:nvSpPr>
          <p:cNvPr id="8013" name="Aprendizado">
            <a:extLst xmlns:a="http://schemas.openxmlformats.org/drawingml/2006/main">
              <a:ext uri="{FF2B5EF4-FFF2-40B4-BE49-F238E27FC236}">
                <a16:creationId xmlns:a16="http://schemas.microsoft.com/office/drawing/2014/main" id="{8063DFF3-8801-58CF-BB69-7E8DEE06A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00300"/>
            <a:ext cx="11277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83D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800" b="1">
                <a:solidFill>
                  <a:srgbClr val="83DFFF"/>
                </a:solidFill>
                <a:latin typeface="JetBrains Mono"/>
                <a:ea typeface="JetBrains Mono"/>
                <a:cs typeface="JetBrains Mono"/>
              </a:rPr>
              <a:t>A mesma célula reaparece a cada passo temporal.</a:t>
            </a:r>
          </a:p>
        </p:txBody>
      </p:sp>
      <p:pic>
        <p:nvPicPr>
          <p:cNvPr id="8014" name="Imagem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19b6375bbc409a"/>
          <a:srcRect xmlns:a="http://schemas.openxmlformats.org/drawingml/2006/main" l="3570" t="0" r="8084" b="1819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3701" y="6294313"/>
            <a:ext cx="308300" cy="272211"/>
          </a:xfrm>
          <a:prstGeom xmlns:a="http://schemas.openxmlformats.org/drawingml/2006/main" prst="rect">
            <a:avLst/>
          </a:prstGeom>
        </p:spPr>
      </p:pic>
      <p:sp>
        <p:nvSpPr>
          <p:cNvPr id="8015" name="Hydro-UAI Rede neural recorrente">
            <a:extLst xmlns:a="http://schemas.openxmlformats.org/drawingml/2006/main">
              <a:ext uri="{FF2B5EF4-FFF2-40B4-BE49-F238E27FC236}">
                <a16:creationId xmlns:a16="http://schemas.microsoft.com/office/drawing/2014/main" id="{9C890849-99DF-58C7-B2C8-A834BBA3D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676" y="741617"/>
            <a:ext cx="11284553" cy="4855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 i="1">
                <a:solidFill>
                  <a:srgbClr val="FFFFFF"/>
                </a:solidFill>
                <a:latin typeface="JetBrains Mono ExtraBold"/>
                <a:ea typeface="JetBrains Mono ExtraBold"/>
                <a:cs typeface="JetBrains Mono ExtraBold"/>
              </a:defRPr>
            </a:pPr>
            <a:r>
              <a:rPr sz="2400" b="1" i="1">
                <a:solidFill>
                  <a:srgbClr val="FFFFFF"/>
                </a:solidFill>
                <a:latin typeface="JetBrains Mono ExtraBold"/>
                <a:ea typeface="JetBrains Mono ExtraBold"/>
                <a:cs typeface="JetBrains Mono ExtraBold"/>
              </a:rPr>
              <a:t>Rede neural recorrente</a:t>
            </a:r>
          </a:p>
        </p:txBody>
      </p:sp>
      <p:sp>
        <p:nvSpPr>
          <p:cNvPr id="8016" name="Divisor Hydro-UAI">
            <a:extLst xmlns:a="http://schemas.openxmlformats.org/drawingml/2006/main">
              <a:ext uri="{FF2B5EF4-FFF2-40B4-BE49-F238E27FC236}">
                <a16:creationId xmlns:a16="http://schemas.microsoft.com/office/drawing/2014/main" id="{3EF46C60-2DF4-5994-AEA2-7354764EA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08259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668">
            <a:solidFill>
              <a:srgbClr val="FFFFFF"/>
            </a:solidFill>
          </a:ln>
        </p:spPr>
      </p:sp>
      <p:sp>
        <p:nvSpPr>
          <p:cNvPr id="8017" name="Hydro-UAI Hydro-UAI Course">
            <a:extLst xmlns:a="http://schemas.openxmlformats.org/drawingml/2006/main">
              <a:ext uri="{FF2B5EF4-FFF2-40B4-BE49-F238E27FC236}">
                <a16:creationId xmlns:a16="http://schemas.microsoft.com/office/drawing/2014/main" id="{EC589469-45E3-5325-9F7C-206238489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63436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45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945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Hydro-UAI Course</a:t>
            </a:r>
          </a:p>
        </p:txBody>
      </p:sp>
      <p:sp>
        <p:nvSpPr>
          <p:cNvPr id="8018" name="Hydro-UAI 08 / 47">
            <a:extLst xmlns:a="http://schemas.openxmlformats.org/drawingml/2006/main">
              <a:ext uri="{FF2B5EF4-FFF2-40B4-BE49-F238E27FC236}">
                <a16:creationId xmlns:a16="http://schemas.microsoft.com/office/drawing/2014/main" id="{825FC749-771E-5C67-B681-DFAA19A3F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343650"/>
            <a:ext cx="1219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91A4BD"/>
                </a:solidFill>
                <a:latin typeface="JetBrains Mono"/>
                <a:ea typeface="JetBrains Mono"/>
                <a:cs typeface="JetBrains Mono"/>
              </a:defRPr>
            </a:pPr>
            <a:r>
              <a:rPr sz="975" b="0" i="0">
                <a:solidFill>
                  <a:srgbClr val="91A4BD"/>
                </a:solidFill>
                <a:latin typeface="JetBrains Mono"/>
                <a:ea typeface="JetBrains Mono"/>
                <a:cs typeface="JetBrains Mono"/>
              </a:rPr>
              <a:t>08 / 47</a:t>
            </a:r>
          </a:p>
        </p:txBody>
      </p:sp>
    </p:spTree>
    <p:extLst>
      <p:ext uri="{BB962C8B-B14F-4D97-AF65-F5344CB8AC3E}">
        <p14:creationId xmlns:p14="http://schemas.microsoft.com/office/powerpoint/2010/main" val="3991283715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9001" name=""/>
        <p:cNvGrpSpPr/>
        <p:nvPr/>
      </p:nvGrpSpPr>
      <p:grpSpPr>
        <a:xfrm xmlns:a="http://schemas.openxmlformats.org/drawingml/2006/main"/>
      </p:grpSpPr>
      <p:sp>
        <p:nvSpPr>
          <p:cNvPr id="9002" name="Retângulo 6">
            <a:extLst xmlns:a="http://schemas.openxmlformats.org/drawingml/2006/main">
              <a:ext uri="{FF2B5EF4-FFF2-40B4-BE49-F238E27FC236}">
                <a16:creationId xmlns:a16="http://schemas.microsoft.com/office/drawing/2014/main" id="{2893CF82-61F7-5CA4-A41C-B9A766539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F29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003" name="Tema do slide">
            <a:extLst xmlns:a="http://schemas.openxmlformats.org/drawingml/2006/main">
              <a:ext uri="{FF2B5EF4-FFF2-40B4-BE49-F238E27FC236}">
                <a16:creationId xmlns:a16="http://schemas.microsoft.com/office/drawing/2014/main" id="{0FE960DB-DD15-5C08-BB50-9EEF2ED46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90700"/>
            <a:ext cx="11277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2025" b="1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RNN desenrolada no tempo</a:t>
            </a:r>
          </a:p>
        </p:txBody>
      </p:sp>
      <p:sp>
        <p:nvSpPr>
          <p:cNvPr id="9004" name="Diagrama h(t − 2)">
            <a:extLst xmlns:a="http://schemas.openxmlformats.org/drawingml/2006/main">
              <a:ext uri="{FF2B5EF4-FFF2-40B4-BE49-F238E27FC236}">
                <a16:creationId xmlns:a16="http://schemas.microsoft.com/office/drawing/2014/main" id="{881CBF1C-2F8E-5187-8C58-D42E38918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3190875"/>
            <a:ext cx="2000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F29"/>
          </a:solidFill>
          <a:ln xmlns:a="http://schemas.openxmlformats.org/drawingml/2006/main" w="19050">
            <a:solidFill>
              <a:srgbClr val="83DFFF"/>
            </a:solidFill>
          </a:ln>
        </p:spPr>
        <p:txBody>
          <a:bodyPr xmlns:a="http://schemas.openxmlformats.org/drawingml/2006/main" lIns="76200" tIns="47625" rIns="762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80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h(t − 2)</a:t>
            </a:r>
          </a:p>
        </p:txBody>
      </p:sp>
      <p:sp>
        <p:nvSpPr>
          <p:cNvPr id="9005" name="Diagrama h(t − 1)">
            <a:extLst xmlns:a="http://schemas.openxmlformats.org/drawingml/2006/main">
              <a:ext uri="{FF2B5EF4-FFF2-40B4-BE49-F238E27FC236}">
                <a16:creationId xmlns:a16="http://schemas.microsoft.com/office/drawing/2014/main" id="{2FDE6A53-D616-56C0-8100-342925BA0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190875"/>
            <a:ext cx="2000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F29"/>
          </a:solidFill>
          <a:ln xmlns:a="http://schemas.openxmlformats.org/drawingml/2006/main" w="19050">
            <a:solidFill>
              <a:srgbClr val="83DFFF"/>
            </a:solidFill>
          </a:ln>
        </p:spPr>
        <p:txBody>
          <a:bodyPr xmlns:a="http://schemas.openxmlformats.org/drawingml/2006/main" lIns="76200" tIns="47625" rIns="762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80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h(t − 1)</a:t>
            </a:r>
          </a:p>
        </p:txBody>
      </p:sp>
      <p:sp>
        <p:nvSpPr>
          <p:cNvPr id="9006" name="Diagrama h(t)">
            <a:extLst xmlns:a="http://schemas.openxmlformats.org/drawingml/2006/main">
              <a:ext uri="{FF2B5EF4-FFF2-40B4-BE49-F238E27FC236}">
                <a16:creationId xmlns:a16="http://schemas.microsoft.com/office/drawing/2014/main" id="{C8021D50-5AF4-5D40-B1BD-3E1D9331F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190875"/>
            <a:ext cx="2000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F29"/>
          </a:solidFill>
          <a:ln xmlns:a="http://schemas.openxmlformats.org/drawingml/2006/main" w="19050">
            <a:solidFill>
              <a:srgbClr val="83DFFF"/>
            </a:solidFill>
          </a:ln>
        </p:spPr>
        <p:txBody>
          <a:bodyPr xmlns:a="http://schemas.openxmlformats.org/drawingml/2006/main" lIns="76200" tIns="47625" rIns="762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80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h(t)</a:t>
            </a:r>
          </a:p>
        </p:txBody>
      </p:sp>
      <p:cxnSp>
        <p:nvCxnSpPr>
          <p:cNvPr id="9007" name=""/>
          <p:cNvCxnSpPr>
            <a:stCxn xmlns:a="http://schemas.openxmlformats.org/drawingml/2006/main" id="9004" idx="3"/>
            <a:endCxn xmlns:a="http://schemas.openxmlformats.org/drawingml/2006/main" id="9005" idx="1"/>
          </p:cNvCxnSpPr>
          <p:nvPr/>
        </p:nvCxnSpPr>
        <p:spPr>
          <a:xfrm xmlns:a="http://schemas.openxmlformats.org/drawingml/2006/main">
            <a:off x="4362450" y="3543300"/>
            <a:ext cx="1009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3DFFF"/>
            </a:solidFill>
            <a:tailEnd type="triangle" w="med" len="med"/>
          </a:ln>
        </p:spPr>
      </p:cxnSp>
      <p:cxnSp>
        <p:nvCxnSpPr>
          <p:cNvPr id="9008" name=""/>
          <p:cNvCxnSpPr>
            <a:stCxn xmlns:a="http://schemas.openxmlformats.org/drawingml/2006/main" id="9005" idx="3"/>
            <a:endCxn xmlns:a="http://schemas.openxmlformats.org/drawingml/2006/main" id="9006" idx="1"/>
          </p:cNvCxnSpPr>
          <p:nvPr/>
        </p:nvCxnSpPr>
        <p:spPr>
          <a:xfrm xmlns:a="http://schemas.openxmlformats.org/drawingml/2006/main">
            <a:off x="7372350" y="3543300"/>
            <a:ext cx="1009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3DFFF"/>
            </a:solidFill>
            <a:tailEnd type="triangle" w="med" len="med"/>
          </a:ln>
        </p:spPr>
      </p:cxnSp>
      <p:sp>
        <p:nvSpPr>
          <p:cNvPr id="9009" name="Diagrama x(t − 2)">
            <a:extLst xmlns:a="http://schemas.openxmlformats.org/drawingml/2006/main">
              <a:ext uri="{FF2B5EF4-FFF2-40B4-BE49-F238E27FC236}">
                <a16:creationId xmlns:a16="http://schemas.microsoft.com/office/drawing/2014/main" id="{B1BD494E-C349-579E-A95D-BAF53E8C2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4591050"/>
            <a:ext cx="161925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F29"/>
          </a:solidFill>
          <a:ln xmlns:a="http://schemas.openxmlformats.org/drawingml/2006/main" w="19050">
            <a:solidFill>
              <a:srgbClr val="83DFFF"/>
            </a:solidFill>
          </a:ln>
        </p:spPr>
        <p:txBody>
          <a:bodyPr xmlns:a="http://schemas.openxmlformats.org/drawingml/2006/main" lIns="76200" tIns="47625" rIns="762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65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x(t − 2)</a:t>
            </a:r>
          </a:p>
        </p:txBody>
      </p:sp>
      <p:cxnSp>
        <p:nvCxnSpPr>
          <p:cNvPr id="9010" name=""/>
          <p:cNvCxnSpPr>
            <a:stCxn xmlns:a="http://schemas.openxmlformats.org/drawingml/2006/main" id="9009" idx="0"/>
            <a:endCxn xmlns:a="http://schemas.openxmlformats.org/drawingml/2006/main" id="9004" idx="2"/>
          </p:cNvCxnSpPr>
          <p:nvPr/>
        </p:nvCxnSpPr>
        <p:spPr>
          <a:xfrm xmlns:a="http://schemas.openxmlformats.org/drawingml/2006/main" flipV="1">
            <a:off x="3362325" y="3895725"/>
            <a:ext cx="0" cy="6953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3DFFF"/>
            </a:solidFill>
            <a:tailEnd type="triangle" w="med" len="med"/>
          </a:ln>
        </p:spPr>
      </p:cxnSp>
      <p:sp>
        <p:nvSpPr>
          <p:cNvPr id="9011" name="Diagrama x(t − 1)">
            <a:extLst xmlns:a="http://schemas.openxmlformats.org/drawingml/2006/main">
              <a:ext uri="{FF2B5EF4-FFF2-40B4-BE49-F238E27FC236}">
                <a16:creationId xmlns:a16="http://schemas.microsoft.com/office/drawing/2014/main" id="{B5CB9AC0-E46C-598D-B6FB-433D7C06A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4591050"/>
            <a:ext cx="161925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F29"/>
          </a:solidFill>
          <a:ln xmlns:a="http://schemas.openxmlformats.org/drawingml/2006/main" w="19050">
            <a:solidFill>
              <a:srgbClr val="83DFFF"/>
            </a:solidFill>
          </a:ln>
        </p:spPr>
        <p:txBody>
          <a:bodyPr xmlns:a="http://schemas.openxmlformats.org/drawingml/2006/main" lIns="76200" tIns="47625" rIns="762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65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x(t − 1)</a:t>
            </a:r>
          </a:p>
        </p:txBody>
      </p:sp>
      <p:cxnSp>
        <p:nvCxnSpPr>
          <p:cNvPr id="9012" name=""/>
          <p:cNvCxnSpPr>
            <a:stCxn xmlns:a="http://schemas.openxmlformats.org/drawingml/2006/main" id="9011" idx="0"/>
            <a:endCxn xmlns:a="http://schemas.openxmlformats.org/drawingml/2006/main" id="9005" idx="2"/>
          </p:cNvCxnSpPr>
          <p:nvPr/>
        </p:nvCxnSpPr>
        <p:spPr>
          <a:xfrm xmlns:a="http://schemas.openxmlformats.org/drawingml/2006/main" flipV="1">
            <a:off x="6372225" y="3895725"/>
            <a:ext cx="0" cy="6953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3DFFF"/>
            </a:solidFill>
            <a:tailEnd type="triangle" w="med" len="med"/>
          </a:ln>
        </p:spPr>
      </p:cxnSp>
      <p:sp>
        <p:nvSpPr>
          <p:cNvPr id="9013" name="Diagrama x(t)">
            <a:extLst xmlns:a="http://schemas.openxmlformats.org/drawingml/2006/main">
              <a:ext uri="{FF2B5EF4-FFF2-40B4-BE49-F238E27FC236}">
                <a16:creationId xmlns:a16="http://schemas.microsoft.com/office/drawing/2014/main" id="{3415BE35-B0FC-5880-9C09-828AEDAE2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591050"/>
            <a:ext cx="161925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F29"/>
          </a:solidFill>
          <a:ln xmlns:a="http://schemas.openxmlformats.org/drawingml/2006/main" w="19050">
            <a:solidFill>
              <a:srgbClr val="83DFFF"/>
            </a:solidFill>
          </a:ln>
        </p:spPr>
        <p:txBody>
          <a:bodyPr xmlns:a="http://schemas.openxmlformats.org/drawingml/2006/main" lIns="76200" tIns="47625" rIns="762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65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x(t)</a:t>
            </a:r>
          </a:p>
        </p:txBody>
      </p:sp>
      <p:cxnSp>
        <p:nvCxnSpPr>
          <p:cNvPr id="9014" name=""/>
          <p:cNvCxnSpPr>
            <a:stCxn xmlns:a="http://schemas.openxmlformats.org/drawingml/2006/main" id="9013" idx="0"/>
            <a:endCxn xmlns:a="http://schemas.openxmlformats.org/drawingml/2006/main" id="9006" idx="2"/>
          </p:cNvCxnSpPr>
          <p:nvPr/>
        </p:nvCxnSpPr>
        <p:spPr>
          <a:xfrm xmlns:a="http://schemas.openxmlformats.org/drawingml/2006/main" flipV="1">
            <a:off x="9382125" y="3895725"/>
            <a:ext cx="0" cy="6953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3DFFF"/>
            </a:solidFill>
            <a:tailEnd type="triangle" w="med" len="med"/>
          </a:ln>
        </p:spPr>
      </p:cxnSp>
      <p:sp>
        <p:nvSpPr>
          <p:cNvPr id="9015" name="Diagrama Q̂(t + 1)">
            <a:extLst xmlns:a="http://schemas.openxmlformats.org/drawingml/2006/main">
              <a:ext uri="{FF2B5EF4-FFF2-40B4-BE49-F238E27FC236}">
                <a16:creationId xmlns:a16="http://schemas.microsoft.com/office/drawing/2014/main" id="{FAB6752D-E02C-5249-B157-CDEF6A9C0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428875"/>
            <a:ext cx="2000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F29"/>
          </a:solidFill>
          <a:ln xmlns:a="http://schemas.openxmlformats.org/drawingml/2006/main" w="19050">
            <a:solidFill>
              <a:srgbClr val="71E7BD"/>
            </a:solidFill>
          </a:ln>
        </p:spPr>
        <p:txBody>
          <a:bodyPr xmlns:a="http://schemas.openxmlformats.org/drawingml/2006/main" lIns="76200" tIns="47625" rIns="762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725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Q̂(t + 1)</a:t>
            </a:r>
          </a:p>
        </p:txBody>
      </p:sp>
      <p:cxnSp>
        <p:nvCxnSpPr>
          <p:cNvPr id="9016" name=""/>
          <p:cNvCxnSpPr>
            <a:stCxn xmlns:a="http://schemas.openxmlformats.org/drawingml/2006/main" id="9006" idx="0"/>
            <a:endCxn xmlns:a="http://schemas.openxmlformats.org/drawingml/2006/main" id="9015" idx="2"/>
          </p:cNvCxnSpPr>
          <p:nvPr/>
        </p:nvCxnSpPr>
        <p:spPr>
          <a:xfrm xmlns:a="http://schemas.openxmlformats.org/drawingml/2006/main" flipV="1">
            <a:off x="9382125" y="2924175"/>
            <a:ext cx="0" cy="2667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1E7BD"/>
            </a:solidFill>
            <a:tailEnd type="triangle" w="med" len="med"/>
          </a:ln>
        </p:spPr>
      </p:cxnSp>
      <p:sp>
        <p:nvSpPr>
          <p:cNvPr id="9017" name="h0">
            <a:extLst xmlns:a="http://schemas.openxmlformats.org/drawingml/2006/main">
              <a:ext uri="{FF2B5EF4-FFF2-40B4-BE49-F238E27FC236}">
                <a16:creationId xmlns:a16="http://schemas.microsoft.com/office/drawing/2014/main" id="{847BDD54-04CE-5FFD-8FD0-3C69DD54E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43275"/>
            <a:ext cx="171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FFAD62"/>
                </a:solidFill>
                <a:latin typeface="JetBrains Mono"/>
                <a:ea typeface="JetBrains Mono"/>
                <a:cs typeface="JetBrains Mono"/>
              </a:defRPr>
            </a:pPr>
            <a:r>
              <a:rPr sz="1575" b="0">
                <a:solidFill>
                  <a:srgbClr val="FFAD62"/>
                </a:solidFill>
                <a:latin typeface="JetBrains Mono"/>
                <a:ea typeface="JetBrains Mono"/>
                <a:cs typeface="JetBrains Mono"/>
              </a:rPr>
              <a:t>h inicial = 0</a:t>
            </a:r>
          </a:p>
        </p:txBody>
      </p:sp>
      <p:sp>
        <p:nvSpPr>
          <p:cNvPr id="9018" name="Compartilhamento">
            <a:extLst xmlns:a="http://schemas.openxmlformats.org/drawingml/2006/main">
              <a:ext uri="{FF2B5EF4-FFF2-40B4-BE49-F238E27FC236}">
                <a16:creationId xmlns:a16="http://schemas.microsoft.com/office/drawing/2014/main" id="{D90083B3-EE7E-5B92-AAAE-F1848F63C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57825"/>
            <a:ext cx="11277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83D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800" b="1">
                <a:solidFill>
                  <a:srgbClr val="83DFFF"/>
                </a:solidFill>
                <a:latin typeface="JetBrains Mono"/>
                <a:ea typeface="JetBrains Mono"/>
                <a:cs typeface="JetBrains Mono"/>
              </a:rPr>
              <a:t>Pesos compartilhados em todos os passos</a:t>
            </a:r>
          </a:p>
        </p:txBody>
      </p:sp>
      <p:sp>
        <p:nvSpPr>
          <p:cNvPr id="9019" name="Contexto">
            <a:extLst xmlns:a="http://schemas.openxmlformats.org/drawingml/2006/main">
              <a:ext uri="{FF2B5EF4-FFF2-40B4-BE49-F238E27FC236}">
                <a16:creationId xmlns:a16="http://schemas.microsoft.com/office/drawing/2014/main" id="{9C19D802-C1C2-5301-9CDF-8627CECD8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29325"/>
            <a:ext cx="11277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91A4BD"/>
                </a:solidFill>
                <a:latin typeface="JetBrains Mono"/>
                <a:ea typeface="JetBrains Mono"/>
                <a:cs typeface="JetBrains Mono"/>
              </a:defRPr>
            </a:pPr>
            <a:r>
              <a:rPr sz="1125" b="0">
                <a:solidFill>
                  <a:srgbClr val="91A4BD"/>
                </a:solidFill>
                <a:latin typeface="JetBrains Mono"/>
                <a:ea typeface="JetBrains Mono"/>
                <a:cs typeface="JetBrains Mono"/>
              </a:rPr>
              <a:t>O desenho mostra três aplicações da mesma célula. Uma janela maior repete a mesma transformação.</a:t>
            </a:r>
          </a:p>
        </p:txBody>
      </p:sp>
      <p:pic>
        <p:nvPicPr>
          <p:cNvPr id="9020" name="Imagem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89307dcb974959"/>
          <a:srcRect xmlns:a="http://schemas.openxmlformats.org/drawingml/2006/main" l="3570" t="0" r="8084" b="1819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3701" y="6294313"/>
            <a:ext cx="308300" cy="272211"/>
          </a:xfrm>
          <a:prstGeom xmlns:a="http://schemas.openxmlformats.org/drawingml/2006/main" prst="rect">
            <a:avLst/>
          </a:prstGeom>
        </p:spPr>
      </p:pic>
      <p:sp>
        <p:nvSpPr>
          <p:cNvPr id="9021" name="Hydro-UAI Rede neural recorrente">
            <a:extLst xmlns:a="http://schemas.openxmlformats.org/drawingml/2006/main">
              <a:ext uri="{FF2B5EF4-FFF2-40B4-BE49-F238E27FC236}">
                <a16:creationId xmlns:a16="http://schemas.microsoft.com/office/drawing/2014/main" id="{D75EAB9D-76A8-5FF4-B113-16846985F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676" y="741617"/>
            <a:ext cx="11284553" cy="4855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 i="1">
                <a:solidFill>
                  <a:srgbClr val="FFFFFF"/>
                </a:solidFill>
                <a:latin typeface="JetBrains Mono ExtraBold"/>
                <a:ea typeface="JetBrains Mono ExtraBold"/>
                <a:cs typeface="JetBrains Mono ExtraBold"/>
              </a:defRPr>
            </a:pPr>
            <a:r>
              <a:rPr sz="2400" b="1" i="1">
                <a:solidFill>
                  <a:srgbClr val="FFFFFF"/>
                </a:solidFill>
                <a:latin typeface="JetBrains Mono ExtraBold"/>
                <a:ea typeface="JetBrains Mono ExtraBold"/>
                <a:cs typeface="JetBrains Mono ExtraBold"/>
              </a:rPr>
              <a:t>Rede neural recorrente</a:t>
            </a:r>
          </a:p>
        </p:txBody>
      </p:sp>
      <p:sp>
        <p:nvSpPr>
          <p:cNvPr id="9022" name="Divisor Hydro-UAI">
            <a:extLst xmlns:a="http://schemas.openxmlformats.org/drawingml/2006/main">
              <a:ext uri="{FF2B5EF4-FFF2-40B4-BE49-F238E27FC236}">
                <a16:creationId xmlns:a16="http://schemas.microsoft.com/office/drawing/2014/main" id="{0F507BE9-43DA-5CE4-96C2-934346A69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08259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668">
            <a:solidFill>
              <a:srgbClr val="FFFFFF"/>
            </a:solidFill>
          </a:ln>
        </p:spPr>
      </p:sp>
      <p:sp>
        <p:nvSpPr>
          <p:cNvPr id="9023" name="Hydro-UAI Hydro-UAI Course">
            <a:extLst xmlns:a="http://schemas.openxmlformats.org/drawingml/2006/main">
              <a:ext uri="{FF2B5EF4-FFF2-40B4-BE49-F238E27FC236}">
                <a16:creationId xmlns:a16="http://schemas.microsoft.com/office/drawing/2014/main" id="{C6E479F7-B5FF-5F61-8AB1-7D7B64F2B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63436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45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945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Hydro-UAI Course</a:t>
            </a:r>
          </a:p>
        </p:txBody>
      </p:sp>
      <p:sp>
        <p:nvSpPr>
          <p:cNvPr id="9024" name="Hydro-UAI 09 / 47">
            <a:extLst xmlns:a="http://schemas.openxmlformats.org/drawingml/2006/main">
              <a:ext uri="{FF2B5EF4-FFF2-40B4-BE49-F238E27FC236}">
                <a16:creationId xmlns:a16="http://schemas.microsoft.com/office/drawing/2014/main" id="{9A5B454B-5751-55F4-B841-FFD2C65EE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343650"/>
            <a:ext cx="1219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91A4BD"/>
                </a:solidFill>
                <a:latin typeface="JetBrains Mono"/>
                <a:ea typeface="JetBrains Mono"/>
                <a:cs typeface="JetBrains Mono"/>
              </a:defRPr>
            </a:pPr>
            <a:r>
              <a:rPr sz="975" b="0" i="0">
                <a:solidFill>
                  <a:srgbClr val="91A4BD"/>
                </a:solidFill>
                <a:latin typeface="JetBrains Mono"/>
                <a:ea typeface="JetBrains Mono"/>
                <a:cs typeface="JetBrains Mono"/>
              </a:rPr>
              <a:t>09 / 47</a:t>
            </a:r>
          </a:p>
        </p:txBody>
      </p:sp>
    </p:spTree>
    <p:extLst>
      <p:ext uri="{BB962C8B-B14F-4D97-AF65-F5344CB8AC3E}">
        <p14:creationId xmlns:p14="http://schemas.microsoft.com/office/powerpoint/2010/main" val="3991283715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0001" name=""/>
        <p:cNvGrpSpPr/>
        <p:nvPr/>
      </p:nvGrpSpPr>
      <p:grpSpPr>
        <a:xfrm xmlns:a="http://schemas.openxmlformats.org/drawingml/2006/main"/>
      </p:grpSpPr>
      <p:sp>
        <p:nvSpPr>
          <p:cNvPr id="10002" name="Retângulo 6">
            <a:extLst xmlns:a="http://schemas.openxmlformats.org/drawingml/2006/main">
              <a:ext uri="{FF2B5EF4-FFF2-40B4-BE49-F238E27FC236}">
                <a16:creationId xmlns:a16="http://schemas.microsoft.com/office/drawing/2014/main" id="{545B2C8D-DEE0-50E7-BFF6-23C07C839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F29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graphicFrame>
        <p:nvGraphicFramePr>
          <p:cNvPr id="10003" name=""/>
          <p:cNvGraphicFramePr/>
          <p:nvPr/>
        </p:nvGraphicFramePr>
        <p:xfrm>
          <a:off xmlns:a="http://schemas.openxmlformats.org/drawingml/2006/main" x="457200" y="3962400"/>
          <a:ext xmlns:a="http://schemas.openxmlformats.org/drawingml/2006/main" cx="11277600" cy="195262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1952625"/>
                <a:gridCol w="1952625"/>
                <a:gridCol w="7372350"/>
              </a:tblGrid>
              <a:tr h="390525"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Objeto</a:t>
                      </a:r>
                    </a:p>
                  </a:txBody>
                  <a:tcPr marL="91440" marR="91440" marT="45720" marB="45720" anchor="ctr">
                    <a:solidFill>
                      <a:srgbClr val="0053EB"/>
                    </a:solidFill>
                  </a:tcPr>
                </a:tc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Dimensão</a:t>
                      </a:r>
                    </a:p>
                  </a:txBody>
                  <a:tcPr marL="91440" marR="91440" marT="45720" marB="45720" anchor="ctr">
                    <a:solidFill>
                      <a:srgbClr val="0053EB"/>
                    </a:solidFill>
                  </a:tcPr>
                </a:tc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Papel</a:t>
                      </a:r>
                    </a:p>
                  </a:txBody>
                  <a:tcPr marL="91440" marR="91440" marT="45720" marB="45720" anchor="ctr">
                    <a:solidFill>
                      <a:srgbClr val="0053EB"/>
                    </a:solidFill>
                  </a:tcPr>
                </a:tc>
              </a:tr>
              <a:tr h="390525"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xₜ</a:t>
                      </a:r>
                    </a:p>
                  </a:txBody>
                  <a:tcPr marL="91440" marR="91440" marT="45720" marB="45720" anchor="ctr">
                    <a:solidFill>
                      <a:srgbClr val="000F29"/>
                    </a:solidFill>
                  </a:tcPr>
                </a:tc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D</a:t>
                      </a:r>
                    </a:p>
                  </a:txBody>
                  <a:tcPr marL="91440" marR="91440" marT="45720" marB="45720" anchor="ctr">
                    <a:solidFill>
                      <a:srgbClr val="000F29"/>
                    </a:solidFill>
                  </a:tcPr>
                </a:tc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Atributos disponíveis no passo t</a:t>
                      </a:r>
                    </a:p>
                  </a:txBody>
                  <a:tcPr marL="91440" marR="91440" marT="45720" marB="45720" anchor="ctr">
                    <a:solidFill>
                      <a:srgbClr val="000F29"/>
                    </a:solidFill>
                  </a:tcPr>
                </a:tc>
              </a:tr>
              <a:tr h="390525"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hₜ</a:t>
                      </a:r>
                    </a:p>
                  </a:txBody>
                  <a:tcPr marL="91440" marR="91440" marT="45720" marB="45720" anchor="ctr">
                    <a:solidFill>
                      <a:srgbClr val="000F29"/>
                    </a:solidFill>
                  </a:tcPr>
                </a:tc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H</a:t>
                      </a:r>
                    </a:p>
                  </a:txBody>
                  <a:tcPr marL="91440" marR="91440" marT="45720" marB="45720" anchor="ctr">
                    <a:solidFill>
                      <a:srgbClr val="000F29"/>
                    </a:solidFill>
                  </a:tcPr>
                </a:tc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Estado oculto</a:t>
                      </a:r>
                    </a:p>
                  </a:txBody>
                  <a:tcPr marL="91440" marR="91440" marT="45720" marB="45720" anchor="ctr">
                    <a:solidFill>
                      <a:srgbClr val="000F29"/>
                    </a:solidFill>
                  </a:tcPr>
                </a:tc>
              </a:tr>
              <a:tr h="390525"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Wₓ</a:t>
                      </a:r>
                    </a:p>
                  </a:txBody>
                  <a:tcPr marL="91440" marR="91440" marT="45720" marB="45720" anchor="ctr">
                    <a:solidFill>
                      <a:srgbClr val="000F29"/>
                    </a:solidFill>
                  </a:tcPr>
                </a:tc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H × D</a:t>
                      </a:r>
                    </a:p>
                  </a:txBody>
                  <a:tcPr marL="91440" marR="91440" marT="45720" marB="45720" anchor="ctr">
                    <a:solidFill>
                      <a:srgbClr val="000F29"/>
                    </a:solidFill>
                  </a:tcPr>
                </a:tc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Transforma a entrada</a:t>
                      </a:r>
                    </a:p>
                  </a:txBody>
                  <a:tcPr marL="91440" marR="91440" marT="45720" marB="45720" anchor="ctr">
                    <a:solidFill>
                      <a:srgbClr val="000F29"/>
                    </a:solidFill>
                  </a:tcPr>
                </a:tc>
              </a:tr>
              <a:tr h="390525"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Wₕ</a:t>
                      </a:r>
                    </a:p>
                  </a:txBody>
                  <a:tcPr marL="91440" marR="91440" marT="45720" marB="45720" anchor="ctr">
                    <a:solidFill>
                      <a:srgbClr val="000F29"/>
                    </a:solidFill>
                  </a:tcPr>
                </a:tc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H × H</a:t>
                      </a:r>
                    </a:p>
                  </a:txBody>
                  <a:tcPr marL="91440" marR="91440" marT="45720" marB="45720" anchor="ctr">
                    <a:solidFill>
                      <a:srgbClr val="000F29"/>
                    </a:solidFill>
                  </a:tcPr>
                </a:tc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Transforma o estado anterior</a:t>
                      </a:r>
                    </a:p>
                  </a:txBody>
                  <a:tcPr marL="91440" marR="91440" marT="45720" marB="45720" anchor="ctr">
                    <a:solidFill>
                      <a:srgbClr val="000F29"/>
                    </a:solidFill>
                  </a:tcPr>
                </a:tc>
              </a:tr>
            </a:tbl>
          </a:graphicData>
        </a:graphic>
      </p:graphicFrame>
      <p:sp>
        <p:nvSpPr>
          <p:cNvPr id="10004" name="Tema do slide">
            <a:extLst xmlns:a="http://schemas.openxmlformats.org/drawingml/2006/main">
              <a:ext uri="{FF2B5EF4-FFF2-40B4-BE49-F238E27FC236}">
                <a16:creationId xmlns:a16="http://schemas.microsoft.com/office/drawing/2014/main" id="{716B9823-F91C-5B61-AEF7-848DDCA5E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90700"/>
            <a:ext cx="11277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2025" b="1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Equações e dimensões de uma RNN</a:t>
            </a:r>
          </a:p>
        </p:txBody>
      </p:sp>
      <p:sp>
        <p:nvSpPr>
          <p:cNvPr id="10005" name="Update">
            <a:extLst xmlns:a="http://schemas.openxmlformats.org/drawingml/2006/main">
              <a:ext uri="{FF2B5EF4-FFF2-40B4-BE49-F238E27FC236}">
                <a16:creationId xmlns:a16="http://schemas.microsoft.com/office/drawing/2014/main" id="{FFE164A5-62AE-54AE-B2C0-495FAA189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81275"/>
            <a:ext cx="112776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83D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2400" b="1">
                <a:solidFill>
                  <a:srgbClr val="83DFFF"/>
                </a:solidFill>
                <a:latin typeface="JetBrains Mono"/>
                <a:ea typeface="JetBrains Mono"/>
                <a:cs typeface="JetBrains Mono"/>
              </a:rPr>
              <a:t>hₜ = tanh(Wₓ xₜ + Wₕ hₜ₋₁ + bₕ)</a:t>
            </a:r>
          </a:p>
        </p:txBody>
      </p:sp>
      <p:sp>
        <p:nvSpPr>
          <p:cNvPr id="10006" name="Readout">
            <a:extLst xmlns:a="http://schemas.openxmlformats.org/drawingml/2006/main">
              <a:ext uri="{FF2B5EF4-FFF2-40B4-BE49-F238E27FC236}">
                <a16:creationId xmlns:a16="http://schemas.microsoft.com/office/drawing/2014/main" id="{05A710DE-E25D-5A18-8AEF-6E3F93651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95650"/>
            <a:ext cx="11277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71E7BD"/>
                </a:solidFill>
                <a:latin typeface="JetBrains Mono"/>
                <a:ea typeface="JetBrains Mono"/>
                <a:cs typeface="JetBrains Mono"/>
              </a:defRPr>
            </a:pPr>
            <a:r>
              <a:rPr sz="2250" b="1">
                <a:solidFill>
                  <a:srgbClr val="71E7BD"/>
                </a:solidFill>
                <a:latin typeface="JetBrains Mono"/>
                <a:ea typeface="JetBrains Mono"/>
                <a:cs typeface="JetBrains Mono"/>
              </a:rPr>
              <a:t>Q̂ₜ₊₁ = wᵧᵀ hₜ + bᵧ</a:t>
            </a:r>
          </a:p>
        </p:txBody>
      </p:sp>
      <p:sp>
        <p:nvSpPr>
          <p:cNvPr id="10007" name="Contexto">
            <a:extLst xmlns:a="http://schemas.openxmlformats.org/drawingml/2006/main">
              <a:ext uri="{FF2B5EF4-FFF2-40B4-BE49-F238E27FC236}">
                <a16:creationId xmlns:a16="http://schemas.microsoft.com/office/drawing/2014/main" id="{E346E6F8-77CB-5984-B5CB-4DD0986F8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29325"/>
            <a:ext cx="11277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91A4BD"/>
                </a:solidFill>
                <a:latin typeface="JetBrains Mono"/>
                <a:ea typeface="JetBrains Mono"/>
                <a:cs typeface="JetBrains Mono"/>
              </a:defRPr>
            </a:pPr>
            <a:r>
              <a:rPr sz="1125" b="0">
                <a:solidFill>
                  <a:srgbClr val="91A4BD"/>
                </a:solidFill>
                <a:latin typeface="JetBrains Mono"/>
                <a:ea typeface="JetBrains Mono"/>
                <a:cs typeface="JetBrains Mono"/>
              </a:rPr>
              <a:t>RNN simples com tanh. A camada de leitura depende do alvo e da configuração da tarefa.</a:t>
            </a:r>
          </a:p>
        </p:txBody>
      </p:sp>
      <p:pic>
        <p:nvPicPr>
          <p:cNvPr id="10008" name="Imagem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b065b980b742c8"/>
          <a:srcRect xmlns:a="http://schemas.openxmlformats.org/drawingml/2006/main" l="3570" t="0" r="8084" b="1819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3701" y="6294313"/>
            <a:ext cx="308300" cy="272211"/>
          </a:xfrm>
          <a:prstGeom xmlns:a="http://schemas.openxmlformats.org/drawingml/2006/main" prst="rect">
            <a:avLst/>
          </a:prstGeom>
        </p:spPr>
      </p:pic>
      <p:sp>
        <p:nvSpPr>
          <p:cNvPr id="10009" name="Hydro-UAI Rede neural recorrente">
            <a:extLst xmlns:a="http://schemas.openxmlformats.org/drawingml/2006/main">
              <a:ext uri="{FF2B5EF4-FFF2-40B4-BE49-F238E27FC236}">
                <a16:creationId xmlns:a16="http://schemas.microsoft.com/office/drawing/2014/main" id="{75EAD41E-CCAD-5D0B-A5C3-5CC76A4A9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676" y="741617"/>
            <a:ext cx="11284553" cy="4855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 i="1">
                <a:solidFill>
                  <a:srgbClr val="FFFFFF"/>
                </a:solidFill>
                <a:latin typeface="JetBrains Mono ExtraBold"/>
                <a:ea typeface="JetBrains Mono ExtraBold"/>
                <a:cs typeface="JetBrains Mono ExtraBold"/>
              </a:defRPr>
            </a:pPr>
            <a:r>
              <a:rPr sz="2400" b="1" i="1">
                <a:solidFill>
                  <a:srgbClr val="FFFFFF"/>
                </a:solidFill>
                <a:latin typeface="JetBrains Mono ExtraBold"/>
                <a:ea typeface="JetBrains Mono ExtraBold"/>
                <a:cs typeface="JetBrains Mono ExtraBold"/>
              </a:rPr>
              <a:t>Rede neural recorrente</a:t>
            </a:r>
          </a:p>
        </p:txBody>
      </p:sp>
      <p:sp>
        <p:nvSpPr>
          <p:cNvPr id="10010" name="Divisor Hydro-UAI">
            <a:extLst xmlns:a="http://schemas.openxmlformats.org/drawingml/2006/main">
              <a:ext uri="{FF2B5EF4-FFF2-40B4-BE49-F238E27FC236}">
                <a16:creationId xmlns:a16="http://schemas.microsoft.com/office/drawing/2014/main" id="{2053EA3A-6A04-5B70-A3D0-A3B0DF6C4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08259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668">
            <a:solidFill>
              <a:srgbClr val="FFFFFF"/>
            </a:solidFill>
          </a:ln>
        </p:spPr>
      </p:sp>
      <p:sp>
        <p:nvSpPr>
          <p:cNvPr id="10011" name="Hydro-UAI Hydro-UAI Course">
            <a:extLst xmlns:a="http://schemas.openxmlformats.org/drawingml/2006/main">
              <a:ext uri="{FF2B5EF4-FFF2-40B4-BE49-F238E27FC236}">
                <a16:creationId xmlns:a16="http://schemas.microsoft.com/office/drawing/2014/main" id="{22CF18E9-1369-59C9-9857-D895BE0FE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63436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45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945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Hydro-UAI Course</a:t>
            </a:r>
          </a:p>
        </p:txBody>
      </p:sp>
      <p:sp>
        <p:nvSpPr>
          <p:cNvPr id="10012" name="Hydro-UAI 10 / 47">
            <a:extLst xmlns:a="http://schemas.openxmlformats.org/drawingml/2006/main">
              <a:ext uri="{FF2B5EF4-FFF2-40B4-BE49-F238E27FC236}">
                <a16:creationId xmlns:a16="http://schemas.microsoft.com/office/drawing/2014/main" id="{4EECE1EF-4DED-5742-ACC4-1E4C16D0D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343650"/>
            <a:ext cx="1219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91A4BD"/>
                </a:solidFill>
                <a:latin typeface="JetBrains Mono"/>
                <a:ea typeface="JetBrains Mono"/>
                <a:cs typeface="JetBrains Mono"/>
              </a:defRPr>
            </a:pPr>
            <a:r>
              <a:rPr sz="975" b="0" i="0">
                <a:solidFill>
                  <a:srgbClr val="91A4BD"/>
                </a:solidFill>
                <a:latin typeface="JetBrains Mono"/>
                <a:ea typeface="JetBrains Mono"/>
                <a:cs typeface="JetBrains Mono"/>
              </a:rPr>
              <a:t>10 / 47</a:t>
            </a:r>
          </a:p>
        </p:txBody>
      </p:sp>
    </p:spTree>
    <p:extLst>
      <p:ext uri="{BB962C8B-B14F-4D97-AF65-F5344CB8AC3E}">
        <p14:creationId xmlns:p14="http://schemas.microsoft.com/office/powerpoint/2010/main" val="3991283715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1001" name=""/>
        <p:cNvGrpSpPr/>
        <p:nvPr/>
      </p:nvGrpSpPr>
      <p:grpSpPr>
        <a:xfrm xmlns:a="http://schemas.openxmlformats.org/drawingml/2006/main"/>
      </p:grpSpPr>
      <p:sp>
        <p:nvSpPr>
          <p:cNvPr id="11002" name="Retângulo 6">
            <a:extLst xmlns:a="http://schemas.openxmlformats.org/drawingml/2006/main">
              <a:ext uri="{FF2B5EF4-FFF2-40B4-BE49-F238E27FC236}">
                <a16:creationId xmlns:a16="http://schemas.microsoft.com/office/drawing/2014/main" id="{366FAA00-BBAB-51C4-9C07-E68C7E655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F29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graphicFrame>
        <p:nvGraphicFramePr>
          <p:cNvPr id="11003" name=""/>
          <p:cNvGraphicFramePr/>
          <p:nvPr/>
        </p:nvGraphicFramePr>
        <p:xfrm>
          <a:off xmlns:a="http://schemas.openxmlformats.org/drawingml/2006/main" x="457200" y="3352800"/>
          <a:ext xmlns:a="http://schemas.openxmlformats.org/drawingml/2006/main" cx="7105650" cy="212407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1200150"/>
                <a:gridCol w="952500"/>
                <a:gridCol w="3048000"/>
                <a:gridCol w="1905000"/>
              </a:tblGrid>
              <a:tr h="531019"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650" b="1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Passo</a:t>
                      </a:r>
                    </a:p>
                  </a:txBody>
                  <a:tcPr marL="91440" marR="91440" marT="45720" marB="45720" anchor="ctr">
                    <a:solidFill>
                      <a:srgbClr val="0053EB"/>
                    </a:solidFill>
                  </a:tcPr>
                </a:tc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650" b="1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xₜ</a:t>
                      </a:r>
                    </a:p>
                  </a:txBody>
                  <a:tcPr marL="91440" marR="91440" marT="45720" marB="45720" anchor="ctr">
                    <a:solidFill>
                      <a:srgbClr val="0053EB"/>
                    </a:solidFill>
                  </a:tcPr>
                </a:tc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650" b="1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Argumento da tanh</a:t>
                      </a:r>
                    </a:p>
                  </a:txBody>
                  <a:tcPr marL="91440" marR="91440" marT="45720" marB="45720" anchor="ctr">
                    <a:solidFill>
                      <a:srgbClr val="0053EB"/>
                    </a:solidFill>
                  </a:tcPr>
                </a:tc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650" b="1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hₜ</a:t>
                      </a:r>
                    </a:p>
                  </a:txBody>
                  <a:tcPr marL="91440" marR="91440" marT="45720" marB="45720" anchor="ctr">
                    <a:solidFill>
                      <a:srgbClr val="0053EB"/>
                    </a:solidFill>
                  </a:tcPr>
                </a:tc>
              </a:tr>
              <a:tr h="531019"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650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000F29"/>
                    </a:solidFill>
                  </a:tcPr>
                </a:tc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650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000F29"/>
                    </a:solidFill>
                  </a:tcPr>
                </a:tc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650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0,200</a:t>
                      </a:r>
                    </a:p>
                  </a:txBody>
                  <a:tcPr marL="91440" marR="91440" marT="45720" marB="45720" anchor="ctr">
                    <a:solidFill>
                      <a:srgbClr val="000F29"/>
                    </a:solidFill>
                  </a:tcPr>
                </a:tc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650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0,197</a:t>
                      </a:r>
                    </a:p>
                  </a:txBody>
                  <a:tcPr marL="91440" marR="91440" marT="45720" marB="45720" anchor="ctr">
                    <a:solidFill>
                      <a:srgbClr val="000F29"/>
                    </a:solidFill>
                  </a:tcPr>
                </a:tc>
              </a:tr>
              <a:tr h="531019"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650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2</a:t>
                      </a:r>
                    </a:p>
                  </a:txBody>
                  <a:tcPr marL="91440" marR="91440" marT="45720" marB="45720" anchor="ctr">
                    <a:solidFill>
                      <a:srgbClr val="000F29"/>
                    </a:solidFill>
                  </a:tcPr>
                </a:tc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650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000F29"/>
                    </a:solidFill>
                  </a:tcPr>
                </a:tc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650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0,099</a:t>
                      </a:r>
                    </a:p>
                  </a:txBody>
                  <a:tcPr marL="91440" marR="91440" marT="45720" marB="45720" anchor="ctr">
                    <a:solidFill>
                      <a:srgbClr val="000F29"/>
                    </a:solidFill>
                  </a:tcPr>
                </a:tc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650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0,098</a:t>
                      </a:r>
                    </a:p>
                  </a:txBody>
                  <a:tcPr marL="91440" marR="91440" marT="45720" marB="45720" anchor="ctr">
                    <a:solidFill>
                      <a:srgbClr val="000F29"/>
                    </a:solidFill>
                  </a:tcPr>
                </a:tc>
              </a:tr>
              <a:tr h="531019"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650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3</a:t>
                      </a:r>
                    </a:p>
                  </a:txBody>
                  <a:tcPr marL="91440" marR="91440" marT="45720" marB="45720" anchor="ctr">
                    <a:solidFill>
                      <a:srgbClr val="000F29"/>
                    </a:solidFill>
                  </a:tcPr>
                </a:tc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650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000F29"/>
                    </a:solidFill>
                  </a:tcPr>
                </a:tc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650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0,249</a:t>
                      </a:r>
                    </a:p>
                  </a:txBody>
                  <a:tcPr marL="91440" marR="91440" marT="45720" marB="45720" anchor="ctr">
                    <a:solidFill>
                      <a:srgbClr val="000F29"/>
                    </a:solidFill>
                  </a:tcPr>
                </a:tc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650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0,244</a:t>
                      </a:r>
                    </a:p>
                  </a:txBody>
                  <a:tcPr marL="91440" marR="91440" marT="45720" marB="45720" anchor="ctr">
                    <a:solidFill>
                      <a:srgbClr val="000F29"/>
                    </a:solidFill>
                  </a:tcPr>
                </a:tc>
              </a:tr>
            </a:tbl>
          </a:graphicData>
        </a:graphic>
      </p:graphicFrame>
      <p:sp>
        <p:nvSpPr>
          <p:cNvPr id="11004" name="Tema do slide">
            <a:extLst xmlns:a="http://schemas.openxmlformats.org/drawingml/2006/main">
              <a:ext uri="{FF2B5EF4-FFF2-40B4-BE49-F238E27FC236}">
                <a16:creationId xmlns:a16="http://schemas.microsoft.com/office/drawing/2014/main" id="{C638A3E9-5779-5E0F-B5CB-0D17CCBEE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90700"/>
            <a:ext cx="11277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2025" b="1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Cálculo de um estado recorrente</a:t>
            </a:r>
          </a:p>
        </p:txBody>
      </p:sp>
      <p:sp>
        <p:nvSpPr>
          <p:cNvPr id="11005" name="Fórmula">
            <a:extLst xmlns:a="http://schemas.openxmlformats.org/drawingml/2006/main">
              <a:ext uri="{FF2B5EF4-FFF2-40B4-BE49-F238E27FC236}">
                <a16:creationId xmlns:a16="http://schemas.microsoft.com/office/drawing/2014/main" id="{ED3AE56D-7A46-5437-99D7-89AE3D176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05075"/>
            <a:ext cx="11277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83D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950" b="1">
                <a:solidFill>
                  <a:srgbClr val="83DFFF"/>
                </a:solidFill>
                <a:latin typeface="JetBrains Mono"/>
                <a:ea typeface="JetBrains Mono"/>
                <a:cs typeface="JetBrains Mono"/>
              </a:rPr>
              <a:t>hₜ = tanh(0,5 hₜ₋₁ + 0,2 xₜ), com h₀ = 0</a:t>
            </a:r>
          </a:p>
        </p:txBody>
      </p:sp>
      <p:sp>
        <p:nvSpPr>
          <p:cNvPr id="11006" name="Segundo passo">
            <a:extLst xmlns:a="http://schemas.openxmlformats.org/drawingml/2006/main">
              <a:ext uri="{FF2B5EF4-FFF2-40B4-BE49-F238E27FC236}">
                <a16:creationId xmlns:a16="http://schemas.microsoft.com/office/drawing/2014/main" id="{6037D787-AB4B-560E-A9DF-45AA66977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3476625"/>
            <a:ext cx="372427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83D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725" b="1">
                <a:solidFill>
                  <a:srgbClr val="83DFFF"/>
                </a:solidFill>
                <a:latin typeface="JetBrains Mono"/>
                <a:ea typeface="JetBrains Mono"/>
                <a:cs typeface="JetBrains Mono"/>
              </a:rPr>
              <a:t>Em x₂ = 0, o estado</a:t>
            </a:r>
          </a:p>
          <a:p xmlns:a="http://schemas.openxmlformats.org/drawingml/2006/main">
            <a:pPr algn="l">
              <a:buNone/>
              <a:defRPr sz="1725" b="1">
                <a:solidFill>
                  <a:srgbClr val="83D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725" b="1">
                <a:solidFill>
                  <a:srgbClr val="83DFFF"/>
                </a:solidFill>
                <a:latin typeface="JetBrains Mono"/>
                <a:ea typeface="JetBrains Mono"/>
                <a:cs typeface="JetBrains Mono"/>
              </a:rPr>
              <a:t>anterior ainda influencia h₂.</a:t>
            </a:r>
          </a:p>
        </p:txBody>
      </p:sp>
      <p:sp>
        <p:nvSpPr>
          <p:cNvPr id="11007" name="Latência">
            <a:extLst xmlns:a="http://schemas.openxmlformats.org/drawingml/2006/main">
              <a:ext uri="{FF2B5EF4-FFF2-40B4-BE49-F238E27FC236}">
                <a16:creationId xmlns:a16="http://schemas.microsoft.com/office/drawing/2014/main" id="{346EDBF1-BE9D-5913-8C18-D36663F91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4819650"/>
            <a:ext cx="37242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725" b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A memória se transforma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725" b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a cada nova entrada.</a:t>
            </a:r>
          </a:p>
        </p:txBody>
      </p:sp>
      <p:sp>
        <p:nvSpPr>
          <p:cNvPr id="11008" name="Contexto">
            <a:extLst xmlns:a="http://schemas.openxmlformats.org/drawingml/2006/main">
              <a:ext uri="{FF2B5EF4-FFF2-40B4-BE49-F238E27FC236}">
                <a16:creationId xmlns:a16="http://schemas.microsoft.com/office/drawing/2014/main" id="{3B8189E4-8F18-5EDE-8B7F-D9C2310D0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29325"/>
            <a:ext cx="11277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91A4BD"/>
                </a:solidFill>
                <a:latin typeface="JetBrains Mono"/>
                <a:ea typeface="JetBrains Mono"/>
                <a:cs typeface="JetBrains Mono"/>
              </a:defRPr>
            </a:pPr>
            <a:r>
              <a:rPr sz="1125" b="0">
                <a:solidFill>
                  <a:srgbClr val="91A4BD"/>
                </a:solidFill>
                <a:latin typeface="JetBrains Mono"/>
                <a:ea typeface="JetBrains Mono"/>
                <a:cs typeface="JetBrains Mono"/>
              </a:rPr>
              <a:t>Exemplo escalar com entradas adimensionais. Os coeficientes são fixados para a conta didática.</a:t>
            </a:r>
          </a:p>
        </p:txBody>
      </p:sp>
      <p:pic>
        <p:nvPicPr>
          <p:cNvPr id="11009" name="Imagem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fe4090c6804bec"/>
          <a:srcRect xmlns:a="http://schemas.openxmlformats.org/drawingml/2006/main" l="3570" t="0" r="8084" b="1819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3701" y="6294313"/>
            <a:ext cx="308300" cy="272211"/>
          </a:xfrm>
          <a:prstGeom xmlns:a="http://schemas.openxmlformats.org/drawingml/2006/main" prst="rect">
            <a:avLst/>
          </a:prstGeom>
        </p:spPr>
      </p:pic>
      <p:sp>
        <p:nvSpPr>
          <p:cNvPr id="11010" name="Hydro-UAI Rede neural recorrente">
            <a:extLst xmlns:a="http://schemas.openxmlformats.org/drawingml/2006/main">
              <a:ext uri="{FF2B5EF4-FFF2-40B4-BE49-F238E27FC236}">
                <a16:creationId xmlns:a16="http://schemas.microsoft.com/office/drawing/2014/main" id="{6A2D5C11-7019-54F7-94CE-107EAFD4E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676" y="741617"/>
            <a:ext cx="11284553" cy="4855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 i="1">
                <a:solidFill>
                  <a:srgbClr val="FFFFFF"/>
                </a:solidFill>
                <a:latin typeface="JetBrains Mono ExtraBold"/>
                <a:ea typeface="JetBrains Mono ExtraBold"/>
                <a:cs typeface="JetBrains Mono ExtraBold"/>
              </a:defRPr>
            </a:pPr>
            <a:r>
              <a:rPr sz="2400" b="1" i="1">
                <a:solidFill>
                  <a:srgbClr val="FFFFFF"/>
                </a:solidFill>
                <a:latin typeface="JetBrains Mono ExtraBold"/>
                <a:ea typeface="JetBrains Mono ExtraBold"/>
                <a:cs typeface="JetBrains Mono ExtraBold"/>
              </a:rPr>
              <a:t>Rede neural recorrente</a:t>
            </a:r>
          </a:p>
        </p:txBody>
      </p:sp>
      <p:sp>
        <p:nvSpPr>
          <p:cNvPr id="11011" name="Divisor Hydro-UAI">
            <a:extLst xmlns:a="http://schemas.openxmlformats.org/drawingml/2006/main">
              <a:ext uri="{FF2B5EF4-FFF2-40B4-BE49-F238E27FC236}">
                <a16:creationId xmlns:a16="http://schemas.microsoft.com/office/drawing/2014/main" id="{1D2A42DE-D214-5344-A1D6-5D8676997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08259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668">
            <a:solidFill>
              <a:srgbClr val="FFFFFF"/>
            </a:solidFill>
          </a:ln>
        </p:spPr>
      </p:sp>
      <p:sp>
        <p:nvSpPr>
          <p:cNvPr id="11012" name="Hydro-UAI Hydro-UAI Course">
            <a:extLst xmlns:a="http://schemas.openxmlformats.org/drawingml/2006/main">
              <a:ext uri="{FF2B5EF4-FFF2-40B4-BE49-F238E27FC236}">
                <a16:creationId xmlns:a16="http://schemas.microsoft.com/office/drawing/2014/main" id="{FC0B18D3-69DD-595A-879C-01B49B10C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63436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45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945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Hydro-UAI Course</a:t>
            </a:r>
          </a:p>
        </p:txBody>
      </p:sp>
      <p:sp>
        <p:nvSpPr>
          <p:cNvPr id="11013" name="Hydro-UAI 11 / 47">
            <a:extLst xmlns:a="http://schemas.openxmlformats.org/drawingml/2006/main">
              <a:ext uri="{FF2B5EF4-FFF2-40B4-BE49-F238E27FC236}">
                <a16:creationId xmlns:a16="http://schemas.microsoft.com/office/drawing/2014/main" id="{CBE75603-F8FB-50FF-9164-4E2116185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343650"/>
            <a:ext cx="1219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91A4BD"/>
                </a:solidFill>
                <a:latin typeface="JetBrains Mono"/>
                <a:ea typeface="JetBrains Mono"/>
                <a:cs typeface="JetBrains Mono"/>
              </a:defRPr>
            </a:pPr>
            <a:r>
              <a:rPr sz="975" b="0" i="0">
                <a:solidFill>
                  <a:srgbClr val="91A4BD"/>
                </a:solidFill>
                <a:latin typeface="JetBrains Mono"/>
                <a:ea typeface="JetBrains Mono"/>
                <a:cs typeface="JetBrains Mono"/>
              </a:rPr>
              <a:t>11 / 47</a:t>
            </a:r>
          </a:p>
        </p:txBody>
      </p:sp>
    </p:spTree>
    <p:extLst>
      <p:ext uri="{BB962C8B-B14F-4D97-AF65-F5344CB8AC3E}">
        <p14:creationId xmlns:p14="http://schemas.microsoft.com/office/powerpoint/2010/main" val="3991283715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2001" name=""/>
        <p:cNvGrpSpPr/>
        <p:nvPr/>
      </p:nvGrpSpPr>
      <p:grpSpPr>
        <a:xfrm xmlns:a="http://schemas.openxmlformats.org/drawingml/2006/main"/>
      </p:grpSpPr>
      <p:sp>
        <p:nvSpPr>
          <p:cNvPr id="12002" name="Retângulo 6">
            <a:extLst xmlns:a="http://schemas.openxmlformats.org/drawingml/2006/main">
              <a:ext uri="{FF2B5EF4-FFF2-40B4-BE49-F238E27FC236}">
                <a16:creationId xmlns:a16="http://schemas.microsoft.com/office/drawing/2014/main" id="{04746348-7934-5A59-8323-FD95DE9CD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F29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2003" name="Tema do slide">
            <a:extLst xmlns:a="http://schemas.openxmlformats.org/drawingml/2006/main">
              <a:ext uri="{FF2B5EF4-FFF2-40B4-BE49-F238E27FC236}">
                <a16:creationId xmlns:a16="http://schemas.microsoft.com/office/drawing/2014/main" id="{6DFB3B95-8FC9-5EBC-8980-67A07A2FA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90700"/>
            <a:ext cx="11277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2025" b="1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O significado do estado oculto</a:t>
            </a:r>
          </a:p>
        </p:txBody>
      </p:sp>
      <p:sp>
        <p:nvSpPr>
          <p:cNvPr id="12004" name="Vetor">
            <a:extLst xmlns:a="http://schemas.openxmlformats.org/drawingml/2006/main">
              <a:ext uri="{FF2B5EF4-FFF2-40B4-BE49-F238E27FC236}">
                <a16:creationId xmlns:a16="http://schemas.microsoft.com/office/drawing/2014/main" id="{530587E3-7468-5D70-B623-4628EC12E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47950"/>
            <a:ext cx="11277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83D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2400" b="1">
                <a:solidFill>
                  <a:srgbClr val="83DFFF"/>
                </a:solidFill>
                <a:latin typeface="JetBrains Mono"/>
                <a:ea typeface="JetBrains Mono"/>
                <a:cs typeface="JetBrains Mono"/>
              </a:rPr>
              <a:t>hₜ = [hₜ,₁, hₜ,₂, ..., hₜ,ₕ]</a:t>
            </a:r>
          </a:p>
        </p:txBody>
      </p:sp>
      <p:sp>
        <p:nvSpPr>
          <p:cNvPr id="12005" name="Aprendido">
            <a:extLst xmlns:a="http://schemas.openxmlformats.org/drawingml/2006/main">
              <a:ext uri="{FF2B5EF4-FFF2-40B4-BE49-F238E27FC236}">
                <a16:creationId xmlns:a16="http://schemas.microsoft.com/office/drawing/2014/main" id="{4CADF1F3-4A49-5925-82CC-BDE847C2F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571875"/>
            <a:ext cx="11277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950" b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O treinamento aprende um resumo útil para prever o alvo.</a:t>
            </a:r>
          </a:p>
        </p:txBody>
      </p:sp>
      <p:sp>
        <p:nvSpPr>
          <p:cNvPr id="12006" name="Escala">
            <a:extLst xmlns:a="http://schemas.openxmlformats.org/drawingml/2006/main">
              <a:ext uri="{FF2B5EF4-FFF2-40B4-BE49-F238E27FC236}">
                <a16:creationId xmlns:a16="http://schemas.microsoft.com/office/drawing/2014/main" id="{CA15F2DF-EB75-5003-9E65-EDA73BB7F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67200"/>
            <a:ext cx="11277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950" b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Cada componente combina informações do histórico.</a:t>
            </a:r>
          </a:p>
        </p:txBody>
      </p:sp>
      <p:sp>
        <p:nvSpPr>
          <p:cNvPr id="12007" name="Física">
            <a:extLst xmlns:a="http://schemas.openxmlformats.org/drawingml/2006/main">
              <a:ext uri="{FF2B5EF4-FFF2-40B4-BE49-F238E27FC236}">
                <a16:creationId xmlns:a16="http://schemas.microsoft.com/office/drawing/2014/main" id="{FC797EBE-B45F-58B6-A7A8-F6AA9A17A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48250"/>
            <a:ext cx="112776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71E7BD"/>
                </a:solidFill>
                <a:latin typeface="JetBrains Mono"/>
                <a:ea typeface="JetBrains Mono"/>
                <a:cs typeface="JetBrains Mono"/>
              </a:defRPr>
            </a:pPr>
            <a:r>
              <a:rPr sz="1875" b="1">
                <a:solidFill>
                  <a:srgbClr val="71E7BD"/>
                </a:solidFill>
                <a:latin typeface="JetBrains Mono"/>
                <a:ea typeface="JetBrains Mono"/>
                <a:cs typeface="JetBrains Mono"/>
              </a:rPr>
              <a:t>A interpretação como solo, aquífero ou reservatório</a:t>
            </a:r>
          </a:p>
          <a:p xmlns:a="http://schemas.openxmlformats.org/drawingml/2006/main">
            <a:pPr algn="l">
              <a:buNone/>
              <a:defRPr sz="1875" b="1">
                <a:solidFill>
                  <a:srgbClr val="71E7BD"/>
                </a:solidFill>
                <a:latin typeface="JetBrains Mono"/>
                <a:ea typeface="JetBrains Mono"/>
                <a:cs typeface="JetBrains Mono"/>
              </a:defRPr>
            </a:pPr>
            <a:r>
              <a:rPr sz="1875" b="1">
                <a:solidFill>
                  <a:srgbClr val="71E7BD"/>
                </a:solidFill>
                <a:latin typeface="JetBrains Mono"/>
                <a:ea typeface="JetBrains Mono"/>
                <a:cs typeface="JetBrains Mono"/>
              </a:rPr>
              <a:t>exige análise e validação adicionais.</a:t>
            </a:r>
          </a:p>
        </p:txBody>
      </p:sp>
      <p:pic>
        <p:nvPicPr>
          <p:cNvPr id="12008" name="Imagem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1a9bd9998e4bf1"/>
          <a:srcRect xmlns:a="http://schemas.openxmlformats.org/drawingml/2006/main" l="3570" t="0" r="8084" b="1819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3701" y="6294313"/>
            <a:ext cx="308300" cy="272211"/>
          </a:xfrm>
          <a:prstGeom xmlns:a="http://schemas.openxmlformats.org/drawingml/2006/main" prst="rect">
            <a:avLst/>
          </a:prstGeom>
        </p:spPr>
      </p:pic>
      <p:sp>
        <p:nvSpPr>
          <p:cNvPr id="12009" name="Hydro-UAI Rede neural recorrente">
            <a:extLst xmlns:a="http://schemas.openxmlformats.org/drawingml/2006/main">
              <a:ext uri="{FF2B5EF4-FFF2-40B4-BE49-F238E27FC236}">
                <a16:creationId xmlns:a16="http://schemas.microsoft.com/office/drawing/2014/main" id="{4739D5C1-893C-52D9-8C25-F0D430CE7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676" y="741617"/>
            <a:ext cx="11284553" cy="4855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 i="1">
                <a:solidFill>
                  <a:srgbClr val="FFFFFF"/>
                </a:solidFill>
                <a:latin typeface="JetBrains Mono ExtraBold"/>
                <a:ea typeface="JetBrains Mono ExtraBold"/>
                <a:cs typeface="JetBrains Mono ExtraBold"/>
              </a:defRPr>
            </a:pPr>
            <a:r>
              <a:rPr sz="2400" b="1" i="1">
                <a:solidFill>
                  <a:srgbClr val="FFFFFF"/>
                </a:solidFill>
                <a:latin typeface="JetBrains Mono ExtraBold"/>
                <a:ea typeface="JetBrains Mono ExtraBold"/>
                <a:cs typeface="JetBrains Mono ExtraBold"/>
              </a:rPr>
              <a:t>Rede neural recorrente</a:t>
            </a:r>
          </a:p>
        </p:txBody>
      </p:sp>
      <p:sp>
        <p:nvSpPr>
          <p:cNvPr id="12010" name="Divisor Hydro-UAI">
            <a:extLst xmlns:a="http://schemas.openxmlformats.org/drawingml/2006/main">
              <a:ext uri="{FF2B5EF4-FFF2-40B4-BE49-F238E27FC236}">
                <a16:creationId xmlns:a16="http://schemas.microsoft.com/office/drawing/2014/main" id="{8AF09C30-81BF-5E49-AAE6-543E7ED83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08259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668">
            <a:solidFill>
              <a:srgbClr val="FFFFFF"/>
            </a:solidFill>
          </a:ln>
        </p:spPr>
      </p:sp>
      <p:sp>
        <p:nvSpPr>
          <p:cNvPr id="12011" name="Hydro-UAI Hydro-UAI Course">
            <a:extLst xmlns:a="http://schemas.openxmlformats.org/drawingml/2006/main">
              <a:ext uri="{FF2B5EF4-FFF2-40B4-BE49-F238E27FC236}">
                <a16:creationId xmlns:a16="http://schemas.microsoft.com/office/drawing/2014/main" id="{1BB705EA-A844-56E8-84E7-9A793117E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63436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45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945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Hydro-UAI Course</a:t>
            </a:r>
          </a:p>
        </p:txBody>
      </p:sp>
      <p:sp>
        <p:nvSpPr>
          <p:cNvPr id="12012" name="Hydro-UAI 12 / 47">
            <a:extLst xmlns:a="http://schemas.openxmlformats.org/drawingml/2006/main">
              <a:ext uri="{FF2B5EF4-FFF2-40B4-BE49-F238E27FC236}">
                <a16:creationId xmlns:a16="http://schemas.microsoft.com/office/drawing/2014/main" id="{ECB5A0E0-86B8-5DC0-8A64-01538B9EB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343650"/>
            <a:ext cx="1219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91A4BD"/>
                </a:solidFill>
                <a:latin typeface="JetBrains Mono"/>
                <a:ea typeface="JetBrains Mono"/>
                <a:cs typeface="JetBrains Mono"/>
              </a:defRPr>
            </a:pPr>
            <a:r>
              <a:rPr sz="975" b="0" i="0">
                <a:solidFill>
                  <a:srgbClr val="91A4BD"/>
                </a:solidFill>
                <a:latin typeface="JetBrains Mono"/>
                <a:ea typeface="JetBrains Mono"/>
                <a:cs typeface="JetBrains Mono"/>
              </a:rPr>
              <a:t>12 / 47</a:t>
            </a:r>
          </a:p>
        </p:txBody>
      </p:sp>
    </p:spTree>
    <p:extLst>
      <p:ext uri="{BB962C8B-B14F-4D97-AF65-F5344CB8AC3E}">
        <p14:creationId xmlns:p14="http://schemas.microsoft.com/office/powerpoint/2010/main" val="3991283715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3001" name=""/>
        <p:cNvGrpSpPr/>
        <p:nvPr/>
      </p:nvGrpSpPr>
      <p:grpSpPr>
        <a:xfrm xmlns:a="http://schemas.openxmlformats.org/drawingml/2006/main"/>
      </p:grpSpPr>
      <p:sp>
        <p:nvSpPr>
          <p:cNvPr id="13002" name="Retângulo 6">
            <a:extLst xmlns:a="http://schemas.openxmlformats.org/drawingml/2006/main">
              <a:ext uri="{FF2B5EF4-FFF2-40B4-BE49-F238E27FC236}">
                <a16:creationId xmlns:a16="http://schemas.microsoft.com/office/drawing/2014/main" id="{9B8158A0-8557-5BDE-A826-801C48B82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F29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3003" name="Tema do slide">
            <a:extLst xmlns:a="http://schemas.openxmlformats.org/drawingml/2006/main">
              <a:ext uri="{FF2B5EF4-FFF2-40B4-BE49-F238E27FC236}">
                <a16:creationId xmlns:a16="http://schemas.microsoft.com/office/drawing/2014/main" id="{B89CD363-5E36-5CFF-9EFF-18E82EFAA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90700"/>
            <a:ext cx="11277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2025" b="1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Saídas por janela e saídas por passo</a:t>
            </a:r>
          </a:p>
        </p:txBody>
      </p:sp>
      <p:sp>
        <p:nvSpPr>
          <p:cNvPr id="13004" name="Uma saída">
            <a:extLst xmlns:a="http://schemas.openxmlformats.org/drawingml/2006/main">
              <a:ext uri="{FF2B5EF4-FFF2-40B4-BE49-F238E27FC236}">
                <a16:creationId xmlns:a16="http://schemas.microsoft.com/office/drawing/2014/main" id="{1450051D-AD07-5C1C-836F-155A65E92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05075"/>
            <a:ext cx="11277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83D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725" b="1">
                <a:solidFill>
                  <a:srgbClr val="83DFFF"/>
                </a:solidFill>
                <a:latin typeface="JetBrains Mono"/>
                <a:ea typeface="JetBrains Mono"/>
                <a:cs typeface="JetBrains Mono"/>
              </a:rPr>
              <a:t>Muitos passos, uma saída</a:t>
            </a:r>
          </a:p>
        </p:txBody>
      </p:sp>
      <p:sp>
        <p:nvSpPr>
          <p:cNvPr id="13005" name="Diagrama Sequência x₁ ... xₜ">
            <a:extLst xmlns:a="http://schemas.openxmlformats.org/drawingml/2006/main">
              <a:ext uri="{FF2B5EF4-FFF2-40B4-BE49-F238E27FC236}">
                <a16:creationId xmlns:a16="http://schemas.microsoft.com/office/drawing/2014/main" id="{8F585BC7-4F58-5ADD-9591-34981F396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00375"/>
            <a:ext cx="34099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F29"/>
          </a:solidFill>
          <a:ln xmlns:a="http://schemas.openxmlformats.org/drawingml/2006/main" w="19050">
            <a:solidFill>
              <a:srgbClr val="83DFFF"/>
            </a:solidFill>
          </a:ln>
        </p:spPr>
        <p:txBody>
          <a:bodyPr xmlns:a="http://schemas.openxmlformats.org/drawingml/2006/main" lIns="76200" tIns="47625" rIns="762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725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Sequência x₁ ... xₜ</a:t>
            </a:r>
          </a:p>
        </p:txBody>
      </p:sp>
      <p:sp>
        <p:nvSpPr>
          <p:cNvPr id="13006" name="Diagrama Estado final hₜ">
            <a:extLst xmlns:a="http://schemas.openxmlformats.org/drawingml/2006/main">
              <a:ext uri="{FF2B5EF4-FFF2-40B4-BE49-F238E27FC236}">
                <a16:creationId xmlns:a16="http://schemas.microsoft.com/office/drawing/2014/main" id="{DEADFD1F-5FBA-5FFD-8824-2FDD4D6F7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3000375"/>
            <a:ext cx="271462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F29"/>
          </a:solidFill>
          <a:ln xmlns:a="http://schemas.openxmlformats.org/drawingml/2006/main" w="19050">
            <a:solidFill>
              <a:srgbClr val="83DFFF"/>
            </a:solidFill>
          </a:ln>
        </p:spPr>
        <p:txBody>
          <a:bodyPr xmlns:a="http://schemas.openxmlformats.org/drawingml/2006/main" lIns="76200" tIns="47625" rIns="762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725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Estado final hₜ</a:t>
            </a:r>
          </a:p>
        </p:txBody>
      </p:sp>
      <p:sp>
        <p:nvSpPr>
          <p:cNvPr id="13007" name="Diagrama Q̂ₜ₊₁">
            <a:extLst xmlns:a="http://schemas.openxmlformats.org/drawingml/2006/main">
              <a:ext uri="{FF2B5EF4-FFF2-40B4-BE49-F238E27FC236}">
                <a16:creationId xmlns:a16="http://schemas.microsoft.com/office/drawing/2014/main" id="{7AE3668D-D7A9-5BA4-A743-A200E19D1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275" y="3000375"/>
            <a:ext cx="233362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F29"/>
          </a:solidFill>
          <a:ln xmlns:a="http://schemas.openxmlformats.org/drawingml/2006/main" w="19050">
            <a:solidFill>
              <a:srgbClr val="71E7BD"/>
            </a:solidFill>
          </a:ln>
        </p:spPr>
        <p:txBody>
          <a:bodyPr xmlns:a="http://schemas.openxmlformats.org/drawingml/2006/main" lIns="76200" tIns="47625" rIns="762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725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Q̂ₜ₊₁</a:t>
            </a:r>
          </a:p>
        </p:txBody>
      </p:sp>
      <p:cxnSp>
        <p:nvCxnSpPr>
          <p:cNvPr id="13008" name=""/>
          <p:cNvCxnSpPr>
            <a:stCxn xmlns:a="http://schemas.openxmlformats.org/drawingml/2006/main" id="13005" idx="3"/>
            <a:endCxn xmlns:a="http://schemas.openxmlformats.org/drawingml/2006/main" id="13006" idx="1"/>
          </p:cNvCxnSpPr>
          <p:nvPr/>
        </p:nvCxnSpPr>
        <p:spPr>
          <a:xfrm xmlns:a="http://schemas.openxmlformats.org/drawingml/2006/main">
            <a:off x="3867150" y="3314700"/>
            <a:ext cx="1047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3DFFF"/>
            </a:solidFill>
            <a:tailEnd type="triangle" w="med" len="med"/>
          </a:ln>
        </p:spPr>
      </p:cxnSp>
      <p:cxnSp>
        <p:nvCxnSpPr>
          <p:cNvPr id="13009" name=""/>
          <p:cNvCxnSpPr>
            <a:stCxn xmlns:a="http://schemas.openxmlformats.org/drawingml/2006/main" id="13006" idx="3"/>
            <a:endCxn xmlns:a="http://schemas.openxmlformats.org/drawingml/2006/main" id="13007" idx="1"/>
          </p:cNvCxnSpPr>
          <p:nvPr/>
        </p:nvCxnSpPr>
        <p:spPr>
          <a:xfrm xmlns:a="http://schemas.openxmlformats.org/drawingml/2006/main">
            <a:off x="7629525" y="3314700"/>
            <a:ext cx="1047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1E7BD"/>
            </a:solidFill>
            <a:tailEnd type="triangle" w="med" len="med"/>
          </a:ln>
        </p:spPr>
      </p:cxnSp>
      <p:sp>
        <p:nvSpPr>
          <p:cNvPr id="13010" name="Várias saídas">
            <a:extLst xmlns:a="http://schemas.openxmlformats.org/drawingml/2006/main">
              <a:ext uri="{FF2B5EF4-FFF2-40B4-BE49-F238E27FC236}">
                <a16:creationId xmlns:a16="http://schemas.microsoft.com/office/drawing/2014/main" id="{0E4C8ED3-BE19-554B-A188-468247D5A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71950"/>
            <a:ext cx="11277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83D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725" b="1">
                <a:solidFill>
                  <a:srgbClr val="83DFFF"/>
                </a:solidFill>
                <a:latin typeface="JetBrains Mono"/>
                <a:ea typeface="JetBrains Mono"/>
                <a:cs typeface="JetBrains Mono"/>
              </a:rPr>
              <a:t>Muitos passos, uma saída por passo</a:t>
            </a:r>
          </a:p>
        </p:txBody>
      </p:sp>
      <p:sp>
        <p:nvSpPr>
          <p:cNvPr id="13011" name="Diagrama Sequência x₁ ... xₜ">
            <a:extLst xmlns:a="http://schemas.openxmlformats.org/drawingml/2006/main">
              <a:ext uri="{FF2B5EF4-FFF2-40B4-BE49-F238E27FC236}">
                <a16:creationId xmlns:a16="http://schemas.microsoft.com/office/drawing/2014/main" id="{C769391A-685A-5A37-A98D-3DEA84DEB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676775"/>
            <a:ext cx="34099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F29"/>
          </a:solidFill>
          <a:ln xmlns:a="http://schemas.openxmlformats.org/drawingml/2006/main" w="19050">
            <a:solidFill>
              <a:srgbClr val="83DFFF"/>
            </a:solidFill>
          </a:ln>
        </p:spPr>
        <p:txBody>
          <a:bodyPr xmlns:a="http://schemas.openxmlformats.org/drawingml/2006/main" lIns="76200" tIns="47625" rIns="762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725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Sequência x₁ ... xₜ</a:t>
            </a:r>
          </a:p>
        </p:txBody>
      </p:sp>
      <p:sp>
        <p:nvSpPr>
          <p:cNvPr id="13012" name="Diagrama h₁ ... hₜ">
            <a:extLst xmlns:a="http://schemas.openxmlformats.org/drawingml/2006/main">
              <a:ext uri="{FF2B5EF4-FFF2-40B4-BE49-F238E27FC236}">
                <a16:creationId xmlns:a16="http://schemas.microsoft.com/office/drawing/2014/main" id="{6D396931-3794-5E89-9295-787AF1337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4676775"/>
            <a:ext cx="271462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F29"/>
          </a:solidFill>
          <a:ln xmlns:a="http://schemas.openxmlformats.org/drawingml/2006/main" w="19050">
            <a:solidFill>
              <a:srgbClr val="83DFFF"/>
            </a:solidFill>
          </a:ln>
        </p:spPr>
        <p:txBody>
          <a:bodyPr xmlns:a="http://schemas.openxmlformats.org/drawingml/2006/main" lIns="76200" tIns="47625" rIns="762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725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h₁ ... hₜ</a:t>
            </a:r>
          </a:p>
        </p:txBody>
      </p:sp>
      <p:sp>
        <p:nvSpPr>
          <p:cNvPr id="13013" name="Diagrama Q̂₂ ... Q̂ₜ₊₁">
            <a:extLst xmlns:a="http://schemas.openxmlformats.org/drawingml/2006/main">
              <a:ext uri="{FF2B5EF4-FFF2-40B4-BE49-F238E27FC236}">
                <a16:creationId xmlns:a16="http://schemas.microsoft.com/office/drawing/2014/main" id="{5494B36B-5555-5B3F-A3AF-962A1A7CA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275" y="4676775"/>
            <a:ext cx="233362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F29"/>
          </a:solidFill>
          <a:ln xmlns:a="http://schemas.openxmlformats.org/drawingml/2006/main" w="19050">
            <a:solidFill>
              <a:srgbClr val="71E7BD"/>
            </a:solidFill>
          </a:ln>
        </p:spPr>
        <p:txBody>
          <a:bodyPr xmlns:a="http://schemas.openxmlformats.org/drawingml/2006/main" lIns="76200" tIns="47625" rIns="762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65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Q̂₂ ... Q̂ₜ₊₁</a:t>
            </a:r>
          </a:p>
        </p:txBody>
      </p:sp>
      <p:cxnSp>
        <p:nvCxnSpPr>
          <p:cNvPr id="13014" name=""/>
          <p:cNvCxnSpPr>
            <a:stCxn xmlns:a="http://schemas.openxmlformats.org/drawingml/2006/main" id="13011" idx="3"/>
            <a:endCxn xmlns:a="http://schemas.openxmlformats.org/drawingml/2006/main" id="13012" idx="1"/>
          </p:cNvCxnSpPr>
          <p:nvPr/>
        </p:nvCxnSpPr>
        <p:spPr>
          <a:xfrm xmlns:a="http://schemas.openxmlformats.org/drawingml/2006/main">
            <a:off x="3867150" y="4991100"/>
            <a:ext cx="1047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3DFFF"/>
            </a:solidFill>
            <a:tailEnd type="triangle" w="med" len="med"/>
          </a:ln>
        </p:spPr>
      </p:cxnSp>
      <p:cxnSp>
        <p:nvCxnSpPr>
          <p:cNvPr id="13015" name=""/>
          <p:cNvCxnSpPr>
            <a:stCxn xmlns:a="http://schemas.openxmlformats.org/drawingml/2006/main" id="13012" idx="3"/>
            <a:endCxn xmlns:a="http://schemas.openxmlformats.org/drawingml/2006/main" id="13013" idx="1"/>
          </p:cNvCxnSpPr>
          <p:nvPr/>
        </p:nvCxnSpPr>
        <p:spPr>
          <a:xfrm xmlns:a="http://schemas.openxmlformats.org/drawingml/2006/main">
            <a:off x="7629525" y="4991100"/>
            <a:ext cx="1047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1E7BD"/>
            </a:solidFill>
            <a:tailEnd type="triangle" w="med" len="med"/>
          </a:ln>
        </p:spPr>
      </p:cxnSp>
      <p:sp>
        <p:nvSpPr>
          <p:cNvPr id="13016" name="Contexto">
            <a:extLst xmlns:a="http://schemas.openxmlformats.org/drawingml/2006/main">
              <a:ext uri="{FF2B5EF4-FFF2-40B4-BE49-F238E27FC236}">
                <a16:creationId xmlns:a16="http://schemas.microsoft.com/office/drawing/2014/main" id="{BE6FDA9E-709C-5FD3-8E8A-7F2F3CF8E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29325"/>
            <a:ext cx="11277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91A4BD"/>
                </a:solidFill>
                <a:latin typeface="JetBrains Mono"/>
                <a:ea typeface="JetBrains Mono"/>
                <a:cs typeface="JetBrains Mono"/>
              </a:defRPr>
            </a:pPr>
            <a:r>
              <a:rPr sz="1125" b="0">
                <a:solidFill>
                  <a:srgbClr val="91A4BD"/>
                </a:solidFill>
                <a:latin typeface="JetBrains Mono"/>
                <a:ea typeface="JetBrains Mono"/>
                <a:cs typeface="JetBrains Mono"/>
              </a:rPr>
              <a:t>Em Keras, return_sequences controla os estados retornados pela camada recorrente.</a:t>
            </a:r>
          </a:p>
        </p:txBody>
      </p:sp>
      <p:pic>
        <p:nvPicPr>
          <p:cNvPr id="13017" name="Imagem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29947988c64384"/>
          <a:srcRect xmlns:a="http://schemas.openxmlformats.org/drawingml/2006/main" l="3570" t="0" r="8084" b="1819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3701" y="6294313"/>
            <a:ext cx="308300" cy="272211"/>
          </a:xfrm>
          <a:prstGeom xmlns:a="http://schemas.openxmlformats.org/drawingml/2006/main" prst="rect">
            <a:avLst/>
          </a:prstGeom>
        </p:spPr>
      </p:pic>
      <p:sp>
        <p:nvSpPr>
          <p:cNvPr id="13018" name="Hydro-UAI Rede neural recorrente">
            <a:extLst xmlns:a="http://schemas.openxmlformats.org/drawingml/2006/main">
              <a:ext uri="{FF2B5EF4-FFF2-40B4-BE49-F238E27FC236}">
                <a16:creationId xmlns:a16="http://schemas.microsoft.com/office/drawing/2014/main" id="{ED4BCC9E-A7D2-51A6-9E72-9FE736C45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676" y="741617"/>
            <a:ext cx="11284553" cy="4855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 i="1">
                <a:solidFill>
                  <a:srgbClr val="FFFFFF"/>
                </a:solidFill>
                <a:latin typeface="JetBrains Mono ExtraBold"/>
                <a:ea typeface="JetBrains Mono ExtraBold"/>
                <a:cs typeface="JetBrains Mono ExtraBold"/>
              </a:defRPr>
            </a:pPr>
            <a:r>
              <a:rPr sz="2400" b="1" i="1">
                <a:solidFill>
                  <a:srgbClr val="FFFFFF"/>
                </a:solidFill>
                <a:latin typeface="JetBrains Mono ExtraBold"/>
                <a:ea typeface="JetBrains Mono ExtraBold"/>
                <a:cs typeface="JetBrains Mono ExtraBold"/>
              </a:rPr>
              <a:t>Rede neural recorrente</a:t>
            </a:r>
          </a:p>
        </p:txBody>
      </p:sp>
      <p:sp>
        <p:nvSpPr>
          <p:cNvPr id="13019" name="Divisor Hydro-UAI">
            <a:extLst xmlns:a="http://schemas.openxmlformats.org/drawingml/2006/main">
              <a:ext uri="{FF2B5EF4-FFF2-40B4-BE49-F238E27FC236}">
                <a16:creationId xmlns:a16="http://schemas.microsoft.com/office/drawing/2014/main" id="{04D6C288-0EAA-5652-88DC-08C7C9961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08259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668">
            <a:solidFill>
              <a:srgbClr val="FFFFFF"/>
            </a:solidFill>
          </a:ln>
        </p:spPr>
      </p:sp>
      <p:sp>
        <p:nvSpPr>
          <p:cNvPr id="13020" name="Hydro-UAI Hydro-UAI Course">
            <a:extLst xmlns:a="http://schemas.openxmlformats.org/drawingml/2006/main">
              <a:ext uri="{FF2B5EF4-FFF2-40B4-BE49-F238E27FC236}">
                <a16:creationId xmlns:a16="http://schemas.microsoft.com/office/drawing/2014/main" id="{4C2504E1-57B5-57A8-9E7E-CBF8D91C4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63436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45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945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Hydro-UAI Course</a:t>
            </a:r>
          </a:p>
        </p:txBody>
      </p:sp>
      <p:sp>
        <p:nvSpPr>
          <p:cNvPr id="13021" name="Hydro-UAI 13 / 47">
            <a:extLst xmlns:a="http://schemas.openxmlformats.org/drawingml/2006/main">
              <a:ext uri="{FF2B5EF4-FFF2-40B4-BE49-F238E27FC236}">
                <a16:creationId xmlns:a16="http://schemas.microsoft.com/office/drawing/2014/main" id="{EDE3A122-60F0-52FE-B88E-5F9300A1E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343650"/>
            <a:ext cx="1219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91A4BD"/>
                </a:solidFill>
                <a:latin typeface="JetBrains Mono"/>
                <a:ea typeface="JetBrains Mono"/>
                <a:cs typeface="JetBrains Mono"/>
              </a:defRPr>
            </a:pPr>
            <a:r>
              <a:rPr sz="975" b="0" i="0">
                <a:solidFill>
                  <a:srgbClr val="91A4BD"/>
                </a:solidFill>
                <a:latin typeface="JetBrains Mono"/>
                <a:ea typeface="JetBrains Mono"/>
                <a:cs typeface="JetBrains Mono"/>
              </a:rPr>
              <a:t>13 / 47</a:t>
            </a:r>
          </a:p>
        </p:txBody>
      </p:sp>
    </p:spTree>
    <p:extLst>
      <p:ext uri="{BB962C8B-B14F-4D97-AF65-F5344CB8AC3E}">
        <p14:creationId xmlns:p14="http://schemas.microsoft.com/office/powerpoint/2010/main" val="3991283715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4001" name=""/>
        <p:cNvGrpSpPr/>
        <p:nvPr/>
      </p:nvGrpSpPr>
      <p:grpSpPr>
        <a:xfrm xmlns:a="http://schemas.openxmlformats.org/drawingml/2006/main"/>
      </p:grpSpPr>
      <p:sp>
        <p:nvSpPr>
          <p:cNvPr id="14002" name="Retângulo 6">
            <a:extLst xmlns:a="http://schemas.openxmlformats.org/drawingml/2006/main">
              <a:ext uri="{FF2B5EF4-FFF2-40B4-BE49-F238E27FC236}">
                <a16:creationId xmlns:a16="http://schemas.microsoft.com/office/drawing/2014/main" id="{F565F9F9-6EE9-5B63-A9B4-47B41E80B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F29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4003" name="Tema do slide">
            <a:extLst xmlns:a="http://schemas.openxmlformats.org/drawingml/2006/main">
              <a:ext uri="{FF2B5EF4-FFF2-40B4-BE49-F238E27FC236}">
                <a16:creationId xmlns:a16="http://schemas.microsoft.com/office/drawing/2014/main" id="{A330F7F6-5BDA-50B7-AE22-85E9F9FF6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90700"/>
            <a:ext cx="11277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2025" b="1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Pausa: quantos parâmetros a recorrência aprende?</a:t>
            </a:r>
          </a:p>
        </p:txBody>
      </p:sp>
      <p:sp>
        <p:nvSpPr>
          <p:cNvPr id="14004" name="Cenário">
            <a:extLst xmlns:a="http://schemas.openxmlformats.org/drawingml/2006/main">
              <a:ext uri="{FF2B5EF4-FFF2-40B4-BE49-F238E27FC236}">
                <a16:creationId xmlns:a16="http://schemas.microsoft.com/office/drawing/2014/main" id="{A80E775A-6A61-5EA6-9694-88E923216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71750"/>
            <a:ext cx="11277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83D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2175" b="1">
                <a:solidFill>
                  <a:srgbClr val="83DFFF"/>
                </a:solidFill>
                <a:latin typeface="JetBrains Mono"/>
                <a:ea typeface="JetBrains Mono"/>
                <a:cs typeface="JetBrains Mono"/>
              </a:rPr>
              <a:t>D = 3 atributos, H = 16 unidades ocultas</a:t>
            </a:r>
          </a:p>
        </p:txBody>
      </p:sp>
      <p:sp>
        <p:nvSpPr>
          <p:cNvPr id="14005" name="Janela">
            <a:extLst xmlns:a="http://schemas.openxmlformats.org/drawingml/2006/main">
              <a:ext uri="{FF2B5EF4-FFF2-40B4-BE49-F238E27FC236}">
                <a16:creationId xmlns:a16="http://schemas.microsoft.com/office/drawing/2014/main" id="{FAB0E4A1-AD73-5310-8EF2-D0C7ECD98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67100"/>
            <a:ext cx="11277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2100" b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A janela passa de 7 para 30 dias.</a:t>
            </a:r>
          </a:p>
        </p:txBody>
      </p:sp>
      <p:sp>
        <p:nvSpPr>
          <p:cNvPr id="14006" name="Pergunta">
            <a:extLst xmlns:a="http://schemas.openxmlformats.org/drawingml/2006/main">
              <a:ext uri="{FF2B5EF4-FFF2-40B4-BE49-F238E27FC236}">
                <a16:creationId xmlns:a16="http://schemas.microsoft.com/office/drawing/2014/main" id="{CAECA882-915F-51FB-A401-ED0F6CABF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57675"/>
            <a:ext cx="11277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2250" b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O número de parâmetros da célula aumenta?</a:t>
            </a:r>
          </a:p>
        </p:txBody>
      </p:sp>
      <p:sp>
        <p:nvSpPr>
          <p:cNvPr id="14007" name="Ajuda">
            <a:extLst xmlns:a="http://schemas.openxmlformats.org/drawingml/2006/main">
              <a:ext uri="{FF2B5EF4-FFF2-40B4-BE49-F238E27FC236}">
                <a16:creationId xmlns:a16="http://schemas.microsoft.com/office/drawing/2014/main" id="{6BBA8781-AA5D-56BC-AC53-9F4D893CA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19675"/>
            <a:ext cx="112776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83D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725" b="1">
                <a:solidFill>
                  <a:srgbClr val="83DFFF"/>
                </a:solidFill>
                <a:latin typeface="JetBrains Mono"/>
                <a:ea typeface="JetBrains Mono"/>
                <a:cs typeface="JetBrains Mono"/>
              </a:rPr>
              <a:t>Wₓ tem forma 16 × 3</a:t>
            </a:r>
          </a:p>
          <a:p xmlns:a="http://schemas.openxmlformats.org/drawingml/2006/main">
            <a:pPr algn="l">
              <a:buNone/>
              <a:defRPr sz="1725" b="1">
                <a:solidFill>
                  <a:srgbClr val="83D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725" b="1">
                <a:solidFill>
                  <a:srgbClr val="83DFFF"/>
                </a:solidFill>
                <a:latin typeface="JetBrains Mono"/>
                <a:ea typeface="JetBrains Mono"/>
                <a:cs typeface="JetBrains Mono"/>
              </a:rPr>
              <a:t>Wₕ tem forma 16 × 16</a:t>
            </a:r>
          </a:p>
          <a:p xmlns:a="http://schemas.openxmlformats.org/drawingml/2006/main">
            <a:pPr algn="l">
              <a:buNone/>
              <a:defRPr sz="1725" b="1">
                <a:solidFill>
                  <a:srgbClr val="83D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725" b="1">
                <a:solidFill>
                  <a:srgbClr val="83DFFF"/>
                </a:solidFill>
                <a:latin typeface="JetBrains Mono"/>
                <a:ea typeface="JetBrains Mono"/>
                <a:cs typeface="JetBrains Mono"/>
              </a:rPr>
              <a:t>bₕ tem 16 elementos</a:t>
            </a:r>
          </a:p>
        </p:txBody>
      </p:sp>
      <p:pic>
        <p:nvPicPr>
          <p:cNvPr id="14008" name="Imagem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06a862605846ee"/>
          <a:srcRect xmlns:a="http://schemas.openxmlformats.org/drawingml/2006/main" l="3570" t="0" r="8084" b="1819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3701" y="6294313"/>
            <a:ext cx="308300" cy="272211"/>
          </a:xfrm>
          <a:prstGeom xmlns:a="http://schemas.openxmlformats.org/drawingml/2006/main" prst="rect">
            <a:avLst/>
          </a:prstGeom>
        </p:spPr>
      </p:pic>
      <p:sp>
        <p:nvSpPr>
          <p:cNvPr id="14009" name="Hydro-UAI Rede neural recorrente">
            <a:extLst xmlns:a="http://schemas.openxmlformats.org/drawingml/2006/main">
              <a:ext uri="{FF2B5EF4-FFF2-40B4-BE49-F238E27FC236}">
                <a16:creationId xmlns:a16="http://schemas.microsoft.com/office/drawing/2014/main" id="{019F5049-2C1E-5742-BD59-873E68A7E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676" y="741617"/>
            <a:ext cx="11284553" cy="4855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 i="1">
                <a:solidFill>
                  <a:srgbClr val="FFFFFF"/>
                </a:solidFill>
                <a:latin typeface="JetBrains Mono ExtraBold"/>
                <a:ea typeface="JetBrains Mono ExtraBold"/>
                <a:cs typeface="JetBrains Mono ExtraBold"/>
              </a:defRPr>
            </a:pPr>
            <a:r>
              <a:rPr sz="2400" b="1" i="1">
                <a:solidFill>
                  <a:srgbClr val="FFFFFF"/>
                </a:solidFill>
                <a:latin typeface="JetBrains Mono ExtraBold"/>
                <a:ea typeface="JetBrains Mono ExtraBold"/>
                <a:cs typeface="JetBrains Mono ExtraBold"/>
              </a:rPr>
              <a:t>Rede neural recorrente</a:t>
            </a:r>
          </a:p>
        </p:txBody>
      </p:sp>
      <p:sp>
        <p:nvSpPr>
          <p:cNvPr id="14010" name="Divisor Hydro-UAI">
            <a:extLst xmlns:a="http://schemas.openxmlformats.org/drawingml/2006/main">
              <a:ext uri="{FF2B5EF4-FFF2-40B4-BE49-F238E27FC236}">
                <a16:creationId xmlns:a16="http://schemas.microsoft.com/office/drawing/2014/main" id="{8BD3160C-2BA3-517A-9900-DAFCBC2C6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08259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668">
            <a:solidFill>
              <a:srgbClr val="FFFFFF"/>
            </a:solidFill>
          </a:ln>
        </p:spPr>
      </p:sp>
      <p:sp>
        <p:nvSpPr>
          <p:cNvPr id="14011" name="Hydro-UAI Hydro-UAI Course">
            <a:extLst xmlns:a="http://schemas.openxmlformats.org/drawingml/2006/main">
              <a:ext uri="{FF2B5EF4-FFF2-40B4-BE49-F238E27FC236}">
                <a16:creationId xmlns:a16="http://schemas.microsoft.com/office/drawing/2014/main" id="{FCAE2BA4-364C-5A70-8A6F-BA38A93FA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63436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45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945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Hydro-UAI Course</a:t>
            </a:r>
          </a:p>
        </p:txBody>
      </p:sp>
      <p:sp>
        <p:nvSpPr>
          <p:cNvPr id="14012" name="Hydro-UAI 14 / 47">
            <a:extLst xmlns:a="http://schemas.openxmlformats.org/drawingml/2006/main">
              <a:ext uri="{FF2B5EF4-FFF2-40B4-BE49-F238E27FC236}">
                <a16:creationId xmlns:a16="http://schemas.microsoft.com/office/drawing/2014/main" id="{51D256B8-8898-5E69-9E5A-C88F67332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343650"/>
            <a:ext cx="1219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91A4BD"/>
                </a:solidFill>
                <a:latin typeface="JetBrains Mono"/>
                <a:ea typeface="JetBrains Mono"/>
                <a:cs typeface="JetBrains Mono"/>
              </a:defRPr>
            </a:pPr>
            <a:r>
              <a:rPr sz="975" b="0" i="0">
                <a:solidFill>
                  <a:srgbClr val="91A4BD"/>
                </a:solidFill>
                <a:latin typeface="JetBrains Mono"/>
                <a:ea typeface="JetBrains Mono"/>
                <a:cs typeface="JetBrains Mono"/>
              </a:rPr>
              <a:t>14 / 47</a:t>
            </a:r>
          </a:p>
        </p:txBody>
      </p:sp>
    </p:spTree>
    <p:extLst>
      <p:ext uri="{BB962C8B-B14F-4D97-AF65-F5344CB8AC3E}">
        <p14:creationId xmlns:p14="http://schemas.microsoft.com/office/powerpoint/2010/main" val="3991283715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5001" name=""/>
        <p:cNvGrpSpPr/>
        <p:nvPr/>
      </p:nvGrpSpPr>
      <p:grpSpPr>
        <a:xfrm xmlns:a="http://schemas.openxmlformats.org/drawingml/2006/main"/>
      </p:grpSpPr>
      <p:sp>
        <p:nvSpPr>
          <p:cNvPr id="15002" name="Retângulo 6">
            <a:extLst xmlns:a="http://schemas.openxmlformats.org/drawingml/2006/main">
              <a:ext uri="{FF2B5EF4-FFF2-40B4-BE49-F238E27FC236}">
                <a16:creationId xmlns:a16="http://schemas.microsoft.com/office/drawing/2014/main" id="{BC739500-E8CC-510F-B6AE-4668D4978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F29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5003" name="Tema do slide">
            <a:extLst xmlns:a="http://schemas.openxmlformats.org/drawingml/2006/main">
              <a:ext uri="{FF2B5EF4-FFF2-40B4-BE49-F238E27FC236}">
                <a16:creationId xmlns:a16="http://schemas.microsoft.com/office/drawing/2014/main" id="{96042938-BE31-5D7F-933C-BB6D6EA40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90700"/>
            <a:ext cx="11277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2025" b="1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Backpropagation Through Time (BPTT)</a:t>
            </a:r>
          </a:p>
        </p:txBody>
      </p:sp>
      <p:sp>
        <p:nvSpPr>
          <p:cNvPr id="15004" name="Diagrama h(t − 2)">
            <a:extLst xmlns:a="http://schemas.openxmlformats.org/drawingml/2006/main">
              <a:ext uri="{FF2B5EF4-FFF2-40B4-BE49-F238E27FC236}">
                <a16:creationId xmlns:a16="http://schemas.microsoft.com/office/drawing/2014/main" id="{D03DD0F3-0B0D-519C-B602-EB0289523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3486150"/>
            <a:ext cx="2000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F29"/>
          </a:solidFill>
          <a:ln xmlns:a="http://schemas.openxmlformats.org/drawingml/2006/main" w="19050">
            <a:solidFill>
              <a:srgbClr val="83DFFF"/>
            </a:solidFill>
          </a:ln>
        </p:spPr>
        <p:txBody>
          <a:bodyPr xmlns:a="http://schemas.openxmlformats.org/drawingml/2006/main" lIns="76200" tIns="47625" rIns="762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80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h(t − 2)</a:t>
            </a:r>
          </a:p>
        </p:txBody>
      </p:sp>
      <p:sp>
        <p:nvSpPr>
          <p:cNvPr id="15005" name="Diagrama h(t − 1)">
            <a:extLst xmlns:a="http://schemas.openxmlformats.org/drawingml/2006/main">
              <a:ext uri="{FF2B5EF4-FFF2-40B4-BE49-F238E27FC236}">
                <a16:creationId xmlns:a16="http://schemas.microsoft.com/office/drawing/2014/main" id="{2C736C52-9780-55F2-B36B-AA73755DC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486150"/>
            <a:ext cx="2000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F29"/>
          </a:solidFill>
          <a:ln xmlns:a="http://schemas.openxmlformats.org/drawingml/2006/main" w="19050">
            <a:solidFill>
              <a:srgbClr val="83DFFF"/>
            </a:solidFill>
          </a:ln>
        </p:spPr>
        <p:txBody>
          <a:bodyPr xmlns:a="http://schemas.openxmlformats.org/drawingml/2006/main" lIns="76200" tIns="47625" rIns="762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80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h(t − 1)</a:t>
            </a:r>
          </a:p>
        </p:txBody>
      </p:sp>
      <p:sp>
        <p:nvSpPr>
          <p:cNvPr id="15006" name="Diagrama h(t)">
            <a:extLst xmlns:a="http://schemas.openxmlformats.org/drawingml/2006/main">
              <a:ext uri="{FF2B5EF4-FFF2-40B4-BE49-F238E27FC236}">
                <a16:creationId xmlns:a16="http://schemas.microsoft.com/office/drawing/2014/main" id="{43149D4B-D92A-58C1-9A31-82427F8BC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486150"/>
            <a:ext cx="2000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F29"/>
          </a:solidFill>
          <a:ln xmlns:a="http://schemas.openxmlformats.org/drawingml/2006/main" w="19050">
            <a:solidFill>
              <a:srgbClr val="83DFFF"/>
            </a:solidFill>
          </a:ln>
        </p:spPr>
        <p:txBody>
          <a:bodyPr xmlns:a="http://schemas.openxmlformats.org/drawingml/2006/main" lIns="76200" tIns="47625" rIns="762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80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h(t)</a:t>
            </a:r>
          </a:p>
        </p:txBody>
      </p:sp>
      <p:cxnSp>
        <p:nvCxnSpPr>
          <p:cNvPr id="15007" name=""/>
          <p:cNvCxnSpPr>
            <a:stCxn xmlns:a="http://schemas.openxmlformats.org/drawingml/2006/main" id="15004" idx="3"/>
            <a:endCxn xmlns:a="http://schemas.openxmlformats.org/drawingml/2006/main" id="15005" idx="1"/>
          </p:cNvCxnSpPr>
          <p:nvPr/>
        </p:nvCxnSpPr>
        <p:spPr>
          <a:xfrm xmlns:a="http://schemas.openxmlformats.org/drawingml/2006/main">
            <a:off x="4362450" y="3838575"/>
            <a:ext cx="1009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3DFFF"/>
            </a:solidFill>
            <a:tailEnd type="triangle" w="med" len="med"/>
          </a:ln>
        </p:spPr>
      </p:cxnSp>
      <p:cxnSp>
        <p:nvCxnSpPr>
          <p:cNvPr id="15008" name=""/>
          <p:cNvCxnSpPr>
            <a:stCxn xmlns:a="http://schemas.openxmlformats.org/drawingml/2006/main" id="15005" idx="3"/>
            <a:endCxn xmlns:a="http://schemas.openxmlformats.org/drawingml/2006/main" id="15006" idx="1"/>
          </p:cNvCxnSpPr>
          <p:nvPr/>
        </p:nvCxnSpPr>
        <p:spPr>
          <a:xfrm xmlns:a="http://schemas.openxmlformats.org/drawingml/2006/main">
            <a:off x="7372350" y="3838575"/>
            <a:ext cx="1009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3DFFF"/>
            </a:solidFill>
            <a:tailEnd type="triangle" w="med" len="med"/>
          </a:ln>
        </p:spPr>
      </p:cxnSp>
      <p:sp>
        <p:nvSpPr>
          <p:cNvPr id="15009" name="Diagrama x(t − 2)">
            <a:extLst xmlns:a="http://schemas.openxmlformats.org/drawingml/2006/main">
              <a:ext uri="{FF2B5EF4-FFF2-40B4-BE49-F238E27FC236}">
                <a16:creationId xmlns:a16="http://schemas.microsoft.com/office/drawing/2014/main" id="{D39953C9-4A54-5115-A71C-68A39DBBC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4886325"/>
            <a:ext cx="161925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F29"/>
          </a:solidFill>
          <a:ln xmlns:a="http://schemas.openxmlformats.org/drawingml/2006/main" w="19050">
            <a:solidFill>
              <a:srgbClr val="83DFFF"/>
            </a:solidFill>
          </a:ln>
        </p:spPr>
        <p:txBody>
          <a:bodyPr xmlns:a="http://schemas.openxmlformats.org/drawingml/2006/main" lIns="76200" tIns="47625" rIns="762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65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x(t − 2)</a:t>
            </a:r>
          </a:p>
        </p:txBody>
      </p:sp>
      <p:cxnSp>
        <p:nvCxnSpPr>
          <p:cNvPr id="15010" name=""/>
          <p:cNvCxnSpPr>
            <a:stCxn xmlns:a="http://schemas.openxmlformats.org/drawingml/2006/main" id="15009" idx="0"/>
            <a:endCxn xmlns:a="http://schemas.openxmlformats.org/drawingml/2006/main" id="15004" idx="2"/>
          </p:cNvCxnSpPr>
          <p:nvPr/>
        </p:nvCxnSpPr>
        <p:spPr>
          <a:xfrm xmlns:a="http://schemas.openxmlformats.org/drawingml/2006/main" flipV="1">
            <a:off x="3362325" y="4191000"/>
            <a:ext cx="0" cy="6953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3DFFF"/>
            </a:solidFill>
            <a:tailEnd type="triangle" w="med" len="med"/>
          </a:ln>
        </p:spPr>
      </p:cxnSp>
      <p:sp>
        <p:nvSpPr>
          <p:cNvPr id="15011" name="Diagrama x(t − 1)">
            <a:extLst xmlns:a="http://schemas.openxmlformats.org/drawingml/2006/main">
              <a:ext uri="{FF2B5EF4-FFF2-40B4-BE49-F238E27FC236}">
                <a16:creationId xmlns:a16="http://schemas.microsoft.com/office/drawing/2014/main" id="{473195FD-EC2A-511D-ACF3-79DFA800E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4886325"/>
            <a:ext cx="161925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F29"/>
          </a:solidFill>
          <a:ln xmlns:a="http://schemas.openxmlformats.org/drawingml/2006/main" w="19050">
            <a:solidFill>
              <a:srgbClr val="83DFFF"/>
            </a:solidFill>
          </a:ln>
        </p:spPr>
        <p:txBody>
          <a:bodyPr xmlns:a="http://schemas.openxmlformats.org/drawingml/2006/main" lIns="76200" tIns="47625" rIns="762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65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x(t − 1)</a:t>
            </a:r>
          </a:p>
        </p:txBody>
      </p:sp>
      <p:cxnSp>
        <p:nvCxnSpPr>
          <p:cNvPr id="15012" name=""/>
          <p:cNvCxnSpPr>
            <a:stCxn xmlns:a="http://schemas.openxmlformats.org/drawingml/2006/main" id="15011" idx="0"/>
            <a:endCxn xmlns:a="http://schemas.openxmlformats.org/drawingml/2006/main" id="15005" idx="2"/>
          </p:cNvCxnSpPr>
          <p:nvPr/>
        </p:nvCxnSpPr>
        <p:spPr>
          <a:xfrm xmlns:a="http://schemas.openxmlformats.org/drawingml/2006/main" flipV="1">
            <a:off x="6372225" y="4191000"/>
            <a:ext cx="0" cy="6953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3DFFF"/>
            </a:solidFill>
            <a:tailEnd type="triangle" w="med" len="med"/>
          </a:ln>
        </p:spPr>
      </p:cxnSp>
      <p:sp>
        <p:nvSpPr>
          <p:cNvPr id="15013" name="Diagrama x(t)">
            <a:extLst xmlns:a="http://schemas.openxmlformats.org/drawingml/2006/main">
              <a:ext uri="{FF2B5EF4-FFF2-40B4-BE49-F238E27FC236}">
                <a16:creationId xmlns:a16="http://schemas.microsoft.com/office/drawing/2014/main" id="{9004081E-1220-5EAC-A997-F5D406AC3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886325"/>
            <a:ext cx="161925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F29"/>
          </a:solidFill>
          <a:ln xmlns:a="http://schemas.openxmlformats.org/drawingml/2006/main" w="19050">
            <a:solidFill>
              <a:srgbClr val="83DFFF"/>
            </a:solidFill>
          </a:ln>
        </p:spPr>
        <p:txBody>
          <a:bodyPr xmlns:a="http://schemas.openxmlformats.org/drawingml/2006/main" lIns="76200" tIns="47625" rIns="762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65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x(t)</a:t>
            </a:r>
          </a:p>
        </p:txBody>
      </p:sp>
      <p:cxnSp>
        <p:nvCxnSpPr>
          <p:cNvPr id="15014" name=""/>
          <p:cNvCxnSpPr>
            <a:stCxn xmlns:a="http://schemas.openxmlformats.org/drawingml/2006/main" id="15013" idx="0"/>
            <a:endCxn xmlns:a="http://schemas.openxmlformats.org/drawingml/2006/main" id="15006" idx="2"/>
          </p:cNvCxnSpPr>
          <p:nvPr/>
        </p:nvCxnSpPr>
        <p:spPr>
          <a:xfrm xmlns:a="http://schemas.openxmlformats.org/drawingml/2006/main" flipV="1">
            <a:off x="9382125" y="4191000"/>
            <a:ext cx="0" cy="6953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3DFFF"/>
            </a:solidFill>
            <a:tailEnd type="triangle" w="med" len="med"/>
          </a:ln>
        </p:spPr>
      </p:cxnSp>
      <p:sp>
        <p:nvSpPr>
          <p:cNvPr id="15015" name="Diagrama L">
            <a:extLst xmlns:a="http://schemas.openxmlformats.org/drawingml/2006/main">
              <a:ext uri="{FF2B5EF4-FFF2-40B4-BE49-F238E27FC236}">
                <a16:creationId xmlns:a16="http://schemas.microsoft.com/office/drawing/2014/main" id="{CB9C0A91-1437-5403-BFE9-3B526EEF5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505200"/>
            <a:ext cx="609600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F29"/>
          </a:solidFill>
          <a:ln xmlns:a="http://schemas.openxmlformats.org/drawingml/2006/main" w="19050">
            <a:solidFill>
              <a:srgbClr val="71E7BD"/>
            </a:solidFill>
          </a:ln>
        </p:spPr>
        <p:txBody>
          <a:bodyPr xmlns:a="http://schemas.openxmlformats.org/drawingml/2006/main" lIns="76200" tIns="47625" rIns="762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2025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L</a:t>
            </a:r>
          </a:p>
        </p:txBody>
      </p:sp>
      <p:cxnSp>
        <p:nvCxnSpPr>
          <p:cNvPr id="15016" name=""/>
          <p:cNvCxnSpPr>
            <a:stCxn xmlns:a="http://schemas.openxmlformats.org/drawingml/2006/main" id="15006" idx="3"/>
            <a:endCxn xmlns:a="http://schemas.openxmlformats.org/drawingml/2006/main" id="15015" idx="1"/>
          </p:cNvCxnSpPr>
          <p:nvPr/>
        </p:nvCxnSpPr>
        <p:spPr>
          <a:xfrm xmlns:a="http://schemas.openxmlformats.org/drawingml/2006/main" flipV="1">
            <a:off x="10382250" y="3833813"/>
            <a:ext cx="666750" cy="4763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1E7BD"/>
            </a:solidFill>
            <a:tailEnd type="triangle" w="med" len="med"/>
          </a:ln>
        </p:spPr>
      </p:cxnSp>
      <p:sp>
        <p:nvSpPr>
          <p:cNvPr id="15017" name="Forward">
            <a:extLst xmlns:a="http://schemas.openxmlformats.org/drawingml/2006/main">
              <a:ext uri="{FF2B5EF4-FFF2-40B4-BE49-F238E27FC236}">
                <a16:creationId xmlns:a16="http://schemas.microsoft.com/office/drawing/2014/main" id="{602CB71F-5DD9-5335-93DA-613D58F08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76500"/>
            <a:ext cx="11277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83D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800" b="1">
                <a:solidFill>
                  <a:srgbClr val="83DFFF"/>
                </a:solidFill>
                <a:latin typeface="JetBrains Mono"/>
                <a:ea typeface="JetBrains Mono"/>
                <a:cs typeface="JetBrains Mono"/>
              </a:rPr>
              <a:t>Leitura das entradas e cálculo da perda</a:t>
            </a:r>
          </a:p>
        </p:txBody>
      </p:sp>
      <p:sp>
        <p:nvSpPr>
          <p:cNvPr id="15018" name="Diagrama ∂L / ∂h">
            <a:extLst xmlns:a="http://schemas.openxmlformats.org/drawingml/2006/main">
              <a:ext uri="{FF2B5EF4-FFF2-40B4-BE49-F238E27FC236}">
                <a16:creationId xmlns:a16="http://schemas.microsoft.com/office/drawing/2014/main" id="{2A6B720B-CD36-5204-BC4B-895367B6F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981325"/>
            <a:ext cx="1524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F29"/>
          </a:solidFill>
          <a:ln xmlns:a="http://schemas.openxmlformats.org/drawingml/2006/main" w="19050">
            <a:solidFill>
              <a:srgbClr val="FFAD62"/>
            </a:solidFill>
          </a:ln>
        </p:spPr>
        <p:txBody>
          <a:bodyPr xmlns:a="http://schemas.openxmlformats.org/drawingml/2006/main" lIns="76200" tIns="47625" rIns="762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35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∂L / ∂h</a:t>
            </a:r>
          </a:p>
        </p:txBody>
      </p:sp>
      <p:sp>
        <p:nvSpPr>
          <p:cNvPr id="15019" name="Diagrama ∂L / ∂h">
            <a:extLst xmlns:a="http://schemas.openxmlformats.org/drawingml/2006/main">
              <a:ext uri="{FF2B5EF4-FFF2-40B4-BE49-F238E27FC236}">
                <a16:creationId xmlns:a16="http://schemas.microsoft.com/office/drawing/2014/main" id="{F0342C35-E2E7-53AD-935C-E432AD1F8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981325"/>
            <a:ext cx="1524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F29"/>
          </a:solidFill>
          <a:ln xmlns:a="http://schemas.openxmlformats.org/drawingml/2006/main" w="19050">
            <a:solidFill>
              <a:srgbClr val="FFAD62"/>
            </a:solidFill>
          </a:ln>
        </p:spPr>
        <p:txBody>
          <a:bodyPr xmlns:a="http://schemas.openxmlformats.org/drawingml/2006/main" lIns="76200" tIns="47625" rIns="762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35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∂L / ∂h</a:t>
            </a:r>
          </a:p>
        </p:txBody>
      </p:sp>
      <p:sp>
        <p:nvSpPr>
          <p:cNvPr id="15020" name="Diagrama ∂L / ∂h">
            <a:extLst xmlns:a="http://schemas.openxmlformats.org/drawingml/2006/main">
              <a:ext uri="{FF2B5EF4-FFF2-40B4-BE49-F238E27FC236}">
                <a16:creationId xmlns:a16="http://schemas.microsoft.com/office/drawing/2014/main" id="{986E8748-9925-5D96-B24A-794566360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981325"/>
            <a:ext cx="1524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F29"/>
          </a:solidFill>
          <a:ln xmlns:a="http://schemas.openxmlformats.org/drawingml/2006/main" w="19050">
            <a:solidFill>
              <a:srgbClr val="FFAD62"/>
            </a:solidFill>
          </a:ln>
        </p:spPr>
        <p:txBody>
          <a:bodyPr xmlns:a="http://schemas.openxmlformats.org/drawingml/2006/main" lIns="76200" tIns="47625" rIns="762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35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∂L / ∂h</a:t>
            </a:r>
          </a:p>
        </p:txBody>
      </p:sp>
      <p:cxnSp>
        <p:nvCxnSpPr>
          <p:cNvPr id="15021" name=""/>
          <p:cNvCxnSpPr>
            <a:stCxn xmlns:a="http://schemas.openxmlformats.org/drawingml/2006/main" id="15015" idx="0"/>
            <a:endCxn xmlns:a="http://schemas.openxmlformats.org/drawingml/2006/main" id="15020" idx="3"/>
          </p:cNvCxnSpPr>
          <p:nvPr/>
        </p:nvCxnSpPr>
        <p:spPr>
          <a:xfrm xmlns:a="http://schemas.openxmlformats.org/drawingml/2006/main" flipH="1" flipV="1">
            <a:off x="10115550" y="3181350"/>
            <a:ext cx="1238250" cy="323850"/>
          </a:xfrm>
          <a:prstGeom xmlns:a="http://schemas.openxmlformats.org/drawingml/2006/main" prst="bentConnector5">
            <a:avLst>
              <a:gd name="adj1" fmla="val 0"/>
              <a:gd name="adj2" fmla="val 70588"/>
              <a:gd name="adj3" fmla="val 81538"/>
            </a:avLst>
          </a:prstGeom>
          <a:ln xmlns:a="http://schemas.openxmlformats.org/drawingml/2006/main" w="19050">
            <a:solidFill>
              <a:srgbClr val="FFAD62"/>
            </a:solidFill>
            <a:tailEnd type="triangle" w="med" len="med"/>
          </a:ln>
        </p:spPr>
      </p:cxnSp>
      <p:cxnSp>
        <p:nvCxnSpPr>
          <p:cNvPr id="15022" name=""/>
          <p:cNvCxnSpPr>
            <a:stCxn xmlns:a="http://schemas.openxmlformats.org/drawingml/2006/main" id="15020" idx="1"/>
            <a:endCxn xmlns:a="http://schemas.openxmlformats.org/drawingml/2006/main" id="15019" idx="3"/>
          </p:cNvCxnSpPr>
          <p:nvPr/>
        </p:nvCxnSpPr>
        <p:spPr>
          <a:xfrm xmlns:a="http://schemas.openxmlformats.org/drawingml/2006/main" flipH="1">
            <a:off x="7105650" y="3181350"/>
            <a:ext cx="14859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FAD62"/>
            </a:solidFill>
            <a:tailEnd type="triangle" w="med" len="med"/>
          </a:ln>
        </p:spPr>
      </p:cxnSp>
      <p:cxnSp>
        <p:nvCxnSpPr>
          <p:cNvPr id="15023" name=""/>
          <p:cNvCxnSpPr>
            <a:stCxn xmlns:a="http://schemas.openxmlformats.org/drawingml/2006/main" id="15019" idx="1"/>
            <a:endCxn xmlns:a="http://schemas.openxmlformats.org/drawingml/2006/main" id="15018" idx="3"/>
          </p:cNvCxnSpPr>
          <p:nvPr/>
        </p:nvCxnSpPr>
        <p:spPr>
          <a:xfrm xmlns:a="http://schemas.openxmlformats.org/drawingml/2006/main" flipH="1">
            <a:off x="4095750" y="3181350"/>
            <a:ext cx="14859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FAD62"/>
            </a:solidFill>
            <a:tailEnd type="triangle" w="med" len="med"/>
          </a:ln>
        </p:spPr>
      </p:cxnSp>
      <p:sp>
        <p:nvSpPr>
          <p:cNvPr id="15024" name="Backward">
            <a:extLst xmlns:a="http://schemas.openxmlformats.org/drawingml/2006/main">
              <a:ext uri="{FF2B5EF4-FFF2-40B4-BE49-F238E27FC236}">
                <a16:creationId xmlns:a16="http://schemas.microsoft.com/office/drawing/2014/main" id="{B0F0B032-4AA7-5924-A7D0-682A8472C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72150"/>
            <a:ext cx="11277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FFAD62"/>
                </a:solidFill>
                <a:latin typeface="JetBrains Mono"/>
                <a:ea typeface="JetBrains Mono"/>
                <a:cs typeface="JetBrains Mono"/>
              </a:defRPr>
            </a:pPr>
            <a:r>
              <a:rPr sz="1725" b="1">
                <a:solidFill>
                  <a:srgbClr val="FFAD62"/>
                </a:solidFill>
                <a:latin typeface="JetBrains Mono"/>
                <a:ea typeface="JetBrains Mono"/>
                <a:cs typeface="JetBrains Mono"/>
              </a:rPr>
              <a:t>O gradiente percorre os passos em sentido inverso.</a:t>
            </a:r>
          </a:p>
        </p:txBody>
      </p:sp>
      <p:pic>
        <p:nvPicPr>
          <p:cNvPr id="15025" name="Imagem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af2257cb434b7d"/>
          <a:srcRect xmlns:a="http://schemas.openxmlformats.org/drawingml/2006/main" l="3570" t="0" r="8084" b="1819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3701" y="6294313"/>
            <a:ext cx="308300" cy="272211"/>
          </a:xfrm>
          <a:prstGeom xmlns:a="http://schemas.openxmlformats.org/drawingml/2006/main" prst="rect">
            <a:avLst/>
          </a:prstGeom>
        </p:spPr>
      </p:pic>
      <p:sp>
        <p:nvSpPr>
          <p:cNvPr id="15026" name="Hydro-UAI Treinamento e gradientes">
            <a:extLst xmlns:a="http://schemas.openxmlformats.org/drawingml/2006/main">
              <a:ext uri="{FF2B5EF4-FFF2-40B4-BE49-F238E27FC236}">
                <a16:creationId xmlns:a16="http://schemas.microsoft.com/office/drawing/2014/main" id="{E7837534-F94A-5BAD-99B0-833AB29DE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676" y="741617"/>
            <a:ext cx="11284553" cy="4855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 i="1">
                <a:solidFill>
                  <a:srgbClr val="FFFFFF"/>
                </a:solidFill>
                <a:latin typeface="JetBrains Mono ExtraBold"/>
                <a:ea typeface="JetBrains Mono ExtraBold"/>
                <a:cs typeface="JetBrains Mono ExtraBold"/>
              </a:defRPr>
            </a:pPr>
            <a:r>
              <a:rPr sz="2400" b="1" i="1">
                <a:solidFill>
                  <a:srgbClr val="FFFFFF"/>
                </a:solidFill>
                <a:latin typeface="JetBrains Mono ExtraBold"/>
                <a:ea typeface="JetBrains Mono ExtraBold"/>
                <a:cs typeface="JetBrains Mono ExtraBold"/>
              </a:rPr>
              <a:t>Treinamento e gradientes</a:t>
            </a:r>
          </a:p>
        </p:txBody>
      </p:sp>
      <p:sp>
        <p:nvSpPr>
          <p:cNvPr id="15027" name="Divisor Hydro-UAI">
            <a:extLst xmlns:a="http://schemas.openxmlformats.org/drawingml/2006/main">
              <a:ext uri="{FF2B5EF4-FFF2-40B4-BE49-F238E27FC236}">
                <a16:creationId xmlns:a16="http://schemas.microsoft.com/office/drawing/2014/main" id="{8173BAB9-E5E1-50AC-A671-8A0C89ED3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08259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668">
            <a:solidFill>
              <a:srgbClr val="FFFFFF"/>
            </a:solidFill>
          </a:ln>
        </p:spPr>
      </p:sp>
      <p:sp>
        <p:nvSpPr>
          <p:cNvPr id="15028" name="Hydro-UAI Hydro-UAI Course">
            <a:extLst xmlns:a="http://schemas.openxmlformats.org/drawingml/2006/main">
              <a:ext uri="{FF2B5EF4-FFF2-40B4-BE49-F238E27FC236}">
                <a16:creationId xmlns:a16="http://schemas.microsoft.com/office/drawing/2014/main" id="{D11D9244-E761-5BBC-8ED2-AD3E38236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63436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45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945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Hydro-UAI Course</a:t>
            </a:r>
          </a:p>
        </p:txBody>
      </p:sp>
      <p:sp>
        <p:nvSpPr>
          <p:cNvPr id="15029" name="Hydro-UAI 15 / 47">
            <a:extLst xmlns:a="http://schemas.openxmlformats.org/drawingml/2006/main">
              <a:ext uri="{FF2B5EF4-FFF2-40B4-BE49-F238E27FC236}">
                <a16:creationId xmlns:a16="http://schemas.microsoft.com/office/drawing/2014/main" id="{CCF5A63F-88E8-5325-A9C1-CC98F8E15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343650"/>
            <a:ext cx="1219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91A4BD"/>
                </a:solidFill>
                <a:latin typeface="JetBrains Mono"/>
                <a:ea typeface="JetBrains Mono"/>
                <a:cs typeface="JetBrains Mono"/>
              </a:defRPr>
            </a:pPr>
            <a:r>
              <a:rPr sz="975" b="0" i="0">
                <a:solidFill>
                  <a:srgbClr val="91A4BD"/>
                </a:solidFill>
                <a:latin typeface="JetBrains Mono"/>
                <a:ea typeface="JetBrains Mono"/>
                <a:cs typeface="JetBrains Mono"/>
              </a:rPr>
              <a:t>15 / 47</a:t>
            </a:r>
          </a:p>
        </p:txBody>
      </p:sp>
    </p:spTree>
    <p:extLst>
      <p:ext uri="{BB962C8B-B14F-4D97-AF65-F5344CB8AC3E}">
        <p14:creationId xmlns:p14="http://schemas.microsoft.com/office/powerpoint/2010/main" val="3991283715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6001" name=""/>
        <p:cNvGrpSpPr/>
        <p:nvPr/>
      </p:nvGrpSpPr>
      <p:grpSpPr>
        <a:xfrm xmlns:a="http://schemas.openxmlformats.org/drawingml/2006/main"/>
      </p:grpSpPr>
      <p:sp>
        <p:nvSpPr>
          <p:cNvPr id="16002" name="Retângulo 6">
            <a:extLst xmlns:a="http://schemas.openxmlformats.org/drawingml/2006/main">
              <a:ext uri="{FF2B5EF4-FFF2-40B4-BE49-F238E27FC236}">
                <a16:creationId xmlns:a16="http://schemas.microsoft.com/office/drawing/2014/main" id="{49856485-1DA6-5642-9B90-E29706E2C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F29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6003" name="Tema do slide">
            <a:extLst xmlns:a="http://schemas.openxmlformats.org/drawingml/2006/main">
              <a:ext uri="{FF2B5EF4-FFF2-40B4-BE49-F238E27FC236}">
                <a16:creationId xmlns:a16="http://schemas.microsoft.com/office/drawing/2014/main" id="{CD8AA8FA-A663-58F7-8E23-51E3388F6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90700"/>
            <a:ext cx="11277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2025" b="1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Produto de derivadas ao voltar no tempo</a:t>
            </a:r>
          </a:p>
        </p:txBody>
      </p:sp>
      <p:sp>
        <p:nvSpPr>
          <p:cNvPr id="16004" name="Derivada">
            <a:extLst xmlns:a="http://schemas.openxmlformats.org/drawingml/2006/main">
              <a:ext uri="{FF2B5EF4-FFF2-40B4-BE49-F238E27FC236}">
                <a16:creationId xmlns:a16="http://schemas.microsoft.com/office/drawing/2014/main" id="{EA50AEFA-62DD-5ADA-974C-5911E51A9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24125"/>
            <a:ext cx="112776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FFAD62"/>
                </a:solidFill>
                <a:latin typeface="JetBrains Mono"/>
                <a:ea typeface="JetBrains Mono"/>
                <a:cs typeface="JetBrains Mono"/>
              </a:defRPr>
            </a:pPr>
            <a:r>
              <a:rPr sz="2250" b="1">
                <a:solidFill>
                  <a:srgbClr val="FFAD62"/>
                </a:solidFill>
                <a:latin typeface="JetBrains Mono"/>
                <a:ea typeface="JetBrains Mono"/>
                <a:cs typeface="JetBrains Mono"/>
              </a:rPr>
              <a:t>∂L/∂hₜ₋ₖ = Jₜ₋ₖ₊₁ᵀ ... Jₜᵀ (∂L/∂hₜ)</a:t>
            </a:r>
          </a:p>
        </p:txBody>
      </p:sp>
      <p:sp>
        <p:nvSpPr>
          <p:cNvPr id="16005" name="Jacobiana">
            <a:extLst xmlns:a="http://schemas.openxmlformats.org/drawingml/2006/main">
              <a:ext uri="{FF2B5EF4-FFF2-40B4-BE49-F238E27FC236}">
                <a16:creationId xmlns:a16="http://schemas.microsoft.com/office/drawing/2014/main" id="{9DCE92AE-6A36-5A08-9EBE-24CDEF566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76625"/>
            <a:ext cx="112776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2025" b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Jⱼ = ∂hⱼ/∂hⱼ₋₁ = diag(1 − hⱼ²) Wₕ</a:t>
            </a:r>
          </a:p>
        </p:txBody>
      </p:sp>
      <p:sp>
        <p:nvSpPr>
          <p:cNvPr id="16006" name="Explicação">
            <a:extLst xmlns:a="http://schemas.openxmlformats.org/drawingml/2006/main">
              <a:ext uri="{FF2B5EF4-FFF2-40B4-BE49-F238E27FC236}">
                <a16:creationId xmlns:a16="http://schemas.microsoft.com/office/drawing/2014/main" id="{A38E43D8-A6D7-5299-B0F2-03B906095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400550"/>
            <a:ext cx="112776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875" b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Cada passo acrescenta uma transformação ao gradiente.</a:t>
            </a:r>
          </a:p>
        </p:txBody>
      </p:sp>
      <p:sp>
        <p:nvSpPr>
          <p:cNvPr id="16007" name="Escalar">
            <a:extLst xmlns:a="http://schemas.openxmlformats.org/drawingml/2006/main">
              <a:ext uri="{FF2B5EF4-FFF2-40B4-BE49-F238E27FC236}">
                <a16:creationId xmlns:a16="http://schemas.microsoft.com/office/drawing/2014/main" id="{F4755828-EAEF-5F1C-85FA-A90A4DC80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57800"/>
            <a:ext cx="11277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83D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2100" b="1">
                <a:solidFill>
                  <a:srgbClr val="83DFFF"/>
                </a:solidFill>
                <a:latin typeface="JetBrains Mono"/>
                <a:ea typeface="JetBrains Mono"/>
                <a:cs typeface="JetBrains Mono"/>
              </a:rPr>
              <a:t>No caso escalar ilustrativo: |gₖ| = |a|ᵏ |g₀|</a:t>
            </a:r>
          </a:p>
        </p:txBody>
      </p:sp>
      <p:sp>
        <p:nvSpPr>
          <p:cNvPr id="16008" name="Contexto">
            <a:extLst xmlns:a="http://schemas.openxmlformats.org/drawingml/2006/main">
              <a:ext uri="{FF2B5EF4-FFF2-40B4-BE49-F238E27FC236}">
                <a16:creationId xmlns:a16="http://schemas.microsoft.com/office/drawing/2014/main" id="{CCBFB06D-4178-589B-86E6-C6F720C10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29325"/>
            <a:ext cx="11277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91A4BD"/>
                </a:solidFill>
                <a:latin typeface="JetBrains Mono"/>
                <a:ea typeface="JetBrains Mono"/>
                <a:cs typeface="JetBrains Mono"/>
              </a:defRPr>
            </a:pPr>
            <a:r>
              <a:rPr sz="1125" b="0">
                <a:solidFill>
                  <a:srgbClr val="91A4BD"/>
                </a:solidFill>
                <a:latin typeface="JetBrains Mono"/>
                <a:ea typeface="JetBrains Mono"/>
                <a:cs typeface="JetBrains Mono"/>
              </a:rPr>
              <a:t>Expressão para uma perda no passo final e gradientes-coluna. Perdas intermediárias somam outros termos.</a:t>
            </a:r>
          </a:p>
        </p:txBody>
      </p:sp>
      <p:pic>
        <p:nvPicPr>
          <p:cNvPr id="16009" name="Imagem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ee6c586aaf4654"/>
          <a:srcRect xmlns:a="http://schemas.openxmlformats.org/drawingml/2006/main" l="3570" t="0" r="8084" b="1819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3701" y="6294313"/>
            <a:ext cx="308300" cy="272211"/>
          </a:xfrm>
          <a:prstGeom xmlns:a="http://schemas.openxmlformats.org/drawingml/2006/main" prst="rect">
            <a:avLst/>
          </a:prstGeom>
        </p:spPr>
      </p:pic>
      <p:sp>
        <p:nvSpPr>
          <p:cNvPr id="16010" name="Hydro-UAI Treinamento e gradientes">
            <a:extLst xmlns:a="http://schemas.openxmlformats.org/drawingml/2006/main">
              <a:ext uri="{FF2B5EF4-FFF2-40B4-BE49-F238E27FC236}">
                <a16:creationId xmlns:a16="http://schemas.microsoft.com/office/drawing/2014/main" id="{4821DCE2-F551-5E4A-9A95-FD35E832F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676" y="741617"/>
            <a:ext cx="11284553" cy="4855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 i="1">
                <a:solidFill>
                  <a:srgbClr val="FFFFFF"/>
                </a:solidFill>
                <a:latin typeface="JetBrains Mono ExtraBold"/>
                <a:ea typeface="JetBrains Mono ExtraBold"/>
                <a:cs typeface="JetBrains Mono ExtraBold"/>
              </a:defRPr>
            </a:pPr>
            <a:r>
              <a:rPr sz="2400" b="1" i="1">
                <a:solidFill>
                  <a:srgbClr val="FFFFFF"/>
                </a:solidFill>
                <a:latin typeface="JetBrains Mono ExtraBold"/>
                <a:ea typeface="JetBrains Mono ExtraBold"/>
                <a:cs typeface="JetBrains Mono ExtraBold"/>
              </a:rPr>
              <a:t>Treinamento e gradientes</a:t>
            </a:r>
          </a:p>
        </p:txBody>
      </p:sp>
      <p:sp>
        <p:nvSpPr>
          <p:cNvPr id="16011" name="Divisor Hydro-UAI">
            <a:extLst xmlns:a="http://schemas.openxmlformats.org/drawingml/2006/main">
              <a:ext uri="{FF2B5EF4-FFF2-40B4-BE49-F238E27FC236}">
                <a16:creationId xmlns:a16="http://schemas.microsoft.com/office/drawing/2014/main" id="{6CDF641A-151A-5C2E-86FD-821A5AE92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08259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668">
            <a:solidFill>
              <a:srgbClr val="FFFFFF"/>
            </a:solidFill>
          </a:ln>
        </p:spPr>
      </p:sp>
      <p:sp>
        <p:nvSpPr>
          <p:cNvPr id="16012" name="Hydro-UAI Hydro-UAI Course">
            <a:extLst xmlns:a="http://schemas.openxmlformats.org/drawingml/2006/main">
              <a:ext uri="{FF2B5EF4-FFF2-40B4-BE49-F238E27FC236}">
                <a16:creationId xmlns:a16="http://schemas.microsoft.com/office/drawing/2014/main" id="{39D4B8D2-081C-5A5A-81F5-42588750C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63436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45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945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Hydro-UAI Course</a:t>
            </a:r>
          </a:p>
        </p:txBody>
      </p:sp>
      <p:sp>
        <p:nvSpPr>
          <p:cNvPr id="16013" name="Hydro-UAI 16 / 47">
            <a:extLst xmlns:a="http://schemas.openxmlformats.org/drawingml/2006/main">
              <a:ext uri="{FF2B5EF4-FFF2-40B4-BE49-F238E27FC236}">
                <a16:creationId xmlns:a16="http://schemas.microsoft.com/office/drawing/2014/main" id="{104E88AA-621F-55EF-9437-FF0381E1E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343650"/>
            <a:ext cx="1219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91A4BD"/>
                </a:solidFill>
                <a:latin typeface="JetBrains Mono"/>
                <a:ea typeface="JetBrains Mono"/>
                <a:cs typeface="JetBrains Mono"/>
              </a:defRPr>
            </a:pPr>
            <a:r>
              <a:rPr sz="975" b="0" i="0">
                <a:solidFill>
                  <a:srgbClr val="91A4BD"/>
                </a:solidFill>
                <a:latin typeface="JetBrains Mono"/>
                <a:ea typeface="JetBrains Mono"/>
                <a:cs typeface="JetBrains Mono"/>
              </a:rPr>
              <a:t>16 / 47</a:t>
            </a:r>
          </a:p>
        </p:txBody>
      </p:sp>
    </p:spTree>
    <p:extLst>
      <p:ext uri="{BB962C8B-B14F-4D97-AF65-F5344CB8AC3E}">
        <p14:creationId xmlns:p14="http://schemas.microsoft.com/office/powerpoint/2010/main" val="3991283715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7001" name=""/>
        <p:cNvGrpSpPr/>
        <p:nvPr/>
      </p:nvGrpSpPr>
      <p:grpSpPr>
        <a:xfrm xmlns:a="http://schemas.openxmlformats.org/drawingml/2006/main"/>
      </p:grpSpPr>
      <p:sp>
        <p:nvSpPr>
          <p:cNvPr id="17002" name="Retângulo 6">
            <a:extLst xmlns:a="http://schemas.openxmlformats.org/drawingml/2006/main">
              <a:ext uri="{FF2B5EF4-FFF2-40B4-BE49-F238E27FC236}">
                <a16:creationId xmlns:a16="http://schemas.microsoft.com/office/drawing/2014/main" id="{FAB19855-59E6-5555-B6C4-5E92A9062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F29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graphicFrame>
        <p:nvGraphicFramePr>
          <p:cNvPr id="17003" name="Chart"/>
          <p:cNvGraphicFramePr/>
          <p:nvPr/>
        </p:nvGraphicFramePr>
        <p:xfrm>
          <a:off xmlns:a="http://schemas.openxmlformats.org/drawingml/2006/main" x="457200" y="2638425"/>
          <a:ext xmlns:a="http://schemas.openxmlformats.org/drawingml/2006/main" cx="7315200" cy="28956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e9998ce842a4028"/>
          </a:graphicData>
        </a:graphic>
      </p:graphicFrame>
      <p:sp>
        <p:nvSpPr>
          <p:cNvPr id="17004" name="Tema do slide">
            <a:extLst xmlns:a="http://schemas.openxmlformats.org/drawingml/2006/main">
              <a:ext uri="{FF2B5EF4-FFF2-40B4-BE49-F238E27FC236}">
                <a16:creationId xmlns:a16="http://schemas.microsoft.com/office/drawing/2014/main" id="{90D17166-9A89-5C7E-AF6C-0FBBC7A8C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90700"/>
            <a:ext cx="11277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2025" b="1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Gradiente pequeno ou grande após muitos passos</a:t>
            </a:r>
          </a:p>
        </p:txBody>
      </p:sp>
      <p:sp>
        <p:nvSpPr>
          <p:cNvPr id="17005" name="Atenuação">
            <a:extLst xmlns:a="http://schemas.openxmlformats.org/drawingml/2006/main">
              <a:ext uri="{FF2B5EF4-FFF2-40B4-BE49-F238E27FC236}">
                <a16:creationId xmlns:a16="http://schemas.microsoft.com/office/drawing/2014/main" id="{B371442A-C32F-5EA7-93BF-A31D03A86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2857500"/>
            <a:ext cx="3571875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83D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650" b="1">
                <a:solidFill>
                  <a:srgbClr val="83DFFF"/>
                </a:solidFill>
                <a:latin typeface="JetBrains Mono"/>
                <a:ea typeface="JetBrains Mono"/>
                <a:cs typeface="JetBrains Mono"/>
              </a:rPr>
              <a:t>a = 0,5: forte atenuação</a:t>
            </a:r>
          </a:p>
          <a:p xmlns:a="http://schemas.openxmlformats.org/drawingml/2006/main">
            <a:pPr algn="l">
              <a:buNone/>
              <a:defRPr sz="1650" b="1">
                <a:solidFill>
                  <a:srgbClr val="83D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650" b="1">
                <a:solidFill>
                  <a:srgbClr val="83DFFF"/>
                </a:solidFill>
                <a:latin typeface="JetBrains Mono"/>
                <a:ea typeface="JetBrains Mono"/>
                <a:cs typeface="JetBrains Mono"/>
              </a:rPr>
              <a:t>a = 0,9: atenuação lenta</a:t>
            </a:r>
          </a:p>
        </p:txBody>
      </p:sp>
      <p:sp>
        <p:nvSpPr>
          <p:cNvPr id="17006" name="Amplificação">
            <a:extLst xmlns:a="http://schemas.openxmlformats.org/drawingml/2006/main">
              <a:ext uri="{FF2B5EF4-FFF2-40B4-BE49-F238E27FC236}">
                <a16:creationId xmlns:a16="http://schemas.microsoft.com/office/drawing/2014/main" id="{AF7AD697-7FF0-5C6D-9794-D00CA3D33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4295775"/>
            <a:ext cx="3571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FFAD62"/>
                </a:solidFill>
                <a:latin typeface="JetBrains Mono"/>
                <a:ea typeface="JetBrains Mono"/>
                <a:cs typeface="JetBrains Mono"/>
              </a:defRPr>
            </a:pPr>
            <a:r>
              <a:rPr sz="1650" b="1">
                <a:solidFill>
                  <a:srgbClr val="FFAD62"/>
                </a:solidFill>
                <a:latin typeface="JetBrains Mono"/>
                <a:ea typeface="JetBrains Mono"/>
                <a:cs typeface="JetBrains Mono"/>
              </a:rPr>
              <a:t>a = 1,1: amplificação</a:t>
            </a:r>
          </a:p>
        </p:txBody>
      </p:sp>
      <p:sp>
        <p:nvSpPr>
          <p:cNvPr id="17007" name="Legenda a = 0,5">
            <a:extLst xmlns:a="http://schemas.openxmlformats.org/drawingml/2006/main">
              <a:ext uri="{FF2B5EF4-FFF2-40B4-BE49-F238E27FC236}">
                <a16:creationId xmlns:a16="http://schemas.microsoft.com/office/drawing/2014/main" id="{87CD0619-2C21-5651-B45C-2EAF34427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43575"/>
            <a:ext cx="247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83DFFF"/>
            </a:solidFill>
          </a:ln>
        </p:spPr>
      </p:sp>
      <p:sp>
        <p:nvSpPr>
          <p:cNvPr id="17008" name="Legenda texto a = 0,5">
            <a:extLst xmlns:a="http://schemas.openxmlformats.org/drawingml/2006/main">
              <a:ext uri="{FF2B5EF4-FFF2-40B4-BE49-F238E27FC236}">
                <a16:creationId xmlns:a16="http://schemas.microsoft.com/office/drawing/2014/main" id="{499B51C0-8458-5425-B262-BBF9DCFD9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648325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350" b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a = 0,5</a:t>
            </a:r>
          </a:p>
        </p:txBody>
      </p:sp>
      <p:sp>
        <p:nvSpPr>
          <p:cNvPr id="17009" name="Legenda a = 0,9">
            <a:extLst xmlns:a="http://schemas.openxmlformats.org/drawingml/2006/main">
              <a:ext uri="{FF2B5EF4-FFF2-40B4-BE49-F238E27FC236}">
                <a16:creationId xmlns:a16="http://schemas.microsoft.com/office/drawing/2014/main" id="{891419CF-2D81-5C84-B390-E4290D839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5743575"/>
            <a:ext cx="247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71E7BD"/>
            </a:solidFill>
          </a:ln>
        </p:spPr>
      </p:sp>
      <p:sp>
        <p:nvSpPr>
          <p:cNvPr id="17010" name="Legenda texto a = 0,9">
            <a:extLst xmlns:a="http://schemas.openxmlformats.org/drawingml/2006/main">
              <a:ext uri="{FF2B5EF4-FFF2-40B4-BE49-F238E27FC236}">
                <a16:creationId xmlns:a16="http://schemas.microsoft.com/office/drawing/2014/main" id="{69BFBBBF-1F1E-59F4-A115-0D16F8362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5648325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350" b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a = 0,9</a:t>
            </a:r>
          </a:p>
        </p:txBody>
      </p:sp>
      <p:sp>
        <p:nvSpPr>
          <p:cNvPr id="17011" name="Legenda a = 1,1">
            <a:extLst xmlns:a="http://schemas.openxmlformats.org/drawingml/2006/main">
              <a:ext uri="{FF2B5EF4-FFF2-40B4-BE49-F238E27FC236}">
                <a16:creationId xmlns:a16="http://schemas.microsoft.com/office/drawing/2014/main" id="{BFDB1182-CD40-5A7B-8405-8ACD9585C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5743575"/>
            <a:ext cx="247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AD62"/>
            </a:solidFill>
          </a:ln>
        </p:spPr>
      </p:sp>
      <p:sp>
        <p:nvSpPr>
          <p:cNvPr id="17012" name="Legenda texto a = 1,1">
            <a:extLst xmlns:a="http://schemas.openxmlformats.org/drawingml/2006/main">
              <a:ext uri="{FF2B5EF4-FFF2-40B4-BE49-F238E27FC236}">
                <a16:creationId xmlns:a16="http://schemas.microsoft.com/office/drawing/2014/main" id="{C1A2E2C3-0B23-5809-80EE-0F17F7E2A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5648325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350" b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a = 1,1</a:t>
            </a:r>
          </a:p>
        </p:txBody>
      </p:sp>
      <p:sp>
        <p:nvSpPr>
          <p:cNvPr id="17013" name="Contexto">
            <a:extLst xmlns:a="http://schemas.openxmlformats.org/drawingml/2006/main">
              <a:ext uri="{FF2B5EF4-FFF2-40B4-BE49-F238E27FC236}">
                <a16:creationId xmlns:a16="http://schemas.microsoft.com/office/drawing/2014/main" id="{8A4CA1AF-71B0-556A-9590-D866ABAA5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29325"/>
            <a:ext cx="11277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91A4BD"/>
                </a:solidFill>
                <a:latin typeface="JetBrains Mono"/>
                <a:ea typeface="JetBrains Mono"/>
                <a:cs typeface="JetBrains Mono"/>
              </a:defRPr>
            </a:pPr>
            <a:r>
              <a:rPr sz="1125" b="0">
                <a:solidFill>
                  <a:srgbClr val="91A4BD"/>
                </a:solidFill>
                <a:latin typeface="JetBrains Mono"/>
                <a:ea typeface="JetBrains Mono"/>
                <a:cs typeface="JetBrains Mono"/>
              </a:rPr>
              <a:t>Exemplo escalar exato, g₀ = 1. Eixo vertical logarítmico expresso como log₁₀, sem unidade.</a:t>
            </a:r>
          </a:p>
        </p:txBody>
      </p:sp>
      <p:pic>
        <p:nvPicPr>
          <p:cNvPr id="17014" name="Imagem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f200b1ff8d4b84"/>
          <a:srcRect xmlns:a="http://schemas.openxmlformats.org/drawingml/2006/main" l="3570" t="0" r="8084" b="1819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3701" y="6294313"/>
            <a:ext cx="308300" cy="272211"/>
          </a:xfrm>
          <a:prstGeom xmlns:a="http://schemas.openxmlformats.org/drawingml/2006/main" prst="rect">
            <a:avLst/>
          </a:prstGeom>
        </p:spPr>
      </p:pic>
      <p:sp>
        <p:nvSpPr>
          <p:cNvPr id="17015" name="Hydro-UAI Treinamento e gradientes">
            <a:extLst xmlns:a="http://schemas.openxmlformats.org/drawingml/2006/main">
              <a:ext uri="{FF2B5EF4-FFF2-40B4-BE49-F238E27FC236}">
                <a16:creationId xmlns:a16="http://schemas.microsoft.com/office/drawing/2014/main" id="{CD6FF594-1695-555D-945F-93CF44A11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676" y="741617"/>
            <a:ext cx="11284553" cy="4855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 i="1">
                <a:solidFill>
                  <a:srgbClr val="FFFFFF"/>
                </a:solidFill>
                <a:latin typeface="JetBrains Mono ExtraBold"/>
                <a:ea typeface="JetBrains Mono ExtraBold"/>
                <a:cs typeface="JetBrains Mono ExtraBold"/>
              </a:defRPr>
            </a:pPr>
            <a:r>
              <a:rPr sz="2400" b="1" i="1">
                <a:solidFill>
                  <a:srgbClr val="FFFFFF"/>
                </a:solidFill>
                <a:latin typeface="JetBrains Mono ExtraBold"/>
                <a:ea typeface="JetBrains Mono ExtraBold"/>
                <a:cs typeface="JetBrains Mono ExtraBold"/>
              </a:rPr>
              <a:t>Treinamento e gradientes</a:t>
            </a:r>
          </a:p>
        </p:txBody>
      </p:sp>
      <p:sp>
        <p:nvSpPr>
          <p:cNvPr id="17016" name="Divisor Hydro-UAI">
            <a:extLst xmlns:a="http://schemas.openxmlformats.org/drawingml/2006/main">
              <a:ext uri="{FF2B5EF4-FFF2-40B4-BE49-F238E27FC236}">
                <a16:creationId xmlns:a16="http://schemas.microsoft.com/office/drawing/2014/main" id="{6C1B6D83-ECF3-5A9A-97B5-6651915FF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08259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668">
            <a:solidFill>
              <a:srgbClr val="FFFFFF"/>
            </a:solidFill>
          </a:ln>
        </p:spPr>
      </p:sp>
      <p:sp>
        <p:nvSpPr>
          <p:cNvPr id="17017" name="Hydro-UAI Hydro-UAI Course">
            <a:extLst xmlns:a="http://schemas.openxmlformats.org/drawingml/2006/main">
              <a:ext uri="{FF2B5EF4-FFF2-40B4-BE49-F238E27FC236}">
                <a16:creationId xmlns:a16="http://schemas.microsoft.com/office/drawing/2014/main" id="{400FD8F5-50F2-5B80-A6DC-352A7BF55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63436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45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945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Hydro-UAI Course</a:t>
            </a:r>
          </a:p>
        </p:txBody>
      </p:sp>
      <p:sp>
        <p:nvSpPr>
          <p:cNvPr id="17018" name="Hydro-UAI 17 / 47">
            <a:extLst xmlns:a="http://schemas.openxmlformats.org/drawingml/2006/main">
              <a:ext uri="{FF2B5EF4-FFF2-40B4-BE49-F238E27FC236}">
                <a16:creationId xmlns:a16="http://schemas.microsoft.com/office/drawing/2014/main" id="{C27313D7-EDA4-56B5-917C-4EF76B3B1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343650"/>
            <a:ext cx="1219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91A4BD"/>
                </a:solidFill>
                <a:latin typeface="JetBrains Mono"/>
                <a:ea typeface="JetBrains Mono"/>
                <a:cs typeface="JetBrains Mono"/>
              </a:defRPr>
            </a:pPr>
            <a:r>
              <a:rPr sz="975" b="0" i="0">
                <a:solidFill>
                  <a:srgbClr val="91A4BD"/>
                </a:solidFill>
                <a:latin typeface="JetBrains Mono"/>
                <a:ea typeface="JetBrains Mono"/>
                <a:cs typeface="JetBrains Mono"/>
              </a:rPr>
              <a:t>17 / 47</a:t>
            </a:r>
          </a:p>
        </p:txBody>
      </p:sp>
    </p:spTree>
    <p:extLst>
      <p:ext uri="{BB962C8B-B14F-4D97-AF65-F5344CB8AC3E}">
        <p14:creationId xmlns:p14="http://schemas.microsoft.com/office/powerpoint/2010/main" val="3991283715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8001" name=""/>
        <p:cNvGrpSpPr/>
        <p:nvPr/>
      </p:nvGrpSpPr>
      <p:grpSpPr>
        <a:xfrm xmlns:a="http://schemas.openxmlformats.org/drawingml/2006/main"/>
      </p:grpSpPr>
      <p:sp>
        <p:nvSpPr>
          <p:cNvPr id="18002" name="Retângulo 6">
            <a:extLst xmlns:a="http://schemas.openxmlformats.org/drawingml/2006/main">
              <a:ext uri="{FF2B5EF4-FFF2-40B4-BE49-F238E27FC236}">
                <a16:creationId xmlns:a16="http://schemas.microsoft.com/office/drawing/2014/main" id="{08593225-4D03-5CB9-9140-8C85F107C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F29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graphicFrame>
        <p:nvGraphicFramePr>
          <p:cNvPr id="18003" name=""/>
          <p:cNvGraphicFramePr/>
          <p:nvPr/>
        </p:nvGraphicFramePr>
        <p:xfrm>
          <a:off xmlns:a="http://schemas.openxmlformats.org/drawingml/2006/main" x="457200" y="2571750"/>
          <a:ext xmlns:a="http://schemas.openxmlformats.org/drawingml/2006/main" cx="11277600" cy="27051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1962150"/>
                <a:gridCol w="3105150"/>
                <a:gridCol w="3105150"/>
                <a:gridCol w="3105150"/>
              </a:tblGrid>
              <a:tr h="541020"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875" b="1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Passos k</a:t>
                      </a:r>
                    </a:p>
                  </a:txBody>
                  <a:tcPr marL="91440" marR="91440" marT="45720" marB="45720" anchor="ctr">
                    <a:solidFill>
                      <a:srgbClr val="0053EB"/>
                    </a:solidFill>
                  </a:tcPr>
                </a:tc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875" b="1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0,5ᵏ</a:t>
                      </a:r>
                    </a:p>
                  </a:txBody>
                  <a:tcPr marL="91440" marR="91440" marT="45720" marB="45720" anchor="ctr">
                    <a:solidFill>
                      <a:srgbClr val="0053EB"/>
                    </a:solidFill>
                  </a:tcPr>
                </a:tc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875" b="1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0,9ᵏ</a:t>
                      </a:r>
                    </a:p>
                  </a:txBody>
                  <a:tcPr marL="91440" marR="91440" marT="45720" marB="45720" anchor="ctr">
                    <a:solidFill>
                      <a:srgbClr val="0053EB"/>
                    </a:solidFill>
                  </a:tcPr>
                </a:tc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875" b="1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1,1ᵏ</a:t>
                      </a:r>
                    </a:p>
                  </a:txBody>
                  <a:tcPr marL="91440" marR="91440" marT="45720" marB="45720" anchor="ctr">
                    <a:solidFill>
                      <a:srgbClr val="0053EB"/>
                    </a:solidFill>
                  </a:tcPr>
                </a:tc>
              </a:tr>
              <a:tr h="541020"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000F29"/>
                    </a:solidFill>
                  </a:tcPr>
                </a:tc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0,500</a:t>
                      </a:r>
                    </a:p>
                  </a:txBody>
                  <a:tcPr marL="91440" marR="91440" marT="45720" marB="45720" anchor="ctr">
                    <a:solidFill>
                      <a:srgbClr val="000F29"/>
                    </a:solidFill>
                  </a:tcPr>
                </a:tc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0,900</a:t>
                      </a:r>
                    </a:p>
                  </a:txBody>
                  <a:tcPr marL="91440" marR="91440" marT="45720" marB="45720" anchor="ctr">
                    <a:solidFill>
                      <a:srgbClr val="000F29"/>
                    </a:solidFill>
                  </a:tcPr>
                </a:tc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1,100</a:t>
                      </a:r>
                    </a:p>
                  </a:txBody>
                  <a:tcPr marL="91440" marR="91440" marT="45720" marB="45720" anchor="ctr">
                    <a:solidFill>
                      <a:srgbClr val="000F29"/>
                    </a:solidFill>
                  </a:tcPr>
                </a:tc>
              </a:tr>
              <a:tr h="541020"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5</a:t>
                      </a:r>
                    </a:p>
                  </a:txBody>
                  <a:tcPr marL="91440" marR="91440" marT="45720" marB="45720" anchor="ctr">
                    <a:solidFill>
                      <a:srgbClr val="000F29"/>
                    </a:solidFill>
                  </a:tcPr>
                </a:tc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0,031</a:t>
                      </a:r>
                    </a:p>
                  </a:txBody>
                  <a:tcPr marL="91440" marR="91440" marT="45720" marB="45720" anchor="ctr">
                    <a:solidFill>
                      <a:srgbClr val="000F29"/>
                    </a:solidFill>
                  </a:tcPr>
                </a:tc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0,590</a:t>
                      </a:r>
                    </a:p>
                  </a:txBody>
                  <a:tcPr marL="91440" marR="91440" marT="45720" marB="45720" anchor="ctr">
                    <a:solidFill>
                      <a:srgbClr val="000F29"/>
                    </a:solidFill>
                  </a:tcPr>
                </a:tc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1,611</a:t>
                      </a:r>
                    </a:p>
                  </a:txBody>
                  <a:tcPr marL="91440" marR="91440" marT="45720" marB="45720" anchor="ctr">
                    <a:solidFill>
                      <a:srgbClr val="000F29"/>
                    </a:solidFill>
                  </a:tcPr>
                </a:tc>
              </a:tr>
              <a:tr h="541020"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20</a:t>
                      </a:r>
                    </a:p>
                  </a:txBody>
                  <a:tcPr marL="91440" marR="91440" marT="45720" marB="45720" anchor="ctr">
                    <a:solidFill>
                      <a:srgbClr val="000F29"/>
                    </a:solidFill>
                  </a:tcPr>
                </a:tc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9,54e-7</a:t>
                      </a:r>
                    </a:p>
                  </a:txBody>
                  <a:tcPr marL="91440" marR="91440" marT="45720" marB="45720" anchor="ctr">
                    <a:solidFill>
                      <a:srgbClr val="000F29"/>
                    </a:solidFill>
                  </a:tcPr>
                </a:tc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0,122</a:t>
                      </a:r>
                    </a:p>
                  </a:txBody>
                  <a:tcPr marL="91440" marR="91440" marT="45720" marB="45720" anchor="ctr">
                    <a:solidFill>
                      <a:srgbClr val="000F29"/>
                    </a:solidFill>
                  </a:tcPr>
                </a:tc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6,727</a:t>
                      </a:r>
                    </a:p>
                  </a:txBody>
                  <a:tcPr marL="91440" marR="91440" marT="45720" marB="45720" anchor="ctr">
                    <a:solidFill>
                      <a:srgbClr val="000F29"/>
                    </a:solidFill>
                  </a:tcPr>
                </a:tc>
              </a:tr>
              <a:tr h="541020"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50</a:t>
                      </a:r>
                    </a:p>
                  </a:txBody>
                  <a:tcPr marL="91440" marR="91440" marT="45720" marB="45720" anchor="ctr">
                    <a:solidFill>
                      <a:srgbClr val="000F29"/>
                    </a:solidFill>
                  </a:tcPr>
                </a:tc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8,88e-16</a:t>
                      </a:r>
                    </a:p>
                  </a:txBody>
                  <a:tcPr marL="91440" marR="91440" marT="45720" marB="45720" anchor="ctr">
                    <a:solidFill>
                      <a:srgbClr val="000F29"/>
                    </a:solidFill>
                  </a:tcPr>
                </a:tc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0,005</a:t>
                      </a:r>
                    </a:p>
                  </a:txBody>
                  <a:tcPr marL="91440" marR="91440" marT="45720" marB="45720" anchor="ctr">
                    <a:solidFill>
                      <a:srgbClr val="000F29"/>
                    </a:solidFill>
                  </a:tcPr>
                </a:tc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117,391</a:t>
                      </a:r>
                    </a:p>
                  </a:txBody>
                  <a:tcPr marL="91440" marR="91440" marT="45720" marB="45720" anchor="ctr">
                    <a:solidFill>
                      <a:srgbClr val="000F29"/>
                    </a:solidFill>
                  </a:tcPr>
                </a:tc>
              </a:tr>
            </a:tbl>
          </a:graphicData>
        </a:graphic>
      </p:graphicFrame>
      <p:sp>
        <p:nvSpPr>
          <p:cNvPr id="18004" name="Tema do slide">
            <a:extLst xmlns:a="http://schemas.openxmlformats.org/drawingml/2006/main">
              <a:ext uri="{FF2B5EF4-FFF2-40B4-BE49-F238E27FC236}">
                <a16:creationId xmlns:a16="http://schemas.microsoft.com/office/drawing/2014/main" id="{6907C7B8-7D9F-534B-8242-D692D42FC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90700"/>
            <a:ext cx="11277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2025" b="1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A multiplicação em números</a:t>
            </a:r>
          </a:p>
        </p:txBody>
      </p:sp>
      <p:sp>
        <p:nvSpPr>
          <p:cNvPr id="18005" name="Conclusão">
            <a:extLst xmlns:a="http://schemas.openxmlformats.org/drawingml/2006/main">
              <a:ext uri="{FF2B5EF4-FFF2-40B4-BE49-F238E27FC236}">
                <a16:creationId xmlns:a16="http://schemas.microsoft.com/office/drawing/2014/main" id="{34B36BA2-7003-5FEE-8633-9A5040581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24500"/>
            <a:ext cx="11277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83D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2025" b="1">
                <a:solidFill>
                  <a:srgbClr val="83DFFF"/>
                </a:solidFill>
                <a:latin typeface="JetBrains Mono"/>
                <a:ea typeface="JetBrains Mono"/>
                <a:cs typeface="JetBrains Mono"/>
              </a:rPr>
              <a:t>Após 20 passos, 0,5²⁰ ≈ 0,00000095</a:t>
            </a:r>
          </a:p>
        </p:txBody>
      </p:sp>
      <p:pic>
        <p:nvPicPr>
          <p:cNvPr id="18006" name="Imagem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4fc074a6de472f"/>
          <a:srcRect xmlns:a="http://schemas.openxmlformats.org/drawingml/2006/main" l="3570" t="0" r="8084" b="1819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3701" y="6294313"/>
            <a:ext cx="308300" cy="272211"/>
          </a:xfrm>
          <a:prstGeom xmlns:a="http://schemas.openxmlformats.org/drawingml/2006/main" prst="rect">
            <a:avLst/>
          </a:prstGeom>
        </p:spPr>
      </p:pic>
      <p:sp>
        <p:nvSpPr>
          <p:cNvPr id="18007" name="Hydro-UAI Treinamento e gradientes">
            <a:extLst xmlns:a="http://schemas.openxmlformats.org/drawingml/2006/main">
              <a:ext uri="{FF2B5EF4-FFF2-40B4-BE49-F238E27FC236}">
                <a16:creationId xmlns:a16="http://schemas.microsoft.com/office/drawing/2014/main" id="{ADE2D38A-0E86-5B65-A7E6-A693CE8FB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676" y="741617"/>
            <a:ext cx="11284553" cy="4855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 i="1">
                <a:solidFill>
                  <a:srgbClr val="FFFFFF"/>
                </a:solidFill>
                <a:latin typeface="JetBrains Mono ExtraBold"/>
                <a:ea typeface="JetBrains Mono ExtraBold"/>
                <a:cs typeface="JetBrains Mono ExtraBold"/>
              </a:defRPr>
            </a:pPr>
            <a:r>
              <a:rPr sz="2400" b="1" i="1">
                <a:solidFill>
                  <a:srgbClr val="FFFFFF"/>
                </a:solidFill>
                <a:latin typeface="JetBrains Mono ExtraBold"/>
                <a:ea typeface="JetBrains Mono ExtraBold"/>
                <a:cs typeface="JetBrains Mono ExtraBold"/>
              </a:rPr>
              <a:t>Treinamento e gradientes</a:t>
            </a:r>
          </a:p>
        </p:txBody>
      </p:sp>
      <p:sp>
        <p:nvSpPr>
          <p:cNvPr id="18008" name="Divisor Hydro-UAI">
            <a:extLst xmlns:a="http://schemas.openxmlformats.org/drawingml/2006/main">
              <a:ext uri="{FF2B5EF4-FFF2-40B4-BE49-F238E27FC236}">
                <a16:creationId xmlns:a16="http://schemas.microsoft.com/office/drawing/2014/main" id="{F5239B98-CE1B-5CFF-A341-E7395FEF5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08259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668">
            <a:solidFill>
              <a:srgbClr val="FFFFFF"/>
            </a:solidFill>
          </a:ln>
        </p:spPr>
      </p:sp>
      <p:sp>
        <p:nvSpPr>
          <p:cNvPr id="18009" name="Hydro-UAI Hydro-UAI Course">
            <a:extLst xmlns:a="http://schemas.openxmlformats.org/drawingml/2006/main">
              <a:ext uri="{FF2B5EF4-FFF2-40B4-BE49-F238E27FC236}">
                <a16:creationId xmlns:a16="http://schemas.microsoft.com/office/drawing/2014/main" id="{485F72DF-F400-54D4-BC6B-B0AB82A79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63436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45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945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Hydro-UAI Course</a:t>
            </a:r>
          </a:p>
        </p:txBody>
      </p:sp>
      <p:sp>
        <p:nvSpPr>
          <p:cNvPr id="18010" name="Hydro-UAI 18 / 47">
            <a:extLst xmlns:a="http://schemas.openxmlformats.org/drawingml/2006/main">
              <a:ext uri="{FF2B5EF4-FFF2-40B4-BE49-F238E27FC236}">
                <a16:creationId xmlns:a16="http://schemas.microsoft.com/office/drawing/2014/main" id="{CC56DD96-8E3F-5F26-A1C6-E575F029F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343650"/>
            <a:ext cx="1219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91A4BD"/>
                </a:solidFill>
                <a:latin typeface="JetBrains Mono"/>
                <a:ea typeface="JetBrains Mono"/>
                <a:cs typeface="JetBrains Mono"/>
              </a:defRPr>
            </a:pPr>
            <a:r>
              <a:rPr sz="975" b="0" i="0">
                <a:solidFill>
                  <a:srgbClr val="91A4BD"/>
                </a:solidFill>
                <a:latin typeface="JetBrains Mono"/>
                <a:ea typeface="JetBrains Mono"/>
                <a:cs typeface="JetBrains Mono"/>
              </a:rPr>
              <a:t>18 / 47</a:t>
            </a:r>
          </a:p>
        </p:txBody>
      </p:sp>
    </p:spTree>
    <p:extLst>
      <p:ext uri="{BB962C8B-B14F-4D97-AF65-F5344CB8AC3E}">
        <p14:creationId xmlns:p14="http://schemas.microsoft.com/office/powerpoint/2010/main" val="3991283715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9001" name=""/>
        <p:cNvGrpSpPr/>
        <p:nvPr/>
      </p:nvGrpSpPr>
      <p:grpSpPr>
        <a:xfrm xmlns:a="http://schemas.openxmlformats.org/drawingml/2006/main"/>
      </p:grpSpPr>
      <p:sp>
        <p:nvSpPr>
          <p:cNvPr id="19002" name="Retângulo 6">
            <a:extLst xmlns:a="http://schemas.openxmlformats.org/drawingml/2006/main">
              <a:ext uri="{FF2B5EF4-FFF2-40B4-BE49-F238E27FC236}">
                <a16:creationId xmlns:a16="http://schemas.microsoft.com/office/drawing/2014/main" id="{949010A1-4482-50E0-A81A-ACACC3140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F29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graphicFrame>
        <p:nvGraphicFramePr>
          <p:cNvPr id="19003" name="Chart"/>
          <p:cNvGraphicFramePr/>
          <p:nvPr/>
        </p:nvGraphicFramePr>
        <p:xfrm>
          <a:off xmlns:a="http://schemas.openxmlformats.org/drawingml/2006/main" x="457200" y="2809875"/>
          <a:ext xmlns:a="http://schemas.openxmlformats.org/drawingml/2006/main" cx="5257800" cy="26098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1673435519e4928"/>
          </a:graphicData>
        </a:graphic>
      </p:graphicFrame>
      <p:graphicFrame>
        <p:nvGraphicFramePr>
          <p:cNvPr id="19004" name="Chart"/>
          <p:cNvGraphicFramePr/>
          <p:nvPr/>
        </p:nvGraphicFramePr>
        <p:xfrm>
          <a:off xmlns:a="http://schemas.openxmlformats.org/drawingml/2006/main" x="6467475" y="2809875"/>
          <a:ext xmlns:a="http://schemas.openxmlformats.org/drawingml/2006/main" cx="5267325" cy="26098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a3243f79cde48fd"/>
          </a:graphicData>
        </a:graphic>
      </p:graphicFrame>
      <p:sp>
        <p:nvSpPr>
          <p:cNvPr id="19005" name="Tema do slide">
            <a:extLst xmlns:a="http://schemas.openxmlformats.org/drawingml/2006/main">
              <a:ext uri="{FF2B5EF4-FFF2-40B4-BE49-F238E27FC236}">
                <a16:creationId xmlns:a16="http://schemas.microsoft.com/office/drawing/2014/main" id="{02173D0F-8346-572A-907C-A99296216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90700"/>
            <a:ext cx="11277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2025" b="1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Saturação da ativação e derivada pequena</a:t>
            </a:r>
          </a:p>
        </p:txBody>
      </p:sp>
      <p:sp>
        <p:nvSpPr>
          <p:cNvPr id="19006" name="Ativações">
            <a:extLst xmlns:a="http://schemas.openxmlformats.org/drawingml/2006/main">
              <a:ext uri="{FF2B5EF4-FFF2-40B4-BE49-F238E27FC236}">
                <a16:creationId xmlns:a16="http://schemas.microsoft.com/office/drawing/2014/main" id="{36539363-582D-56CA-A341-E022E9D28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09825"/>
            <a:ext cx="5257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83D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650" b="1">
                <a:solidFill>
                  <a:srgbClr val="83DFFF"/>
                </a:solidFill>
                <a:latin typeface="JetBrains Mono"/>
                <a:ea typeface="JetBrains Mono"/>
                <a:cs typeface="JetBrains Mono"/>
              </a:rPr>
              <a:t>Ativações</a:t>
            </a:r>
          </a:p>
        </p:txBody>
      </p:sp>
      <p:sp>
        <p:nvSpPr>
          <p:cNvPr id="19007" name="Derivadas">
            <a:extLst xmlns:a="http://schemas.openxmlformats.org/drawingml/2006/main">
              <a:ext uri="{FF2B5EF4-FFF2-40B4-BE49-F238E27FC236}">
                <a16:creationId xmlns:a16="http://schemas.microsoft.com/office/drawing/2014/main" id="{66C9FADE-C866-502F-A1FA-7FBCB42FF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2409825"/>
            <a:ext cx="52673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83D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650" b="1">
                <a:solidFill>
                  <a:srgbClr val="83DFFF"/>
                </a:solidFill>
                <a:latin typeface="JetBrains Mono"/>
                <a:ea typeface="JetBrains Mono"/>
                <a:cs typeface="JetBrains Mono"/>
              </a:rPr>
              <a:t>Derivadas</a:t>
            </a:r>
          </a:p>
        </p:txBody>
      </p:sp>
      <p:sp>
        <p:nvSpPr>
          <p:cNvPr id="19008" name="Legenda tanh e sua derivada">
            <a:extLst xmlns:a="http://schemas.openxmlformats.org/drawingml/2006/main">
              <a:ext uri="{FF2B5EF4-FFF2-40B4-BE49-F238E27FC236}">
                <a16:creationId xmlns:a16="http://schemas.microsoft.com/office/drawing/2014/main" id="{A8019C7A-92F0-58FC-B462-248E39184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24525"/>
            <a:ext cx="247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83DFFF"/>
            </a:solidFill>
          </a:ln>
        </p:spPr>
      </p:sp>
      <p:sp>
        <p:nvSpPr>
          <p:cNvPr id="19009" name="Legenda texto tanh e sua derivada">
            <a:extLst xmlns:a="http://schemas.openxmlformats.org/drawingml/2006/main">
              <a:ext uri="{FF2B5EF4-FFF2-40B4-BE49-F238E27FC236}">
                <a16:creationId xmlns:a16="http://schemas.microsoft.com/office/drawing/2014/main" id="{C0880CA4-9B19-581E-A687-BA94F6991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629275"/>
            <a:ext cx="485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350" b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tanh e sua derivada</a:t>
            </a:r>
          </a:p>
        </p:txBody>
      </p:sp>
      <p:sp>
        <p:nvSpPr>
          <p:cNvPr id="19010" name="Legenda Sigmoid e sua derivada">
            <a:extLst xmlns:a="http://schemas.openxmlformats.org/drawingml/2006/main">
              <a:ext uri="{FF2B5EF4-FFF2-40B4-BE49-F238E27FC236}">
                <a16:creationId xmlns:a16="http://schemas.microsoft.com/office/drawing/2014/main" id="{B5CC6BEA-16CE-5278-BE25-114B31179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5724525"/>
            <a:ext cx="247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AD62"/>
            </a:solidFill>
          </a:ln>
        </p:spPr>
      </p:sp>
      <p:sp>
        <p:nvSpPr>
          <p:cNvPr id="19011" name="Legenda texto Sigmoid e sua derivada">
            <a:extLst xmlns:a="http://schemas.openxmlformats.org/drawingml/2006/main">
              <a:ext uri="{FF2B5EF4-FFF2-40B4-BE49-F238E27FC236}">
                <a16:creationId xmlns:a16="http://schemas.microsoft.com/office/drawing/2014/main" id="{1BBD4ADB-2A03-5191-A4B2-ADED27AF1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5629275"/>
            <a:ext cx="485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350" b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Sigmoid e sua derivada</a:t>
            </a:r>
          </a:p>
        </p:txBody>
      </p:sp>
      <p:sp>
        <p:nvSpPr>
          <p:cNvPr id="19012" name="Contexto">
            <a:extLst xmlns:a="http://schemas.openxmlformats.org/drawingml/2006/main">
              <a:ext uri="{FF2B5EF4-FFF2-40B4-BE49-F238E27FC236}">
                <a16:creationId xmlns:a16="http://schemas.microsoft.com/office/drawing/2014/main" id="{350121AA-3479-53C2-8483-8CE5D3044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29325"/>
            <a:ext cx="11277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91A4BD"/>
                </a:solidFill>
                <a:latin typeface="JetBrains Mono"/>
                <a:ea typeface="JetBrains Mono"/>
                <a:cs typeface="JetBrains Mono"/>
              </a:defRPr>
            </a:pPr>
            <a:r>
              <a:rPr sz="1125" b="0">
                <a:solidFill>
                  <a:srgbClr val="91A4BD"/>
                </a:solidFill>
                <a:latin typeface="JetBrains Mono"/>
                <a:ea typeface="JetBrains Mono"/>
                <a:cs typeface="JetBrains Mono"/>
              </a:rPr>
              <a:t>Funções calculadas exatamente. Na saturação, pequenas variações em z pouco alteram a saída.</a:t>
            </a:r>
          </a:p>
        </p:txBody>
      </p:sp>
      <p:pic>
        <p:nvPicPr>
          <p:cNvPr id="19013" name="Imagem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fa185fbc22447a"/>
          <a:srcRect xmlns:a="http://schemas.openxmlformats.org/drawingml/2006/main" l="3570" t="0" r="8084" b="1819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3701" y="6294313"/>
            <a:ext cx="308300" cy="272211"/>
          </a:xfrm>
          <a:prstGeom xmlns:a="http://schemas.openxmlformats.org/drawingml/2006/main" prst="rect">
            <a:avLst/>
          </a:prstGeom>
        </p:spPr>
      </p:pic>
      <p:sp>
        <p:nvSpPr>
          <p:cNvPr id="19014" name="Hydro-UAI Treinamento e gradientes">
            <a:extLst xmlns:a="http://schemas.openxmlformats.org/drawingml/2006/main">
              <a:ext uri="{FF2B5EF4-FFF2-40B4-BE49-F238E27FC236}">
                <a16:creationId xmlns:a16="http://schemas.microsoft.com/office/drawing/2014/main" id="{5C556022-FD69-5E64-B10D-2837FDBFF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676" y="741617"/>
            <a:ext cx="11284553" cy="4855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 i="1">
                <a:solidFill>
                  <a:srgbClr val="FFFFFF"/>
                </a:solidFill>
                <a:latin typeface="JetBrains Mono ExtraBold"/>
                <a:ea typeface="JetBrains Mono ExtraBold"/>
                <a:cs typeface="JetBrains Mono ExtraBold"/>
              </a:defRPr>
            </a:pPr>
            <a:r>
              <a:rPr sz="2400" b="1" i="1">
                <a:solidFill>
                  <a:srgbClr val="FFFFFF"/>
                </a:solidFill>
                <a:latin typeface="JetBrains Mono ExtraBold"/>
                <a:ea typeface="JetBrains Mono ExtraBold"/>
                <a:cs typeface="JetBrains Mono ExtraBold"/>
              </a:rPr>
              <a:t>Treinamento e gradientes</a:t>
            </a:r>
          </a:p>
        </p:txBody>
      </p:sp>
      <p:sp>
        <p:nvSpPr>
          <p:cNvPr id="19015" name="Divisor Hydro-UAI">
            <a:extLst xmlns:a="http://schemas.openxmlformats.org/drawingml/2006/main">
              <a:ext uri="{FF2B5EF4-FFF2-40B4-BE49-F238E27FC236}">
                <a16:creationId xmlns:a16="http://schemas.microsoft.com/office/drawing/2014/main" id="{94846BA2-4996-51E8-AEA1-8ECE92683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08259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668">
            <a:solidFill>
              <a:srgbClr val="FFFFFF"/>
            </a:solidFill>
          </a:ln>
        </p:spPr>
      </p:sp>
      <p:sp>
        <p:nvSpPr>
          <p:cNvPr id="19016" name="Hydro-UAI Hydro-UAI Course">
            <a:extLst xmlns:a="http://schemas.openxmlformats.org/drawingml/2006/main">
              <a:ext uri="{FF2B5EF4-FFF2-40B4-BE49-F238E27FC236}">
                <a16:creationId xmlns:a16="http://schemas.microsoft.com/office/drawing/2014/main" id="{3C49368C-60F1-5A13-A2BF-301BB3A1A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63436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45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945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Hydro-UAI Course</a:t>
            </a:r>
          </a:p>
        </p:txBody>
      </p:sp>
      <p:sp>
        <p:nvSpPr>
          <p:cNvPr id="19017" name="Hydro-UAI 19 / 47">
            <a:extLst xmlns:a="http://schemas.openxmlformats.org/drawingml/2006/main">
              <a:ext uri="{FF2B5EF4-FFF2-40B4-BE49-F238E27FC236}">
                <a16:creationId xmlns:a16="http://schemas.microsoft.com/office/drawing/2014/main" id="{C023DFFE-DC3A-5AAB-8663-4C7CB2B17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343650"/>
            <a:ext cx="1219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91A4BD"/>
                </a:solidFill>
                <a:latin typeface="JetBrains Mono"/>
                <a:ea typeface="JetBrains Mono"/>
                <a:cs typeface="JetBrains Mono"/>
              </a:defRPr>
            </a:pPr>
            <a:r>
              <a:rPr sz="975" b="0" i="0">
                <a:solidFill>
                  <a:srgbClr val="91A4BD"/>
                </a:solidFill>
                <a:latin typeface="JetBrains Mono"/>
                <a:ea typeface="JetBrains Mono"/>
                <a:cs typeface="JetBrains Mono"/>
              </a:rPr>
              <a:t>19 / 47</a:t>
            </a:r>
          </a:p>
        </p:txBody>
      </p:sp>
    </p:spTree>
    <p:extLst>
      <p:ext uri="{BB962C8B-B14F-4D97-AF65-F5344CB8AC3E}">
        <p14:creationId xmlns:p14="http://schemas.microsoft.com/office/powerpoint/2010/main" val="3991283715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20001" name=""/>
        <p:cNvGrpSpPr/>
        <p:nvPr/>
      </p:nvGrpSpPr>
      <p:grpSpPr>
        <a:xfrm xmlns:a="http://schemas.openxmlformats.org/drawingml/2006/main"/>
      </p:grpSpPr>
      <p:sp>
        <p:nvSpPr>
          <p:cNvPr id="20002" name="Retângulo 6">
            <a:extLst xmlns:a="http://schemas.openxmlformats.org/drawingml/2006/main">
              <a:ext uri="{FF2B5EF4-FFF2-40B4-BE49-F238E27FC236}">
                <a16:creationId xmlns:a16="http://schemas.microsoft.com/office/drawing/2014/main" id="{372C5415-1167-57B9-9820-D9C9C69DC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F29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0003" name="Tema do slide">
            <a:extLst xmlns:a="http://schemas.openxmlformats.org/drawingml/2006/main">
              <a:ext uri="{FF2B5EF4-FFF2-40B4-BE49-F238E27FC236}">
                <a16:creationId xmlns:a16="http://schemas.microsoft.com/office/drawing/2014/main" id="{2E727293-4F15-505F-84B0-CE91AC74B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90700"/>
            <a:ext cx="11277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2025" b="1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Vanishing gradient e a “memória de Dory”</a:t>
            </a:r>
          </a:p>
        </p:txBody>
      </p:sp>
      <p:sp>
        <p:nvSpPr>
          <p:cNvPr id="20004" name="Fala">
            <a:extLst xmlns:a="http://schemas.openxmlformats.org/drawingml/2006/main">
              <a:ext uri="{FF2B5EF4-FFF2-40B4-BE49-F238E27FC236}">
                <a16:creationId xmlns:a16="http://schemas.microsoft.com/office/drawing/2014/main" id="{46D55714-D8B1-535A-BC0F-439C33B9E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0"/>
            <a:ext cx="619125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83D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2100" b="1">
                <a:solidFill>
                  <a:srgbClr val="83DFFF"/>
                </a:solidFill>
                <a:latin typeface="JetBrains Mono"/>
                <a:ea typeface="JetBrains Mono"/>
                <a:cs typeface="JetBrains Mono"/>
              </a:rPr>
              <a:t>Professor:</a:t>
            </a:r>
          </a:p>
          <a:p xmlns:a="http://schemas.openxmlformats.org/drawingml/2006/main">
            <a:pPr algn="l">
              <a:buNone/>
              <a:defRPr sz="2100" b="1">
                <a:solidFill>
                  <a:srgbClr val="83D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2100" b="1">
                <a:solidFill>
                  <a:srgbClr val="83DFFF"/>
                </a:solidFill>
                <a:latin typeface="JetBrains Mono"/>
                <a:ea typeface="JetBrains Mono"/>
                <a:cs typeface="JetBrains Mono"/>
              </a:rPr>
              <a:t>“E a chuva de 30 dias atrás?”</a:t>
            </a:r>
          </a:p>
        </p:txBody>
      </p:sp>
      <p:sp>
        <p:nvSpPr>
          <p:cNvPr id="20005" name="Piada">
            <a:extLst xmlns:a="http://schemas.openxmlformats.org/drawingml/2006/main">
              <a:ext uri="{FF2B5EF4-FFF2-40B4-BE49-F238E27FC236}">
                <a16:creationId xmlns:a16="http://schemas.microsoft.com/office/drawing/2014/main" id="{31393046-6E12-5478-A66D-75408E1E4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981450"/>
            <a:ext cx="571500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FFAD62"/>
                </a:solidFill>
                <a:latin typeface="JetBrains Mono"/>
                <a:ea typeface="JetBrains Mono"/>
                <a:cs typeface="JetBrains Mono"/>
              </a:defRPr>
            </a:pPr>
            <a:r>
              <a:rPr sz="2700" b="1">
                <a:solidFill>
                  <a:srgbClr val="FFAD62"/>
                </a:solidFill>
                <a:latin typeface="JetBrains Mono"/>
                <a:ea typeface="JetBrains Mono"/>
                <a:cs typeface="JetBrains Mono"/>
              </a:rPr>
              <a:t>Gradiente:</a:t>
            </a:r>
          </a:p>
          <a:p xmlns:a="http://schemas.openxmlformats.org/drawingml/2006/main">
            <a:pPr algn="l">
              <a:buNone/>
              <a:defRPr sz="2700" b="1">
                <a:solidFill>
                  <a:srgbClr val="FFAD62"/>
                </a:solidFill>
                <a:latin typeface="JetBrains Mono"/>
                <a:ea typeface="JetBrains Mono"/>
                <a:cs typeface="JetBrains Mono"/>
              </a:defRPr>
            </a:pPr>
            <a:r>
              <a:rPr sz="2700" b="1">
                <a:solidFill>
                  <a:srgbClr val="FFAD62"/>
                </a:solidFill>
                <a:latin typeface="JetBrains Mono"/>
                <a:ea typeface="JetBrains Mono"/>
                <a:cs typeface="JetBrains Mono"/>
              </a:rPr>
              <a:t>“Que chuva?”</a:t>
            </a:r>
          </a:p>
        </p:txBody>
      </p:sp>
      <p:sp>
        <p:nvSpPr>
          <p:cNvPr id="20006" name="Mecanismo">
            <a:extLst xmlns:a="http://schemas.openxmlformats.org/drawingml/2006/main">
              <a:ext uri="{FF2B5EF4-FFF2-40B4-BE49-F238E27FC236}">
                <a16:creationId xmlns:a16="http://schemas.microsoft.com/office/drawing/2014/main" id="{85440982-2050-5B9E-8369-17118476B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38750"/>
            <a:ext cx="66675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725" b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O sinal de aprendizado pode chegar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725" b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muito pequeno aos passos distantes.</a:t>
            </a:r>
          </a:p>
        </p:txBody>
      </p:sp>
      <p:pic>
        <p:nvPicPr>
          <p:cNvPr id="20007" name="Imagem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93f790a5004c69"/>
          <a:srcRect xmlns:a="http://schemas.openxmlformats.org/drawingml/2006/main" l="3570" t="0" r="8084" b="1819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3701" y="6294313"/>
            <a:ext cx="308300" cy="272211"/>
          </a:xfrm>
          <a:prstGeom xmlns:a="http://schemas.openxmlformats.org/drawingml/2006/main" prst="rect">
            <a:avLst/>
          </a:prstGeom>
        </p:spPr>
      </p:pic>
      <p:pic>
        <p:nvPicPr>
          <p:cNvPr id="2000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a65da7e9514db8"/>
          <a:stretch xmlns:a="http://schemas.openxmlformats.org/drawingml/2006/main"/>
        </p:blipFill>
        <p:spPr>
          <a:xfrm xmlns:a="http://schemas.openxmlformats.org/drawingml/2006/main">
            <a:off x="7905750" y="2390775"/>
            <a:ext cx="3524250" cy="3524250"/>
          </a:xfrm>
          <a:prstGeom xmlns:a="http://schemas.openxmlformats.org/drawingml/2006/main" prst="rect">
            <a:avLst/>
          </a:prstGeom>
        </p:spPr>
      </p:pic>
      <p:sp>
        <p:nvSpPr>
          <p:cNvPr id="20009" name="Hydro-UAI Treinamento e gradientes">
            <a:extLst xmlns:a="http://schemas.openxmlformats.org/drawingml/2006/main">
              <a:ext uri="{FF2B5EF4-FFF2-40B4-BE49-F238E27FC236}">
                <a16:creationId xmlns:a16="http://schemas.microsoft.com/office/drawing/2014/main" id="{8E3028F5-09DF-59F7-A067-1718FD673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676" y="741617"/>
            <a:ext cx="11284553" cy="4855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 i="1">
                <a:solidFill>
                  <a:srgbClr val="FFFFFF"/>
                </a:solidFill>
                <a:latin typeface="JetBrains Mono ExtraBold"/>
                <a:ea typeface="JetBrains Mono ExtraBold"/>
                <a:cs typeface="JetBrains Mono ExtraBold"/>
              </a:defRPr>
            </a:pPr>
            <a:r>
              <a:rPr sz="2400" b="1" i="1">
                <a:solidFill>
                  <a:srgbClr val="FFFFFF"/>
                </a:solidFill>
                <a:latin typeface="JetBrains Mono ExtraBold"/>
                <a:ea typeface="JetBrains Mono ExtraBold"/>
                <a:cs typeface="JetBrains Mono ExtraBold"/>
              </a:rPr>
              <a:t>Treinamento e gradientes</a:t>
            </a:r>
          </a:p>
        </p:txBody>
      </p:sp>
      <p:sp>
        <p:nvSpPr>
          <p:cNvPr id="20010" name="Divisor Hydro-UAI">
            <a:extLst xmlns:a="http://schemas.openxmlformats.org/drawingml/2006/main">
              <a:ext uri="{FF2B5EF4-FFF2-40B4-BE49-F238E27FC236}">
                <a16:creationId xmlns:a16="http://schemas.microsoft.com/office/drawing/2014/main" id="{7D8094BC-F83F-5529-94C5-C19A023A7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08259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668">
            <a:solidFill>
              <a:srgbClr val="FFFFFF"/>
            </a:solidFill>
          </a:ln>
        </p:spPr>
      </p:sp>
      <p:sp>
        <p:nvSpPr>
          <p:cNvPr id="20011" name="Hydro-UAI Hydro-UAI Course">
            <a:extLst xmlns:a="http://schemas.openxmlformats.org/drawingml/2006/main">
              <a:ext uri="{FF2B5EF4-FFF2-40B4-BE49-F238E27FC236}">
                <a16:creationId xmlns:a16="http://schemas.microsoft.com/office/drawing/2014/main" id="{817DE13D-B938-5E37-922C-F276E12C3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63436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45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945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Hydro-UAI Course</a:t>
            </a:r>
          </a:p>
        </p:txBody>
      </p:sp>
      <p:sp>
        <p:nvSpPr>
          <p:cNvPr id="20012" name="Hydro-UAI 20 / 47">
            <a:extLst xmlns:a="http://schemas.openxmlformats.org/drawingml/2006/main">
              <a:ext uri="{FF2B5EF4-FFF2-40B4-BE49-F238E27FC236}">
                <a16:creationId xmlns:a16="http://schemas.microsoft.com/office/drawing/2014/main" id="{8E352E3E-1A6A-54B1-9870-0D1195B26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343650"/>
            <a:ext cx="1219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91A4BD"/>
                </a:solidFill>
                <a:latin typeface="JetBrains Mono"/>
                <a:ea typeface="JetBrains Mono"/>
                <a:cs typeface="JetBrains Mono"/>
              </a:defRPr>
            </a:pPr>
            <a:r>
              <a:rPr sz="975" b="0" i="0">
                <a:solidFill>
                  <a:srgbClr val="91A4BD"/>
                </a:solidFill>
                <a:latin typeface="JetBrains Mono"/>
                <a:ea typeface="JetBrains Mono"/>
                <a:cs typeface="JetBrains Mono"/>
              </a:rPr>
              <a:t>20 / 47</a:t>
            </a:r>
          </a:p>
        </p:txBody>
      </p:sp>
    </p:spTree>
    <p:extLst>
      <p:ext uri="{BB962C8B-B14F-4D97-AF65-F5344CB8AC3E}">
        <p14:creationId xmlns:p14="http://schemas.microsoft.com/office/powerpoint/2010/main" val="3991283715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21001" name=""/>
        <p:cNvGrpSpPr/>
        <p:nvPr/>
      </p:nvGrpSpPr>
      <p:grpSpPr>
        <a:xfrm xmlns:a="http://schemas.openxmlformats.org/drawingml/2006/main"/>
      </p:grpSpPr>
      <p:sp>
        <p:nvSpPr>
          <p:cNvPr id="21002" name="Retângulo 6">
            <a:extLst xmlns:a="http://schemas.openxmlformats.org/drawingml/2006/main">
              <a:ext uri="{FF2B5EF4-FFF2-40B4-BE49-F238E27FC236}">
                <a16:creationId xmlns:a16="http://schemas.microsoft.com/office/drawing/2014/main" id="{F2EC27D6-CEB1-5C10-BD2C-3DB7C740A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F29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1003" name="Tema do slide">
            <a:extLst xmlns:a="http://schemas.openxmlformats.org/drawingml/2006/main">
              <a:ext uri="{FF2B5EF4-FFF2-40B4-BE49-F238E27FC236}">
                <a16:creationId xmlns:a16="http://schemas.microsoft.com/office/drawing/2014/main" id="{F2F4B182-DB25-54A1-A382-13E234773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90700"/>
            <a:ext cx="11277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2025" b="1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Exploding gradient: “tá tudo bem”</a:t>
            </a:r>
          </a:p>
        </p:txBody>
      </p:sp>
      <p:sp>
        <p:nvSpPr>
          <p:cNvPr id="21004" name="Fala">
            <a:extLst xmlns:a="http://schemas.openxmlformats.org/drawingml/2006/main">
              <a:ext uri="{FF2B5EF4-FFF2-40B4-BE49-F238E27FC236}">
                <a16:creationId xmlns:a16="http://schemas.microsoft.com/office/drawing/2014/main" id="{CC29CB3C-A75E-58CD-A6B1-C59B1BEE2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47950"/>
            <a:ext cx="6286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83D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2175" b="1">
                <a:solidFill>
                  <a:srgbClr val="83DFFF"/>
                </a:solidFill>
                <a:latin typeface="JetBrains Mono"/>
                <a:ea typeface="JetBrains Mono"/>
                <a:cs typeface="JetBrains Mono"/>
              </a:rPr>
              <a:t>Treino: loss = NaN</a:t>
            </a:r>
          </a:p>
          <a:p xmlns:a="http://schemas.openxmlformats.org/drawingml/2006/main">
            <a:pPr algn="l">
              <a:buNone/>
              <a:defRPr sz="2175" b="1">
                <a:solidFill>
                  <a:srgbClr val="83D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2175" b="1">
                <a:solidFill>
                  <a:srgbClr val="83DFFF"/>
                </a:solidFill>
                <a:latin typeface="JetBrains Mono"/>
                <a:ea typeface="JetBrains Mono"/>
                <a:cs typeface="JetBrains Mono"/>
              </a:rPr>
              <a:t>Eu, segurando o café:</a:t>
            </a:r>
          </a:p>
        </p:txBody>
      </p:sp>
      <p:sp>
        <p:nvSpPr>
          <p:cNvPr id="21005" name="Piada">
            <a:extLst xmlns:a="http://schemas.openxmlformats.org/drawingml/2006/main">
              <a:ext uri="{FF2B5EF4-FFF2-40B4-BE49-F238E27FC236}">
                <a16:creationId xmlns:a16="http://schemas.microsoft.com/office/drawing/2014/main" id="{4528D8BA-3CAA-5C30-A8A6-886505B58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905250"/>
            <a:ext cx="647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FFAD62"/>
                </a:solidFill>
                <a:latin typeface="JetBrains Mono"/>
                <a:ea typeface="JetBrains Mono"/>
                <a:cs typeface="JetBrains Mono"/>
              </a:defRPr>
            </a:pPr>
            <a:r>
              <a:rPr sz="3000" b="1">
                <a:solidFill>
                  <a:srgbClr val="FFAD62"/>
                </a:solidFill>
                <a:latin typeface="JetBrains Mono"/>
                <a:ea typeface="JetBrains Mono"/>
                <a:cs typeface="JetBrains Mono"/>
              </a:rPr>
              <a:t>“Tá tudo bem.”</a:t>
            </a:r>
          </a:p>
        </p:txBody>
      </p:sp>
      <p:sp>
        <p:nvSpPr>
          <p:cNvPr id="21006" name="Cuidado">
            <a:extLst xmlns:a="http://schemas.openxmlformats.org/drawingml/2006/main">
              <a:ext uri="{FF2B5EF4-FFF2-40B4-BE49-F238E27FC236}">
                <a16:creationId xmlns:a16="http://schemas.microsoft.com/office/drawing/2014/main" id="{82E146C4-0C3F-5553-873B-0C160A34A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914900"/>
            <a:ext cx="67722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725" b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Gradientes grandes podem causar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725" b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atualizações instáveis. NaN também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725" b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pode ter outras causas numéricas.</a:t>
            </a:r>
          </a:p>
        </p:txBody>
      </p:sp>
      <p:pic>
        <p:nvPicPr>
          <p:cNvPr id="21007" name="Imagem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f3e00ecc3d4a27"/>
          <a:srcRect xmlns:a="http://schemas.openxmlformats.org/drawingml/2006/main" l="3570" t="0" r="8084" b="1819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3701" y="6294313"/>
            <a:ext cx="308300" cy="272211"/>
          </a:xfrm>
          <a:prstGeom xmlns:a="http://schemas.openxmlformats.org/drawingml/2006/main" prst="rect">
            <a:avLst/>
          </a:prstGeom>
        </p:spPr>
      </p:pic>
      <p:pic>
        <p:nvPicPr>
          <p:cNvPr id="2100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cfc6da4a934f4e"/>
          <a:stretch xmlns:a="http://schemas.openxmlformats.org/drawingml/2006/main"/>
        </p:blipFill>
        <p:spPr>
          <a:xfrm xmlns:a="http://schemas.openxmlformats.org/drawingml/2006/main">
            <a:off x="7967663" y="2390775"/>
            <a:ext cx="3524250" cy="3524250"/>
          </a:xfrm>
          <a:prstGeom xmlns:a="http://schemas.openxmlformats.org/drawingml/2006/main" prst="rect">
            <a:avLst/>
          </a:prstGeom>
        </p:spPr>
      </p:pic>
      <p:sp>
        <p:nvSpPr>
          <p:cNvPr id="21009" name="Hydro-UAI Treinamento e gradientes">
            <a:extLst xmlns:a="http://schemas.openxmlformats.org/drawingml/2006/main">
              <a:ext uri="{FF2B5EF4-FFF2-40B4-BE49-F238E27FC236}">
                <a16:creationId xmlns:a16="http://schemas.microsoft.com/office/drawing/2014/main" id="{F85E7661-FEBF-531D-8F03-E2C62C300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676" y="741617"/>
            <a:ext cx="11284553" cy="4855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 i="1">
                <a:solidFill>
                  <a:srgbClr val="FFFFFF"/>
                </a:solidFill>
                <a:latin typeface="JetBrains Mono ExtraBold"/>
                <a:ea typeface="JetBrains Mono ExtraBold"/>
                <a:cs typeface="JetBrains Mono ExtraBold"/>
              </a:defRPr>
            </a:pPr>
            <a:r>
              <a:rPr sz="2400" b="1" i="1">
                <a:solidFill>
                  <a:srgbClr val="FFFFFF"/>
                </a:solidFill>
                <a:latin typeface="JetBrains Mono ExtraBold"/>
                <a:ea typeface="JetBrains Mono ExtraBold"/>
                <a:cs typeface="JetBrains Mono ExtraBold"/>
              </a:rPr>
              <a:t>Treinamento e gradientes</a:t>
            </a:r>
          </a:p>
        </p:txBody>
      </p:sp>
      <p:sp>
        <p:nvSpPr>
          <p:cNvPr id="21010" name="Divisor Hydro-UAI">
            <a:extLst xmlns:a="http://schemas.openxmlformats.org/drawingml/2006/main">
              <a:ext uri="{FF2B5EF4-FFF2-40B4-BE49-F238E27FC236}">
                <a16:creationId xmlns:a16="http://schemas.microsoft.com/office/drawing/2014/main" id="{C25A0F7C-DDBB-5035-BDDE-BE830707D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08259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668">
            <a:solidFill>
              <a:srgbClr val="FFFFFF"/>
            </a:solidFill>
          </a:ln>
        </p:spPr>
      </p:sp>
      <p:sp>
        <p:nvSpPr>
          <p:cNvPr id="21011" name="Hydro-UAI Hydro-UAI Course">
            <a:extLst xmlns:a="http://schemas.openxmlformats.org/drawingml/2006/main">
              <a:ext uri="{FF2B5EF4-FFF2-40B4-BE49-F238E27FC236}">
                <a16:creationId xmlns:a16="http://schemas.microsoft.com/office/drawing/2014/main" id="{9C98326A-4F19-5206-B796-34A7BB943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63436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45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945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Hydro-UAI Course</a:t>
            </a:r>
          </a:p>
        </p:txBody>
      </p:sp>
      <p:sp>
        <p:nvSpPr>
          <p:cNvPr id="21012" name="Hydro-UAI 21 / 47">
            <a:extLst xmlns:a="http://schemas.openxmlformats.org/drawingml/2006/main">
              <a:ext uri="{FF2B5EF4-FFF2-40B4-BE49-F238E27FC236}">
                <a16:creationId xmlns:a16="http://schemas.microsoft.com/office/drawing/2014/main" id="{33AC9019-AB98-54F7-AFF5-06F398BC3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343650"/>
            <a:ext cx="1219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91A4BD"/>
                </a:solidFill>
                <a:latin typeface="JetBrains Mono"/>
                <a:ea typeface="JetBrains Mono"/>
                <a:cs typeface="JetBrains Mono"/>
              </a:defRPr>
            </a:pPr>
            <a:r>
              <a:rPr sz="975" b="0" i="0">
                <a:solidFill>
                  <a:srgbClr val="91A4BD"/>
                </a:solidFill>
                <a:latin typeface="JetBrains Mono"/>
                <a:ea typeface="JetBrains Mono"/>
                <a:cs typeface="JetBrains Mono"/>
              </a:rPr>
              <a:t>21 / 47</a:t>
            </a:r>
          </a:p>
        </p:txBody>
      </p:sp>
    </p:spTree>
    <p:extLst>
      <p:ext uri="{BB962C8B-B14F-4D97-AF65-F5344CB8AC3E}">
        <p14:creationId xmlns:p14="http://schemas.microsoft.com/office/powerpoint/2010/main" val="3991283715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22001" name=""/>
        <p:cNvGrpSpPr/>
        <p:nvPr/>
      </p:nvGrpSpPr>
      <p:grpSpPr>
        <a:xfrm xmlns:a="http://schemas.openxmlformats.org/drawingml/2006/main"/>
      </p:grpSpPr>
      <p:sp>
        <p:nvSpPr>
          <p:cNvPr id="22002" name="Retângulo 6">
            <a:extLst xmlns:a="http://schemas.openxmlformats.org/drawingml/2006/main">
              <a:ext uri="{FF2B5EF4-FFF2-40B4-BE49-F238E27FC236}">
                <a16:creationId xmlns:a16="http://schemas.microsoft.com/office/drawing/2014/main" id="{E9B0B286-D177-5220-B690-34589C0CD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F29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graphicFrame>
        <p:nvGraphicFramePr>
          <p:cNvPr id="22003" name=""/>
          <p:cNvGraphicFramePr/>
          <p:nvPr/>
        </p:nvGraphicFramePr>
        <p:xfrm>
          <a:off xmlns:a="http://schemas.openxmlformats.org/drawingml/2006/main" x="457200" y="2571750"/>
          <a:ext xmlns:a="http://schemas.openxmlformats.org/drawingml/2006/main" cx="11277600" cy="330517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495550"/>
                <a:gridCol w="4191000"/>
                <a:gridCol w="4591050"/>
              </a:tblGrid>
              <a:tr h="466725"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Medida</a:t>
                      </a:r>
                    </a:p>
                  </a:txBody>
                  <a:tcPr marL="91440" marR="91440" marT="45720" marB="45720" anchor="ctr">
                    <a:solidFill>
                      <a:srgbClr val="0053EB"/>
                    </a:solidFill>
                  </a:tcPr>
                </a:tc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O que ajuda</a:t>
                      </a:r>
                    </a:p>
                  </a:txBody>
                  <a:tcPr marL="91440" marR="91440" marT="45720" marB="45720" anchor="ctr">
                    <a:solidFill>
                      <a:srgbClr val="0053EB"/>
                    </a:solidFill>
                  </a:tcPr>
                </a:tc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Limite</a:t>
                      </a:r>
                    </a:p>
                  </a:txBody>
                  <a:tcPr marL="91440" marR="91440" marT="45720" marB="45720" anchor="ctr">
                    <a:solidFill>
                      <a:srgbClr val="0053EB"/>
                    </a:solidFill>
                  </a:tcPr>
                </a:tc>
              </a:tr>
              <a:tr h="695325"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Clipping da norma</a:t>
                      </a:r>
                    </a:p>
                  </a:txBody>
                  <a:tcPr marL="91440" marR="91440" marT="45720" marB="45720" anchor="ctr">
                    <a:solidFill>
                      <a:srgbClr val="000F29"/>
                    </a:solidFill>
                  </a:tcPr>
                </a:tc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Contém gradientes grandes.</a:t>
                      </a:r>
                    </a:p>
                  </a:txBody>
                  <a:tcPr marL="91440" marR="91440" marT="45720" marB="45720" anchor="ctr">
                    <a:solidFill>
                      <a:srgbClr val="000F29"/>
                    </a:solidFill>
                  </a:tcPr>
                </a:tc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Não reconstrói um gradiente</a:t>
                      </a:r>
                    </a:p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que já ficou pequeno.</a:t>
                      </a:r>
                    </a:p>
                  </a:txBody>
                  <a:tcPr marL="91440" marR="91440" marT="45720" marB="45720" anchor="ctr">
                    <a:solidFill>
                      <a:srgbClr val="000F29"/>
                    </a:solidFill>
                  </a:tcPr>
                </a:tc>
              </a:tr>
              <a:tr h="714375"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LSTM e portas</a:t>
                      </a:r>
                    </a:p>
                  </a:txBody>
                  <a:tcPr marL="91440" marR="91440" marT="45720" marB="45720" anchor="ctr">
                    <a:solidFill>
                      <a:srgbClr val="000F29"/>
                    </a:solidFill>
                  </a:tcPr>
                </a:tc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Oferecem um caminho de</a:t>
                      </a:r>
                    </a:p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memória com atualização aditiva.</a:t>
                      </a:r>
                    </a:p>
                  </a:txBody>
                  <a:tcPr marL="91440" marR="91440" marT="45720" marB="45720" anchor="ctr">
                    <a:solidFill>
                      <a:srgbClr val="000F29"/>
                    </a:solidFill>
                  </a:tcPr>
                </a:tc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Ainda dependem do ajuste</a:t>
                      </a:r>
                    </a:p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e das portas aprendidas.</a:t>
                      </a:r>
                    </a:p>
                  </a:txBody>
                  <a:tcPr marL="91440" marR="91440" marT="45720" marB="45720" anchor="ctr">
                    <a:solidFill>
                      <a:srgbClr val="000F29"/>
                    </a:solidFill>
                  </a:tcPr>
                </a:tc>
              </a:tr>
              <a:tr h="714375"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BPTT truncado</a:t>
                      </a:r>
                    </a:p>
                  </a:txBody>
                  <a:tcPr marL="91440" marR="91440" marT="45720" marB="45720" anchor="ctr">
                    <a:solidFill>
                      <a:srgbClr val="000F29"/>
                    </a:solidFill>
                  </a:tcPr>
                </a:tc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Reduz custo de memória</a:t>
                      </a:r>
                    </a:p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e tamanho do grafo.</a:t>
                      </a:r>
                    </a:p>
                  </a:txBody>
                  <a:tcPr marL="91440" marR="91440" marT="45720" marB="45720" anchor="ctr">
                    <a:solidFill>
                      <a:srgbClr val="000F29"/>
                    </a:solidFill>
                  </a:tcPr>
                </a:tc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Limita o crédito de eventos</a:t>
                      </a:r>
                    </a:p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além do trecho retropropagado.</a:t>
                      </a:r>
                    </a:p>
                  </a:txBody>
                  <a:tcPr marL="91440" marR="91440" marT="45720" marB="45720" anchor="ctr">
                    <a:solidFill>
                      <a:srgbClr val="000F29"/>
                    </a:solidFill>
                  </a:tcPr>
                </a:tc>
              </a:tr>
              <a:tr h="714375"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Escala e inicialização</a:t>
                      </a:r>
                    </a:p>
                  </a:txBody>
                  <a:tcPr marL="91440" marR="91440" marT="45720" marB="45720" anchor="ctr">
                    <a:solidFill>
                      <a:srgbClr val="000F29"/>
                    </a:solidFill>
                  </a:tcPr>
                </a:tc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Melhoram as condições</a:t>
                      </a:r>
                    </a:p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numéricas do ajuste.</a:t>
                      </a:r>
                    </a:p>
                  </a:txBody>
                  <a:tcPr marL="91440" marR="91440" marT="45720" marB="45720" anchor="ctr">
                    <a:solidFill>
                      <a:srgbClr val="000F29"/>
                    </a:solidFill>
                  </a:tcPr>
                </a:tc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Exigem diagnóstico conjunto</a:t>
                      </a:r>
                    </a:p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com perda e otimizador.</a:t>
                      </a:r>
                    </a:p>
                  </a:txBody>
                  <a:tcPr marL="91440" marR="91440" marT="45720" marB="45720" anchor="ctr">
                    <a:solidFill>
                      <a:srgbClr val="000F29"/>
                    </a:solidFill>
                  </a:tcPr>
                </a:tc>
              </a:tr>
            </a:tbl>
          </a:graphicData>
        </a:graphic>
      </p:graphicFrame>
      <p:sp>
        <p:nvSpPr>
          <p:cNvPr id="22004" name="Tema do slide">
            <a:extLst xmlns:a="http://schemas.openxmlformats.org/drawingml/2006/main">
              <a:ext uri="{FF2B5EF4-FFF2-40B4-BE49-F238E27FC236}">
                <a16:creationId xmlns:a16="http://schemas.microsoft.com/office/drawing/2014/main" id="{9406764D-1E56-5C0C-B1DC-B74C87385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90700"/>
            <a:ext cx="11277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2025" b="1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Medidas para estabilizar o treinamento</a:t>
            </a:r>
          </a:p>
        </p:txBody>
      </p:sp>
      <p:pic>
        <p:nvPicPr>
          <p:cNvPr id="22005" name="Imagem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c536841f6e4443"/>
          <a:srcRect xmlns:a="http://schemas.openxmlformats.org/drawingml/2006/main" l="3570" t="0" r="8084" b="1819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3701" y="6294313"/>
            <a:ext cx="308300" cy="272211"/>
          </a:xfrm>
          <a:prstGeom xmlns:a="http://schemas.openxmlformats.org/drawingml/2006/main" prst="rect">
            <a:avLst/>
          </a:prstGeom>
        </p:spPr>
      </p:pic>
      <p:sp>
        <p:nvSpPr>
          <p:cNvPr id="22006" name="Hydro-UAI Treinamento e gradientes">
            <a:extLst xmlns:a="http://schemas.openxmlformats.org/drawingml/2006/main">
              <a:ext uri="{FF2B5EF4-FFF2-40B4-BE49-F238E27FC236}">
                <a16:creationId xmlns:a16="http://schemas.microsoft.com/office/drawing/2014/main" id="{D8E25314-6CD6-5B45-B285-6D5448430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676" y="741617"/>
            <a:ext cx="11284553" cy="4855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 i="1">
                <a:solidFill>
                  <a:srgbClr val="FFFFFF"/>
                </a:solidFill>
                <a:latin typeface="JetBrains Mono ExtraBold"/>
                <a:ea typeface="JetBrains Mono ExtraBold"/>
                <a:cs typeface="JetBrains Mono ExtraBold"/>
              </a:defRPr>
            </a:pPr>
            <a:r>
              <a:rPr sz="2400" b="1" i="1">
                <a:solidFill>
                  <a:srgbClr val="FFFFFF"/>
                </a:solidFill>
                <a:latin typeface="JetBrains Mono ExtraBold"/>
                <a:ea typeface="JetBrains Mono ExtraBold"/>
                <a:cs typeface="JetBrains Mono ExtraBold"/>
              </a:rPr>
              <a:t>Treinamento e gradientes</a:t>
            </a:r>
          </a:p>
        </p:txBody>
      </p:sp>
      <p:sp>
        <p:nvSpPr>
          <p:cNvPr id="22007" name="Divisor Hydro-UAI">
            <a:extLst xmlns:a="http://schemas.openxmlformats.org/drawingml/2006/main">
              <a:ext uri="{FF2B5EF4-FFF2-40B4-BE49-F238E27FC236}">
                <a16:creationId xmlns:a16="http://schemas.microsoft.com/office/drawing/2014/main" id="{933EE643-E567-56F3-B594-BF782EE95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08259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668">
            <a:solidFill>
              <a:srgbClr val="FFFFFF"/>
            </a:solidFill>
          </a:ln>
        </p:spPr>
      </p:sp>
      <p:sp>
        <p:nvSpPr>
          <p:cNvPr id="22008" name="Hydro-UAI Hydro-UAI Course">
            <a:extLst xmlns:a="http://schemas.openxmlformats.org/drawingml/2006/main">
              <a:ext uri="{FF2B5EF4-FFF2-40B4-BE49-F238E27FC236}">
                <a16:creationId xmlns:a16="http://schemas.microsoft.com/office/drawing/2014/main" id="{6FF951DA-594A-5D30-BD39-338CA9C13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63436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45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945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Hydro-UAI Course</a:t>
            </a:r>
          </a:p>
        </p:txBody>
      </p:sp>
      <p:sp>
        <p:nvSpPr>
          <p:cNvPr id="22009" name="Hydro-UAI 22 / 47">
            <a:extLst xmlns:a="http://schemas.openxmlformats.org/drawingml/2006/main">
              <a:ext uri="{FF2B5EF4-FFF2-40B4-BE49-F238E27FC236}">
                <a16:creationId xmlns:a16="http://schemas.microsoft.com/office/drawing/2014/main" id="{BDCAF6AF-A2A2-5275-86E6-D7519A345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343650"/>
            <a:ext cx="1219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91A4BD"/>
                </a:solidFill>
                <a:latin typeface="JetBrains Mono"/>
                <a:ea typeface="JetBrains Mono"/>
                <a:cs typeface="JetBrains Mono"/>
              </a:defRPr>
            </a:pPr>
            <a:r>
              <a:rPr sz="975" b="0" i="0">
                <a:solidFill>
                  <a:srgbClr val="91A4BD"/>
                </a:solidFill>
                <a:latin typeface="JetBrains Mono"/>
                <a:ea typeface="JetBrains Mono"/>
                <a:cs typeface="JetBrains Mono"/>
              </a:rPr>
              <a:t>22 / 47</a:t>
            </a:r>
          </a:p>
        </p:txBody>
      </p:sp>
    </p:spTree>
    <p:extLst>
      <p:ext uri="{BB962C8B-B14F-4D97-AF65-F5344CB8AC3E}">
        <p14:creationId xmlns:p14="http://schemas.microsoft.com/office/powerpoint/2010/main" val="3991283715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23001" name=""/>
        <p:cNvGrpSpPr/>
        <p:nvPr/>
      </p:nvGrpSpPr>
      <p:grpSpPr>
        <a:xfrm xmlns:a="http://schemas.openxmlformats.org/drawingml/2006/main"/>
      </p:grpSpPr>
      <p:sp>
        <p:nvSpPr>
          <p:cNvPr id="23002" name="Retângulo 6">
            <a:extLst xmlns:a="http://schemas.openxmlformats.org/drawingml/2006/main">
              <a:ext uri="{FF2B5EF4-FFF2-40B4-BE49-F238E27FC236}">
                <a16:creationId xmlns:a16="http://schemas.microsoft.com/office/drawing/2014/main" id="{C7F4B329-BE5D-56E3-9E99-CDB29B966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F29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3003" name="Tema do slide">
            <a:extLst xmlns:a="http://schemas.openxmlformats.org/drawingml/2006/main">
              <a:ext uri="{FF2B5EF4-FFF2-40B4-BE49-F238E27FC236}">
                <a16:creationId xmlns:a16="http://schemas.microsoft.com/office/drawing/2014/main" id="{89178D1F-7353-529B-9AD1-E2102871D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90700"/>
            <a:ext cx="11277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2025" b="1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LSTM: estado da célula e estado oculto</a:t>
            </a:r>
          </a:p>
        </p:txBody>
      </p:sp>
      <p:sp>
        <p:nvSpPr>
          <p:cNvPr id="23004" name="Diagrama c1">
            <a:extLst xmlns:a="http://schemas.openxmlformats.org/drawingml/2006/main">
              <a:ext uri="{FF2B5EF4-FFF2-40B4-BE49-F238E27FC236}">
                <a16:creationId xmlns:a16="http://schemas.microsoft.com/office/drawing/2014/main" id="{6F41DA79-CB23-5C69-B373-5D78C3BAF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781300"/>
            <a:ext cx="20002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F29"/>
          </a:solidFill>
          <a:ln xmlns:a="http://schemas.openxmlformats.org/drawingml/2006/main" w="19050">
            <a:solidFill>
              <a:srgbClr val="FFAD62"/>
            </a:solidFill>
          </a:ln>
        </p:spPr>
        <p:txBody>
          <a:bodyPr xmlns:a="http://schemas.openxmlformats.org/drawingml/2006/main" lIns="76200" tIns="47625" rIns="762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2025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c1</a:t>
            </a:r>
          </a:p>
        </p:txBody>
      </p:sp>
      <p:sp>
        <p:nvSpPr>
          <p:cNvPr id="23005" name="Diagrama c2">
            <a:extLst xmlns:a="http://schemas.openxmlformats.org/drawingml/2006/main">
              <a:ext uri="{FF2B5EF4-FFF2-40B4-BE49-F238E27FC236}">
                <a16:creationId xmlns:a16="http://schemas.microsoft.com/office/drawing/2014/main" id="{1FC52FCE-60A5-5323-9841-CDF6E5407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781300"/>
            <a:ext cx="20002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F29"/>
          </a:solidFill>
          <a:ln xmlns:a="http://schemas.openxmlformats.org/drawingml/2006/main" w="19050">
            <a:solidFill>
              <a:srgbClr val="FFAD62"/>
            </a:solidFill>
          </a:ln>
        </p:spPr>
        <p:txBody>
          <a:bodyPr xmlns:a="http://schemas.openxmlformats.org/drawingml/2006/main" lIns="76200" tIns="47625" rIns="762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2025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c2</a:t>
            </a:r>
          </a:p>
        </p:txBody>
      </p:sp>
      <p:sp>
        <p:nvSpPr>
          <p:cNvPr id="23006" name="Diagrama c3">
            <a:extLst xmlns:a="http://schemas.openxmlformats.org/drawingml/2006/main">
              <a:ext uri="{FF2B5EF4-FFF2-40B4-BE49-F238E27FC236}">
                <a16:creationId xmlns:a16="http://schemas.microsoft.com/office/drawing/2014/main" id="{C92E3AC0-3DC3-53F7-A684-01D93C608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781300"/>
            <a:ext cx="20002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F29"/>
          </a:solidFill>
          <a:ln xmlns:a="http://schemas.openxmlformats.org/drawingml/2006/main" w="19050">
            <a:solidFill>
              <a:srgbClr val="FFAD62"/>
            </a:solidFill>
          </a:ln>
        </p:spPr>
        <p:txBody>
          <a:bodyPr xmlns:a="http://schemas.openxmlformats.org/drawingml/2006/main" lIns="76200" tIns="47625" rIns="762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2025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c3</a:t>
            </a:r>
          </a:p>
        </p:txBody>
      </p:sp>
      <p:sp>
        <p:nvSpPr>
          <p:cNvPr id="23007" name="Diagrama h1">
            <a:extLst xmlns:a="http://schemas.openxmlformats.org/drawingml/2006/main">
              <a:ext uri="{FF2B5EF4-FFF2-40B4-BE49-F238E27FC236}">
                <a16:creationId xmlns:a16="http://schemas.microsoft.com/office/drawing/2014/main" id="{B025592D-2407-5663-86F9-934DD3E8A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152900"/>
            <a:ext cx="20002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F29"/>
          </a:solidFill>
          <a:ln xmlns:a="http://schemas.openxmlformats.org/drawingml/2006/main" w="19050">
            <a:solidFill>
              <a:srgbClr val="83DFFF"/>
            </a:solidFill>
          </a:ln>
        </p:spPr>
        <p:txBody>
          <a:bodyPr xmlns:a="http://schemas.openxmlformats.org/drawingml/2006/main" lIns="76200" tIns="47625" rIns="762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2025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h1</a:t>
            </a:r>
          </a:p>
        </p:txBody>
      </p:sp>
      <p:sp>
        <p:nvSpPr>
          <p:cNvPr id="23008" name="Diagrama h2">
            <a:extLst xmlns:a="http://schemas.openxmlformats.org/drawingml/2006/main">
              <a:ext uri="{FF2B5EF4-FFF2-40B4-BE49-F238E27FC236}">
                <a16:creationId xmlns:a16="http://schemas.microsoft.com/office/drawing/2014/main" id="{5DDFBE96-CB80-5B7B-8684-51C15B0F3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152900"/>
            <a:ext cx="20002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F29"/>
          </a:solidFill>
          <a:ln xmlns:a="http://schemas.openxmlformats.org/drawingml/2006/main" w="19050">
            <a:solidFill>
              <a:srgbClr val="83DFFF"/>
            </a:solidFill>
          </a:ln>
        </p:spPr>
        <p:txBody>
          <a:bodyPr xmlns:a="http://schemas.openxmlformats.org/drawingml/2006/main" lIns="76200" tIns="47625" rIns="762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2025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h2</a:t>
            </a:r>
          </a:p>
        </p:txBody>
      </p:sp>
      <p:sp>
        <p:nvSpPr>
          <p:cNvPr id="23009" name="Diagrama h3">
            <a:extLst xmlns:a="http://schemas.openxmlformats.org/drawingml/2006/main">
              <a:ext uri="{FF2B5EF4-FFF2-40B4-BE49-F238E27FC236}">
                <a16:creationId xmlns:a16="http://schemas.microsoft.com/office/drawing/2014/main" id="{344AED72-C544-504C-B983-8CB54038D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152900"/>
            <a:ext cx="20002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F29"/>
          </a:solidFill>
          <a:ln xmlns:a="http://schemas.openxmlformats.org/drawingml/2006/main" w="19050">
            <a:solidFill>
              <a:srgbClr val="83DFFF"/>
            </a:solidFill>
          </a:ln>
        </p:spPr>
        <p:txBody>
          <a:bodyPr xmlns:a="http://schemas.openxmlformats.org/drawingml/2006/main" lIns="76200" tIns="47625" rIns="762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2025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h3</a:t>
            </a:r>
          </a:p>
        </p:txBody>
      </p:sp>
      <p:cxnSp>
        <p:nvCxnSpPr>
          <p:cNvPr id="23010" name=""/>
          <p:cNvCxnSpPr>
            <a:stCxn xmlns:a="http://schemas.openxmlformats.org/drawingml/2006/main" id="23004" idx="3"/>
            <a:endCxn xmlns:a="http://schemas.openxmlformats.org/drawingml/2006/main" id="23005" idx="1"/>
          </p:cNvCxnSpPr>
          <p:nvPr/>
        </p:nvCxnSpPr>
        <p:spPr>
          <a:xfrm xmlns:a="http://schemas.openxmlformats.org/drawingml/2006/main">
            <a:off x="3810000" y="3090863"/>
            <a:ext cx="1524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FAD62"/>
            </a:solidFill>
            <a:tailEnd type="triangle" w="med" len="med"/>
          </a:ln>
        </p:spPr>
      </p:cxnSp>
      <p:cxnSp>
        <p:nvCxnSpPr>
          <p:cNvPr id="23011" name=""/>
          <p:cNvCxnSpPr>
            <a:stCxn xmlns:a="http://schemas.openxmlformats.org/drawingml/2006/main" id="23007" idx="3"/>
            <a:endCxn xmlns:a="http://schemas.openxmlformats.org/drawingml/2006/main" id="23008" idx="1"/>
          </p:cNvCxnSpPr>
          <p:nvPr/>
        </p:nvCxnSpPr>
        <p:spPr>
          <a:xfrm xmlns:a="http://schemas.openxmlformats.org/drawingml/2006/main">
            <a:off x="3810000" y="4462463"/>
            <a:ext cx="1524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3DFFF"/>
            </a:solidFill>
            <a:tailEnd type="triangle" w="med" len="med"/>
          </a:ln>
        </p:spPr>
      </p:cxnSp>
      <p:cxnSp>
        <p:nvCxnSpPr>
          <p:cNvPr id="23012" name=""/>
          <p:cNvCxnSpPr>
            <a:stCxn xmlns:a="http://schemas.openxmlformats.org/drawingml/2006/main" id="23005" idx="3"/>
            <a:endCxn xmlns:a="http://schemas.openxmlformats.org/drawingml/2006/main" id="23006" idx="1"/>
          </p:cNvCxnSpPr>
          <p:nvPr/>
        </p:nvCxnSpPr>
        <p:spPr>
          <a:xfrm xmlns:a="http://schemas.openxmlformats.org/drawingml/2006/main">
            <a:off x="7334250" y="3090863"/>
            <a:ext cx="1524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FAD62"/>
            </a:solidFill>
            <a:tailEnd type="triangle" w="med" len="med"/>
          </a:ln>
        </p:spPr>
      </p:cxnSp>
      <p:cxnSp>
        <p:nvCxnSpPr>
          <p:cNvPr id="23013" name=""/>
          <p:cNvCxnSpPr>
            <a:stCxn xmlns:a="http://schemas.openxmlformats.org/drawingml/2006/main" id="23008" idx="3"/>
            <a:endCxn xmlns:a="http://schemas.openxmlformats.org/drawingml/2006/main" id="23009" idx="1"/>
          </p:cNvCxnSpPr>
          <p:nvPr/>
        </p:nvCxnSpPr>
        <p:spPr>
          <a:xfrm xmlns:a="http://schemas.openxmlformats.org/drawingml/2006/main">
            <a:off x="7334250" y="4462463"/>
            <a:ext cx="1524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3DFFF"/>
            </a:solidFill>
            <a:tailEnd type="triangle" w="med" len="med"/>
          </a:ln>
        </p:spPr>
      </p:cxnSp>
      <p:cxnSp>
        <p:nvCxnSpPr>
          <p:cNvPr id="23014" name=""/>
          <p:cNvCxnSpPr>
            <a:stCxn xmlns:a="http://schemas.openxmlformats.org/drawingml/2006/main" id="23004" idx="2"/>
            <a:endCxn xmlns:a="http://schemas.openxmlformats.org/drawingml/2006/main" id="23007" idx="0"/>
          </p:cNvCxnSpPr>
          <p:nvPr/>
        </p:nvCxnSpPr>
        <p:spPr>
          <a:xfrm xmlns:a="http://schemas.openxmlformats.org/drawingml/2006/main">
            <a:off x="2809875" y="3400425"/>
            <a:ext cx="0" cy="7524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1A4BD"/>
            </a:solidFill>
            <a:tailEnd type="triangle" w="med" len="med"/>
          </a:ln>
        </p:spPr>
      </p:cxnSp>
      <p:cxnSp>
        <p:nvCxnSpPr>
          <p:cNvPr id="23015" name=""/>
          <p:cNvCxnSpPr>
            <a:stCxn xmlns:a="http://schemas.openxmlformats.org/drawingml/2006/main" id="23005" idx="2"/>
            <a:endCxn xmlns:a="http://schemas.openxmlformats.org/drawingml/2006/main" id="23008" idx="0"/>
          </p:cNvCxnSpPr>
          <p:nvPr/>
        </p:nvCxnSpPr>
        <p:spPr>
          <a:xfrm xmlns:a="http://schemas.openxmlformats.org/drawingml/2006/main">
            <a:off x="6334125" y="3400425"/>
            <a:ext cx="0" cy="7524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1A4BD"/>
            </a:solidFill>
            <a:tailEnd type="triangle" w="med" len="med"/>
          </a:ln>
        </p:spPr>
      </p:cxnSp>
      <p:cxnSp>
        <p:nvCxnSpPr>
          <p:cNvPr id="23016" name=""/>
          <p:cNvCxnSpPr>
            <a:stCxn xmlns:a="http://schemas.openxmlformats.org/drawingml/2006/main" id="23006" idx="2"/>
            <a:endCxn xmlns:a="http://schemas.openxmlformats.org/drawingml/2006/main" id="23009" idx="0"/>
          </p:cNvCxnSpPr>
          <p:nvPr/>
        </p:nvCxnSpPr>
        <p:spPr>
          <a:xfrm xmlns:a="http://schemas.openxmlformats.org/drawingml/2006/main">
            <a:off x="9858375" y="3400425"/>
            <a:ext cx="0" cy="7524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1A4BD"/>
            </a:solidFill>
            <a:tailEnd type="triangle" w="med" len="med"/>
          </a:ln>
        </p:spPr>
      </p:cxnSp>
      <p:sp>
        <p:nvSpPr>
          <p:cNvPr id="23017" name="Memória">
            <a:extLst xmlns:a="http://schemas.openxmlformats.org/drawingml/2006/main">
              <a:ext uri="{FF2B5EF4-FFF2-40B4-BE49-F238E27FC236}">
                <a16:creationId xmlns:a16="http://schemas.microsoft.com/office/drawing/2014/main" id="{C7C260C8-E37C-510C-AE54-32C12E385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57450"/>
            <a:ext cx="11277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FFAD62"/>
                </a:solidFill>
                <a:latin typeface="JetBrains Mono"/>
                <a:ea typeface="JetBrains Mono"/>
                <a:cs typeface="JetBrains Mono"/>
              </a:defRPr>
            </a:pPr>
            <a:r>
              <a:rPr sz="1650" b="0">
                <a:solidFill>
                  <a:srgbClr val="FFAD62"/>
                </a:solidFill>
                <a:latin typeface="JetBrains Mono"/>
                <a:ea typeface="JetBrains Mono"/>
                <a:cs typeface="JetBrains Mono"/>
              </a:rPr>
              <a:t>c: estado da célula</a:t>
            </a:r>
          </a:p>
        </p:txBody>
      </p:sp>
      <p:sp>
        <p:nvSpPr>
          <p:cNvPr id="23018" name="Estado">
            <a:extLst xmlns:a="http://schemas.openxmlformats.org/drawingml/2006/main">
              <a:ext uri="{FF2B5EF4-FFF2-40B4-BE49-F238E27FC236}">
                <a16:creationId xmlns:a16="http://schemas.microsoft.com/office/drawing/2014/main" id="{2356D535-E0EB-5634-BDD6-32E5B06E6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00475"/>
            <a:ext cx="11277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83D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650" b="0">
                <a:solidFill>
                  <a:srgbClr val="83DFFF"/>
                </a:solidFill>
                <a:latin typeface="JetBrains Mono"/>
                <a:ea typeface="JetBrains Mono"/>
                <a:cs typeface="JetBrains Mono"/>
              </a:rPr>
              <a:t>h: estado oculto</a:t>
            </a:r>
          </a:p>
        </p:txBody>
      </p:sp>
      <p:sp>
        <p:nvSpPr>
          <p:cNvPr id="23019" name="Dois estados">
            <a:extLst xmlns:a="http://schemas.openxmlformats.org/drawingml/2006/main">
              <a:ext uri="{FF2B5EF4-FFF2-40B4-BE49-F238E27FC236}">
                <a16:creationId xmlns:a16="http://schemas.microsoft.com/office/drawing/2014/main" id="{8A50E3BC-5D50-539B-898E-41C08FCA7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81625"/>
            <a:ext cx="112776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83D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950" b="1">
                <a:solidFill>
                  <a:srgbClr val="83DFFF"/>
                </a:solidFill>
                <a:latin typeface="JetBrains Mono"/>
                <a:ea typeface="JetBrains Mono"/>
                <a:cs typeface="JetBrains Mono"/>
              </a:rPr>
              <a:t>A LSTM atualiza c e calcula h em cada passo.</a:t>
            </a:r>
          </a:p>
        </p:txBody>
      </p:sp>
      <p:sp>
        <p:nvSpPr>
          <p:cNvPr id="23020" name="Contexto">
            <a:extLst xmlns:a="http://schemas.openxmlformats.org/drawingml/2006/main">
              <a:ext uri="{FF2B5EF4-FFF2-40B4-BE49-F238E27FC236}">
                <a16:creationId xmlns:a16="http://schemas.microsoft.com/office/drawing/2014/main" id="{0A936678-E6A9-5E37-829A-05237276A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29325"/>
            <a:ext cx="11277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91A4BD"/>
                </a:solidFill>
                <a:latin typeface="JetBrains Mono"/>
                <a:ea typeface="JetBrains Mono"/>
                <a:cs typeface="JetBrains Mono"/>
              </a:defRPr>
            </a:pPr>
            <a:r>
              <a:rPr sz="1125" b="0">
                <a:solidFill>
                  <a:srgbClr val="91A4BD"/>
                </a:solidFill>
                <a:latin typeface="JetBrains Mono"/>
                <a:ea typeface="JetBrains Mono"/>
                <a:cs typeface="JetBrains Mono"/>
              </a:rPr>
              <a:t>Esquema dos estados. As operações e portas aparecem nos próximos slides.</a:t>
            </a:r>
          </a:p>
        </p:txBody>
      </p:sp>
      <p:pic>
        <p:nvPicPr>
          <p:cNvPr id="23021" name="Imagem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0b3b8941304165"/>
          <a:srcRect xmlns:a="http://schemas.openxmlformats.org/drawingml/2006/main" l="3570" t="0" r="8084" b="1819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3701" y="6294313"/>
            <a:ext cx="308300" cy="272211"/>
          </a:xfrm>
          <a:prstGeom xmlns:a="http://schemas.openxmlformats.org/drawingml/2006/main" prst="rect">
            <a:avLst/>
          </a:prstGeom>
        </p:spPr>
      </p:pic>
      <p:sp>
        <p:nvSpPr>
          <p:cNvPr id="23022" name="Hydro-UAI Célula LSTM">
            <a:extLst xmlns:a="http://schemas.openxmlformats.org/drawingml/2006/main">
              <a:ext uri="{FF2B5EF4-FFF2-40B4-BE49-F238E27FC236}">
                <a16:creationId xmlns:a16="http://schemas.microsoft.com/office/drawing/2014/main" id="{9616CB4F-C313-5285-BD75-E4D6356AD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676" y="741617"/>
            <a:ext cx="11284553" cy="4855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 i="1">
                <a:solidFill>
                  <a:srgbClr val="FFFFFF"/>
                </a:solidFill>
                <a:latin typeface="JetBrains Mono ExtraBold"/>
                <a:ea typeface="JetBrains Mono ExtraBold"/>
                <a:cs typeface="JetBrains Mono ExtraBold"/>
              </a:defRPr>
            </a:pPr>
            <a:r>
              <a:rPr sz="2400" b="1" i="1">
                <a:solidFill>
                  <a:srgbClr val="FFFFFF"/>
                </a:solidFill>
                <a:latin typeface="JetBrains Mono ExtraBold"/>
                <a:ea typeface="JetBrains Mono ExtraBold"/>
                <a:cs typeface="JetBrains Mono ExtraBold"/>
              </a:rPr>
              <a:t>Célula LSTM</a:t>
            </a:r>
          </a:p>
        </p:txBody>
      </p:sp>
      <p:sp>
        <p:nvSpPr>
          <p:cNvPr id="23023" name="Divisor Hydro-UAI">
            <a:extLst xmlns:a="http://schemas.openxmlformats.org/drawingml/2006/main">
              <a:ext uri="{FF2B5EF4-FFF2-40B4-BE49-F238E27FC236}">
                <a16:creationId xmlns:a16="http://schemas.microsoft.com/office/drawing/2014/main" id="{6F19CBF4-B368-5CC0-B638-934C74768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08259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668">
            <a:solidFill>
              <a:srgbClr val="FFFFFF"/>
            </a:solidFill>
          </a:ln>
        </p:spPr>
      </p:sp>
      <p:sp>
        <p:nvSpPr>
          <p:cNvPr id="23024" name="Hydro-UAI Hydro-UAI Course">
            <a:extLst xmlns:a="http://schemas.openxmlformats.org/drawingml/2006/main">
              <a:ext uri="{FF2B5EF4-FFF2-40B4-BE49-F238E27FC236}">
                <a16:creationId xmlns:a16="http://schemas.microsoft.com/office/drawing/2014/main" id="{CC82C9B9-108B-56A5-9595-51236618A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63436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45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945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Hydro-UAI Course</a:t>
            </a:r>
          </a:p>
        </p:txBody>
      </p:sp>
      <p:sp>
        <p:nvSpPr>
          <p:cNvPr id="23025" name="Hydro-UAI 23 / 47">
            <a:extLst xmlns:a="http://schemas.openxmlformats.org/drawingml/2006/main">
              <a:ext uri="{FF2B5EF4-FFF2-40B4-BE49-F238E27FC236}">
                <a16:creationId xmlns:a16="http://schemas.microsoft.com/office/drawing/2014/main" id="{D5942B1B-FB3B-5A00-965C-3E02FC3CE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343650"/>
            <a:ext cx="1219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91A4BD"/>
                </a:solidFill>
                <a:latin typeface="JetBrains Mono"/>
                <a:ea typeface="JetBrains Mono"/>
                <a:cs typeface="JetBrains Mono"/>
              </a:defRPr>
            </a:pPr>
            <a:r>
              <a:rPr sz="975" b="0" i="0">
                <a:solidFill>
                  <a:srgbClr val="91A4BD"/>
                </a:solidFill>
                <a:latin typeface="JetBrains Mono"/>
                <a:ea typeface="JetBrains Mono"/>
                <a:cs typeface="JetBrains Mono"/>
              </a:rPr>
              <a:t>23 / 47</a:t>
            </a:r>
          </a:p>
        </p:txBody>
      </p:sp>
    </p:spTree>
    <p:extLst>
      <p:ext uri="{BB962C8B-B14F-4D97-AF65-F5344CB8AC3E}">
        <p14:creationId xmlns:p14="http://schemas.microsoft.com/office/powerpoint/2010/main" val="3991283715"/>
      </p:ext>
    </p:extLst>
  </p:cSld>
</p:sld>
</file>

<file path=ppt/slides/slide24.xml><?xml version="1.0" encoding="utf-8"?>
<p:sld xmlns:p="http://schemas.openxmlformats.org/presentationml/2006/main">
  <p:cSld>
    <p:spTree>
      <p:nvGrpSpPr>
        <p:cNvPr id="24001" name=""/>
        <p:cNvGrpSpPr/>
        <p:nvPr/>
      </p:nvGrpSpPr>
      <p:grpSpPr>
        <a:xfrm xmlns:a="http://schemas.openxmlformats.org/drawingml/2006/main"/>
      </p:grpSpPr>
      <p:sp>
        <p:nvSpPr>
          <p:cNvPr id="24002" name="Retângulo 6">
            <a:extLst xmlns:a="http://schemas.openxmlformats.org/drawingml/2006/main">
              <a:ext uri="{FF2B5EF4-FFF2-40B4-BE49-F238E27FC236}">
                <a16:creationId xmlns:a16="http://schemas.microsoft.com/office/drawing/2014/main" id="{89F97C8A-B7B3-5148-8B44-E717F1945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F29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4003" name="Tema do slide">
            <a:extLst xmlns:a="http://schemas.openxmlformats.org/drawingml/2006/main">
              <a:ext uri="{FF2B5EF4-FFF2-40B4-BE49-F238E27FC236}">
                <a16:creationId xmlns:a16="http://schemas.microsoft.com/office/drawing/2014/main" id="{8BB0BC3A-5081-53B5-A0FA-F182122AA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90700"/>
            <a:ext cx="11277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2025" b="1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Equações de uma LSTM com porta de esquecimento</a:t>
            </a:r>
          </a:p>
        </p:txBody>
      </p:sp>
      <p:sp>
        <p:nvSpPr>
          <p:cNvPr id="24004" name="Concatenação">
            <a:extLst xmlns:a="http://schemas.openxmlformats.org/drawingml/2006/main">
              <a:ext uri="{FF2B5EF4-FFF2-40B4-BE49-F238E27FC236}">
                <a16:creationId xmlns:a16="http://schemas.microsoft.com/office/drawing/2014/main" id="{9C964397-71D4-56E6-BE8C-450D68EEF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09825"/>
            <a:ext cx="11277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500" b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zₜ = [hₜ₋₁; xₜ]    σ: sigmoid    ⊙: produto elemento a elemento</a:t>
            </a:r>
          </a:p>
        </p:txBody>
      </p:sp>
      <p:sp>
        <p:nvSpPr>
          <p:cNvPr id="24005" name="Nome 0">
            <a:extLst xmlns:a="http://schemas.openxmlformats.org/drawingml/2006/main">
              <a:ext uri="{FF2B5EF4-FFF2-40B4-BE49-F238E27FC236}">
                <a16:creationId xmlns:a16="http://schemas.microsoft.com/office/drawing/2014/main" id="{07B5C009-33AB-5751-BC39-11451C085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43225"/>
            <a:ext cx="41433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FFAD62"/>
                </a:solidFill>
                <a:latin typeface="JetBrains Mono"/>
                <a:ea typeface="JetBrains Mono"/>
                <a:cs typeface="JetBrains Mono"/>
              </a:defRPr>
            </a:pPr>
            <a:r>
              <a:rPr sz="1575" b="0">
                <a:solidFill>
                  <a:srgbClr val="FFAD62"/>
                </a:solidFill>
                <a:latin typeface="JetBrains Mono"/>
                <a:ea typeface="JetBrains Mono"/>
                <a:cs typeface="JetBrains Mono"/>
              </a:rPr>
              <a:t>Porta de esquecimento</a:t>
            </a:r>
          </a:p>
        </p:txBody>
      </p:sp>
      <p:sp>
        <p:nvSpPr>
          <p:cNvPr id="24006" name="Equação 0">
            <a:extLst xmlns:a="http://schemas.openxmlformats.org/drawingml/2006/main">
              <a:ext uri="{FF2B5EF4-FFF2-40B4-BE49-F238E27FC236}">
                <a16:creationId xmlns:a16="http://schemas.microsoft.com/office/drawing/2014/main" id="{EFDA8088-B931-5F23-99C6-3AF902A7F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943225"/>
            <a:ext cx="67246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FAD62"/>
                </a:solidFill>
                <a:latin typeface="JetBrains Mono"/>
                <a:ea typeface="JetBrains Mono"/>
                <a:cs typeface="JetBrains Mono"/>
              </a:defRPr>
            </a:pPr>
            <a:r>
              <a:rPr sz="2025" b="0">
                <a:solidFill>
                  <a:srgbClr val="FFAD62"/>
                </a:solidFill>
                <a:latin typeface="JetBrains Mono"/>
                <a:ea typeface="JetBrains Mono"/>
                <a:cs typeface="JetBrains Mono"/>
              </a:rPr>
              <a:t>fₜ = σ(Wf zₜ + bf)</a:t>
            </a:r>
          </a:p>
        </p:txBody>
      </p:sp>
      <p:sp>
        <p:nvSpPr>
          <p:cNvPr id="24007" name="Nome 1">
            <a:extLst xmlns:a="http://schemas.openxmlformats.org/drawingml/2006/main">
              <a:ext uri="{FF2B5EF4-FFF2-40B4-BE49-F238E27FC236}">
                <a16:creationId xmlns:a16="http://schemas.microsoft.com/office/drawing/2014/main" id="{21C87514-9B1C-59E6-B1B5-8A0FA7DCF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00425"/>
            <a:ext cx="41433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83D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575" b="0">
                <a:solidFill>
                  <a:srgbClr val="83DFFF"/>
                </a:solidFill>
                <a:latin typeface="JetBrains Mono"/>
                <a:ea typeface="JetBrains Mono"/>
                <a:cs typeface="JetBrains Mono"/>
              </a:rPr>
              <a:t>Porta de entrada</a:t>
            </a:r>
          </a:p>
        </p:txBody>
      </p:sp>
      <p:sp>
        <p:nvSpPr>
          <p:cNvPr id="24008" name="Equação 1">
            <a:extLst xmlns:a="http://schemas.openxmlformats.org/drawingml/2006/main">
              <a:ext uri="{FF2B5EF4-FFF2-40B4-BE49-F238E27FC236}">
                <a16:creationId xmlns:a16="http://schemas.microsoft.com/office/drawing/2014/main" id="{80488653-1239-554E-990A-7DA078EA2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400425"/>
            <a:ext cx="67246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83D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2025" b="0">
                <a:solidFill>
                  <a:srgbClr val="83DFFF"/>
                </a:solidFill>
                <a:latin typeface="JetBrains Mono"/>
                <a:ea typeface="JetBrains Mono"/>
                <a:cs typeface="JetBrains Mono"/>
              </a:rPr>
              <a:t>iₜ = σ(Wi zₜ + bi)</a:t>
            </a:r>
          </a:p>
        </p:txBody>
      </p:sp>
      <p:sp>
        <p:nvSpPr>
          <p:cNvPr id="24009" name="Nome 2">
            <a:extLst xmlns:a="http://schemas.openxmlformats.org/drawingml/2006/main">
              <a:ext uri="{FF2B5EF4-FFF2-40B4-BE49-F238E27FC236}">
                <a16:creationId xmlns:a16="http://schemas.microsoft.com/office/drawing/2014/main" id="{78C55C9F-6E0B-5A6C-AFF7-4C9EBAC34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57625"/>
            <a:ext cx="41433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83D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575" b="0">
                <a:solidFill>
                  <a:srgbClr val="83DFFF"/>
                </a:solidFill>
                <a:latin typeface="JetBrains Mono"/>
                <a:ea typeface="JetBrains Mono"/>
                <a:cs typeface="JetBrains Mono"/>
              </a:rPr>
              <a:t>Candidata a conteúdo</a:t>
            </a:r>
          </a:p>
        </p:txBody>
      </p:sp>
      <p:sp>
        <p:nvSpPr>
          <p:cNvPr id="24010" name="Equação 2">
            <a:extLst xmlns:a="http://schemas.openxmlformats.org/drawingml/2006/main">
              <a:ext uri="{FF2B5EF4-FFF2-40B4-BE49-F238E27FC236}">
                <a16:creationId xmlns:a16="http://schemas.microsoft.com/office/drawing/2014/main" id="{DF7F9FC4-E7F3-5C7F-8465-FFD90BBF5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857625"/>
            <a:ext cx="67246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83D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2025" b="0">
                <a:solidFill>
                  <a:srgbClr val="83DFFF"/>
                </a:solidFill>
                <a:latin typeface="JetBrains Mono"/>
                <a:ea typeface="JetBrains Mono"/>
                <a:cs typeface="JetBrains Mono"/>
              </a:rPr>
              <a:t>gₜ = tanh(Wg zₜ + bg)</a:t>
            </a:r>
          </a:p>
        </p:txBody>
      </p:sp>
      <p:sp>
        <p:nvSpPr>
          <p:cNvPr id="24011" name="Nome 3">
            <a:extLst xmlns:a="http://schemas.openxmlformats.org/drawingml/2006/main">
              <a:ext uri="{FF2B5EF4-FFF2-40B4-BE49-F238E27FC236}">
                <a16:creationId xmlns:a16="http://schemas.microsoft.com/office/drawing/2014/main" id="{7F12D7CB-B07D-577D-9957-09711D981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314825"/>
            <a:ext cx="41433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71E7BD"/>
                </a:solidFill>
                <a:latin typeface="JetBrains Mono"/>
                <a:ea typeface="JetBrains Mono"/>
                <a:cs typeface="JetBrains Mono"/>
              </a:defRPr>
            </a:pPr>
            <a:r>
              <a:rPr sz="1575" b="0">
                <a:solidFill>
                  <a:srgbClr val="71E7BD"/>
                </a:solidFill>
                <a:latin typeface="JetBrains Mono"/>
                <a:ea typeface="JetBrains Mono"/>
                <a:cs typeface="JetBrains Mono"/>
              </a:rPr>
              <a:t>Porta de saída</a:t>
            </a:r>
          </a:p>
        </p:txBody>
      </p:sp>
      <p:sp>
        <p:nvSpPr>
          <p:cNvPr id="24012" name="Equação 3">
            <a:extLst xmlns:a="http://schemas.openxmlformats.org/drawingml/2006/main">
              <a:ext uri="{FF2B5EF4-FFF2-40B4-BE49-F238E27FC236}">
                <a16:creationId xmlns:a16="http://schemas.microsoft.com/office/drawing/2014/main" id="{16CF8942-582B-5C35-986C-D4FBC17C4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4314825"/>
            <a:ext cx="67246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71E7BD"/>
                </a:solidFill>
                <a:latin typeface="JetBrains Mono"/>
                <a:ea typeface="JetBrains Mono"/>
                <a:cs typeface="JetBrains Mono"/>
              </a:defRPr>
            </a:pPr>
            <a:r>
              <a:rPr sz="2025" b="0">
                <a:solidFill>
                  <a:srgbClr val="71E7BD"/>
                </a:solidFill>
                <a:latin typeface="JetBrains Mono"/>
                <a:ea typeface="JetBrains Mono"/>
                <a:cs typeface="JetBrains Mono"/>
              </a:rPr>
              <a:t>oₜ = σ(Wo zₜ + bo)</a:t>
            </a:r>
          </a:p>
        </p:txBody>
      </p:sp>
      <p:sp>
        <p:nvSpPr>
          <p:cNvPr id="24013" name="Nome 4">
            <a:extLst xmlns:a="http://schemas.openxmlformats.org/drawingml/2006/main">
              <a:ext uri="{FF2B5EF4-FFF2-40B4-BE49-F238E27FC236}">
                <a16:creationId xmlns:a16="http://schemas.microsoft.com/office/drawing/2014/main" id="{CD08D927-28AB-5C3E-9D09-EADE4899C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72025"/>
            <a:ext cx="41433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FFAD62"/>
                </a:solidFill>
                <a:latin typeface="JetBrains Mono"/>
                <a:ea typeface="JetBrains Mono"/>
                <a:cs typeface="JetBrains Mono"/>
              </a:defRPr>
            </a:pPr>
            <a:r>
              <a:rPr sz="1575" b="0">
                <a:solidFill>
                  <a:srgbClr val="FFAD62"/>
                </a:solidFill>
                <a:latin typeface="JetBrains Mono"/>
                <a:ea typeface="JetBrains Mono"/>
                <a:cs typeface="JetBrains Mono"/>
              </a:rPr>
              <a:t>Estado da célula</a:t>
            </a:r>
          </a:p>
        </p:txBody>
      </p:sp>
      <p:sp>
        <p:nvSpPr>
          <p:cNvPr id="24014" name="Equação 4">
            <a:extLst xmlns:a="http://schemas.openxmlformats.org/drawingml/2006/main">
              <a:ext uri="{FF2B5EF4-FFF2-40B4-BE49-F238E27FC236}">
                <a16:creationId xmlns:a16="http://schemas.microsoft.com/office/drawing/2014/main" id="{B7E15EF8-BA42-5F15-8495-090AD77F4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4772025"/>
            <a:ext cx="67246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FAD62"/>
                </a:solidFill>
                <a:latin typeface="JetBrains Mono"/>
                <a:ea typeface="JetBrains Mono"/>
                <a:cs typeface="JetBrains Mono"/>
              </a:defRPr>
            </a:pPr>
            <a:r>
              <a:rPr sz="2025" b="0">
                <a:solidFill>
                  <a:srgbClr val="FFAD62"/>
                </a:solidFill>
                <a:latin typeface="JetBrains Mono"/>
                <a:ea typeface="JetBrains Mono"/>
                <a:cs typeface="JetBrains Mono"/>
              </a:rPr>
              <a:t>cₜ = fₜ ⊙ cₜ₋₁ + iₜ ⊙ gₜ</a:t>
            </a:r>
          </a:p>
        </p:txBody>
      </p:sp>
      <p:sp>
        <p:nvSpPr>
          <p:cNvPr id="24015" name="Nome 5">
            <a:extLst xmlns:a="http://schemas.openxmlformats.org/drawingml/2006/main">
              <a:ext uri="{FF2B5EF4-FFF2-40B4-BE49-F238E27FC236}">
                <a16:creationId xmlns:a16="http://schemas.microsoft.com/office/drawing/2014/main" id="{93C8AE8A-052C-5B89-BE59-BC6678649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29225"/>
            <a:ext cx="41433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71E7BD"/>
                </a:solidFill>
                <a:latin typeface="JetBrains Mono"/>
                <a:ea typeface="JetBrains Mono"/>
                <a:cs typeface="JetBrains Mono"/>
              </a:defRPr>
            </a:pPr>
            <a:r>
              <a:rPr sz="1575" b="0">
                <a:solidFill>
                  <a:srgbClr val="71E7BD"/>
                </a:solidFill>
                <a:latin typeface="JetBrains Mono"/>
                <a:ea typeface="JetBrains Mono"/>
                <a:cs typeface="JetBrains Mono"/>
              </a:rPr>
              <a:t>Estado oculto</a:t>
            </a:r>
          </a:p>
        </p:txBody>
      </p:sp>
      <p:sp>
        <p:nvSpPr>
          <p:cNvPr id="24016" name="Equação 5">
            <a:extLst xmlns:a="http://schemas.openxmlformats.org/drawingml/2006/main">
              <a:ext uri="{FF2B5EF4-FFF2-40B4-BE49-F238E27FC236}">
                <a16:creationId xmlns:a16="http://schemas.microsoft.com/office/drawing/2014/main" id="{097228C6-53FD-5770-8EAE-83B7AC03D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5229225"/>
            <a:ext cx="67246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71E7BD"/>
                </a:solidFill>
                <a:latin typeface="JetBrains Mono"/>
                <a:ea typeface="JetBrains Mono"/>
                <a:cs typeface="JetBrains Mono"/>
              </a:defRPr>
            </a:pPr>
            <a:r>
              <a:rPr sz="2025" b="0">
                <a:solidFill>
                  <a:srgbClr val="71E7BD"/>
                </a:solidFill>
                <a:latin typeface="JetBrains Mono"/>
                <a:ea typeface="JetBrains Mono"/>
                <a:cs typeface="JetBrains Mono"/>
              </a:rPr>
              <a:t>hₜ = oₜ ⊙ tanh(cₜ)</a:t>
            </a:r>
          </a:p>
        </p:txBody>
      </p:sp>
      <p:sp>
        <p:nvSpPr>
          <p:cNvPr id="24017" name="Contexto">
            <a:extLst xmlns:a="http://schemas.openxmlformats.org/drawingml/2006/main">
              <a:ext uri="{FF2B5EF4-FFF2-40B4-BE49-F238E27FC236}">
                <a16:creationId xmlns:a16="http://schemas.microsoft.com/office/drawing/2014/main" id="{0C62AB02-E532-5026-8E7B-4CA3553B1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29325"/>
            <a:ext cx="11277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91A4BD"/>
                </a:solidFill>
                <a:latin typeface="JetBrains Mono"/>
                <a:ea typeface="JetBrains Mono"/>
                <a:cs typeface="JetBrains Mono"/>
              </a:defRPr>
            </a:pPr>
            <a:r>
              <a:rPr sz="1125" b="0">
                <a:solidFill>
                  <a:srgbClr val="91A4BD"/>
                </a:solidFill>
                <a:latin typeface="JetBrains Mono"/>
                <a:ea typeface="JetBrains Mono"/>
                <a:cs typeface="JetBrains Mono"/>
              </a:rPr>
              <a:t>Versão usual sem peepholes. A porta de esquecimento foi introduzida por Gers et al. (2000).</a:t>
            </a:r>
          </a:p>
        </p:txBody>
      </p:sp>
      <p:pic>
        <p:nvPicPr>
          <p:cNvPr id="24018" name="Imagem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8353b3503d4123"/>
          <a:srcRect xmlns:a="http://schemas.openxmlformats.org/drawingml/2006/main" l="3570" t="0" r="8084" b="1819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3701" y="6294313"/>
            <a:ext cx="308300" cy="272211"/>
          </a:xfrm>
          <a:prstGeom xmlns:a="http://schemas.openxmlformats.org/drawingml/2006/main" prst="rect">
            <a:avLst/>
          </a:prstGeom>
        </p:spPr>
      </p:pic>
      <p:sp>
        <p:nvSpPr>
          <p:cNvPr id="24019" name="Hydro-UAI Célula LSTM">
            <a:extLst xmlns:a="http://schemas.openxmlformats.org/drawingml/2006/main">
              <a:ext uri="{FF2B5EF4-FFF2-40B4-BE49-F238E27FC236}">
                <a16:creationId xmlns:a16="http://schemas.microsoft.com/office/drawing/2014/main" id="{1906A96E-7387-59E1-A15F-A803485F0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676" y="741617"/>
            <a:ext cx="11284553" cy="4855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 i="1">
                <a:solidFill>
                  <a:srgbClr val="FFFFFF"/>
                </a:solidFill>
                <a:latin typeface="JetBrains Mono ExtraBold"/>
                <a:ea typeface="JetBrains Mono ExtraBold"/>
                <a:cs typeface="JetBrains Mono ExtraBold"/>
              </a:defRPr>
            </a:pPr>
            <a:r>
              <a:rPr sz="2400" b="1" i="1">
                <a:solidFill>
                  <a:srgbClr val="FFFFFF"/>
                </a:solidFill>
                <a:latin typeface="JetBrains Mono ExtraBold"/>
                <a:ea typeface="JetBrains Mono ExtraBold"/>
                <a:cs typeface="JetBrains Mono ExtraBold"/>
              </a:rPr>
              <a:t>Célula LSTM</a:t>
            </a:r>
          </a:p>
        </p:txBody>
      </p:sp>
      <p:sp>
        <p:nvSpPr>
          <p:cNvPr id="24020" name="Divisor Hydro-UAI">
            <a:extLst xmlns:a="http://schemas.openxmlformats.org/drawingml/2006/main">
              <a:ext uri="{FF2B5EF4-FFF2-40B4-BE49-F238E27FC236}">
                <a16:creationId xmlns:a16="http://schemas.microsoft.com/office/drawing/2014/main" id="{9B4F992F-38D6-54F7-94FD-D135D99D2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08259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668">
            <a:solidFill>
              <a:srgbClr val="FFFFFF"/>
            </a:solidFill>
          </a:ln>
        </p:spPr>
      </p:sp>
      <p:sp>
        <p:nvSpPr>
          <p:cNvPr id="24021" name="Hydro-UAI Hydro-UAI Course">
            <a:extLst xmlns:a="http://schemas.openxmlformats.org/drawingml/2006/main">
              <a:ext uri="{FF2B5EF4-FFF2-40B4-BE49-F238E27FC236}">
                <a16:creationId xmlns:a16="http://schemas.microsoft.com/office/drawing/2014/main" id="{61FDB97F-AF79-551C-A102-F5BD0C18E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63436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45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945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Hydro-UAI Course</a:t>
            </a:r>
          </a:p>
        </p:txBody>
      </p:sp>
      <p:sp>
        <p:nvSpPr>
          <p:cNvPr id="24022" name="Hydro-UAI 24 / 47">
            <a:extLst xmlns:a="http://schemas.openxmlformats.org/drawingml/2006/main">
              <a:ext uri="{FF2B5EF4-FFF2-40B4-BE49-F238E27FC236}">
                <a16:creationId xmlns:a16="http://schemas.microsoft.com/office/drawing/2014/main" id="{8596D3A2-5A9F-50FE-B28D-D26F49E8F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343650"/>
            <a:ext cx="1219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91A4BD"/>
                </a:solidFill>
                <a:latin typeface="JetBrains Mono"/>
                <a:ea typeface="JetBrains Mono"/>
                <a:cs typeface="JetBrains Mono"/>
              </a:defRPr>
            </a:pPr>
            <a:r>
              <a:rPr sz="975" b="0" i="0">
                <a:solidFill>
                  <a:srgbClr val="91A4BD"/>
                </a:solidFill>
                <a:latin typeface="JetBrains Mono"/>
                <a:ea typeface="JetBrains Mono"/>
                <a:cs typeface="JetBrains Mono"/>
              </a:rPr>
              <a:t>24 / 47</a:t>
            </a:r>
          </a:p>
        </p:txBody>
      </p:sp>
    </p:spTree>
    <p:extLst>
      <p:ext uri="{BB962C8B-B14F-4D97-AF65-F5344CB8AC3E}">
        <p14:creationId xmlns:p14="http://schemas.microsoft.com/office/powerpoint/2010/main" val="3991283715"/>
      </p:ext>
    </p:extLst>
  </p:cSld>
</p:sld>
</file>

<file path=ppt/slides/slide25.xml><?xml version="1.0" encoding="utf-8"?>
<p:sld xmlns:p="http://schemas.openxmlformats.org/presentationml/2006/main">
  <p:cSld>
    <p:spTree>
      <p:nvGrpSpPr>
        <p:cNvPr id="25001" name=""/>
        <p:cNvGrpSpPr/>
        <p:nvPr/>
      </p:nvGrpSpPr>
      <p:grpSpPr>
        <a:xfrm xmlns:a="http://schemas.openxmlformats.org/drawingml/2006/main"/>
      </p:grpSpPr>
      <p:sp>
        <p:nvSpPr>
          <p:cNvPr id="25002" name="Retângulo 6">
            <a:extLst xmlns:a="http://schemas.openxmlformats.org/drawingml/2006/main">
              <a:ext uri="{FF2B5EF4-FFF2-40B4-BE49-F238E27FC236}">
                <a16:creationId xmlns:a16="http://schemas.microsoft.com/office/drawing/2014/main" id="{42AC0D19-6A01-5738-AA70-BF807EFB1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F29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graphicFrame>
        <p:nvGraphicFramePr>
          <p:cNvPr id="25003" name="Chart"/>
          <p:cNvGraphicFramePr/>
          <p:nvPr/>
        </p:nvGraphicFramePr>
        <p:xfrm>
          <a:off xmlns:a="http://schemas.openxmlformats.org/drawingml/2006/main" x="457200" y="2647950"/>
          <a:ext xmlns:a="http://schemas.openxmlformats.org/drawingml/2006/main" cx="7067550" cy="2857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80784bee85847d7"/>
          </a:graphicData>
        </a:graphic>
      </p:graphicFrame>
      <p:sp>
        <p:nvSpPr>
          <p:cNvPr id="25004" name="Tema do slide">
            <a:extLst xmlns:a="http://schemas.openxmlformats.org/drawingml/2006/main">
              <a:ext uri="{FF2B5EF4-FFF2-40B4-BE49-F238E27FC236}">
                <a16:creationId xmlns:a16="http://schemas.microsoft.com/office/drawing/2014/main" id="{6531D887-A938-50E8-9428-757154E6C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90700"/>
            <a:ext cx="11277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2025" b="1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Portas contínuas entre 0 e 1</a:t>
            </a:r>
          </a:p>
        </p:txBody>
      </p:sp>
      <p:sp>
        <p:nvSpPr>
          <p:cNvPr id="25005" name="Valores">
            <a:extLst xmlns:a="http://schemas.openxmlformats.org/drawingml/2006/main">
              <a:ext uri="{FF2B5EF4-FFF2-40B4-BE49-F238E27FC236}">
                <a16:creationId xmlns:a16="http://schemas.microsoft.com/office/drawing/2014/main" id="{5C2373DE-1AD8-5135-9E67-0EE28D58C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2771775"/>
            <a:ext cx="3762375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83D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650" b="1">
                <a:solidFill>
                  <a:srgbClr val="83DFFF"/>
                </a:solidFill>
                <a:latin typeface="JetBrains Mono"/>
                <a:ea typeface="JetBrains Mono"/>
                <a:cs typeface="JetBrains Mono"/>
              </a:rPr>
              <a:t>Perto de 0: reduz a passagem.</a:t>
            </a:r>
          </a:p>
          <a:p xmlns:a="http://schemas.openxmlformats.org/drawingml/2006/main">
            <a:pPr algn="l">
              <a:buNone/>
              <a:defRPr sz="1650" b="1">
                <a:solidFill>
                  <a:srgbClr val="83D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650" b="1">
                <a:solidFill>
                  <a:srgbClr val="83DFFF"/>
                </a:solidFill>
                <a:latin typeface="JetBrains Mono"/>
                <a:ea typeface="JetBrains Mono"/>
                <a:cs typeface="JetBrains Mono"/>
              </a:rPr>
              <a:t>Perto de 1: mantém a passagem.</a:t>
            </a:r>
          </a:p>
        </p:txBody>
      </p:sp>
      <p:sp>
        <p:nvSpPr>
          <p:cNvPr id="25006" name="Dimensão">
            <a:extLst xmlns:a="http://schemas.openxmlformats.org/drawingml/2006/main">
              <a:ext uri="{FF2B5EF4-FFF2-40B4-BE49-F238E27FC236}">
                <a16:creationId xmlns:a16="http://schemas.microsoft.com/office/drawing/2014/main" id="{AE0B0193-E9DB-5CB8-BAC0-4CDF28A5A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4429125"/>
            <a:ext cx="376237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725" b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Cada unidade possui seu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725" b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próprio valor de porta.</a:t>
            </a:r>
          </a:p>
        </p:txBody>
      </p:sp>
      <p:sp>
        <p:nvSpPr>
          <p:cNvPr id="25007" name="Contexto">
            <a:extLst xmlns:a="http://schemas.openxmlformats.org/drawingml/2006/main">
              <a:ext uri="{FF2B5EF4-FFF2-40B4-BE49-F238E27FC236}">
                <a16:creationId xmlns:a16="http://schemas.microsoft.com/office/drawing/2014/main" id="{5B393D4C-086A-5399-9E2F-7FF30F7DD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29325"/>
            <a:ext cx="11277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91A4BD"/>
                </a:solidFill>
                <a:latin typeface="JetBrains Mono"/>
                <a:ea typeface="JetBrains Mono"/>
                <a:cs typeface="JetBrains Mono"/>
              </a:defRPr>
            </a:pPr>
            <a:r>
              <a:rPr sz="1125" b="0">
                <a:solidFill>
                  <a:srgbClr val="91A4BD"/>
                </a:solidFill>
                <a:latin typeface="JetBrains Mono"/>
                <a:ea typeface="JetBrains Mono"/>
                <a:cs typeface="JetBrains Mono"/>
              </a:rPr>
              <a:t>Os pesos aprendem as portas a partir de xₜ e hₜ₋₁. Valores intermediários também importam.</a:t>
            </a:r>
          </a:p>
        </p:txBody>
      </p:sp>
      <p:pic>
        <p:nvPicPr>
          <p:cNvPr id="25008" name="Imagem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be07892ade4a1f"/>
          <a:srcRect xmlns:a="http://schemas.openxmlformats.org/drawingml/2006/main" l="3570" t="0" r="8084" b="1819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3701" y="6294313"/>
            <a:ext cx="308300" cy="272211"/>
          </a:xfrm>
          <a:prstGeom xmlns:a="http://schemas.openxmlformats.org/drawingml/2006/main" prst="rect">
            <a:avLst/>
          </a:prstGeom>
        </p:spPr>
      </p:pic>
      <p:sp>
        <p:nvSpPr>
          <p:cNvPr id="25009" name="Hydro-UAI Célula LSTM">
            <a:extLst xmlns:a="http://schemas.openxmlformats.org/drawingml/2006/main">
              <a:ext uri="{FF2B5EF4-FFF2-40B4-BE49-F238E27FC236}">
                <a16:creationId xmlns:a16="http://schemas.microsoft.com/office/drawing/2014/main" id="{51797539-BC5E-5910-928B-917F177F8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676" y="741617"/>
            <a:ext cx="11284553" cy="4855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 i="1">
                <a:solidFill>
                  <a:srgbClr val="FFFFFF"/>
                </a:solidFill>
                <a:latin typeface="JetBrains Mono ExtraBold"/>
                <a:ea typeface="JetBrains Mono ExtraBold"/>
                <a:cs typeface="JetBrains Mono ExtraBold"/>
              </a:defRPr>
            </a:pPr>
            <a:r>
              <a:rPr sz="2400" b="1" i="1">
                <a:solidFill>
                  <a:srgbClr val="FFFFFF"/>
                </a:solidFill>
                <a:latin typeface="JetBrains Mono ExtraBold"/>
                <a:ea typeface="JetBrains Mono ExtraBold"/>
                <a:cs typeface="JetBrains Mono ExtraBold"/>
              </a:rPr>
              <a:t>Célula LSTM</a:t>
            </a:r>
          </a:p>
        </p:txBody>
      </p:sp>
      <p:sp>
        <p:nvSpPr>
          <p:cNvPr id="25010" name="Divisor Hydro-UAI">
            <a:extLst xmlns:a="http://schemas.openxmlformats.org/drawingml/2006/main">
              <a:ext uri="{FF2B5EF4-FFF2-40B4-BE49-F238E27FC236}">
                <a16:creationId xmlns:a16="http://schemas.microsoft.com/office/drawing/2014/main" id="{ED505774-984C-569C-A071-74DD423B9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08259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668">
            <a:solidFill>
              <a:srgbClr val="FFFFFF"/>
            </a:solidFill>
          </a:ln>
        </p:spPr>
      </p:sp>
      <p:sp>
        <p:nvSpPr>
          <p:cNvPr id="25011" name="Hydro-UAI Hydro-UAI Course">
            <a:extLst xmlns:a="http://schemas.openxmlformats.org/drawingml/2006/main">
              <a:ext uri="{FF2B5EF4-FFF2-40B4-BE49-F238E27FC236}">
                <a16:creationId xmlns:a16="http://schemas.microsoft.com/office/drawing/2014/main" id="{D6EF687D-BD7F-572F-8276-59BF05777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63436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45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945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Hydro-UAI Course</a:t>
            </a:r>
          </a:p>
        </p:txBody>
      </p:sp>
      <p:sp>
        <p:nvSpPr>
          <p:cNvPr id="25012" name="Hydro-UAI 25 / 47">
            <a:extLst xmlns:a="http://schemas.openxmlformats.org/drawingml/2006/main">
              <a:ext uri="{FF2B5EF4-FFF2-40B4-BE49-F238E27FC236}">
                <a16:creationId xmlns:a16="http://schemas.microsoft.com/office/drawing/2014/main" id="{AFEAB18F-8574-525C-BB03-BFF2E5FCD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343650"/>
            <a:ext cx="1219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91A4BD"/>
                </a:solidFill>
                <a:latin typeface="JetBrains Mono"/>
                <a:ea typeface="JetBrains Mono"/>
                <a:cs typeface="JetBrains Mono"/>
              </a:defRPr>
            </a:pPr>
            <a:r>
              <a:rPr sz="975" b="0" i="0">
                <a:solidFill>
                  <a:srgbClr val="91A4BD"/>
                </a:solidFill>
                <a:latin typeface="JetBrains Mono"/>
                <a:ea typeface="JetBrains Mono"/>
                <a:cs typeface="JetBrains Mono"/>
              </a:rPr>
              <a:t>25 / 47</a:t>
            </a:r>
          </a:p>
        </p:txBody>
      </p:sp>
    </p:spTree>
    <p:extLst>
      <p:ext uri="{BB962C8B-B14F-4D97-AF65-F5344CB8AC3E}">
        <p14:creationId xmlns:p14="http://schemas.microsoft.com/office/powerpoint/2010/main" val="3991283715"/>
      </p:ext>
    </p:extLst>
  </p:cSld>
</p:sld>
</file>

<file path=ppt/slides/slide26.xml><?xml version="1.0" encoding="utf-8"?>
<p:sld xmlns:p="http://schemas.openxmlformats.org/presentationml/2006/main">
  <p:cSld>
    <p:spTree>
      <p:nvGrpSpPr>
        <p:cNvPr id="26001" name=""/>
        <p:cNvGrpSpPr/>
        <p:nvPr/>
      </p:nvGrpSpPr>
      <p:grpSpPr>
        <a:xfrm xmlns:a="http://schemas.openxmlformats.org/drawingml/2006/main"/>
      </p:grpSpPr>
      <p:sp>
        <p:nvSpPr>
          <p:cNvPr id="26002" name="Retângulo 6">
            <a:extLst xmlns:a="http://schemas.openxmlformats.org/drawingml/2006/main">
              <a:ext uri="{FF2B5EF4-FFF2-40B4-BE49-F238E27FC236}">
                <a16:creationId xmlns:a16="http://schemas.microsoft.com/office/drawing/2014/main" id="{F49606EA-1EE1-59B4-BC96-5816D4970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F29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graphicFrame>
        <p:nvGraphicFramePr>
          <p:cNvPr id="26003" name=""/>
          <p:cNvGraphicFramePr/>
          <p:nvPr/>
        </p:nvGraphicFramePr>
        <p:xfrm>
          <a:off xmlns:a="http://schemas.openxmlformats.org/drawingml/2006/main" x="457200" y="3371850"/>
          <a:ext xmlns:a="http://schemas.openxmlformats.org/drawingml/2006/main" cx="11277600" cy="21526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324100"/>
                <a:gridCol w="2371725"/>
                <a:gridCol w="1628775"/>
                <a:gridCol w="4953000"/>
              </a:tblGrid>
              <a:tr h="538163"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875" b="1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Componente</a:t>
                      </a:r>
                    </a:p>
                  </a:txBody>
                  <a:tcPr marL="91440" marR="91440" marT="45720" marB="45720" anchor="ctr">
                    <a:solidFill>
                      <a:srgbClr val="0053EB"/>
                    </a:solidFill>
                  </a:tcPr>
                </a:tc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875" b="1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c anterior</a:t>
                      </a:r>
                    </a:p>
                  </a:txBody>
                  <a:tcPr marL="91440" marR="91440" marT="45720" marB="45720" anchor="ctr">
                    <a:solidFill>
                      <a:srgbClr val="0053EB"/>
                    </a:solidFill>
                  </a:tcPr>
                </a:tc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875" b="1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f</a:t>
                      </a:r>
                    </a:p>
                  </a:txBody>
                  <a:tcPr marL="91440" marR="91440" marT="45720" marB="45720" anchor="ctr">
                    <a:solidFill>
                      <a:srgbClr val="0053EB"/>
                    </a:solidFill>
                  </a:tcPr>
                </a:tc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875" b="1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Conteúdo mantido</a:t>
                      </a:r>
                    </a:p>
                  </a:txBody>
                  <a:tcPr marL="91440" marR="91440" marT="45720" marB="45720" anchor="ctr">
                    <a:solidFill>
                      <a:srgbClr val="0053EB"/>
                    </a:solidFill>
                  </a:tcPr>
                </a:tc>
              </a:tr>
              <a:tr h="538163"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000F29"/>
                    </a:solidFill>
                  </a:tcPr>
                </a:tc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0,8</a:t>
                      </a:r>
                    </a:p>
                  </a:txBody>
                  <a:tcPr marL="91440" marR="91440" marT="45720" marB="45720" anchor="ctr">
                    <a:solidFill>
                      <a:srgbClr val="000F29"/>
                    </a:solidFill>
                  </a:tcPr>
                </a:tc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0,9</a:t>
                      </a:r>
                    </a:p>
                  </a:txBody>
                  <a:tcPr marL="91440" marR="91440" marT="45720" marB="45720" anchor="ctr">
                    <a:solidFill>
                      <a:srgbClr val="000F29"/>
                    </a:solidFill>
                  </a:tcPr>
                </a:tc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0,72</a:t>
                      </a:r>
                    </a:p>
                  </a:txBody>
                  <a:tcPr marL="91440" marR="91440" marT="45720" marB="45720" anchor="ctr">
                    <a:solidFill>
                      <a:srgbClr val="000F29"/>
                    </a:solidFill>
                  </a:tcPr>
                </a:tc>
              </a:tr>
              <a:tr h="538163"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2</a:t>
                      </a:r>
                    </a:p>
                  </a:txBody>
                  <a:tcPr marL="91440" marR="91440" marT="45720" marB="45720" anchor="ctr">
                    <a:solidFill>
                      <a:srgbClr val="000F29"/>
                    </a:solidFill>
                  </a:tcPr>
                </a:tc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−0,4</a:t>
                      </a:r>
                    </a:p>
                  </a:txBody>
                  <a:tcPr marL="91440" marR="91440" marT="45720" marB="45720" anchor="ctr">
                    <a:solidFill>
                      <a:srgbClr val="000F29"/>
                    </a:solidFill>
                  </a:tcPr>
                </a:tc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0,1</a:t>
                      </a:r>
                    </a:p>
                  </a:txBody>
                  <a:tcPr marL="91440" marR="91440" marT="45720" marB="45720" anchor="ctr">
                    <a:solidFill>
                      <a:srgbClr val="000F29"/>
                    </a:solidFill>
                  </a:tcPr>
                </a:tc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−0,04</a:t>
                      </a:r>
                    </a:p>
                  </a:txBody>
                  <a:tcPr marL="91440" marR="91440" marT="45720" marB="45720" anchor="ctr">
                    <a:solidFill>
                      <a:srgbClr val="000F29"/>
                    </a:solidFill>
                  </a:tcPr>
                </a:tc>
              </a:tr>
              <a:tr h="538163"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3</a:t>
                      </a:r>
                    </a:p>
                  </a:txBody>
                  <a:tcPr marL="91440" marR="91440" marT="45720" marB="45720" anchor="ctr">
                    <a:solidFill>
                      <a:srgbClr val="000F29"/>
                    </a:solidFill>
                  </a:tcPr>
                </a:tc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0,6</a:t>
                      </a:r>
                    </a:p>
                  </a:txBody>
                  <a:tcPr marL="91440" marR="91440" marT="45720" marB="45720" anchor="ctr">
                    <a:solidFill>
                      <a:srgbClr val="000F29"/>
                    </a:solidFill>
                  </a:tcPr>
                </a:tc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0,5</a:t>
                      </a:r>
                    </a:p>
                  </a:txBody>
                  <a:tcPr marL="91440" marR="91440" marT="45720" marB="45720" anchor="ctr">
                    <a:solidFill>
                      <a:srgbClr val="000F29"/>
                    </a:solidFill>
                  </a:tcPr>
                </a:tc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0,30</a:t>
                      </a:r>
                    </a:p>
                  </a:txBody>
                  <a:tcPr marL="91440" marR="91440" marT="45720" marB="45720" anchor="ctr">
                    <a:solidFill>
                      <a:srgbClr val="000F29"/>
                    </a:solidFill>
                  </a:tcPr>
                </a:tc>
              </a:tr>
            </a:tbl>
          </a:graphicData>
        </a:graphic>
      </p:graphicFrame>
      <p:sp>
        <p:nvSpPr>
          <p:cNvPr id="26004" name="Tema do slide">
            <a:extLst xmlns:a="http://schemas.openxmlformats.org/drawingml/2006/main">
              <a:ext uri="{FF2B5EF4-FFF2-40B4-BE49-F238E27FC236}">
                <a16:creationId xmlns:a16="http://schemas.microsoft.com/office/drawing/2014/main" id="{1FDADF9A-5978-598F-97A5-592DA66E8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90700"/>
            <a:ext cx="11277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2025" b="1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Porta de esquecimento: o que permanece em c</a:t>
            </a:r>
          </a:p>
        </p:txBody>
      </p:sp>
      <p:sp>
        <p:nvSpPr>
          <p:cNvPr id="26005" name="Equação">
            <a:extLst xmlns:a="http://schemas.openxmlformats.org/drawingml/2006/main">
              <a:ext uri="{FF2B5EF4-FFF2-40B4-BE49-F238E27FC236}">
                <a16:creationId xmlns:a16="http://schemas.microsoft.com/office/drawing/2014/main" id="{9CF17CD4-A325-566B-8214-CE8DFF9CD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24125"/>
            <a:ext cx="11277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FFAD62"/>
                </a:solidFill>
                <a:latin typeface="JetBrains Mono"/>
                <a:ea typeface="JetBrains Mono"/>
                <a:cs typeface="JetBrains Mono"/>
              </a:defRPr>
            </a:pPr>
            <a:r>
              <a:rPr sz="2175" b="1">
                <a:solidFill>
                  <a:srgbClr val="FFAD62"/>
                </a:solidFill>
                <a:latin typeface="JetBrains Mono"/>
                <a:ea typeface="JetBrains Mono"/>
                <a:cs typeface="JetBrains Mono"/>
              </a:rPr>
              <a:t>Conteúdo mantido = fₜ ⊙ cₜ₋₁</a:t>
            </a:r>
          </a:p>
        </p:txBody>
      </p:sp>
      <p:sp>
        <p:nvSpPr>
          <p:cNvPr id="26006" name="Contexto">
            <a:extLst xmlns:a="http://schemas.openxmlformats.org/drawingml/2006/main">
              <a:ext uri="{FF2B5EF4-FFF2-40B4-BE49-F238E27FC236}">
                <a16:creationId xmlns:a16="http://schemas.microsoft.com/office/drawing/2014/main" id="{755CE5D3-5BDE-539D-8D19-88DE9F98D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29325"/>
            <a:ext cx="11277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91A4BD"/>
                </a:solidFill>
                <a:latin typeface="JetBrains Mono"/>
                <a:ea typeface="JetBrains Mono"/>
                <a:cs typeface="JetBrains Mono"/>
              </a:defRPr>
            </a:pPr>
            <a:r>
              <a:rPr sz="1125" b="0">
                <a:solidFill>
                  <a:srgbClr val="91A4BD"/>
                </a:solidFill>
                <a:latin typeface="JetBrains Mono"/>
                <a:ea typeface="JetBrains Mono"/>
                <a:cs typeface="JetBrains Mono"/>
              </a:rPr>
              <a:t>Valores hipotéticos. A porta modula cada componente do estado da célula.</a:t>
            </a:r>
          </a:p>
        </p:txBody>
      </p:sp>
      <p:pic>
        <p:nvPicPr>
          <p:cNvPr id="26007" name="Imagem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facea3d30c40b5"/>
          <a:srcRect xmlns:a="http://schemas.openxmlformats.org/drawingml/2006/main" l="3570" t="0" r="8084" b="1819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3701" y="6294313"/>
            <a:ext cx="308300" cy="272211"/>
          </a:xfrm>
          <a:prstGeom xmlns:a="http://schemas.openxmlformats.org/drawingml/2006/main" prst="rect">
            <a:avLst/>
          </a:prstGeom>
        </p:spPr>
      </p:pic>
      <p:sp>
        <p:nvSpPr>
          <p:cNvPr id="26008" name="Hydro-UAI Célula LSTM">
            <a:extLst xmlns:a="http://schemas.openxmlformats.org/drawingml/2006/main">
              <a:ext uri="{FF2B5EF4-FFF2-40B4-BE49-F238E27FC236}">
                <a16:creationId xmlns:a16="http://schemas.microsoft.com/office/drawing/2014/main" id="{4D0CC335-1E89-57BE-81A7-9C2DB6355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676" y="741617"/>
            <a:ext cx="11284553" cy="4855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 i="1">
                <a:solidFill>
                  <a:srgbClr val="FFFFFF"/>
                </a:solidFill>
                <a:latin typeface="JetBrains Mono ExtraBold"/>
                <a:ea typeface="JetBrains Mono ExtraBold"/>
                <a:cs typeface="JetBrains Mono ExtraBold"/>
              </a:defRPr>
            </a:pPr>
            <a:r>
              <a:rPr sz="2400" b="1" i="1">
                <a:solidFill>
                  <a:srgbClr val="FFFFFF"/>
                </a:solidFill>
                <a:latin typeface="JetBrains Mono ExtraBold"/>
                <a:ea typeface="JetBrains Mono ExtraBold"/>
                <a:cs typeface="JetBrains Mono ExtraBold"/>
              </a:rPr>
              <a:t>Célula LSTM</a:t>
            </a:r>
          </a:p>
        </p:txBody>
      </p:sp>
      <p:sp>
        <p:nvSpPr>
          <p:cNvPr id="26009" name="Divisor Hydro-UAI">
            <a:extLst xmlns:a="http://schemas.openxmlformats.org/drawingml/2006/main">
              <a:ext uri="{FF2B5EF4-FFF2-40B4-BE49-F238E27FC236}">
                <a16:creationId xmlns:a16="http://schemas.microsoft.com/office/drawing/2014/main" id="{7F001563-17EC-5854-A6F8-4739BC995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08259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668">
            <a:solidFill>
              <a:srgbClr val="FFFFFF"/>
            </a:solidFill>
          </a:ln>
        </p:spPr>
      </p:sp>
      <p:sp>
        <p:nvSpPr>
          <p:cNvPr id="26010" name="Hydro-UAI Hydro-UAI Course">
            <a:extLst xmlns:a="http://schemas.openxmlformats.org/drawingml/2006/main">
              <a:ext uri="{FF2B5EF4-FFF2-40B4-BE49-F238E27FC236}">
                <a16:creationId xmlns:a16="http://schemas.microsoft.com/office/drawing/2014/main" id="{30D50734-D6F0-5236-ACEB-F86830A74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63436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45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945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Hydro-UAI Course</a:t>
            </a:r>
          </a:p>
        </p:txBody>
      </p:sp>
      <p:sp>
        <p:nvSpPr>
          <p:cNvPr id="26011" name="Hydro-UAI 26 / 47">
            <a:extLst xmlns:a="http://schemas.openxmlformats.org/drawingml/2006/main">
              <a:ext uri="{FF2B5EF4-FFF2-40B4-BE49-F238E27FC236}">
                <a16:creationId xmlns:a16="http://schemas.microsoft.com/office/drawing/2014/main" id="{F1CECA5A-BC59-5E6A-A8EA-9707B0CF1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343650"/>
            <a:ext cx="1219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91A4BD"/>
                </a:solidFill>
                <a:latin typeface="JetBrains Mono"/>
                <a:ea typeface="JetBrains Mono"/>
                <a:cs typeface="JetBrains Mono"/>
              </a:defRPr>
            </a:pPr>
            <a:r>
              <a:rPr sz="975" b="0" i="0">
                <a:solidFill>
                  <a:srgbClr val="91A4BD"/>
                </a:solidFill>
                <a:latin typeface="JetBrains Mono"/>
                <a:ea typeface="JetBrains Mono"/>
                <a:cs typeface="JetBrains Mono"/>
              </a:rPr>
              <a:t>26 / 47</a:t>
            </a:r>
          </a:p>
        </p:txBody>
      </p:sp>
    </p:spTree>
    <p:extLst>
      <p:ext uri="{BB962C8B-B14F-4D97-AF65-F5344CB8AC3E}">
        <p14:creationId xmlns:p14="http://schemas.microsoft.com/office/powerpoint/2010/main" val="3991283715"/>
      </p:ext>
    </p:extLst>
  </p:cSld>
</p:sld>
</file>

<file path=ppt/slides/slide27.xml><?xml version="1.0" encoding="utf-8"?>
<p:sld xmlns:p="http://schemas.openxmlformats.org/presentationml/2006/main">
  <p:cSld>
    <p:spTree>
      <p:nvGrpSpPr>
        <p:cNvPr id="27001" name=""/>
        <p:cNvGrpSpPr/>
        <p:nvPr/>
      </p:nvGrpSpPr>
      <p:grpSpPr>
        <a:xfrm xmlns:a="http://schemas.openxmlformats.org/drawingml/2006/main"/>
      </p:grpSpPr>
      <p:sp>
        <p:nvSpPr>
          <p:cNvPr id="27002" name="Retângulo 6">
            <a:extLst xmlns:a="http://schemas.openxmlformats.org/drawingml/2006/main">
              <a:ext uri="{FF2B5EF4-FFF2-40B4-BE49-F238E27FC236}">
                <a16:creationId xmlns:a16="http://schemas.microsoft.com/office/drawing/2014/main" id="{B4C9F1C3-CCD0-58D3-9E90-F554EBEDC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F29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graphicFrame>
        <p:nvGraphicFramePr>
          <p:cNvPr id="27003" name=""/>
          <p:cNvGraphicFramePr/>
          <p:nvPr/>
        </p:nvGraphicFramePr>
        <p:xfrm>
          <a:off xmlns:a="http://schemas.openxmlformats.org/drawingml/2006/main" x="457200" y="3371850"/>
          <a:ext xmlns:a="http://schemas.openxmlformats.org/drawingml/2006/main" cx="11277600" cy="21526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324100"/>
                <a:gridCol w="1628775"/>
                <a:gridCol w="2371725"/>
                <a:gridCol w="4953000"/>
              </a:tblGrid>
              <a:tr h="538163"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875" b="1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Componente</a:t>
                      </a:r>
                    </a:p>
                  </a:txBody>
                  <a:tcPr marL="91440" marR="91440" marT="45720" marB="45720" anchor="ctr">
                    <a:solidFill>
                      <a:srgbClr val="0053EB"/>
                    </a:solidFill>
                  </a:tcPr>
                </a:tc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875" b="1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i</a:t>
                      </a:r>
                    </a:p>
                  </a:txBody>
                  <a:tcPr marL="91440" marR="91440" marT="45720" marB="45720" anchor="ctr">
                    <a:solidFill>
                      <a:srgbClr val="0053EB"/>
                    </a:solidFill>
                  </a:tcPr>
                </a:tc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875" b="1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g</a:t>
                      </a:r>
                    </a:p>
                  </a:txBody>
                  <a:tcPr marL="91440" marR="91440" marT="45720" marB="45720" anchor="ctr">
                    <a:solidFill>
                      <a:srgbClr val="0053EB"/>
                    </a:solidFill>
                  </a:tcPr>
                </a:tc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875" b="1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Nova contribuição</a:t>
                      </a:r>
                    </a:p>
                  </a:txBody>
                  <a:tcPr marL="91440" marR="91440" marT="45720" marB="45720" anchor="ctr">
                    <a:solidFill>
                      <a:srgbClr val="0053EB"/>
                    </a:solidFill>
                  </a:tcPr>
                </a:tc>
              </a:tr>
              <a:tr h="538163"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000F29"/>
                    </a:solidFill>
                  </a:tcPr>
                </a:tc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0,2</a:t>
                      </a:r>
                    </a:p>
                  </a:txBody>
                  <a:tcPr marL="91440" marR="91440" marT="45720" marB="45720" anchor="ctr">
                    <a:solidFill>
                      <a:srgbClr val="000F29"/>
                    </a:solidFill>
                  </a:tcPr>
                </a:tc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0,5</a:t>
                      </a:r>
                    </a:p>
                  </a:txBody>
                  <a:tcPr marL="91440" marR="91440" marT="45720" marB="45720" anchor="ctr">
                    <a:solidFill>
                      <a:srgbClr val="000F29"/>
                    </a:solidFill>
                  </a:tcPr>
                </a:tc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0,10</a:t>
                      </a:r>
                    </a:p>
                  </a:txBody>
                  <a:tcPr marL="91440" marR="91440" marT="45720" marB="45720" anchor="ctr">
                    <a:solidFill>
                      <a:srgbClr val="000F29"/>
                    </a:solidFill>
                  </a:tcPr>
                </a:tc>
              </a:tr>
              <a:tr h="538163"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2</a:t>
                      </a:r>
                    </a:p>
                  </a:txBody>
                  <a:tcPr marL="91440" marR="91440" marT="45720" marB="45720" anchor="ctr">
                    <a:solidFill>
                      <a:srgbClr val="000F29"/>
                    </a:solidFill>
                  </a:tcPr>
                </a:tc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0,8</a:t>
                      </a:r>
                    </a:p>
                  </a:txBody>
                  <a:tcPr marL="91440" marR="91440" marT="45720" marB="45720" anchor="ctr">
                    <a:solidFill>
                      <a:srgbClr val="000F29"/>
                    </a:solidFill>
                  </a:tcPr>
                </a:tc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−0,5</a:t>
                      </a:r>
                    </a:p>
                  </a:txBody>
                  <a:tcPr marL="91440" marR="91440" marT="45720" marB="45720" anchor="ctr">
                    <a:solidFill>
                      <a:srgbClr val="000F29"/>
                    </a:solidFill>
                  </a:tcPr>
                </a:tc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−0,40</a:t>
                      </a:r>
                    </a:p>
                  </a:txBody>
                  <a:tcPr marL="91440" marR="91440" marT="45720" marB="45720" anchor="ctr">
                    <a:solidFill>
                      <a:srgbClr val="000F29"/>
                    </a:solidFill>
                  </a:tcPr>
                </a:tc>
              </a:tr>
              <a:tr h="538163"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3</a:t>
                      </a:r>
                    </a:p>
                  </a:txBody>
                  <a:tcPr marL="91440" marR="91440" marT="45720" marB="45720" anchor="ctr">
                    <a:solidFill>
                      <a:srgbClr val="000F29"/>
                    </a:solidFill>
                  </a:tcPr>
                </a:tc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0,1</a:t>
                      </a:r>
                    </a:p>
                  </a:txBody>
                  <a:tcPr marL="91440" marR="91440" marT="45720" marB="45720" anchor="ctr">
                    <a:solidFill>
                      <a:srgbClr val="000F29"/>
                    </a:solidFill>
                  </a:tcPr>
                </a:tc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0,8</a:t>
                      </a:r>
                    </a:p>
                  </a:txBody>
                  <a:tcPr marL="91440" marR="91440" marT="45720" marB="45720" anchor="ctr">
                    <a:solidFill>
                      <a:srgbClr val="000F29"/>
                    </a:solidFill>
                  </a:tcPr>
                </a:tc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0,08</a:t>
                      </a:r>
                    </a:p>
                  </a:txBody>
                  <a:tcPr marL="91440" marR="91440" marT="45720" marB="45720" anchor="ctr">
                    <a:solidFill>
                      <a:srgbClr val="000F29"/>
                    </a:solidFill>
                  </a:tcPr>
                </a:tc>
              </a:tr>
            </a:tbl>
          </a:graphicData>
        </a:graphic>
      </p:graphicFrame>
      <p:sp>
        <p:nvSpPr>
          <p:cNvPr id="27004" name="Tema do slide">
            <a:extLst xmlns:a="http://schemas.openxmlformats.org/drawingml/2006/main">
              <a:ext uri="{FF2B5EF4-FFF2-40B4-BE49-F238E27FC236}">
                <a16:creationId xmlns:a16="http://schemas.microsoft.com/office/drawing/2014/main" id="{04FAF269-8595-5860-A7FB-2D67FDBC0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90700"/>
            <a:ext cx="11277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2025" b="1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Porta de entrada e candidata a conteúdo</a:t>
            </a:r>
          </a:p>
        </p:txBody>
      </p:sp>
      <p:sp>
        <p:nvSpPr>
          <p:cNvPr id="27005" name="Equação">
            <a:extLst xmlns:a="http://schemas.openxmlformats.org/drawingml/2006/main">
              <a:ext uri="{FF2B5EF4-FFF2-40B4-BE49-F238E27FC236}">
                <a16:creationId xmlns:a16="http://schemas.microsoft.com/office/drawing/2014/main" id="{BA5BC186-6095-5973-AA39-ACB6DC6B6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24125"/>
            <a:ext cx="11277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83D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2250" b="1">
                <a:solidFill>
                  <a:srgbClr val="83DFFF"/>
                </a:solidFill>
                <a:latin typeface="JetBrains Mono"/>
                <a:ea typeface="JetBrains Mono"/>
                <a:cs typeface="JetBrains Mono"/>
              </a:rPr>
              <a:t>Nova contribuição = iₜ ⊙ gₜ</a:t>
            </a:r>
          </a:p>
        </p:txBody>
      </p:sp>
      <p:sp>
        <p:nvSpPr>
          <p:cNvPr id="27006" name="Contexto">
            <a:extLst xmlns:a="http://schemas.openxmlformats.org/drawingml/2006/main">
              <a:ext uri="{FF2B5EF4-FFF2-40B4-BE49-F238E27FC236}">
                <a16:creationId xmlns:a16="http://schemas.microsoft.com/office/drawing/2014/main" id="{625646FC-40BF-5341-A9F3-0D1A710BD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29325"/>
            <a:ext cx="11277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91A4BD"/>
                </a:solidFill>
                <a:latin typeface="JetBrains Mono"/>
                <a:ea typeface="JetBrains Mono"/>
                <a:cs typeface="JetBrains Mono"/>
              </a:defRPr>
            </a:pPr>
            <a:r>
              <a:rPr sz="1125" b="0">
                <a:solidFill>
                  <a:srgbClr val="91A4BD"/>
                </a:solidFill>
                <a:latin typeface="JetBrains Mono"/>
                <a:ea typeface="JetBrains Mono"/>
                <a:cs typeface="JetBrains Mono"/>
              </a:rPr>
              <a:t>g vem da tanh. i vem da sigmoid. A contribuição pode ser positiva ou negativa.</a:t>
            </a:r>
          </a:p>
        </p:txBody>
      </p:sp>
      <p:pic>
        <p:nvPicPr>
          <p:cNvPr id="27007" name="Imagem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1ce3c3013d4067"/>
          <a:srcRect xmlns:a="http://schemas.openxmlformats.org/drawingml/2006/main" l="3570" t="0" r="8084" b="1819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3701" y="6294313"/>
            <a:ext cx="308300" cy="272211"/>
          </a:xfrm>
          <a:prstGeom xmlns:a="http://schemas.openxmlformats.org/drawingml/2006/main" prst="rect">
            <a:avLst/>
          </a:prstGeom>
        </p:spPr>
      </p:pic>
      <p:sp>
        <p:nvSpPr>
          <p:cNvPr id="27008" name="Hydro-UAI Célula LSTM">
            <a:extLst xmlns:a="http://schemas.openxmlformats.org/drawingml/2006/main">
              <a:ext uri="{FF2B5EF4-FFF2-40B4-BE49-F238E27FC236}">
                <a16:creationId xmlns:a16="http://schemas.microsoft.com/office/drawing/2014/main" id="{A92C81DF-B913-5924-98CF-DEAA0F707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676" y="741617"/>
            <a:ext cx="11284553" cy="4855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 i="1">
                <a:solidFill>
                  <a:srgbClr val="FFFFFF"/>
                </a:solidFill>
                <a:latin typeface="JetBrains Mono ExtraBold"/>
                <a:ea typeface="JetBrains Mono ExtraBold"/>
                <a:cs typeface="JetBrains Mono ExtraBold"/>
              </a:defRPr>
            </a:pPr>
            <a:r>
              <a:rPr sz="2400" b="1" i="1">
                <a:solidFill>
                  <a:srgbClr val="FFFFFF"/>
                </a:solidFill>
                <a:latin typeface="JetBrains Mono ExtraBold"/>
                <a:ea typeface="JetBrains Mono ExtraBold"/>
                <a:cs typeface="JetBrains Mono ExtraBold"/>
              </a:rPr>
              <a:t>Célula LSTM</a:t>
            </a:r>
          </a:p>
        </p:txBody>
      </p:sp>
      <p:sp>
        <p:nvSpPr>
          <p:cNvPr id="27009" name="Divisor Hydro-UAI">
            <a:extLst xmlns:a="http://schemas.openxmlformats.org/drawingml/2006/main">
              <a:ext uri="{FF2B5EF4-FFF2-40B4-BE49-F238E27FC236}">
                <a16:creationId xmlns:a16="http://schemas.microsoft.com/office/drawing/2014/main" id="{A12559DE-367E-53BD-B75C-C5FB4DE60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08259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668">
            <a:solidFill>
              <a:srgbClr val="FFFFFF"/>
            </a:solidFill>
          </a:ln>
        </p:spPr>
      </p:sp>
      <p:sp>
        <p:nvSpPr>
          <p:cNvPr id="27010" name="Hydro-UAI Hydro-UAI Course">
            <a:extLst xmlns:a="http://schemas.openxmlformats.org/drawingml/2006/main">
              <a:ext uri="{FF2B5EF4-FFF2-40B4-BE49-F238E27FC236}">
                <a16:creationId xmlns:a16="http://schemas.microsoft.com/office/drawing/2014/main" id="{B42F4336-3CA5-5B12-BFCF-273F84141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63436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45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945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Hydro-UAI Course</a:t>
            </a:r>
          </a:p>
        </p:txBody>
      </p:sp>
      <p:sp>
        <p:nvSpPr>
          <p:cNvPr id="27011" name="Hydro-UAI 27 / 47">
            <a:extLst xmlns:a="http://schemas.openxmlformats.org/drawingml/2006/main">
              <a:ext uri="{FF2B5EF4-FFF2-40B4-BE49-F238E27FC236}">
                <a16:creationId xmlns:a16="http://schemas.microsoft.com/office/drawing/2014/main" id="{3F52870C-3585-5D6C-AA67-4A71B8056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343650"/>
            <a:ext cx="1219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91A4BD"/>
                </a:solidFill>
                <a:latin typeface="JetBrains Mono"/>
                <a:ea typeface="JetBrains Mono"/>
                <a:cs typeface="JetBrains Mono"/>
              </a:defRPr>
            </a:pPr>
            <a:r>
              <a:rPr sz="975" b="0" i="0">
                <a:solidFill>
                  <a:srgbClr val="91A4BD"/>
                </a:solidFill>
                <a:latin typeface="JetBrains Mono"/>
                <a:ea typeface="JetBrains Mono"/>
                <a:cs typeface="JetBrains Mono"/>
              </a:rPr>
              <a:t>27 / 47</a:t>
            </a:r>
          </a:p>
        </p:txBody>
      </p:sp>
    </p:spTree>
    <p:extLst>
      <p:ext uri="{BB962C8B-B14F-4D97-AF65-F5344CB8AC3E}">
        <p14:creationId xmlns:p14="http://schemas.microsoft.com/office/powerpoint/2010/main" val="3991283715"/>
      </p:ext>
    </p:extLst>
  </p:cSld>
</p:sld>
</file>

<file path=ppt/slides/slide28.xml><?xml version="1.0" encoding="utf-8"?>
<p:sld xmlns:p="http://schemas.openxmlformats.org/presentationml/2006/main">
  <p:cSld>
    <p:spTree>
      <p:nvGrpSpPr>
        <p:cNvPr id="28001" name=""/>
        <p:cNvGrpSpPr/>
        <p:nvPr/>
      </p:nvGrpSpPr>
      <p:grpSpPr>
        <a:xfrm xmlns:a="http://schemas.openxmlformats.org/drawingml/2006/main"/>
      </p:grpSpPr>
      <p:sp>
        <p:nvSpPr>
          <p:cNvPr id="28002" name="Retângulo 6">
            <a:extLst xmlns:a="http://schemas.openxmlformats.org/drawingml/2006/main">
              <a:ext uri="{FF2B5EF4-FFF2-40B4-BE49-F238E27FC236}">
                <a16:creationId xmlns:a16="http://schemas.microsoft.com/office/drawing/2014/main" id="{FD9A998B-FBB4-5C29-9B1E-9C27241F7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F29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8003" name="Tema do slide">
            <a:extLst xmlns:a="http://schemas.openxmlformats.org/drawingml/2006/main">
              <a:ext uri="{FF2B5EF4-FFF2-40B4-BE49-F238E27FC236}">
                <a16:creationId xmlns:a16="http://schemas.microsoft.com/office/drawing/2014/main" id="{64BB3E27-D0A8-5AEB-B01D-EEC1BC08F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90700"/>
            <a:ext cx="11277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2025" b="1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Atualização aditiva do estado da célula</a:t>
            </a:r>
          </a:p>
        </p:txBody>
      </p:sp>
      <p:sp>
        <p:nvSpPr>
          <p:cNvPr id="28004" name="Equação">
            <a:extLst xmlns:a="http://schemas.openxmlformats.org/drawingml/2006/main">
              <a:ext uri="{FF2B5EF4-FFF2-40B4-BE49-F238E27FC236}">
                <a16:creationId xmlns:a16="http://schemas.microsoft.com/office/drawing/2014/main" id="{F6C1DCDB-EEBA-5835-9678-1B5FCBCCC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95550"/>
            <a:ext cx="112776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75" b="1">
                <a:solidFill>
                  <a:srgbClr val="FFAD62"/>
                </a:solidFill>
                <a:latin typeface="JetBrains Mono"/>
                <a:ea typeface="JetBrains Mono"/>
                <a:cs typeface="JetBrains Mono"/>
              </a:defRPr>
            </a:pPr>
            <a:r>
              <a:rPr sz="2475" b="1">
                <a:solidFill>
                  <a:srgbClr val="FFAD62"/>
                </a:solidFill>
                <a:latin typeface="JetBrains Mono"/>
                <a:ea typeface="JetBrains Mono"/>
                <a:cs typeface="JetBrains Mono"/>
              </a:rPr>
              <a:t>cₜ = fₜ ⊙ cₜ₋₁ + iₜ ⊙ gₜ</a:t>
            </a:r>
          </a:p>
        </p:txBody>
      </p:sp>
      <p:sp>
        <p:nvSpPr>
          <p:cNvPr id="28005" name="Diagrama 0,9 × 2,0&#10;= 1,80">
            <a:extLst xmlns:a="http://schemas.openxmlformats.org/drawingml/2006/main">
              <a:ext uri="{FF2B5EF4-FFF2-40B4-BE49-F238E27FC236}">
                <a16:creationId xmlns:a16="http://schemas.microsoft.com/office/drawing/2014/main" id="{910ED506-BA06-5217-82C9-BDD7BB43D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533775"/>
            <a:ext cx="3143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F29"/>
          </a:solidFill>
          <a:ln xmlns:a="http://schemas.openxmlformats.org/drawingml/2006/main" w="19050">
            <a:solidFill>
              <a:srgbClr val="FFAD62"/>
            </a:solidFill>
          </a:ln>
        </p:spPr>
        <p:txBody>
          <a:bodyPr xmlns:a="http://schemas.openxmlformats.org/drawingml/2006/main" lIns="76200" tIns="47625" rIns="762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210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0,9 × 2,0</a:t>
            </a:r>
          </a:p>
          <a:p xmlns:a="http://schemas.openxmlformats.org/drawingml/2006/main">
            <a:pPr algn="ctr">
              <a:buNone/>
              <a:defRPr sz="210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210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= 1,80</a:t>
            </a:r>
          </a:p>
        </p:txBody>
      </p:sp>
      <p:sp>
        <p:nvSpPr>
          <p:cNvPr id="28006" name="Diagrama +">
            <a:extLst xmlns:a="http://schemas.openxmlformats.org/drawingml/2006/main">
              <a:ext uri="{FF2B5EF4-FFF2-40B4-BE49-F238E27FC236}">
                <a16:creationId xmlns:a16="http://schemas.microsoft.com/office/drawing/2014/main" id="{F40E94D6-7548-5119-8632-1FBF8F29E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371475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F29"/>
          </a:solidFill>
          <a:ln xmlns:a="http://schemas.openxmlformats.org/drawingml/2006/main" w="19050">
            <a:solidFill>
              <a:srgbClr val="FFFFFF"/>
            </a:solidFill>
          </a:ln>
        </p:spPr>
        <p:txBody>
          <a:bodyPr xmlns:a="http://schemas.openxmlformats.org/drawingml/2006/main" lIns="76200" tIns="47625" rIns="762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475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2475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+</a:t>
            </a:r>
          </a:p>
        </p:txBody>
      </p:sp>
      <p:sp>
        <p:nvSpPr>
          <p:cNvPr id="28007" name="Diagrama 0,3 × 0,5&#10;= 0,15">
            <a:extLst xmlns:a="http://schemas.openxmlformats.org/drawingml/2006/main">
              <a:ext uri="{FF2B5EF4-FFF2-40B4-BE49-F238E27FC236}">
                <a16:creationId xmlns:a16="http://schemas.microsoft.com/office/drawing/2014/main" id="{F5B73E7A-888D-5D11-B8F0-106E8AACE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533775"/>
            <a:ext cx="3143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F29"/>
          </a:solidFill>
          <a:ln xmlns:a="http://schemas.openxmlformats.org/drawingml/2006/main" w="19050">
            <a:solidFill>
              <a:srgbClr val="83DFFF"/>
            </a:solidFill>
          </a:ln>
        </p:spPr>
        <p:txBody>
          <a:bodyPr xmlns:a="http://schemas.openxmlformats.org/drawingml/2006/main" lIns="76200" tIns="47625" rIns="762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210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0,3 × 0,5</a:t>
            </a:r>
          </a:p>
          <a:p xmlns:a="http://schemas.openxmlformats.org/drawingml/2006/main">
            <a:pPr algn="ctr">
              <a:buNone/>
              <a:defRPr sz="210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210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= 0,15</a:t>
            </a:r>
          </a:p>
        </p:txBody>
      </p:sp>
      <p:sp>
        <p:nvSpPr>
          <p:cNvPr id="28008" name="Diagrama cₜ = 1,95">
            <a:extLst xmlns:a="http://schemas.openxmlformats.org/drawingml/2006/main">
              <a:ext uri="{FF2B5EF4-FFF2-40B4-BE49-F238E27FC236}">
                <a16:creationId xmlns:a16="http://schemas.microsoft.com/office/drawing/2014/main" id="{6F39AC72-0D62-5BE9-9B50-987DB66AB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5095875"/>
            <a:ext cx="273367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F29"/>
          </a:solidFill>
          <a:ln xmlns:a="http://schemas.openxmlformats.org/drawingml/2006/main" w="19050">
            <a:solidFill>
              <a:srgbClr val="FFAD62"/>
            </a:solidFill>
          </a:ln>
        </p:spPr>
        <p:txBody>
          <a:bodyPr xmlns:a="http://schemas.openxmlformats.org/drawingml/2006/main" lIns="76200" tIns="47625" rIns="762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75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2175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cₜ = 1,95</a:t>
            </a:r>
          </a:p>
        </p:txBody>
      </p:sp>
      <p:cxnSp>
        <p:nvCxnSpPr>
          <p:cNvPr id="28009" name=""/>
          <p:cNvCxnSpPr>
            <a:stCxn xmlns:a="http://schemas.openxmlformats.org/drawingml/2006/main" id="28005" idx="3"/>
            <a:endCxn xmlns:a="http://schemas.openxmlformats.org/drawingml/2006/main" id="28006" idx="2"/>
          </p:cNvCxnSpPr>
          <p:nvPr/>
        </p:nvCxnSpPr>
        <p:spPr>
          <a:xfrm xmlns:a="http://schemas.openxmlformats.org/drawingml/2006/main">
            <a:off x="3600450" y="4010025"/>
            <a:ext cx="752475" cy="95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FAD62"/>
            </a:solidFill>
            <a:tailEnd type="triangle" w="med" len="med"/>
          </a:ln>
        </p:spPr>
      </p:cxnSp>
      <p:cxnSp>
        <p:nvCxnSpPr>
          <p:cNvPr id="28010" name=""/>
          <p:cNvCxnSpPr>
            <a:stCxn xmlns:a="http://schemas.openxmlformats.org/drawingml/2006/main" id="28007" idx="1"/>
            <a:endCxn xmlns:a="http://schemas.openxmlformats.org/drawingml/2006/main" id="28006" idx="6"/>
          </p:cNvCxnSpPr>
          <p:nvPr/>
        </p:nvCxnSpPr>
        <p:spPr>
          <a:xfrm xmlns:a="http://schemas.openxmlformats.org/drawingml/2006/main" flipH="1">
            <a:off x="4962525" y="4010025"/>
            <a:ext cx="752475" cy="95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3DFFF"/>
            </a:solidFill>
            <a:tailEnd type="triangle" w="med" len="med"/>
          </a:ln>
        </p:spPr>
      </p:cxnSp>
      <p:sp>
        <p:nvSpPr>
          <p:cNvPr id="28011" name="Resultado">
            <a:extLst xmlns:a="http://schemas.openxmlformats.org/drawingml/2006/main">
              <a:ext uri="{FF2B5EF4-FFF2-40B4-BE49-F238E27FC236}">
                <a16:creationId xmlns:a16="http://schemas.microsoft.com/office/drawing/2014/main" id="{02CC6532-C8A4-5F51-A867-2C5F32914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14925"/>
            <a:ext cx="7572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2250" b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1,80 + 0,15 = 1,95</a:t>
            </a:r>
          </a:p>
        </p:txBody>
      </p:sp>
      <p:sp>
        <p:nvSpPr>
          <p:cNvPr id="28012" name="Contexto">
            <a:extLst xmlns:a="http://schemas.openxmlformats.org/drawingml/2006/main">
              <a:ext uri="{FF2B5EF4-FFF2-40B4-BE49-F238E27FC236}">
                <a16:creationId xmlns:a16="http://schemas.microsoft.com/office/drawing/2014/main" id="{85268875-BAF8-5B12-A5F8-6B832B132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29325"/>
            <a:ext cx="11277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91A4BD"/>
                </a:solidFill>
                <a:latin typeface="JetBrains Mono"/>
                <a:ea typeface="JetBrains Mono"/>
                <a:cs typeface="JetBrains Mono"/>
              </a:defRPr>
            </a:pPr>
            <a:r>
              <a:rPr sz="1125" b="0">
                <a:solidFill>
                  <a:srgbClr val="91A4BD"/>
                </a:solidFill>
                <a:latin typeface="JetBrains Mono"/>
                <a:ea typeface="JetBrains Mono"/>
                <a:cs typeface="JetBrains Mono"/>
              </a:rPr>
              <a:t>Exemplo escalar. A soma separa o conteúdo mantido da nova contribuição.</a:t>
            </a:r>
          </a:p>
        </p:txBody>
      </p:sp>
      <p:pic>
        <p:nvPicPr>
          <p:cNvPr id="28013" name="Imagem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9f0e3426284016"/>
          <a:srcRect xmlns:a="http://schemas.openxmlformats.org/drawingml/2006/main" l="3570" t="0" r="8084" b="1819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3701" y="6294313"/>
            <a:ext cx="308300" cy="272211"/>
          </a:xfrm>
          <a:prstGeom xmlns:a="http://schemas.openxmlformats.org/drawingml/2006/main" prst="rect">
            <a:avLst/>
          </a:prstGeom>
        </p:spPr>
      </p:pic>
      <p:sp>
        <p:nvSpPr>
          <p:cNvPr id="28014" name="Hydro-UAI Célula LSTM">
            <a:extLst xmlns:a="http://schemas.openxmlformats.org/drawingml/2006/main">
              <a:ext uri="{FF2B5EF4-FFF2-40B4-BE49-F238E27FC236}">
                <a16:creationId xmlns:a16="http://schemas.microsoft.com/office/drawing/2014/main" id="{BEB63EBE-B1FB-5181-8A93-C783F3433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676" y="741617"/>
            <a:ext cx="11284553" cy="4855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 i="1">
                <a:solidFill>
                  <a:srgbClr val="FFFFFF"/>
                </a:solidFill>
                <a:latin typeface="JetBrains Mono ExtraBold"/>
                <a:ea typeface="JetBrains Mono ExtraBold"/>
                <a:cs typeface="JetBrains Mono ExtraBold"/>
              </a:defRPr>
            </a:pPr>
            <a:r>
              <a:rPr sz="2400" b="1" i="1">
                <a:solidFill>
                  <a:srgbClr val="FFFFFF"/>
                </a:solidFill>
                <a:latin typeface="JetBrains Mono ExtraBold"/>
                <a:ea typeface="JetBrains Mono ExtraBold"/>
                <a:cs typeface="JetBrains Mono ExtraBold"/>
              </a:rPr>
              <a:t>Célula LSTM</a:t>
            </a:r>
          </a:p>
        </p:txBody>
      </p:sp>
      <p:sp>
        <p:nvSpPr>
          <p:cNvPr id="28015" name="Divisor Hydro-UAI">
            <a:extLst xmlns:a="http://schemas.openxmlformats.org/drawingml/2006/main">
              <a:ext uri="{FF2B5EF4-FFF2-40B4-BE49-F238E27FC236}">
                <a16:creationId xmlns:a16="http://schemas.microsoft.com/office/drawing/2014/main" id="{BD88CF37-5B33-5465-A0AF-8B2A7528C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08259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668">
            <a:solidFill>
              <a:srgbClr val="FFFFFF"/>
            </a:solidFill>
          </a:ln>
        </p:spPr>
      </p:sp>
      <p:sp>
        <p:nvSpPr>
          <p:cNvPr id="28016" name="Hydro-UAI Hydro-UAI Course">
            <a:extLst xmlns:a="http://schemas.openxmlformats.org/drawingml/2006/main">
              <a:ext uri="{FF2B5EF4-FFF2-40B4-BE49-F238E27FC236}">
                <a16:creationId xmlns:a16="http://schemas.microsoft.com/office/drawing/2014/main" id="{12D9AA2F-4372-5E62-A2AC-A403624A8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63436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45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945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Hydro-UAI Course</a:t>
            </a:r>
          </a:p>
        </p:txBody>
      </p:sp>
      <p:sp>
        <p:nvSpPr>
          <p:cNvPr id="28017" name="Hydro-UAI 28 / 47">
            <a:extLst xmlns:a="http://schemas.openxmlformats.org/drawingml/2006/main">
              <a:ext uri="{FF2B5EF4-FFF2-40B4-BE49-F238E27FC236}">
                <a16:creationId xmlns:a16="http://schemas.microsoft.com/office/drawing/2014/main" id="{2C096BEC-08E2-5EF4-9471-71EB7B2E6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343650"/>
            <a:ext cx="1219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91A4BD"/>
                </a:solidFill>
                <a:latin typeface="JetBrains Mono"/>
                <a:ea typeface="JetBrains Mono"/>
                <a:cs typeface="JetBrains Mono"/>
              </a:defRPr>
            </a:pPr>
            <a:r>
              <a:rPr sz="975" b="0" i="0">
                <a:solidFill>
                  <a:srgbClr val="91A4BD"/>
                </a:solidFill>
                <a:latin typeface="JetBrains Mono"/>
                <a:ea typeface="JetBrains Mono"/>
                <a:cs typeface="JetBrains Mono"/>
              </a:rPr>
              <a:t>28 / 47</a:t>
            </a:r>
          </a:p>
        </p:txBody>
      </p:sp>
    </p:spTree>
    <p:extLst>
      <p:ext uri="{BB962C8B-B14F-4D97-AF65-F5344CB8AC3E}">
        <p14:creationId xmlns:p14="http://schemas.microsoft.com/office/powerpoint/2010/main" val="3991283715"/>
      </p:ext>
    </p:extLst>
  </p:cSld>
</p:sld>
</file>

<file path=ppt/slides/slide29.xml><?xml version="1.0" encoding="utf-8"?>
<p:sld xmlns:p="http://schemas.openxmlformats.org/presentationml/2006/main">
  <p:cSld>
    <p:spTree>
      <p:nvGrpSpPr>
        <p:cNvPr id="29001" name=""/>
        <p:cNvGrpSpPr/>
        <p:nvPr/>
      </p:nvGrpSpPr>
      <p:grpSpPr>
        <a:xfrm xmlns:a="http://schemas.openxmlformats.org/drawingml/2006/main"/>
      </p:grpSpPr>
      <p:sp>
        <p:nvSpPr>
          <p:cNvPr id="29002" name="Retângulo 6">
            <a:extLst xmlns:a="http://schemas.openxmlformats.org/drawingml/2006/main">
              <a:ext uri="{FF2B5EF4-FFF2-40B4-BE49-F238E27FC236}">
                <a16:creationId xmlns:a16="http://schemas.microsoft.com/office/drawing/2014/main" id="{12DD027E-ECDC-51EB-BFC1-2FBF715EE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F29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9003" name="Tema do slide">
            <a:extLst xmlns:a="http://schemas.openxmlformats.org/drawingml/2006/main">
              <a:ext uri="{FF2B5EF4-FFF2-40B4-BE49-F238E27FC236}">
                <a16:creationId xmlns:a16="http://schemas.microsoft.com/office/drawing/2014/main" id="{C53ACE1F-E487-58AA-9CBB-EF5667AF7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90700"/>
            <a:ext cx="11277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2025" b="1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Porta de saída: cálculo de h e previsão de Q</a:t>
            </a:r>
          </a:p>
        </p:txBody>
      </p:sp>
      <p:sp>
        <p:nvSpPr>
          <p:cNvPr id="29004" name="Equação">
            <a:extLst xmlns:a="http://schemas.openxmlformats.org/drawingml/2006/main">
              <a:ext uri="{FF2B5EF4-FFF2-40B4-BE49-F238E27FC236}">
                <a16:creationId xmlns:a16="http://schemas.microsoft.com/office/drawing/2014/main" id="{984187AA-24EB-56A0-9164-3CE262D7C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24125"/>
            <a:ext cx="11277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75" b="1">
                <a:solidFill>
                  <a:srgbClr val="71E7BD"/>
                </a:solidFill>
                <a:latin typeface="JetBrains Mono"/>
                <a:ea typeface="JetBrains Mono"/>
                <a:cs typeface="JetBrains Mono"/>
              </a:defRPr>
            </a:pPr>
            <a:r>
              <a:rPr sz="2475" b="1">
                <a:solidFill>
                  <a:srgbClr val="71E7BD"/>
                </a:solidFill>
                <a:latin typeface="JetBrains Mono"/>
                <a:ea typeface="JetBrains Mono"/>
                <a:cs typeface="JetBrains Mono"/>
              </a:rPr>
              <a:t>hₜ = oₜ ⊙ tanh(cₜ)</a:t>
            </a:r>
          </a:p>
        </p:txBody>
      </p:sp>
      <p:sp>
        <p:nvSpPr>
          <p:cNvPr id="29005" name="Número">
            <a:extLst xmlns:a="http://schemas.openxmlformats.org/drawingml/2006/main">
              <a:ext uri="{FF2B5EF4-FFF2-40B4-BE49-F238E27FC236}">
                <a16:creationId xmlns:a16="http://schemas.microsoft.com/office/drawing/2014/main" id="{FCD65C6C-DFCB-5B43-B69B-3E360FAB4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00425"/>
            <a:ext cx="112776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2175" b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cₜ = 1,95 e oₜ = 0,7</a:t>
            </a:r>
          </a:p>
          <a:p xmlns:a="http://schemas.openxmlformats.org/drawingml/2006/main">
            <a:pPr algn="l">
              <a:buNone/>
              <a:defRPr sz="2175" b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2175" b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hₜ = 0,7 × tanh(1,95) ≈ 0,672</a:t>
            </a:r>
          </a:p>
        </p:txBody>
      </p:sp>
      <p:sp>
        <p:nvSpPr>
          <p:cNvPr id="29006" name="Diagrama hₜ">
            <a:extLst xmlns:a="http://schemas.openxmlformats.org/drawingml/2006/main">
              <a:ext uri="{FF2B5EF4-FFF2-40B4-BE49-F238E27FC236}">
                <a16:creationId xmlns:a16="http://schemas.microsoft.com/office/drawing/2014/main" id="{9D2C255E-0E8C-5509-9853-8F9248A59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29175"/>
            <a:ext cx="19335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F29"/>
          </a:solidFill>
          <a:ln xmlns:a="http://schemas.openxmlformats.org/drawingml/2006/main" w="19050">
            <a:solidFill>
              <a:srgbClr val="71E7BD"/>
            </a:solidFill>
          </a:ln>
        </p:spPr>
        <p:txBody>
          <a:bodyPr xmlns:a="http://schemas.openxmlformats.org/drawingml/2006/main" lIns="76200" tIns="47625" rIns="762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210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hₜ</a:t>
            </a:r>
          </a:p>
        </p:txBody>
      </p:sp>
      <p:sp>
        <p:nvSpPr>
          <p:cNvPr id="29007" name="Diagrama Camada de leitura">
            <a:extLst xmlns:a="http://schemas.openxmlformats.org/drawingml/2006/main">
              <a:ext uri="{FF2B5EF4-FFF2-40B4-BE49-F238E27FC236}">
                <a16:creationId xmlns:a16="http://schemas.microsoft.com/office/drawing/2014/main" id="{9296BCDD-1B73-5AF9-9EC0-FAA603A20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4829175"/>
            <a:ext cx="36099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F29"/>
          </a:solidFill>
          <a:ln xmlns:a="http://schemas.openxmlformats.org/drawingml/2006/main" w="19050">
            <a:solidFill>
              <a:srgbClr val="83DFFF"/>
            </a:solidFill>
          </a:ln>
        </p:spPr>
        <p:txBody>
          <a:bodyPr xmlns:a="http://schemas.openxmlformats.org/drawingml/2006/main" lIns="76200" tIns="47625" rIns="762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95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Camada de leitura</a:t>
            </a:r>
          </a:p>
        </p:txBody>
      </p:sp>
      <p:sp>
        <p:nvSpPr>
          <p:cNvPr id="29008" name="Diagrama Q̂ₜ₊₁">
            <a:extLst xmlns:a="http://schemas.openxmlformats.org/drawingml/2006/main">
              <a:ext uri="{FF2B5EF4-FFF2-40B4-BE49-F238E27FC236}">
                <a16:creationId xmlns:a16="http://schemas.microsoft.com/office/drawing/2014/main" id="{F8EF85CB-95C0-5341-8DDB-752B102B1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829175"/>
            <a:ext cx="23526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F29"/>
          </a:solidFill>
          <a:ln xmlns:a="http://schemas.openxmlformats.org/drawingml/2006/main" w="19050">
            <a:solidFill>
              <a:srgbClr val="71E7BD"/>
            </a:solidFill>
          </a:ln>
        </p:spPr>
        <p:txBody>
          <a:bodyPr xmlns:a="http://schemas.openxmlformats.org/drawingml/2006/main" lIns="76200" tIns="47625" rIns="762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210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Q̂ₜ₊₁</a:t>
            </a:r>
          </a:p>
        </p:txBody>
      </p:sp>
      <p:cxnSp>
        <p:nvCxnSpPr>
          <p:cNvPr id="29009" name=""/>
          <p:cNvCxnSpPr>
            <a:stCxn xmlns:a="http://schemas.openxmlformats.org/drawingml/2006/main" id="29006" idx="3"/>
            <a:endCxn xmlns:a="http://schemas.openxmlformats.org/drawingml/2006/main" id="29007" idx="1"/>
          </p:cNvCxnSpPr>
          <p:nvPr/>
        </p:nvCxnSpPr>
        <p:spPr>
          <a:xfrm xmlns:a="http://schemas.openxmlformats.org/drawingml/2006/main">
            <a:off x="2390775" y="5200650"/>
            <a:ext cx="16573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1E7BD"/>
            </a:solidFill>
            <a:tailEnd type="triangle" w="med" len="med"/>
          </a:ln>
        </p:spPr>
      </p:cxnSp>
      <p:cxnSp>
        <p:nvCxnSpPr>
          <p:cNvPr id="29010" name=""/>
          <p:cNvCxnSpPr>
            <a:stCxn xmlns:a="http://schemas.openxmlformats.org/drawingml/2006/main" id="29007" idx="3"/>
            <a:endCxn xmlns:a="http://schemas.openxmlformats.org/drawingml/2006/main" id="29008" idx="1"/>
          </p:cNvCxnSpPr>
          <p:nvPr/>
        </p:nvCxnSpPr>
        <p:spPr>
          <a:xfrm xmlns:a="http://schemas.openxmlformats.org/drawingml/2006/main">
            <a:off x="7658100" y="5200650"/>
            <a:ext cx="16573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1E7BD"/>
            </a:solidFill>
            <a:tailEnd type="triangle" w="med" len="med"/>
          </a:ln>
        </p:spPr>
      </p:cxnSp>
      <p:sp>
        <p:nvSpPr>
          <p:cNvPr id="29011" name="Contexto">
            <a:extLst xmlns:a="http://schemas.openxmlformats.org/drawingml/2006/main">
              <a:ext uri="{FF2B5EF4-FFF2-40B4-BE49-F238E27FC236}">
                <a16:creationId xmlns:a16="http://schemas.microsoft.com/office/drawing/2014/main" id="{8C974D3B-7925-5A96-9097-6ABF4F94B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29325"/>
            <a:ext cx="11277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91A4BD"/>
                </a:solidFill>
                <a:latin typeface="JetBrains Mono"/>
                <a:ea typeface="JetBrains Mono"/>
                <a:cs typeface="JetBrains Mono"/>
              </a:defRPr>
            </a:pPr>
            <a:r>
              <a:rPr sz="1125" b="0">
                <a:solidFill>
                  <a:srgbClr val="91A4BD"/>
                </a:solidFill>
                <a:latin typeface="JetBrains Mono"/>
                <a:ea typeface="JetBrains Mono"/>
                <a:cs typeface="JetBrains Mono"/>
              </a:rPr>
              <a:t>A porta de saída produz hₜ. Uma camada adicional transforma hₜ no alvo de previsão.</a:t>
            </a:r>
          </a:p>
        </p:txBody>
      </p:sp>
      <p:pic>
        <p:nvPicPr>
          <p:cNvPr id="29012" name="Imagem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a5d2ca0a83428e"/>
          <a:srcRect xmlns:a="http://schemas.openxmlformats.org/drawingml/2006/main" l="3570" t="0" r="8084" b="1819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3701" y="6294313"/>
            <a:ext cx="308300" cy="272211"/>
          </a:xfrm>
          <a:prstGeom xmlns:a="http://schemas.openxmlformats.org/drawingml/2006/main" prst="rect">
            <a:avLst/>
          </a:prstGeom>
        </p:spPr>
      </p:pic>
      <p:sp>
        <p:nvSpPr>
          <p:cNvPr id="29013" name="Hydro-UAI Célula LSTM">
            <a:extLst xmlns:a="http://schemas.openxmlformats.org/drawingml/2006/main">
              <a:ext uri="{FF2B5EF4-FFF2-40B4-BE49-F238E27FC236}">
                <a16:creationId xmlns:a16="http://schemas.microsoft.com/office/drawing/2014/main" id="{5462A216-04C1-5B87-A96B-172AE2EDE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676" y="741617"/>
            <a:ext cx="11284553" cy="4855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 i="1">
                <a:solidFill>
                  <a:srgbClr val="FFFFFF"/>
                </a:solidFill>
                <a:latin typeface="JetBrains Mono ExtraBold"/>
                <a:ea typeface="JetBrains Mono ExtraBold"/>
                <a:cs typeface="JetBrains Mono ExtraBold"/>
              </a:defRPr>
            </a:pPr>
            <a:r>
              <a:rPr sz="2400" b="1" i="1">
                <a:solidFill>
                  <a:srgbClr val="FFFFFF"/>
                </a:solidFill>
                <a:latin typeface="JetBrains Mono ExtraBold"/>
                <a:ea typeface="JetBrains Mono ExtraBold"/>
                <a:cs typeface="JetBrains Mono ExtraBold"/>
              </a:rPr>
              <a:t>Célula LSTM</a:t>
            </a:r>
          </a:p>
        </p:txBody>
      </p:sp>
      <p:sp>
        <p:nvSpPr>
          <p:cNvPr id="29014" name="Divisor Hydro-UAI">
            <a:extLst xmlns:a="http://schemas.openxmlformats.org/drawingml/2006/main">
              <a:ext uri="{FF2B5EF4-FFF2-40B4-BE49-F238E27FC236}">
                <a16:creationId xmlns:a16="http://schemas.microsoft.com/office/drawing/2014/main" id="{0FEB4E25-8158-59AF-8654-DA9B5C207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08259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668">
            <a:solidFill>
              <a:srgbClr val="FFFFFF"/>
            </a:solidFill>
          </a:ln>
        </p:spPr>
      </p:sp>
      <p:sp>
        <p:nvSpPr>
          <p:cNvPr id="29015" name="Hydro-UAI Hydro-UAI Course">
            <a:extLst xmlns:a="http://schemas.openxmlformats.org/drawingml/2006/main">
              <a:ext uri="{FF2B5EF4-FFF2-40B4-BE49-F238E27FC236}">
                <a16:creationId xmlns:a16="http://schemas.microsoft.com/office/drawing/2014/main" id="{F41DCDBF-D6D0-5D59-86B0-D3C683A25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63436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45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945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Hydro-UAI Course</a:t>
            </a:r>
          </a:p>
        </p:txBody>
      </p:sp>
      <p:sp>
        <p:nvSpPr>
          <p:cNvPr id="29016" name="Hydro-UAI 29 / 47">
            <a:extLst xmlns:a="http://schemas.openxmlformats.org/drawingml/2006/main">
              <a:ext uri="{FF2B5EF4-FFF2-40B4-BE49-F238E27FC236}">
                <a16:creationId xmlns:a16="http://schemas.microsoft.com/office/drawing/2014/main" id="{9FBE3FF6-E4D2-5AB5-BA03-6F7716DF5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343650"/>
            <a:ext cx="1219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91A4BD"/>
                </a:solidFill>
                <a:latin typeface="JetBrains Mono"/>
                <a:ea typeface="JetBrains Mono"/>
                <a:cs typeface="JetBrains Mono"/>
              </a:defRPr>
            </a:pPr>
            <a:r>
              <a:rPr sz="975" b="0" i="0">
                <a:solidFill>
                  <a:srgbClr val="91A4BD"/>
                </a:solidFill>
                <a:latin typeface="JetBrains Mono"/>
                <a:ea typeface="JetBrains Mono"/>
                <a:cs typeface="JetBrains Mono"/>
              </a:rPr>
              <a:t>29 / 47</a:t>
            </a:r>
          </a:p>
        </p:txBody>
      </p:sp>
    </p:spTree>
    <p:extLst>
      <p:ext uri="{BB962C8B-B14F-4D97-AF65-F5344CB8AC3E}">
        <p14:creationId xmlns:p14="http://schemas.microsoft.com/office/powerpoint/2010/main" val="3991283715"/>
      </p:ext>
    </p:extLst>
  </p:cSld>
</p:sld>
</file>

<file path=ppt/slides/slide30.xml><?xml version="1.0" encoding="utf-8"?>
<p:sld xmlns:p="http://schemas.openxmlformats.org/presentationml/2006/main">
  <p:cSld>
    <p:spTree>
      <p:nvGrpSpPr>
        <p:cNvPr id="30001" name=""/>
        <p:cNvGrpSpPr/>
        <p:nvPr/>
      </p:nvGrpSpPr>
      <p:grpSpPr>
        <a:xfrm xmlns:a="http://schemas.openxmlformats.org/drawingml/2006/main"/>
      </p:grpSpPr>
      <p:sp>
        <p:nvSpPr>
          <p:cNvPr id="30002" name="Retângulo 6">
            <a:extLst xmlns:a="http://schemas.openxmlformats.org/drawingml/2006/main">
              <a:ext uri="{FF2B5EF4-FFF2-40B4-BE49-F238E27FC236}">
                <a16:creationId xmlns:a16="http://schemas.microsoft.com/office/drawing/2014/main" id="{B75E57D0-69C3-58C9-B7B6-8EA3607DB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F29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0003" name="Tema do slide">
            <a:extLst xmlns:a="http://schemas.openxmlformats.org/drawingml/2006/main">
              <a:ext uri="{FF2B5EF4-FFF2-40B4-BE49-F238E27FC236}">
                <a16:creationId xmlns:a16="http://schemas.microsoft.com/office/drawing/2014/main" id="{A9D0681E-78DC-5024-946F-EBD76033C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90700"/>
            <a:ext cx="11277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2025" b="1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A célula LSTM no diagrama clássico</a:t>
            </a:r>
          </a:p>
        </p:txBody>
      </p:sp>
      <p:sp>
        <p:nvSpPr>
          <p:cNvPr id="30004" name="cₜ: caminho da memória">
            <a:extLst xmlns:a="http://schemas.openxmlformats.org/drawingml/2006/main">
              <a:ext uri="{FF2B5EF4-FFF2-40B4-BE49-F238E27FC236}">
                <a16:creationId xmlns:a16="http://schemas.microsoft.com/office/drawing/2014/main" id="{D45E4FDE-7E2F-5336-809E-A6FC74200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552700"/>
            <a:ext cx="628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83D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2025" b="1">
                <a:solidFill>
                  <a:srgbClr val="83DFFF"/>
                </a:solidFill>
                <a:latin typeface="JetBrains Mono"/>
                <a:ea typeface="JetBrains Mono"/>
                <a:cs typeface="JetBrains Mono"/>
              </a:rPr>
              <a:t>cₜ: caminho da memória</a:t>
            </a:r>
          </a:p>
        </p:txBody>
      </p:sp>
      <p:sp>
        <p:nvSpPr>
          <p:cNvPr id="30005" name="fₜ  Mantém parte de cₜ₋₁.">
            <a:extLst xmlns:a="http://schemas.openxmlformats.org/drawingml/2006/main">
              <a:ext uri="{FF2B5EF4-FFF2-40B4-BE49-F238E27FC236}">
                <a16:creationId xmlns:a16="http://schemas.microsoft.com/office/drawing/2014/main" id="{A5505693-A1E3-5B21-B68E-C2A7D206A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3133725"/>
            <a:ext cx="628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875" b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fₜ  Mantém parte de cₜ₋₁.</a:t>
            </a:r>
          </a:p>
        </p:txBody>
      </p:sp>
      <p:sp>
        <p:nvSpPr>
          <p:cNvPr id="30006" name="iₜ  Modula o novo conteúdo.">
            <a:extLst xmlns:a="http://schemas.openxmlformats.org/drawingml/2006/main">
              <a:ext uri="{FF2B5EF4-FFF2-40B4-BE49-F238E27FC236}">
                <a16:creationId xmlns:a16="http://schemas.microsoft.com/office/drawing/2014/main" id="{3A46B518-6003-588C-B750-6ED93F03F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3676650"/>
            <a:ext cx="628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875" b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iₜ  Modula o novo conteúdo.</a:t>
            </a:r>
          </a:p>
        </p:txBody>
      </p:sp>
      <p:sp>
        <p:nvSpPr>
          <p:cNvPr id="30007" name="C̃ₜ  Candidata, chamada gₜ na aula.">
            <a:extLst xmlns:a="http://schemas.openxmlformats.org/drawingml/2006/main">
              <a:ext uri="{FF2B5EF4-FFF2-40B4-BE49-F238E27FC236}">
                <a16:creationId xmlns:a16="http://schemas.microsoft.com/office/drawing/2014/main" id="{AA4FA691-050E-5A8D-A6EB-CC112EE30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4219575"/>
            <a:ext cx="64579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725" b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C̃ₜ  Candidata, chamada gₜ na aula.</a:t>
            </a:r>
          </a:p>
        </p:txBody>
      </p:sp>
      <p:sp>
        <p:nvSpPr>
          <p:cNvPr id="30008" name="oₜ  Controla a saída hₜ.">
            <a:extLst xmlns:a="http://schemas.openxmlformats.org/drawingml/2006/main">
              <a:ext uri="{FF2B5EF4-FFF2-40B4-BE49-F238E27FC236}">
                <a16:creationId xmlns:a16="http://schemas.microsoft.com/office/drawing/2014/main" id="{7B1C4729-F1FF-5DD9-BDF3-DB445FB24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4762500"/>
            <a:ext cx="628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875" b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oₜ  Controla a saída hₜ.</a:t>
            </a:r>
          </a:p>
        </p:txBody>
      </p:sp>
      <p:sp>
        <p:nvSpPr>
          <p:cNvPr id="30009" name="cₜ = fₜ ⊙ cₜ₋₁ + iₜ ⊙ C̃ₜ">
            <a:extLst xmlns:a="http://schemas.openxmlformats.org/drawingml/2006/main">
              <a:ext uri="{FF2B5EF4-FFF2-40B4-BE49-F238E27FC236}">
                <a16:creationId xmlns:a16="http://schemas.microsoft.com/office/drawing/2014/main" id="{C102038A-FEBA-5123-96A2-8DD8965A0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5400675"/>
            <a:ext cx="64579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FFAD62"/>
                </a:solidFill>
                <a:latin typeface="JetBrains Mono"/>
                <a:ea typeface="JetBrains Mono"/>
                <a:cs typeface="JetBrains Mono"/>
              </a:defRPr>
            </a:pPr>
            <a:r>
              <a:rPr sz="1875" b="1">
                <a:solidFill>
                  <a:srgbClr val="FFAD62"/>
                </a:solidFill>
                <a:latin typeface="JetBrains Mono"/>
                <a:ea typeface="JetBrains Mono"/>
                <a:cs typeface="JetBrains Mono"/>
              </a:rPr>
              <a:t>cₜ = fₜ ⊙ cₜ₋₁ + iₜ ⊙ C̃ₜ</a:t>
            </a:r>
          </a:p>
        </p:txBody>
      </p:sp>
      <p:sp>
        <p:nvSpPr>
          <p:cNvPr id="30010" name="σ: sigmoid.  ×: produto elemento a elemento.">
            <a:extLst xmlns:a="http://schemas.openxmlformats.org/drawingml/2006/main">
              <a:ext uri="{FF2B5EF4-FFF2-40B4-BE49-F238E27FC236}">
                <a16:creationId xmlns:a16="http://schemas.microsoft.com/office/drawing/2014/main" id="{7C91E7F2-7B62-5A8E-BC11-0E75F141C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57900"/>
            <a:ext cx="11277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91A4BD"/>
                </a:solidFill>
                <a:latin typeface="JetBrains Mono"/>
                <a:ea typeface="JetBrains Mono"/>
                <a:cs typeface="JetBrains Mono"/>
              </a:defRPr>
            </a:pPr>
            <a:r>
              <a:rPr sz="1125" b="0">
                <a:solidFill>
                  <a:srgbClr val="91A4BD"/>
                </a:solidFill>
                <a:latin typeface="JetBrains Mono"/>
                <a:ea typeface="JetBrains Mono"/>
                <a:cs typeface="JetBrains Mono"/>
              </a:rPr>
              <a:t>σ: sigmoid.  ×: produto elemento a elemento.</a:t>
            </a:r>
          </a:p>
        </p:txBody>
      </p:sp>
      <p:pic>
        <p:nvPicPr>
          <p:cNvPr id="30011" name="Imagem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c8d69813984cff"/>
          <a:srcRect xmlns:a="http://schemas.openxmlformats.org/drawingml/2006/main" l="3570" t="0" r="8084" b="1819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3701" y="6294313"/>
            <a:ext cx="308300" cy="272211"/>
          </a:xfrm>
          <a:prstGeom xmlns:a="http://schemas.openxmlformats.org/drawingml/2006/main" prst="rect">
            <a:avLst/>
          </a:prstGeom>
        </p:spPr>
      </p:pic>
      <p:pic>
        <p:nvPicPr>
          <p:cNvPr id="300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0b4962dd8f4441"/>
          <a:stretch xmlns:a="http://schemas.openxmlformats.org/drawingml/2006/main"/>
        </p:blipFill>
        <p:spPr>
          <a:xfrm xmlns:a="http://schemas.openxmlformats.org/drawingml/2006/main">
            <a:off x="457209" y="2362200"/>
            <a:ext cx="4381482" cy="3611404"/>
          </a:xfrm>
          <a:prstGeom xmlns:a="http://schemas.openxmlformats.org/drawingml/2006/main" prst="rect">
            <a:avLst/>
          </a:prstGeom>
        </p:spPr>
      </p:pic>
      <p:sp>
        <p:nvSpPr>
          <p:cNvPr id="30013" name="Hydro-UAI Célula LSTM">
            <a:extLst xmlns:a="http://schemas.openxmlformats.org/drawingml/2006/main">
              <a:ext uri="{FF2B5EF4-FFF2-40B4-BE49-F238E27FC236}">
                <a16:creationId xmlns:a16="http://schemas.microsoft.com/office/drawing/2014/main" id="{C7E2F39E-2C5F-5413-A5DA-09A3FEE28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676" y="741617"/>
            <a:ext cx="11284553" cy="4855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 i="1">
                <a:solidFill>
                  <a:srgbClr val="FFFFFF"/>
                </a:solidFill>
                <a:latin typeface="JetBrains Mono ExtraBold"/>
                <a:ea typeface="JetBrains Mono ExtraBold"/>
                <a:cs typeface="JetBrains Mono ExtraBold"/>
              </a:defRPr>
            </a:pPr>
            <a:r>
              <a:rPr sz="2400" b="1" i="1">
                <a:solidFill>
                  <a:srgbClr val="FFFFFF"/>
                </a:solidFill>
                <a:latin typeface="JetBrains Mono ExtraBold"/>
                <a:ea typeface="JetBrains Mono ExtraBold"/>
                <a:cs typeface="JetBrains Mono ExtraBold"/>
              </a:rPr>
              <a:t>Célula LSTM</a:t>
            </a:r>
          </a:p>
        </p:txBody>
      </p:sp>
      <p:sp>
        <p:nvSpPr>
          <p:cNvPr id="30014" name="Divisor Hydro-UAI">
            <a:extLst xmlns:a="http://schemas.openxmlformats.org/drawingml/2006/main">
              <a:ext uri="{FF2B5EF4-FFF2-40B4-BE49-F238E27FC236}">
                <a16:creationId xmlns:a16="http://schemas.microsoft.com/office/drawing/2014/main" id="{047A7A8F-4714-5A5E-9890-3AEF73B01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08259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668">
            <a:solidFill>
              <a:srgbClr val="FFFFFF"/>
            </a:solidFill>
          </a:ln>
        </p:spPr>
      </p:sp>
      <p:sp>
        <p:nvSpPr>
          <p:cNvPr id="30015" name="Hydro-UAI Hydro-UAI Course">
            <a:extLst xmlns:a="http://schemas.openxmlformats.org/drawingml/2006/main">
              <a:ext uri="{FF2B5EF4-FFF2-40B4-BE49-F238E27FC236}">
                <a16:creationId xmlns:a16="http://schemas.microsoft.com/office/drawing/2014/main" id="{FEE76ED6-07D9-56C7-B525-F710B0731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63436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45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945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Hydro-UAI Course</a:t>
            </a:r>
          </a:p>
        </p:txBody>
      </p:sp>
      <p:sp>
        <p:nvSpPr>
          <p:cNvPr id="30016" name="Hydro-UAI 30 / 47">
            <a:extLst xmlns:a="http://schemas.openxmlformats.org/drawingml/2006/main">
              <a:ext uri="{FF2B5EF4-FFF2-40B4-BE49-F238E27FC236}">
                <a16:creationId xmlns:a16="http://schemas.microsoft.com/office/drawing/2014/main" id="{56B6B8C4-5580-5674-BA8C-30B52DC9A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343650"/>
            <a:ext cx="1219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91A4BD"/>
                </a:solidFill>
                <a:latin typeface="JetBrains Mono"/>
                <a:ea typeface="JetBrains Mono"/>
                <a:cs typeface="JetBrains Mono"/>
              </a:defRPr>
            </a:pPr>
            <a:r>
              <a:rPr sz="975" b="0" i="0">
                <a:solidFill>
                  <a:srgbClr val="91A4BD"/>
                </a:solidFill>
                <a:latin typeface="JetBrains Mono"/>
                <a:ea typeface="JetBrains Mono"/>
                <a:cs typeface="JetBrains Mono"/>
              </a:rPr>
              <a:t>30 / 47</a:t>
            </a:r>
          </a:p>
        </p:txBody>
      </p:sp>
    </p:spTree>
    <p:extLst>
      <p:ext uri="{BB962C8B-B14F-4D97-AF65-F5344CB8AC3E}">
        <p14:creationId xmlns:p14="http://schemas.microsoft.com/office/powerpoint/2010/main" val="3991283715"/>
      </p:ext>
    </p:extLst>
  </p:cSld>
</p:sld>
</file>

<file path=ppt/slides/slide31.xml><?xml version="1.0" encoding="utf-8"?>
<p:sld xmlns:p="http://schemas.openxmlformats.org/presentationml/2006/main">
  <p:cSld>
    <p:spTree>
      <p:nvGrpSpPr>
        <p:cNvPr id="31001" name=""/>
        <p:cNvGrpSpPr/>
        <p:nvPr/>
      </p:nvGrpSpPr>
      <p:grpSpPr>
        <a:xfrm xmlns:a="http://schemas.openxmlformats.org/drawingml/2006/main"/>
      </p:grpSpPr>
      <p:sp>
        <p:nvSpPr>
          <p:cNvPr id="31002" name="Retângulo 6">
            <a:extLst xmlns:a="http://schemas.openxmlformats.org/drawingml/2006/main">
              <a:ext uri="{FF2B5EF4-FFF2-40B4-BE49-F238E27FC236}">
                <a16:creationId xmlns:a16="http://schemas.microsoft.com/office/drawing/2014/main" id="{323AF0BB-9D8C-5494-A296-D042C7598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F29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graphicFrame>
        <p:nvGraphicFramePr>
          <p:cNvPr id="31003" name="Chart"/>
          <p:cNvGraphicFramePr/>
          <p:nvPr/>
        </p:nvGraphicFramePr>
        <p:xfrm>
          <a:off xmlns:a="http://schemas.openxmlformats.org/drawingml/2006/main" x="457200" y="3190875"/>
          <a:ext xmlns:a="http://schemas.openxmlformats.org/drawingml/2006/main" cx="7115175" cy="2286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e9e723d4a054b90"/>
          </a:graphicData>
        </a:graphic>
      </p:graphicFrame>
      <p:sp>
        <p:nvSpPr>
          <p:cNvPr id="31004" name="Tema do slide">
            <a:extLst xmlns:a="http://schemas.openxmlformats.org/drawingml/2006/main">
              <a:ext uri="{FF2B5EF4-FFF2-40B4-BE49-F238E27FC236}">
                <a16:creationId xmlns:a16="http://schemas.microsoft.com/office/drawing/2014/main" id="{5BE4DE58-E6E5-5697-B0F7-48E87E4D1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90700"/>
            <a:ext cx="11277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2025" b="1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Caminho direto do gradiente pelo estado c</a:t>
            </a:r>
          </a:p>
        </p:txBody>
      </p:sp>
      <p:sp>
        <p:nvSpPr>
          <p:cNvPr id="31005" name="Derivada">
            <a:extLst xmlns:a="http://schemas.openxmlformats.org/drawingml/2006/main">
              <a:ext uri="{FF2B5EF4-FFF2-40B4-BE49-F238E27FC236}">
                <a16:creationId xmlns:a16="http://schemas.microsoft.com/office/drawing/2014/main" id="{0139CD8A-6AA8-581F-8085-3E9BA7BDA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28875"/>
            <a:ext cx="11277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FFAD62"/>
                </a:solidFill>
                <a:latin typeface="JetBrains Mono"/>
                <a:ea typeface="JetBrains Mono"/>
                <a:cs typeface="JetBrains Mono"/>
              </a:defRPr>
            </a:pPr>
            <a:r>
              <a:rPr sz="2025" b="1">
                <a:solidFill>
                  <a:srgbClr val="FFAD62"/>
                </a:solidFill>
                <a:latin typeface="JetBrains Mono"/>
                <a:ea typeface="JetBrains Mono"/>
                <a:cs typeface="JetBrains Mono"/>
              </a:rPr>
              <a:t>Com portas fixas: ∂cₜ/∂cₜ₋₁ = diag(fₜ)</a:t>
            </a:r>
          </a:p>
        </p:txBody>
      </p:sp>
      <p:sp>
        <p:nvSpPr>
          <p:cNvPr id="31006" name="Comparação">
            <a:extLst xmlns:a="http://schemas.openxmlformats.org/drawingml/2006/main">
              <a:ext uri="{FF2B5EF4-FFF2-40B4-BE49-F238E27FC236}">
                <a16:creationId xmlns:a16="http://schemas.microsoft.com/office/drawing/2014/main" id="{4344080E-3459-5F08-90E6-2A38485A9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1475" y="3295650"/>
            <a:ext cx="37433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83D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2025" b="1">
                <a:solidFill>
                  <a:srgbClr val="83DFFF"/>
                </a:solidFill>
                <a:latin typeface="JetBrains Mono"/>
                <a:ea typeface="JetBrains Mono"/>
                <a:cs typeface="JetBrains Mono"/>
              </a:rPr>
              <a:t>0,99⁵⁰ ≈ 0,605</a:t>
            </a:r>
          </a:p>
          <a:p xmlns:a="http://schemas.openxmlformats.org/drawingml/2006/main">
            <a:pPr algn="l">
              <a:buNone/>
              <a:defRPr sz="2025" b="1">
                <a:solidFill>
                  <a:srgbClr val="83D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2025" b="1">
                <a:solidFill>
                  <a:srgbClr val="83DFFF"/>
                </a:solidFill>
                <a:latin typeface="JetBrains Mono"/>
                <a:ea typeface="JetBrains Mono"/>
                <a:cs typeface="JetBrains Mono"/>
              </a:rPr>
              <a:t>0,90⁵⁰ ≈ 0,005</a:t>
            </a:r>
          </a:p>
        </p:txBody>
      </p:sp>
      <p:sp>
        <p:nvSpPr>
          <p:cNvPr id="31007" name="Limite">
            <a:extLst xmlns:a="http://schemas.openxmlformats.org/drawingml/2006/main">
              <a:ext uri="{FF2B5EF4-FFF2-40B4-BE49-F238E27FC236}">
                <a16:creationId xmlns:a16="http://schemas.microsoft.com/office/drawing/2014/main" id="{ACAA3F42-423C-53F2-9D59-273DF5912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1475" y="4457700"/>
            <a:ext cx="374332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725" b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Portas próximas de 1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725" b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favorecem a preservação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725" b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nesse caminho.</a:t>
            </a:r>
          </a:p>
        </p:txBody>
      </p:sp>
      <p:sp>
        <p:nvSpPr>
          <p:cNvPr id="31008" name="Legenda f = 0,90">
            <a:extLst xmlns:a="http://schemas.openxmlformats.org/drawingml/2006/main">
              <a:ext uri="{FF2B5EF4-FFF2-40B4-BE49-F238E27FC236}">
                <a16:creationId xmlns:a16="http://schemas.microsoft.com/office/drawing/2014/main" id="{B9C2D2EA-3016-5F4D-8489-42C565C21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24525"/>
            <a:ext cx="247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83DFFF"/>
            </a:solidFill>
          </a:ln>
        </p:spPr>
      </p:sp>
      <p:sp>
        <p:nvSpPr>
          <p:cNvPr id="31009" name="Legenda texto f = 0,90">
            <a:extLst xmlns:a="http://schemas.openxmlformats.org/drawingml/2006/main">
              <a:ext uri="{FF2B5EF4-FFF2-40B4-BE49-F238E27FC236}">
                <a16:creationId xmlns:a16="http://schemas.microsoft.com/office/drawing/2014/main" id="{B73EA823-5DC5-56D6-ABB8-AAD38A9E8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629275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350" b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f = 0,90</a:t>
            </a:r>
          </a:p>
        </p:txBody>
      </p:sp>
      <p:sp>
        <p:nvSpPr>
          <p:cNvPr id="31010" name="Legenda f = 0,99">
            <a:extLst xmlns:a="http://schemas.openxmlformats.org/drawingml/2006/main">
              <a:ext uri="{FF2B5EF4-FFF2-40B4-BE49-F238E27FC236}">
                <a16:creationId xmlns:a16="http://schemas.microsoft.com/office/drawing/2014/main" id="{D05EC8FA-195B-5087-9E7A-0659F2A26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5724525"/>
            <a:ext cx="247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AD62"/>
            </a:solidFill>
          </a:ln>
        </p:spPr>
      </p:sp>
      <p:sp>
        <p:nvSpPr>
          <p:cNvPr id="31011" name="Legenda texto f = 0,99">
            <a:extLst xmlns:a="http://schemas.openxmlformats.org/drawingml/2006/main">
              <a:ext uri="{FF2B5EF4-FFF2-40B4-BE49-F238E27FC236}">
                <a16:creationId xmlns:a16="http://schemas.microsoft.com/office/drawing/2014/main" id="{79EC903B-1B1B-5F8A-BF43-E9E468AC0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5629275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350" b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f = 0,99</a:t>
            </a:r>
          </a:p>
        </p:txBody>
      </p:sp>
      <p:sp>
        <p:nvSpPr>
          <p:cNvPr id="31012" name="Contexto">
            <a:extLst xmlns:a="http://schemas.openxmlformats.org/drawingml/2006/main">
              <a:ext uri="{FF2B5EF4-FFF2-40B4-BE49-F238E27FC236}">
                <a16:creationId xmlns:a16="http://schemas.microsoft.com/office/drawing/2014/main" id="{4175FC06-94B2-5CB8-995E-3CDA1C07F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29325"/>
            <a:ext cx="11277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91A4BD"/>
                </a:solidFill>
                <a:latin typeface="JetBrains Mono"/>
                <a:ea typeface="JetBrains Mono"/>
                <a:cs typeface="JetBrains Mono"/>
              </a:defRPr>
            </a:pPr>
            <a:r>
              <a:rPr sz="1125" b="0">
                <a:solidFill>
                  <a:srgbClr val="91A4BD"/>
                </a:solidFill>
                <a:latin typeface="JetBrains Mono"/>
                <a:ea typeface="JetBrains Mono"/>
                <a:cs typeface="JetBrains Mono"/>
              </a:rPr>
              <a:t>Produtos escalares exatos. O gradiente completo também passa por h e pelo cálculo das portas.</a:t>
            </a:r>
          </a:p>
        </p:txBody>
      </p:sp>
      <p:pic>
        <p:nvPicPr>
          <p:cNvPr id="31013" name="Imagem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7612e43c554f6d"/>
          <a:srcRect xmlns:a="http://schemas.openxmlformats.org/drawingml/2006/main" l="3570" t="0" r="8084" b="1819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3701" y="6294313"/>
            <a:ext cx="308300" cy="272211"/>
          </a:xfrm>
          <a:prstGeom xmlns:a="http://schemas.openxmlformats.org/drawingml/2006/main" prst="rect">
            <a:avLst/>
          </a:prstGeom>
        </p:spPr>
      </p:pic>
      <p:sp>
        <p:nvSpPr>
          <p:cNvPr id="31014" name="Hydro-UAI Célula LSTM">
            <a:extLst xmlns:a="http://schemas.openxmlformats.org/drawingml/2006/main">
              <a:ext uri="{FF2B5EF4-FFF2-40B4-BE49-F238E27FC236}">
                <a16:creationId xmlns:a16="http://schemas.microsoft.com/office/drawing/2014/main" id="{6F7A8986-EB28-5868-BC0C-34DCE0501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676" y="741617"/>
            <a:ext cx="11284553" cy="4855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 i="1">
                <a:solidFill>
                  <a:srgbClr val="FFFFFF"/>
                </a:solidFill>
                <a:latin typeface="JetBrains Mono ExtraBold"/>
                <a:ea typeface="JetBrains Mono ExtraBold"/>
                <a:cs typeface="JetBrains Mono ExtraBold"/>
              </a:defRPr>
            </a:pPr>
            <a:r>
              <a:rPr sz="2400" b="1" i="1">
                <a:solidFill>
                  <a:srgbClr val="FFFFFF"/>
                </a:solidFill>
                <a:latin typeface="JetBrains Mono ExtraBold"/>
                <a:ea typeface="JetBrains Mono ExtraBold"/>
                <a:cs typeface="JetBrains Mono ExtraBold"/>
              </a:rPr>
              <a:t>Célula LSTM</a:t>
            </a:r>
          </a:p>
        </p:txBody>
      </p:sp>
      <p:sp>
        <p:nvSpPr>
          <p:cNvPr id="31015" name="Divisor Hydro-UAI">
            <a:extLst xmlns:a="http://schemas.openxmlformats.org/drawingml/2006/main">
              <a:ext uri="{FF2B5EF4-FFF2-40B4-BE49-F238E27FC236}">
                <a16:creationId xmlns:a16="http://schemas.microsoft.com/office/drawing/2014/main" id="{8F5AC9B8-6D77-5AA9-B600-9794773D1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08259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668">
            <a:solidFill>
              <a:srgbClr val="FFFFFF"/>
            </a:solidFill>
          </a:ln>
        </p:spPr>
      </p:sp>
      <p:sp>
        <p:nvSpPr>
          <p:cNvPr id="31016" name="Hydro-UAI Hydro-UAI Course">
            <a:extLst xmlns:a="http://schemas.openxmlformats.org/drawingml/2006/main">
              <a:ext uri="{FF2B5EF4-FFF2-40B4-BE49-F238E27FC236}">
                <a16:creationId xmlns:a16="http://schemas.microsoft.com/office/drawing/2014/main" id="{F6F02893-31B0-5C42-B00D-9E48E7C16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63436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45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945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Hydro-UAI Course</a:t>
            </a:r>
          </a:p>
        </p:txBody>
      </p:sp>
      <p:sp>
        <p:nvSpPr>
          <p:cNvPr id="31017" name="Hydro-UAI 31 / 47">
            <a:extLst xmlns:a="http://schemas.openxmlformats.org/drawingml/2006/main">
              <a:ext uri="{FF2B5EF4-FFF2-40B4-BE49-F238E27FC236}">
                <a16:creationId xmlns:a16="http://schemas.microsoft.com/office/drawing/2014/main" id="{6FA392AB-9626-57F2-BDA9-3CB035772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343650"/>
            <a:ext cx="1219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91A4BD"/>
                </a:solidFill>
                <a:latin typeface="JetBrains Mono"/>
                <a:ea typeface="JetBrains Mono"/>
                <a:cs typeface="JetBrains Mono"/>
              </a:defRPr>
            </a:pPr>
            <a:r>
              <a:rPr sz="975" b="0" i="0">
                <a:solidFill>
                  <a:srgbClr val="91A4BD"/>
                </a:solidFill>
                <a:latin typeface="JetBrains Mono"/>
                <a:ea typeface="JetBrains Mono"/>
                <a:cs typeface="JetBrains Mono"/>
              </a:rPr>
              <a:t>31 / 47</a:t>
            </a:r>
          </a:p>
        </p:txBody>
      </p:sp>
    </p:spTree>
    <p:extLst>
      <p:ext uri="{BB962C8B-B14F-4D97-AF65-F5344CB8AC3E}">
        <p14:creationId xmlns:p14="http://schemas.microsoft.com/office/powerpoint/2010/main" val="3991283715"/>
      </p:ext>
    </p:extLst>
  </p:cSld>
</p:sld>
</file>

<file path=ppt/slides/slide32.xml><?xml version="1.0" encoding="utf-8"?>
<p:sld xmlns:p="http://schemas.openxmlformats.org/presentationml/2006/main">
  <p:cSld>
    <p:spTree>
      <p:nvGrpSpPr>
        <p:cNvPr id="32001" name=""/>
        <p:cNvGrpSpPr/>
        <p:nvPr/>
      </p:nvGrpSpPr>
      <p:grpSpPr>
        <a:xfrm xmlns:a="http://schemas.openxmlformats.org/drawingml/2006/main"/>
      </p:grpSpPr>
      <p:sp>
        <p:nvSpPr>
          <p:cNvPr id="32002" name="Retângulo 6">
            <a:extLst xmlns:a="http://schemas.openxmlformats.org/drawingml/2006/main">
              <a:ext uri="{FF2B5EF4-FFF2-40B4-BE49-F238E27FC236}">
                <a16:creationId xmlns:a16="http://schemas.microsoft.com/office/drawing/2014/main" id="{5A7D28B9-725D-50BF-82A8-80C95FECB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F29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graphicFrame>
        <p:nvGraphicFramePr>
          <p:cNvPr id="32003" name=""/>
          <p:cNvGraphicFramePr/>
          <p:nvPr/>
        </p:nvGraphicFramePr>
        <p:xfrm>
          <a:off xmlns:a="http://schemas.openxmlformats.org/drawingml/2006/main" x="457200" y="3276600"/>
          <a:ext xmlns:a="http://schemas.openxmlformats.org/drawingml/2006/main" cx="6724650" cy="22479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1552575"/>
                <a:gridCol w="1724025"/>
                <a:gridCol w="1724025"/>
                <a:gridCol w="1724025"/>
              </a:tblGrid>
              <a:tr h="561975"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875" b="1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Passo</a:t>
                      </a:r>
                    </a:p>
                  </a:txBody>
                  <a:tcPr marL="91440" marR="91440" marT="45720" marB="45720" anchor="ctr">
                    <a:solidFill>
                      <a:srgbClr val="0053EB"/>
                    </a:solidFill>
                  </a:tcPr>
                </a:tc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875" b="1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gₜ</a:t>
                      </a:r>
                    </a:p>
                  </a:txBody>
                  <a:tcPr marL="91440" marR="91440" marT="45720" marB="45720" anchor="ctr">
                    <a:solidFill>
                      <a:srgbClr val="0053EB"/>
                    </a:solidFill>
                  </a:tcPr>
                </a:tc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875" b="1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cₜ</a:t>
                      </a:r>
                    </a:p>
                  </a:txBody>
                  <a:tcPr marL="91440" marR="91440" marT="45720" marB="45720" anchor="ctr">
                    <a:solidFill>
                      <a:srgbClr val="0053EB"/>
                    </a:solidFill>
                  </a:tcPr>
                </a:tc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875" b="1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hₜ</a:t>
                      </a:r>
                    </a:p>
                  </a:txBody>
                  <a:tcPr marL="91440" marR="91440" marT="45720" marB="45720" anchor="ctr">
                    <a:solidFill>
                      <a:srgbClr val="0053EB"/>
                    </a:solidFill>
                  </a:tcPr>
                </a:tc>
              </a:tr>
              <a:tr h="561975"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000F29"/>
                    </a:solidFill>
                  </a:tcPr>
                </a:tc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0,8</a:t>
                      </a:r>
                    </a:p>
                  </a:txBody>
                  <a:tcPr marL="91440" marR="91440" marT="45720" marB="45720" anchor="ctr">
                    <a:solidFill>
                      <a:srgbClr val="000F29"/>
                    </a:solidFill>
                  </a:tcPr>
                </a:tc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0,400</a:t>
                      </a:r>
                    </a:p>
                  </a:txBody>
                  <a:tcPr marL="91440" marR="91440" marT="45720" marB="45720" anchor="ctr">
                    <a:solidFill>
                      <a:srgbClr val="000F29"/>
                    </a:solidFill>
                  </a:tcPr>
                </a:tc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0,304</a:t>
                      </a:r>
                    </a:p>
                  </a:txBody>
                  <a:tcPr marL="91440" marR="91440" marT="45720" marB="45720" anchor="ctr">
                    <a:solidFill>
                      <a:srgbClr val="000F29"/>
                    </a:solidFill>
                  </a:tcPr>
                </a:tc>
              </a:tr>
              <a:tr h="561975"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2</a:t>
                      </a:r>
                    </a:p>
                  </a:txBody>
                  <a:tcPr marL="91440" marR="91440" marT="45720" marB="45720" anchor="ctr">
                    <a:solidFill>
                      <a:srgbClr val="000F29"/>
                    </a:solidFill>
                  </a:tcPr>
                </a:tc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0,0</a:t>
                      </a:r>
                    </a:p>
                  </a:txBody>
                  <a:tcPr marL="91440" marR="91440" marT="45720" marB="45720" anchor="ctr">
                    <a:solidFill>
                      <a:srgbClr val="000F29"/>
                    </a:solidFill>
                  </a:tcPr>
                </a:tc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0,360</a:t>
                      </a:r>
                    </a:p>
                  </a:txBody>
                  <a:tcPr marL="91440" marR="91440" marT="45720" marB="45720" anchor="ctr">
                    <a:solidFill>
                      <a:srgbClr val="000F29"/>
                    </a:solidFill>
                  </a:tcPr>
                </a:tc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0,276</a:t>
                      </a:r>
                    </a:p>
                  </a:txBody>
                  <a:tcPr marL="91440" marR="91440" marT="45720" marB="45720" anchor="ctr">
                    <a:solidFill>
                      <a:srgbClr val="000F29"/>
                    </a:solidFill>
                  </a:tcPr>
                </a:tc>
              </a:tr>
              <a:tr h="561975"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3</a:t>
                      </a:r>
                    </a:p>
                  </a:txBody>
                  <a:tcPr marL="91440" marR="91440" marT="45720" marB="45720" anchor="ctr">
                    <a:solidFill>
                      <a:srgbClr val="000F29"/>
                    </a:solidFill>
                  </a:tcPr>
                </a:tc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0,0</a:t>
                      </a:r>
                    </a:p>
                  </a:txBody>
                  <a:tcPr marL="91440" marR="91440" marT="45720" marB="45720" anchor="ctr">
                    <a:solidFill>
                      <a:srgbClr val="000F29"/>
                    </a:solidFill>
                  </a:tcPr>
                </a:tc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0,324</a:t>
                      </a:r>
                    </a:p>
                  </a:txBody>
                  <a:tcPr marL="91440" marR="91440" marT="45720" marB="45720" anchor="ctr">
                    <a:solidFill>
                      <a:srgbClr val="000F29"/>
                    </a:solidFill>
                  </a:tcPr>
                </a:tc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0,250</a:t>
                      </a:r>
                    </a:p>
                  </a:txBody>
                  <a:tcPr marL="91440" marR="91440" marT="45720" marB="45720" anchor="ctr">
                    <a:solidFill>
                      <a:srgbClr val="000F29"/>
                    </a:solidFill>
                  </a:tcPr>
                </a:tc>
              </a:tr>
            </a:tbl>
          </a:graphicData>
        </a:graphic>
      </p:graphicFrame>
      <p:sp>
        <p:nvSpPr>
          <p:cNvPr id="32004" name="Tema do slide">
            <a:extLst xmlns:a="http://schemas.openxmlformats.org/drawingml/2006/main">
              <a:ext uri="{FF2B5EF4-FFF2-40B4-BE49-F238E27FC236}">
                <a16:creationId xmlns:a16="http://schemas.microsoft.com/office/drawing/2014/main" id="{7CF4873B-CFC0-5E89-B1CB-5CFFEA060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90700"/>
            <a:ext cx="11277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2025" b="1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Memória ao longo de três passos</a:t>
            </a:r>
          </a:p>
        </p:txBody>
      </p:sp>
      <p:sp>
        <p:nvSpPr>
          <p:cNvPr id="32005" name="Condições">
            <a:extLst xmlns:a="http://schemas.openxmlformats.org/drawingml/2006/main">
              <a:ext uri="{FF2B5EF4-FFF2-40B4-BE49-F238E27FC236}">
                <a16:creationId xmlns:a16="http://schemas.microsoft.com/office/drawing/2014/main" id="{03FBA48F-E1F3-5CC8-A347-76F07F974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28875"/>
            <a:ext cx="11277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83D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950" b="1">
                <a:solidFill>
                  <a:srgbClr val="83DFFF"/>
                </a:solidFill>
                <a:latin typeface="JetBrains Mono"/>
                <a:ea typeface="JetBrains Mono"/>
                <a:cs typeface="JetBrains Mono"/>
              </a:rPr>
              <a:t>c₀ = 0, f = 0,9, i = 0,5, o = 0,8</a:t>
            </a:r>
          </a:p>
        </p:txBody>
      </p:sp>
      <p:sp>
        <p:nvSpPr>
          <p:cNvPr id="32006" name="Leitura">
            <a:extLst xmlns:a="http://schemas.openxmlformats.org/drawingml/2006/main">
              <a:ext uri="{FF2B5EF4-FFF2-40B4-BE49-F238E27FC236}">
                <a16:creationId xmlns:a16="http://schemas.microsoft.com/office/drawing/2014/main" id="{F9CDB46F-7E69-5AB3-8334-D8B9DB94E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3276600"/>
            <a:ext cx="39528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875" b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O primeiro passo escreve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875" b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conteúdo no estado c.</a:t>
            </a:r>
          </a:p>
        </p:txBody>
      </p:sp>
      <p:sp>
        <p:nvSpPr>
          <p:cNvPr id="32007" name="Persistência">
            <a:extLst xmlns:a="http://schemas.openxmlformats.org/drawingml/2006/main">
              <a:ext uri="{FF2B5EF4-FFF2-40B4-BE49-F238E27FC236}">
                <a16:creationId xmlns:a16="http://schemas.microsoft.com/office/drawing/2014/main" id="{44F67A09-E82D-54B9-8589-268E1D964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4486275"/>
            <a:ext cx="3952875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FFAD62"/>
                </a:solidFill>
                <a:latin typeface="JetBrains Mono"/>
                <a:ea typeface="JetBrains Mono"/>
                <a:cs typeface="JetBrains Mono"/>
              </a:defRPr>
            </a:pPr>
            <a:r>
              <a:rPr sz="1725" b="1">
                <a:solidFill>
                  <a:srgbClr val="FFAD62"/>
                </a:solidFill>
                <a:latin typeface="JetBrains Mono"/>
                <a:ea typeface="JetBrains Mono"/>
                <a:cs typeface="JetBrains Mono"/>
              </a:rPr>
              <a:t>Nos dois passos seguintes,</a:t>
            </a:r>
          </a:p>
          <a:p xmlns:a="http://schemas.openxmlformats.org/drawingml/2006/main">
            <a:pPr algn="l">
              <a:buNone/>
              <a:defRPr sz="1725" b="1">
                <a:solidFill>
                  <a:srgbClr val="FFAD62"/>
                </a:solidFill>
                <a:latin typeface="JetBrains Mono"/>
                <a:ea typeface="JetBrains Mono"/>
                <a:cs typeface="JetBrains Mono"/>
              </a:defRPr>
            </a:pPr>
            <a:r>
              <a:rPr sz="1725" b="1">
                <a:solidFill>
                  <a:srgbClr val="FFAD62"/>
                </a:solidFill>
                <a:latin typeface="JetBrains Mono"/>
                <a:ea typeface="JetBrains Mono"/>
                <a:cs typeface="JetBrains Mono"/>
              </a:rPr>
              <a:t>o conteúdo anterior diminui</a:t>
            </a:r>
          </a:p>
          <a:p xmlns:a="http://schemas.openxmlformats.org/drawingml/2006/main">
            <a:pPr algn="l">
              <a:buNone/>
              <a:defRPr sz="1725" b="1">
                <a:solidFill>
                  <a:srgbClr val="FFAD62"/>
                </a:solidFill>
                <a:latin typeface="JetBrains Mono"/>
                <a:ea typeface="JetBrains Mono"/>
                <a:cs typeface="JetBrains Mono"/>
              </a:defRPr>
            </a:pPr>
            <a:r>
              <a:rPr sz="1725" b="1">
                <a:solidFill>
                  <a:srgbClr val="FFAD62"/>
                </a:solidFill>
                <a:latin typeface="JetBrains Mono"/>
                <a:ea typeface="JetBrains Mono"/>
                <a:cs typeface="JetBrains Mono"/>
              </a:rPr>
              <a:t>segundo f = 0,9.</a:t>
            </a:r>
          </a:p>
        </p:txBody>
      </p:sp>
      <p:sp>
        <p:nvSpPr>
          <p:cNvPr id="32008" name="Contexto">
            <a:extLst xmlns:a="http://schemas.openxmlformats.org/drawingml/2006/main">
              <a:ext uri="{FF2B5EF4-FFF2-40B4-BE49-F238E27FC236}">
                <a16:creationId xmlns:a16="http://schemas.microsoft.com/office/drawing/2014/main" id="{74428F5F-8BB7-549C-8426-EF8A0A3D0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29325"/>
            <a:ext cx="11277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91A4BD"/>
                </a:solidFill>
                <a:latin typeface="JetBrains Mono"/>
                <a:ea typeface="JetBrains Mono"/>
                <a:cs typeface="JetBrains Mono"/>
              </a:defRPr>
            </a:pPr>
            <a:r>
              <a:rPr sz="1125" b="0">
                <a:solidFill>
                  <a:srgbClr val="91A4BD"/>
                </a:solidFill>
                <a:latin typeface="JetBrains Mono"/>
                <a:ea typeface="JetBrains Mono"/>
                <a:cs typeface="JetBrains Mono"/>
              </a:rPr>
              <a:t>Portas e candidatas fixadas para o exemplo. O valor g = 0,8 pertence ao intervalo da tanh.</a:t>
            </a:r>
          </a:p>
        </p:txBody>
      </p:sp>
      <p:pic>
        <p:nvPicPr>
          <p:cNvPr id="32009" name="Imagem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2bc10425ed4aaa"/>
          <a:srcRect xmlns:a="http://schemas.openxmlformats.org/drawingml/2006/main" l="3570" t="0" r="8084" b="1819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3701" y="6294313"/>
            <a:ext cx="308300" cy="272211"/>
          </a:xfrm>
          <a:prstGeom xmlns:a="http://schemas.openxmlformats.org/drawingml/2006/main" prst="rect">
            <a:avLst/>
          </a:prstGeom>
        </p:spPr>
      </p:pic>
      <p:sp>
        <p:nvSpPr>
          <p:cNvPr id="32010" name="Hydro-UAI Célula LSTM">
            <a:extLst xmlns:a="http://schemas.openxmlformats.org/drawingml/2006/main">
              <a:ext uri="{FF2B5EF4-FFF2-40B4-BE49-F238E27FC236}">
                <a16:creationId xmlns:a16="http://schemas.microsoft.com/office/drawing/2014/main" id="{C707C237-F85D-5210-B94B-F5FECE39E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676" y="741617"/>
            <a:ext cx="11284553" cy="4855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 i="1">
                <a:solidFill>
                  <a:srgbClr val="FFFFFF"/>
                </a:solidFill>
                <a:latin typeface="JetBrains Mono ExtraBold"/>
                <a:ea typeface="JetBrains Mono ExtraBold"/>
                <a:cs typeface="JetBrains Mono ExtraBold"/>
              </a:defRPr>
            </a:pPr>
            <a:r>
              <a:rPr sz="2400" b="1" i="1">
                <a:solidFill>
                  <a:srgbClr val="FFFFFF"/>
                </a:solidFill>
                <a:latin typeface="JetBrains Mono ExtraBold"/>
                <a:ea typeface="JetBrains Mono ExtraBold"/>
                <a:cs typeface="JetBrains Mono ExtraBold"/>
              </a:rPr>
              <a:t>Célula LSTM</a:t>
            </a:r>
          </a:p>
        </p:txBody>
      </p:sp>
      <p:sp>
        <p:nvSpPr>
          <p:cNvPr id="32011" name="Divisor Hydro-UAI">
            <a:extLst xmlns:a="http://schemas.openxmlformats.org/drawingml/2006/main">
              <a:ext uri="{FF2B5EF4-FFF2-40B4-BE49-F238E27FC236}">
                <a16:creationId xmlns:a16="http://schemas.microsoft.com/office/drawing/2014/main" id="{778D3085-9172-5467-A38F-7565F22ED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08259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668">
            <a:solidFill>
              <a:srgbClr val="FFFFFF"/>
            </a:solidFill>
          </a:ln>
        </p:spPr>
      </p:sp>
      <p:sp>
        <p:nvSpPr>
          <p:cNvPr id="32012" name="Hydro-UAI Hydro-UAI Course">
            <a:extLst xmlns:a="http://schemas.openxmlformats.org/drawingml/2006/main">
              <a:ext uri="{FF2B5EF4-FFF2-40B4-BE49-F238E27FC236}">
                <a16:creationId xmlns:a16="http://schemas.microsoft.com/office/drawing/2014/main" id="{D18EF28D-17A5-558E-A516-324996157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63436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45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945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Hydro-UAI Course</a:t>
            </a:r>
          </a:p>
        </p:txBody>
      </p:sp>
      <p:sp>
        <p:nvSpPr>
          <p:cNvPr id="32013" name="Hydro-UAI 32 / 47">
            <a:extLst xmlns:a="http://schemas.openxmlformats.org/drawingml/2006/main">
              <a:ext uri="{FF2B5EF4-FFF2-40B4-BE49-F238E27FC236}">
                <a16:creationId xmlns:a16="http://schemas.microsoft.com/office/drawing/2014/main" id="{0B5C2032-583D-5682-8B9C-064FD14AE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343650"/>
            <a:ext cx="1219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91A4BD"/>
                </a:solidFill>
                <a:latin typeface="JetBrains Mono"/>
                <a:ea typeface="JetBrains Mono"/>
                <a:cs typeface="JetBrains Mono"/>
              </a:defRPr>
            </a:pPr>
            <a:r>
              <a:rPr sz="975" b="0" i="0">
                <a:solidFill>
                  <a:srgbClr val="91A4BD"/>
                </a:solidFill>
                <a:latin typeface="JetBrains Mono"/>
                <a:ea typeface="JetBrains Mono"/>
                <a:cs typeface="JetBrains Mono"/>
              </a:rPr>
              <a:t>32 / 47</a:t>
            </a:r>
          </a:p>
        </p:txBody>
      </p:sp>
    </p:spTree>
    <p:extLst>
      <p:ext uri="{BB962C8B-B14F-4D97-AF65-F5344CB8AC3E}">
        <p14:creationId xmlns:p14="http://schemas.microsoft.com/office/powerpoint/2010/main" val="3991283715"/>
      </p:ext>
    </p:extLst>
  </p:cSld>
</p:sld>
</file>

<file path=ppt/slides/slide33.xml><?xml version="1.0" encoding="utf-8"?>
<p:sld xmlns:p="http://schemas.openxmlformats.org/presentationml/2006/main">
  <p:cSld>
    <p:spTree>
      <p:nvGrpSpPr>
        <p:cNvPr id="33001" name=""/>
        <p:cNvGrpSpPr/>
        <p:nvPr/>
      </p:nvGrpSpPr>
      <p:grpSpPr>
        <a:xfrm xmlns:a="http://schemas.openxmlformats.org/drawingml/2006/main"/>
      </p:grpSpPr>
      <p:sp>
        <p:nvSpPr>
          <p:cNvPr id="33002" name="Retângulo 6">
            <a:extLst xmlns:a="http://schemas.openxmlformats.org/drawingml/2006/main">
              <a:ext uri="{FF2B5EF4-FFF2-40B4-BE49-F238E27FC236}">
                <a16:creationId xmlns:a16="http://schemas.microsoft.com/office/drawing/2014/main" id="{C163C945-B82C-5D38-91A7-160B61B00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F29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3003" name="Tema do slide">
            <a:extLst xmlns:a="http://schemas.openxmlformats.org/drawingml/2006/main">
              <a:ext uri="{FF2B5EF4-FFF2-40B4-BE49-F238E27FC236}">
                <a16:creationId xmlns:a16="http://schemas.microsoft.com/office/drawing/2014/main" id="{CBE8740A-6662-5C5B-930D-1826C87EA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90700"/>
            <a:ext cx="11277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2025" b="1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LSTM e o porteiro da memória</a:t>
            </a:r>
          </a:p>
        </p:txBody>
      </p:sp>
      <p:sp>
        <p:nvSpPr>
          <p:cNvPr id="33004" name="Piada">
            <a:extLst xmlns:a="http://schemas.openxmlformats.org/drawingml/2006/main">
              <a:ext uri="{FF2B5EF4-FFF2-40B4-BE49-F238E27FC236}">
                <a16:creationId xmlns:a16="http://schemas.microsoft.com/office/drawing/2014/main" id="{DDBE4317-8958-53E0-A939-2107AF174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47950"/>
            <a:ext cx="663892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83D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2550" b="1">
                <a:solidFill>
                  <a:srgbClr val="83DFFF"/>
                </a:solidFill>
                <a:latin typeface="JetBrains Mono"/>
                <a:ea typeface="JetBrains Mono"/>
                <a:cs typeface="JetBrains Mono"/>
              </a:rPr>
              <a:t>“Seu nome está na lista</a:t>
            </a:r>
          </a:p>
          <a:p xmlns:a="http://schemas.openxmlformats.org/drawingml/2006/main">
            <a:pPr algn="l">
              <a:buNone/>
              <a:defRPr sz="2550" b="1">
                <a:solidFill>
                  <a:srgbClr val="83D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2550" b="1">
                <a:solidFill>
                  <a:srgbClr val="83DFFF"/>
                </a:solidFill>
                <a:latin typeface="JetBrains Mono"/>
                <a:ea typeface="JetBrains Mono"/>
                <a:cs typeface="JetBrains Mono"/>
              </a:rPr>
              <a:t>da memória?”</a:t>
            </a:r>
          </a:p>
        </p:txBody>
      </p:sp>
      <p:sp>
        <p:nvSpPr>
          <p:cNvPr id="33005" name="Portas">
            <a:extLst xmlns:a="http://schemas.openxmlformats.org/drawingml/2006/main">
              <a:ext uri="{FF2B5EF4-FFF2-40B4-BE49-F238E27FC236}">
                <a16:creationId xmlns:a16="http://schemas.microsoft.com/office/drawing/2014/main" id="{E414D71C-1118-59D4-8685-1119431B8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0"/>
            <a:ext cx="68961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950" b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f: quanto do passado permanece</a:t>
            </a:r>
          </a:p>
          <a:p xmlns:a="http://schemas.openxmlformats.org/drawingml/2006/main">
            <a:pPr algn="l">
              <a:buNone/>
              <a:defRPr sz="1950" b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950" b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i: quanto da candidata entra</a:t>
            </a:r>
          </a:p>
          <a:p xmlns:a="http://schemas.openxmlformats.org/drawingml/2006/main">
            <a:pPr algn="l">
              <a:buNone/>
              <a:defRPr sz="1950" b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950" b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o: quanto aparece em h</a:t>
            </a:r>
          </a:p>
        </p:txBody>
      </p:sp>
      <p:sp>
        <p:nvSpPr>
          <p:cNvPr id="33006" name="Qualificador">
            <a:extLst xmlns:a="http://schemas.openxmlformats.org/drawingml/2006/main">
              <a:ext uri="{FF2B5EF4-FFF2-40B4-BE49-F238E27FC236}">
                <a16:creationId xmlns:a16="http://schemas.microsoft.com/office/drawing/2014/main" id="{EEBA5BF2-BC03-54AA-A8D7-BDD71A822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76875"/>
            <a:ext cx="704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71E7BD"/>
                </a:solidFill>
                <a:latin typeface="JetBrains Mono"/>
                <a:ea typeface="JetBrains Mono"/>
                <a:cs typeface="JetBrains Mono"/>
              </a:defRPr>
            </a:pPr>
            <a:r>
              <a:rPr sz="1725" b="1">
                <a:solidFill>
                  <a:srgbClr val="71E7BD"/>
                </a:solidFill>
                <a:latin typeface="JetBrains Mono"/>
                <a:ea typeface="JetBrains Mono"/>
                <a:cs typeface="JetBrains Mono"/>
              </a:rPr>
              <a:t>As decisões são contínuas e aprendidas.</a:t>
            </a:r>
          </a:p>
        </p:txBody>
      </p:sp>
      <p:pic>
        <p:nvPicPr>
          <p:cNvPr id="33007" name="Imagem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ebdb215b8f44ea"/>
          <a:srcRect xmlns:a="http://schemas.openxmlformats.org/drawingml/2006/main" l="3570" t="0" r="8084" b="1819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3701" y="6294313"/>
            <a:ext cx="308300" cy="272211"/>
          </a:xfrm>
          <a:prstGeom xmlns:a="http://schemas.openxmlformats.org/drawingml/2006/main" prst="rect">
            <a:avLst/>
          </a:prstGeom>
        </p:spPr>
      </p:pic>
      <p:pic>
        <p:nvPicPr>
          <p:cNvPr id="3300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d181f2cf514e9c"/>
          <a:stretch xmlns:a="http://schemas.openxmlformats.org/drawingml/2006/main"/>
        </p:blipFill>
        <p:spPr>
          <a:xfrm xmlns:a="http://schemas.openxmlformats.org/drawingml/2006/main">
            <a:off x="7943850" y="2390775"/>
            <a:ext cx="3514725" cy="3514725"/>
          </a:xfrm>
          <a:prstGeom xmlns:a="http://schemas.openxmlformats.org/drawingml/2006/main" prst="rect">
            <a:avLst/>
          </a:prstGeom>
        </p:spPr>
      </p:pic>
      <p:sp>
        <p:nvSpPr>
          <p:cNvPr id="33009" name="Hydro-UAI Célula LSTM">
            <a:extLst xmlns:a="http://schemas.openxmlformats.org/drawingml/2006/main">
              <a:ext uri="{FF2B5EF4-FFF2-40B4-BE49-F238E27FC236}">
                <a16:creationId xmlns:a16="http://schemas.microsoft.com/office/drawing/2014/main" id="{03E4C6FA-FC70-5D35-A18C-833D1CBCD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676" y="741617"/>
            <a:ext cx="11284553" cy="4855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 i="1">
                <a:solidFill>
                  <a:srgbClr val="FFFFFF"/>
                </a:solidFill>
                <a:latin typeface="JetBrains Mono ExtraBold"/>
                <a:ea typeface="JetBrains Mono ExtraBold"/>
                <a:cs typeface="JetBrains Mono ExtraBold"/>
              </a:defRPr>
            </a:pPr>
            <a:r>
              <a:rPr sz="2400" b="1" i="1">
                <a:solidFill>
                  <a:srgbClr val="FFFFFF"/>
                </a:solidFill>
                <a:latin typeface="JetBrains Mono ExtraBold"/>
                <a:ea typeface="JetBrains Mono ExtraBold"/>
                <a:cs typeface="JetBrains Mono ExtraBold"/>
              </a:rPr>
              <a:t>Célula LSTM</a:t>
            </a:r>
          </a:p>
        </p:txBody>
      </p:sp>
      <p:sp>
        <p:nvSpPr>
          <p:cNvPr id="33010" name="Divisor Hydro-UAI">
            <a:extLst xmlns:a="http://schemas.openxmlformats.org/drawingml/2006/main">
              <a:ext uri="{FF2B5EF4-FFF2-40B4-BE49-F238E27FC236}">
                <a16:creationId xmlns:a16="http://schemas.microsoft.com/office/drawing/2014/main" id="{A0340690-AEA7-5588-9A13-1DCBA8A35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08259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668">
            <a:solidFill>
              <a:srgbClr val="FFFFFF"/>
            </a:solidFill>
          </a:ln>
        </p:spPr>
      </p:sp>
      <p:sp>
        <p:nvSpPr>
          <p:cNvPr id="33011" name="Hydro-UAI Hydro-UAI Course">
            <a:extLst xmlns:a="http://schemas.openxmlformats.org/drawingml/2006/main">
              <a:ext uri="{FF2B5EF4-FFF2-40B4-BE49-F238E27FC236}">
                <a16:creationId xmlns:a16="http://schemas.microsoft.com/office/drawing/2014/main" id="{FC3BDC36-451D-546A-8B00-2A788DF3E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63436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45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945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Hydro-UAI Course</a:t>
            </a:r>
          </a:p>
        </p:txBody>
      </p:sp>
      <p:sp>
        <p:nvSpPr>
          <p:cNvPr id="33012" name="Hydro-UAI 33 / 47">
            <a:extLst xmlns:a="http://schemas.openxmlformats.org/drawingml/2006/main">
              <a:ext uri="{FF2B5EF4-FFF2-40B4-BE49-F238E27FC236}">
                <a16:creationId xmlns:a16="http://schemas.microsoft.com/office/drawing/2014/main" id="{81FAFFBE-CFA8-5C50-95B6-5A9142508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343650"/>
            <a:ext cx="1219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91A4BD"/>
                </a:solidFill>
                <a:latin typeface="JetBrains Mono"/>
                <a:ea typeface="JetBrains Mono"/>
                <a:cs typeface="JetBrains Mono"/>
              </a:defRPr>
            </a:pPr>
            <a:r>
              <a:rPr sz="975" b="0" i="0">
                <a:solidFill>
                  <a:srgbClr val="91A4BD"/>
                </a:solidFill>
                <a:latin typeface="JetBrains Mono"/>
                <a:ea typeface="JetBrains Mono"/>
                <a:cs typeface="JetBrains Mono"/>
              </a:rPr>
              <a:t>33 / 47</a:t>
            </a:r>
          </a:p>
        </p:txBody>
      </p:sp>
    </p:spTree>
    <p:extLst>
      <p:ext uri="{BB962C8B-B14F-4D97-AF65-F5344CB8AC3E}">
        <p14:creationId xmlns:p14="http://schemas.microsoft.com/office/powerpoint/2010/main" val="3991283715"/>
      </p:ext>
    </p:extLst>
  </p:cSld>
</p:sld>
</file>

<file path=ppt/slides/slide34.xml><?xml version="1.0" encoding="utf-8"?>
<p:sld xmlns:p="http://schemas.openxmlformats.org/presentationml/2006/main">
  <p:cSld>
    <p:spTree>
      <p:nvGrpSpPr>
        <p:cNvPr id="34001" name=""/>
        <p:cNvGrpSpPr/>
        <p:nvPr/>
      </p:nvGrpSpPr>
      <p:grpSpPr>
        <a:xfrm xmlns:a="http://schemas.openxmlformats.org/drawingml/2006/main"/>
      </p:grpSpPr>
      <p:sp>
        <p:nvSpPr>
          <p:cNvPr id="34002" name="Retângulo 6">
            <a:extLst xmlns:a="http://schemas.openxmlformats.org/drawingml/2006/main">
              <a:ext uri="{FF2B5EF4-FFF2-40B4-BE49-F238E27FC236}">
                <a16:creationId xmlns:a16="http://schemas.microsoft.com/office/drawing/2014/main" id="{B2FD112B-0552-5D05-B3A7-5E6F3B0B4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F29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graphicFrame>
        <p:nvGraphicFramePr>
          <p:cNvPr id="34003" name=""/>
          <p:cNvGraphicFramePr/>
          <p:nvPr/>
        </p:nvGraphicFramePr>
        <p:xfrm>
          <a:off xmlns:a="http://schemas.openxmlformats.org/drawingml/2006/main" x="457200" y="2533650"/>
          <a:ext xmlns:a="http://schemas.openxmlformats.org/drawingml/2006/main" cx="11277600" cy="313372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162300"/>
                <a:gridCol w="3714750"/>
                <a:gridCol w="4400550"/>
              </a:tblGrid>
              <a:tr h="476250"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650" b="1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Aspecto</a:t>
                      </a:r>
                    </a:p>
                  </a:txBody>
                  <a:tcPr marL="91440" marR="91440" marT="45720" marB="45720" anchor="ctr">
                    <a:solidFill>
                      <a:srgbClr val="0053EB"/>
                    </a:solidFill>
                  </a:tcPr>
                </a:tc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650" b="1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RNN simples</a:t>
                      </a:r>
                    </a:p>
                  </a:txBody>
                  <a:tcPr marL="91440" marR="91440" marT="45720" marB="45720" anchor="ctr">
                    <a:solidFill>
                      <a:srgbClr val="0053EB"/>
                    </a:solidFill>
                  </a:tcPr>
                </a:tc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650" b="1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LSTM usual</a:t>
                      </a:r>
                    </a:p>
                  </a:txBody>
                  <a:tcPr marL="91440" marR="91440" marT="45720" marB="45720" anchor="ctr">
                    <a:solidFill>
                      <a:srgbClr val="0053EB"/>
                    </a:solidFill>
                  </a:tcPr>
                </a:tc>
              </a:tr>
              <a:tr h="409575"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650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Estados</a:t>
                      </a:r>
                    </a:p>
                  </a:txBody>
                  <a:tcPr marL="91440" marR="91440" marT="45720" marB="45720" anchor="ctr">
                    <a:solidFill>
                      <a:srgbClr val="000F29"/>
                    </a:solidFill>
                  </a:tcPr>
                </a:tc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650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h</a:t>
                      </a:r>
                    </a:p>
                  </a:txBody>
                  <a:tcPr marL="91440" marR="91440" marT="45720" marB="45720" anchor="ctr">
                    <a:solidFill>
                      <a:srgbClr val="000F29"/>
                    </a:solidFill>
                  </a:tcPr>
                </a:tc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650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c e h</a:t>
                      </a:r>
                    </a:p>
                  </a:txBody>
                  <a:tcPr marL="91440" marR="91440" marT="45720" marB="45720" anchor="ctr">
                    <a:solidFill>
                      <a:srgbClr val="000F29"/>
                    </a:solidFill>
                  </a:tcPr>
                </a:tc>
              </a:tr>
              <a:tr h="723900"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650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Atualização</a:t>
                      </a:r>
                    </a:p>
                  </a:txBody>
                  <a:tcPr marL="91440" marR="91440" marT="45720" marB="45720" anchor="ctr">
                    <a:solidFill>
                      <a:srgbClr val="000F29"/>
                    </a:solidFill>
                  </a:tcPr>
                </a:tc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650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Transforma o estado</a:t>
                      </a:r>
                    </a:p>
                    <a:p>
                      <a:pPr algn="l">
                        <a:buNone/>
                      </a:pPr>
                      <a:r>
                        <a:rPr sz="1650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anterior e a entrada.</a:t>
                      </a:r>
                    </a:p>
                  </a:txBody>
                  <a:tcPr marL="91440" marR="91440" marT="45720" marB="45720" anchor="ctr">
                    <a:solidFill>
                      <a:srgbClr val="000F29"/>
                    </a:solidFill>
                  </a:tcPr>
                </a:tc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650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Mantém e soma conteúdo</a:t>
                      </a:r>
                    </a:p>
                    <a:p>
                      <a:pPr algn="l">
                        <a:buNone/>
                      </a:pPr>
                      <a:r>
                        <a:rPr sz="1650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com portas.</a:t>
                      </a:r>
                    </a:p>
                  </a:txBody>
                  <a:tcPr marL="91440" marR="91440" marT="45720" marB="45720" anchor="ctr">
                    <a:solidFill>
                      <a:srgbClr val="000F29"/>
                    </a:solidFill>
                  </a:tcPr>
                </a:tc>
              </a:tr>
              <a:tr h="514350"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650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Parâmetros da célula</a:t>
                      </a:r>
                    </a:p>
                  </a:txBody>
                  <a:tcPr marL="91440" marR="91440" marT="45720" marB="45720" anchor="ctr">
                    <a:solidFill>
                      <a:srgbClr val="000F29"/>
                    </a:solidFill>
                  </a:tcPr>
                </a:tc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650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H(D + H + 1)</a:t>
                      </a:r>
                    </a:p>
                  </a:txBody>
                  <a:tcPr marL="91440" marR="91440" marT="45720" marB="45720" anchor="ctr">
                    <a:solidFill>
                      <a:srgbClr val="000F29"/>
                    </a:solidFill>
                  </a:tcPr>
                </a:tc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650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4H(D + H + 1)</a:t>
                      </a:r>
                    </a:p>
                  </a:txBody>
                  <a:tcPr marL="91440" marR="91440" marT="45720" marB="45720" anchor="ctr">
                    <a:solidFill>
                      <a:srgbClr val="000F29"/>
                    </a:solidFill>
                  </a:tcPr>
                </a:tc>
              </a:tr>
              <a:tr h="504825"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650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D = 3, H = 16</a:t>
                      </a:r>
                    </a:p>
                  </a:txBody>
                  <a:tcPr marL="91440" marR="91440" marT="45720" marB="45720" anchor="ctr">
                    <a:solidFill>
                      <a:srgbClr val="000F29"/>
                    </a:solidFill>
                  </a:tcPr>
                </a:tc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650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320</a:t>
                      </a:r>
                    </a:p>
                  </a:txBody>
                  <a:tcPr marL="91440" marR="91440" marT="45720" marB="45720" anchor="ctr">
                    <a:solidFill>
                      <a:srgbClr val="000F29"/>
                    </a:solidFill>
                  </a:tcPr>
                </a:tc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650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1.280</a:t>
                      </a:r>
                    </a:p>
                  </a:txBody>
                  <a:tcPr marL="91440" marR="91440" marT="45720" marB="45720" anchor="ctr">
                    <a:solidFill>
                      <a:srgbClr val="000F29"/>
                    </a:solidFill>
                  </a:tcPr>
                </a:tc>
              </a:tr>
              <a:tr h="504825"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650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Leitura escalar</a:t>
                      </a:r>
                    </a:p>
                  </a:txBody>
                  <a:tcPr marL="91440" marR="91440" marT="45720" marB="45720" anchor="ctr">
                    <a:solidFill>
                      <a:srgbClr val="000F29"/>
                    </a:solidFill>
                  </a:tcPr>
                </a:tc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650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+17</a:t>
                      </a:r>
                    </a:p>
                  </a:txBody>
                  <a:tcPr marL="91440" marR="91440" marT="45720" marB="45720" anchor="ctr">
                    <a:solidFill>
                      <a:srgbClr val="000F29"/>
                    </a:solidFill>
                  </a:tcPr>
                </a:tc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650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+17</a:t>
                      </a:r>
                    </a:p>
                  </a:txBody>
                  <a:tcPr marL="91440" marR="91440" marT="45720" marB="45720" anchor="ctr">
                    <a:solidFill>
                      <a:srgbClr val="000F29"/>
                    </a:solidFill>
                  </a:tcPr>
                </a:tc>
              </a:tr>
            </a:tbl>
          </a:graphicData>
        </a:graphic>
      </p:graphicFrame>
      <p:sp>
        <p:nvSpPr>
          <p:cNvPr id="34004" name="Tema do slide">
            <a:extLst xmlns:a="http://schemas.openxmlformats.org/drawingml/2006/main">
              <a:ext uri="{FF2B5EF4-FFF2-40B4-BE49-F238E27FC236}">
                <a16:creationId xmlns:a16="http://schemas.microsoft.com/office/drawing/2014/main" id="{ED159A96-A099-55F0-A7A5-06B009CAB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90700"/>
            <a:ext cx="11277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2025" b="1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RNN simples e LSTM: estrutura e custo</a:t>
            </a:r>
          </a:p>
        </p:txBody>
      </p:sp>
      <p:sp>
        <p:nvSpPr>
          <p:cNvPr id="34005" name="Contexto">
            <a:extLst xmlns:a="http://schemas.openxmlformats.org/drawingml/2006/main">
              <a:ext uri="{FF2B5EF4-FFF2-40B4-BE49-F238E27FC236}">
                <a16:creationId xmlns:a16="http://schemas.microsoft.com/office/drawing/2014/main" id="{8FE74656-A0E2-5063-8046-C2432C5E7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29325"/>
            <a:ext cx="11277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91A4BD"/>
                </a:solidFill>
                <a:latin typeface="JetBrains Mono"/>
                <a:ea typeface="JetBrains Mono"/>
                <a:cs typeface="JetBrains Mono"/>
              </a:defRPr>
            </a:pPr>
            <a:r>
              <a:rPr sz="1125" b="0">
                <a:solidFill>
                  <a:srgbClr val="91A4BD"/>
                </a:solidFill>
                <a:latin typeface="JetBrains Mono"/>
                <a:ea typeface="JetBrains Mono"/>
                <a:cs typeface="JetBrains Mono"/>
              </a:rPr>
              <a:t>Contagem com um bias por bloco, sem peepholes ou projeção. Comparação sob a convenção usada no Keras.</a:t>
            </a:r>
          </a:p>
        </p:txBody>
      </p:sp>
      <p:pic>
        <p:nvPicPr>
          <p:cNvPr id="34006" name="Imagem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67d8d371e34885"/>
          <a:srcRect xmlns:a="http://schemas.openxmlformats.org/drawingml/2006/main" l="3570" t="0" r="8084" b="1819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3701" y="6294313"/>
            <a:ext cx="308300" cy="272211"/>
          </a:xfrm>
          <a:prstGeom xmlns:a="http://schemas.openxmlformats.org/drawingml/2006/main" prst="rect">
            <a:avLst/>
          </a:prstGeom>
        </p:spPr>
      </p:pic>
      <p:sp>
        <p:nvSpPr>
          <p:cNvPr id="34007" name="Hydro-UAI Aplicação hidrológica">
            <a:extLst xmlns:a="http://schemas.openxmlformats.org/drawingml/2006/main">
              <a:ext uri="{FF2B5EF4-FFF2-40B4-BE49-F238E27FC236}">
                <a16:creationId xmlns:a16="http://schemas.microsoft.com/office/drawing/2014/main" id="{8FD62E18-F561-5382-B32C-9B1F11DE0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676" y="741617"/>
            <a:ext cx="11284553" cy="4855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 i="1">
                <a:solidFill>
                  <a:srgbClr val="FFFFFF"/>
                </a:solidFill>
                <a:latin typeface="JetBrains Mono ExtraBold"/>
                <a:ea typeface="JetBrains Mono ExtraBold"/>
                <a:cs typeface="JetBrains Mono ExtraBold"/>
              </a:defRPr>
            </a:pPr>
            <a:r>
              <a:rPr sz="2400" b="1" i="1">
                <a:solidFill>
                  <a:srgbClr val="FFFFFF"/>
                </a:solidFill>
                <a:latin typeface="JetBrains Mono ExtraBold"/>
                <a:ea typeface="JetBrains Mono ExtraBold"/>
                <a:cs typeface="JetBrains Mono ExtraBold"/>
              </a:rPr>
              <a:t>Aplicação hidrológica</a:t>
            </a:r>
          </a:p>
        </p:txBody>
      </p:sp>
      <p:sp>
        <p:nvSpPr>
          <p:cNvPr id="34008" name="Divisor Hydro-UAI">
            <a:extLst xmlns:a="http://schemas.openxmlformats.org/drawingml/2006/main">
              <a:ext uri="{FF2B5EF4-FFF2-40B4-BE49-F238E27FC236}">
                <a16:creationId xmlns:a16="http://schemas.microsoft.com/office/drawing/2014/main" id="{FB3B01D2-99D5-5276-BC7B-D36D024BD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08259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668">
            <a:solidFill>
              <a:srgbClr val="FFFFFF"/>
            </a:solidFill>
          </a:ln>
        </p:spPr>
      </p:sp>
      <p:sp>
        <p:nvSpPr>
          <p:cNvPr id="34009" name="Hydro-UAI Hydro-UAI Course">
            <a:extLst xmlns:a="http://schemas.openxmlformats.org/drawingml/2006/main">
              <a:ext uri="{FF2B5EF4-FFF2-40B4-BE49-F238E27FC236}">
                <a16:creationId xmlns:a16="http://schemas.microsoft.com/office/drawing/2014/main" id="{EF9BA69B-E7B3-5C39-A489-744C4FD6B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63436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45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945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Hydro-UAI Course</a:t>
            </a:r>
          </a:p>
        </p:txBody>
      </p:sp>
      <p:sp>
        <p:nvSpPr>
          <p:cNvPr id="34010" name="Hydro-UAI 34 / 47">
            <a:extLst xmlns:a="http://schemas.openxmlformats.org/drawingml/2006/main">
              <a:ext uri="{FF2B5EF4-FFF2-40B4-BE49-F238E27FC236}">
                <a16:creationId xmlns:a16="http://schemas.microsoft.com/office/drawing/2014/main" id="{CDBB8B1C-70FC-5AF4-84AF-ED00A5EE5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343650"/>
            <a:ext cx="1219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91A4BD"/>
                </a:solidFill>
                <a:latin typeface="JetBrains Mono"/>
                <a:ea typeface="JetBrains Mono"/>
                <a:cs typeface="JetBrains Mono"/>
              </a:defRPr>
            </a:pPr>
            <a:r>
              <a:rPr sz="975" b="0" i="0">
                <a:solidFill>
                  <a:srgbClr val="91A4BD"/>
                </a:solidFill>
                <a:latin typeface="JetBrains Mono"/>
                <a:ea typeface="JetBrains Mono"/>
                <a:cs typeface="JetBrains Mono"/>
              </a:rPr>
              <a:t>34 / 47</a:t>
            </a:r>
          </a:p>
        </p:txBody>
      </p:sp>
    </p:spTree>
    <p:extLst>
      <p:ext uri="{BB962C8B-B14F-4D97-AF65-F5344CB8AC3E}">
        <p14:creationId xmlns:p14="http://schemas.microsoft.com/office/powerpoint/2010/main" val="3991283715"/>
      </p:ext>
    </p:extLst>
  </p:cSld>
</p:sld>
</file>

<file path=ppt/slides/slide35.xml><?xml version="1.0" encoding="utf-8"?>
<p:sld xmlns:p="http://schemas.openxmlformats.org/presentationml/2006/main">
  <p:cSld>
    <p:spTree>
      <p:nvGrpSpPr>
        <p:cNvPr id="35001" name=""/>
        <p:cNvGrpSpPr/>
        <p:nvPr/>
      </p:nvGrpSpPr>
      <p:grpSpPr>
        <a:xfrm xmlns:a="http://schemas.openxmlformats.org/drawingml/2006/main"/>
      </p:grpSpPr>
      <p:sp>
        <p:nvSpPr>
          <p:cNvPr id="35002" name="Retângulo 6">
            <a:extLst xmlns:a="http://schemas.openxmlformats.org/drawingml/2006/main">
              <a:ext uri="{FF2B5EF4-FFF2-40B4-BE49-F238E27FC236}">
                <a16:creationId xmlns:a16="http://schemas.microsoft.com/office/drawing/2014/main" id="{FC0765B4-C187-560B-B0CA-89A28A073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F29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5003" name="Tema do slide">
            <a:extLst xmlns:a="http://schemas.openxmlformats.org/drawingml/2006/main">
              <a:ext uri="{FF2B5EF4-FFF2-40B4-BE49-F238E27FC236}">
                <a16:creationId xmlns:a16="http://schemas.microsoft.com/office/drawing/2014/main" id="{04C573BA-C096-5E88-BDA0-DE9BCFEF4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90700"/>
            <a:ext cx="11277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2025" b="1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Previsão de vazão no instante t</a:t>
            </a:r>
          </a:p>
        </p:txBody>
      </p:sp>
      <p:sp>
        <p:nvSpPr>
          <p:cNvPr id="35004" name="Diagrama Histórico até t&#10;P, T e Q disponíveis">
            <a:extLst xmlns:a="http://schemas.openxmlformats.org/drawingml/2006/main">
              <a:ext uri="{FF2B5EF4-FFF2-40B4-BE49-F238E27FC236}">
                <a16:creationId xmlns:a16="http://schemas.microsoft.com/office/drawing/2014/main" id="{2E9EEA8E-363F-5CEB-BEDF-A61D1B6B5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57550"/>
            <a:ext cx="3600450" cy="1152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F29"/>
          </a:solidFill>
          <a:ln xmlns:a="http://schemas.openxmlformats.org/drawingml/2006/main" w="19050">
            <a:solidFill>
              <a:srgbClr val="83DFFF"/>
            </a:solidFill>
          </a:ln>
        </p:spPr>
        <p:txBody>
          <a:bodyPr xmlns:a="http://schemas.openxmlformats.org/drawingml/2006/main" lIns="76200" tIns="47625" rIns="762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875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Histórico até t</a:t>
            </a:r>
          </a:p>
          <a:p xmlns:a="http://schemas.openxmlformats.org/drawingml/2006/main">
            <a:pPr algn="ctr">
              <a:buNone/>
              <a:defRPr sz="1875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875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P, T e Q disponíveis</a:t>
            </a:r>
          </a:p>
        </p:txBody>
      </p:sp>
      <p:sp>
        <p:nvSpPr>
          <p:cNvPr id="35005" name="Diagrama LSTM&#10;hₜ e cₜ">
            <a:extLst xmlns:a="http://schemas.openxmlformats.org/drawingml/2006/main">
              <a:ext uri="{FF2B5EF4-FFF2-40B4-BE49-F238E27FC236}">
                <a16:creationId xmlns:a16="http://schemas.microsoft.com/office/drawing/2014/main" id="{BC27DF3F-F7FA-5BD0-BD58-42CB20CEC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257550"/>
            <a:ext cx="2543175" cy="1152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F29"/>
          </a:solidFill>
          <a:ln xmlns:a="http://schemas.openxmlformats.org/drawingml/2006/main" w="19050">
            <a:solidFill>
              <a:srgbClr val="FFAD62"/>
            </a:solidFill>
          </a:ln>
        </p:spPr>
        <p:txBody>
          <a:bodyPr xmlns:a="http://schemas.openxmlformats.org/drawingml/2006/main" lIns="76200" tIns="47625" rIns="762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210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LSTM</a:t>
            </a:r>
          </a:p>
          <a:p xmlns:a="http://schemas.openxmlformats.org/drawingml/2006/main">
            <a:pPr algn="ctr">
              <a:buNone/>
              <a:defRPr sz="210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210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hₜ e cₜ</a:t>
            </a:r>
          </a:p>
        </p:txBody>
      </p:sp>
      <p:sp>
        <p:nvSpPr>
          <p:cNvPr id="35006" name="Diagrama Leitura&#10;Q̂(t + 1)">
            <a:extLst xmlns:a="http://schemas.openxmlformats.org/drawingml/2006/main">
              <a:ext uri="{FF2B5EF4-FFF2-40B4-BE49-F238E27FC236}">
                <a16:creationId xmlns:a16="http://schemas.microsoft.com/office/drawing/2014/main" id="{D9471A6A-CAD9-5279-A906-1EF29AB67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257550"/>
            <a:ext cx="3257550" cy="1152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F29"/>
          </a:solidFill>
          <a:ln xmlns:a="http://schemas.openxmlformats.org/drawingml/2006/main" w="19050">
            <a:solidFill>
              <a:srgbClr val="71E7BD"/>
            </a:solidFill>
          </a:ln>
        </p:spPr>
        <p:txBody>
          <a:bodyPr xmlns:a="http://schemas.openxmlformats.org/drawingml/2006/main" lIns="76200" tIns="47625" rIns="762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210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Leitura</a:t>
            </a:r>
          </a:p>
          <a:p xmlns:a="http://schemas.openxmlformats.org/drawingml/2006/main">
            <a:pPr algn="ctr">
              <a:buNone/>
              <a:defRPr sz="210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210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Q̂(t + 1)</a:t>
            </a:r>
          </a:p>
        </p:txBody>
      </p:sp>
      <p:cxnSp>
        <p:nvCxnSpPr>
          <p:cNvPr id="35007" name=""/>
          <p:cNvCxnSpPr>
            <a:stCxn xmlns:a="http://schemas.openxmlformats.org/drawingml/2006/main" id="35004" idx="3"/>
            <a:endCxn xmlns:a="http://schemas.openxmlformats.org/drawingml/2006/main" id="35005" idx="1"/>
          </p:cNvCxnSpPr>
          <p:nvPr/>
        </p:nvCxnSpPr>
        <p:spPr>
          <a:xfrm xmlns:a="http://schemas.openxmlformats.org/drawingml/2006/main">
            <a:off x="4057650" y="3833813"/>
            <a:ext cx="9144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3DFFF"/>
            </a:solidFill>
            <a:tailEnd type="triangle" w="med" len="med"/>
          </a:ln>
        </p:spPr>
      </p:cxnSp>
      <p:cxnSp>
        <p:nvCxnSpPr>
          <p:cNvPr id="35008" name=""/>
          <p:cNvCxnSpPr>
            <a:stCxn xmlns:a="http://schemas.openxmlformats.org/drawingml/2006/main" id="35005" idx="3"/>
            <a:endCxn xmlns:a="http://schemas.openxmlformats.org/drawingml/2006/main" id="35006" idx="1"/>
          </p:cNvCxnSpPr>
          <p:nvPr/>
        </p:nvCxnSpPr>
        <p:spPr>
          <a:xfrm xmlns:a="http://schemas.openxmlformats.org/drawingml/2006/main">
            <a:off x="7515225" y="3833813"/>
            <a:ext cx="904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1E7BD"/>
            </a:solidFill>
            <a:tailEnd type="triangle" w="med" len="med"/>
          </a:ln>
        </p:spPr>
      </p:cxnSp>
      <p:sp>
        <p:nvSpPr>
          <p:cNvPr id="35009" name="Disponibilidade">
            <a:extLst xmlns:a="http://schemas.openxmlformats.org/drawingml/2006/main">
              <a:ext uri="{FF2B5EF4-FFF2-40B4-BE49-F238E27FC236}">
                <a16:creationId xmlns:a16="http://schemas.microsoft.com/office/drawing/2014/main" id="{CCA9BB32-FDD7-5A85-BB43-342A6F5BF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86025"/>
            <a:ext cx="112776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83D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800" b="1">
                <a:solidFill>
                  <a:srgbClr val="83DFFF"/>
                </a:solidFill>
                <a:latin typeface="JetBrains Mono"/>
                <a:ea typeface="JetBrains Mono"/>
                <a:cs typeface="JetBrains Mono"/>
              </a:rPr>
              <a:t>A entrada respeita o que existe na emissão da previsão.</a:t>
            </a:r>
          </a:p>
        </p:txBody>
      </p:sp>
      <p:sp>
        <p:nvSpPr>
          <p:cNvPr id="35010" name="Operação">
            <a:extLst xmlns:a="http://schemas.openxmlformats.org/drawingml/2006/main">
              <a:ext uri="{FF2B5EF4-FFF2-40B4-BE49-F238E27FC236}">
                <a16:creationId xmlns:a16="http://schemas.microsoft.com/office/drawing/2014/main" id="{20AB5869-F2CC-53CA-9184-3D641B67C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67300"/>
            <a:ext cx="112776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875" b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Latência dos sensores e previsão meteorológica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875" b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fazem parte da definição do problema.</a:t>
            </a:r>
          </a:p>
        </p:txBody>
      </p:sp>
      <p:pic>
        <p:nvPicPr>
          <p:cNvPr id="35011" name="Imagem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29bc481306457c"/>
          <a:srcRect xmlns:a="http://schemas.openxmlformats.org/drawingml/2006/main" l="3570" t="0" r="8084" b="1819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3701" y="6294313"/>
            <a:ext cx="308300" cy="272211"/>
          </a:xfrm>
          <a:prstGeom xmlns:a="http://schemas.openxmlformats.org/drawingml/2006/main" prst="rect">
            <a:avLst/>
          </a:prstGeom>
        </p:spPr>
      </p:pic>
      <p:sp>
        <p:nvSpPr>
          <p:cNvPr id="35012" name="Hydro-UAI Aplicação hidrológica">
            <a:extLst xmlns:a="http://schemas.openxmlformats.org/drawingml/2006/main">
              <a:ext uri="{FF2B5EF4-FFF2-40B4-BE49-F238E27FC236}">
                <a16:creationId xmlns:a16="http://schemas.microsoft.com/office/drawing/2014/main" id="{4D15087F-905D-5A62-A1C1-E59976472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676" y="741617"/>
            <a:ext cx="11284553" cy="4855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 i="1">
                <a:solidFill>
                  <a:srgbClr val="FFFFFF"/>
                </a:solidFill>
                <a:latin typeface="JetBrains Mono ExtraBold"/>
                <a:ea typeface="JetBrains Mono ExtraBold"/>
                <a:cs typeface="JetBrains Mono ExtraBold"/>
              </a:defRPr>
            </a:pPr>
            <a:r>
              <a:rPr sz="2400" b="1" i="1">
                <a:solidFill>
                  <a:srgbClr val="FFFFFF"/>
                </a:solidFill>
                <a:latin typeface="JetBrains Mono ExtraBold"/>
                <a:ea typeface="JetBrains Mono ExtraBold"/>
                <a:cs typeface="JetBrains Mono ExtraBold"/>
              </a:rPr>
              <a:t>Aplicação hidrológica</a:t>
            </a:r>
          </a:p>
        </p:txBody>
      </p:sp>
      <p:sp>
        <p:nvSpPr>
          <p:cNvPr id="35013" name="Divisor Hydro-UAI">
            <a:extLst xmlns:a="http://schemas.openxmlformats.org/drawingml/2006/main">
              <a:ext uri="{FF2B5EF4-FFF2-40B4-BE49-F238E27FC236}">
                <a16:creationId xmlns:a16="http://schemas.microsoft.com/office/drawing/2014/main" id="{AD3E33ED-A993-5154-9B06-9CF6A06A0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08259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668">
            <a:solidFill>
              <a:srgbClr val="FFFFFF"/>
            </a:solidFill>
          </a:ln>
        </p:spPr>
      </p:sp>
      <p:sp>
        <p:nvSpPr>
          <p:cNvPr id="35014" name="Hydro-UAI Hydro-UAI Course">
            <a:extLst xmlns:a="http://schemas.openxmlformats.org/drawingml/2006/main">
              <a:ext uri="{FF2B5EF4-FFF2-40B4-BE49-F238E27FC236}">
                <a16:creationId xmlns:a16="http://schemas.microsoft.com/office/drawing/2014/main" id="{BD8E9C0E-A6BB-588D-B580-9670CC269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63436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45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945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Hydro-UAI Course</a:t>
            </a:r>
          </a:p>
        </p:txBody>
      </p:sp>
      <p:sp>
        <p:nvSpPr>
          <p:cNvPr id="35015" name="Hydro-UAI 35 / 47">
            <a:extLst xmlns:a="http://schemas.openxmlformats.org/drawingml/2006/main">
              <a:ext uri="{FF2B5EF4-FFF2-40B4-BE49-F238E27FC236}">
                <a16:creationId xmlns:a16="http://schemas.microsoft.com/office/drawing/2014/main" id="{D39181A1-FE78-58BC-8C79-2218F17A9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343650"/>
            <a:ext cx="1219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91A4BD"/>
                </a:solidFill>
                <a:latin typeface="JetBrains Mono"/>
                <a:ea typeface="JetBrains Mono"/>
                <a:cs typeface="JetBrains Mono"/>
              </a:defRPr>
            </a:pPr>
            <a:r>
              <a:rPr sz="975" b="0" i="0">
                <a:solidFill>
                  <a:srgbClr val="91A4BD"/>
                </a:solidFill>
                <a:latin typeface="JetBrains Mono"/>
                <a:ea typeface="JetBrains Mono"/>
                <a:cs typeface="JetBrains Mono"/>
              </a:rPr>
              <a:t>35 / 47</a:t>
            </a:r>
          </a:p>
        </p:txBody>
      </p:sp>
    </p:spTree>
    <p:extLst>
      <p:ext uri="{BB962C8B-B14F-4D97-AF65-F5344CB8AC3E}">
        <p14:creationId xmlns:p14="http://schemas.microsoft.com/office/powerpoint/2010/main" val="3991283715"/>
      </p:ext>
    </p:extLst>
  </p:cSld>
</p:sld>
</file>

<file path=ppt/slides/slide36.xml><?xml version="1.0" encoding="utf-8"?>
<p:sld xmlns:p="http://schemas.openxmlformats.org/presentationml/2006/main">
  <p:cSld>
    <p:spTree>
      <p:nvGrpSpPr>
        <p:cNvPr id="36001" name=""/>
        <p:cNvGrpSpPr/>
        <p:nvPr/>
      </p:nvGrpSpPr>
      <p:grpSpPr>
        <a:xfrm xmlns:a="http://schemas.openxmlformats.org/drawingml/2006/main"/>
      </p:grpSpPr>
      <p:sp>
        <p:nvSpPr>
          <p:cNvPr id="36002" name="Retângulo 6">
            <a:extLst xmlns:a="http://schemas.openxmlformats.org/drawingml/2006/main">
              <a:ext uri="{FF2B5EF4-FFF2-40B4-BE49-F238E27FC236}">
                <a16:creationId xmlns:a16="http://schemas.microsoft.com/office/drawing/2014/main" id="{3B6A029A-933E-5DFE-B61D-FA4C5EC52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F29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graphicFrame>
        <p:nvGraphicFramePr>
          <p:cNvPr id="36003" name=""/>
          <p:cNvGraphicFramePr/>
          <p:nvPr/>
        </p:nvGraphicFramePr>
        <p:xfrm>
          <a:off xmlns:a="http://schemas.openxmlformats.org/drawingml/2006/main" x="457200" y="2562225"/>
          <a:ext xmlns:a="http://schemas.openxmlformats.org/drawingml/2006/main" cx="11277600" cy="22479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943350"/>
                <a:gridCol w="4171950"/>
                <a:gridCol w="3162300"/>
              </a:tblGrid>
              <a:tr h="476250"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650" b="1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Configuração</a:t>
                      </a:r>
                    </a:p>
                  </a:txBody>
                  <a:tcPr marL="91440" marR="91440" marT="45720" marB="45720" anchor="ctr">
                    <a:solidFill>
                      <a:srgbClr val="0053EB"/>
                    </a:solidFill>
                  </a:tcPr>
                </a:tc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650" b="1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Entradas</a:t>
                      </a:r>
                    </a:p>
                  </a:txBody>
                  <a:tcPr marL="91440" marR="91440" marT="45720" marB="45720" anchor="ctr">
                    <a:solidFill>
                      <a:srgbClr val="0053EB"/>
                    </a:solidFill>
                  </a:tcPr>
                </a:tc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650" b="1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Saída</a:t>
                      </a:r>
                    </a:p>
                  </a:txBody>
                  <a:tcPr marL="91440" marR="91440" marT="45720" marB="45720" anchor="ctr">
                    <a:solidFill>
                      <a:srgbClr val="0053EB"/>
                    </a:solidFill>
                  </a:tcPr>
                </a:tc>
              </a:tr>
              <a:tr h="590550"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650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T = 30, horizonte 1</a:t>
                      </a:r>
                    </a:p>
                  </a:txBody>
                  <a:tcPr marL="91440" marR="91440" marT="45720" marB="45720" anchor="ctr">
                    <a:solidFill>
                      <a:srgbClr val="000F29"/>
                    </a:solidFill>
                  </a:tcPr>
                </a:tc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650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x(t − 29), ..., x(t)</a:t>
                      </a:r>
                    </a:p>
                  </a:txBody>
                  <a:tcPr marL="91440" marR="91440" marT="45720" marB="45720" anchor="ctr">
                    <a:solidFill>
                      <a:srgbClr val="000F29"/>
                    </a:solidFill>
                  </a:tcPr>
                </a:tc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650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Q(t + 1)</a:t>
                      </a:r>
                    </a:p>
                  </a:txBody>
                  <a:tcPr marL="91440" marR="91440" marT="45720" marB="45720" anchor="ctr">
                    <a:solidFill>
                      <a:srgbClr val="000F29"/>
                    </a:solidFill>
                  </a:tcPr>
                </a:tc>
              </a:tr>
              <a:tr h="590550"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650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T = 30, horizonte 7</a:t>
                      </a:r>
                    </a:p>
                  </a:txBody>
                  <a:tcPr marL="91440" marR="91440" marT="45720" marB="45720" anchor="ctr">
                    <a:solidFill>
                      <a:srgbClr val="000F29"/>
                    </a:solidFill>
                  </a:tcPr>
                </a:tc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650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x(t − 29), ..., x(t)</a:t>
                      </a:r>
                    </a:p>
                  </a:txBody>
                  <a:tcPr marL="91440" marR="91440" marT="45720" marB="45720" anchor="ctr">
                    <a:solidFill>
                      <a:srgbClr val="000F29"/>
                    </a:solidFill>
                  </a:tcPr>
                </a:tc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650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Q(t + 7)</a:t>
                      </a:r>
                    </a:p>
                  </a:txBody>
                  <a:tcPr marL="91440" marR="91440" marT="45720" marB="45720" anchor="ctr">
                    <a:solidFill>
                      <a:srgbClr val="000F29"/>
                    </a:solidFill>
                  </a:tcPr>
                </a:tc>
              </a:tr>
              <a:tr h="590550"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650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T = 90, horizonte 1</a:t>
                      </a:r>
                    </a:p>
                  </a:txBody>
                  <a:tcPr marL="91440" marR="91440" marT="45720" marB="45720" anchor="ctr">
                    <a:solidFill>
                      <a:srgbClr val="000F29"/>
                    </a:solidFill>
                  </a:tcPr>
                </a:tc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650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x(t − 89), ..., x(t)</a:t>
                      </a:r>
                    </a:p>
                  </a:txBody>
                  <a:tcPr marL="91440" marR="91440" marT="45720" marB="45720" anchor="ctr">
                    <a:solidFill>
                      <a:srgbClr val="000F29"/>
                    </a:solidFill>
                  </a:tcPr>
                </a:tc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650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Q(t + 1)</a:t>
                      </a:r>
                    </a:p>
                  </a:txBody>
                  <a:tcPr marL="91440" marR="91440" marT="45720" marB="45720" anchor="ctr">
                    <a:solidFill>
                      <a:srgbClr val="000F29"/>
                    </a:solidFill>
                  </a:tcPr>
                </a:tc>
              </a:tr>
            </a:tbl>
          </a:graphicData>
        </a:graphic>
      </p:graphicFrame>
      <p:sp>
        <p:nvSpPr>
          <p:cNvPr id="36004" name="Tema do slide">
            <a:extLst xmlns:a="http://schemas.openxmlformats.org/drawingml/2006/main">
              <a:ext uri="{FF2B5EF4-FFF2-40B4-BE49-F238E27FC236}">
                <a16:creationId xmlns:a16="http://schemas.microsoft.com/office/drawing/2014/main" id="{95BDC2BB-2CE6-5FE9-890F-D07E75DB6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90700"/>
            <a:ext cx="11277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2025" b="1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Comprimento da janela e horizonte de previsão</a:t>
            </a:r>
          </a:p>
        </p:txBody>
      </p:sp>
      <p:sp>
        <p:nvSpPr>
          <p:cNvPr id="36005" name="Janela">
            <a:extLst xmlns:a="http://schemas.openxmlformats.org/drawingml/2006/main">
              <a:ext uri="{FF2B5EF4-FFF2-40B4-BE49-F238E27FC236}">
                <a16:creationId xmlns:a16="http://schemas.microsoft.com/office/drawing/2014/main" id="{11FA60D7-3170-5ACF-9984-468B46868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91125"/>
            <a:ext cx="11277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83D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875" b="1">
                <a:solidFill>
                  <a:srgbClr val="83DFFF"/>
                </a:solidFill>
                <a:latin typeface="JetBrains Mono"/>
                <a:ea typeface="JetBrains Mono"/>
                <a:cs typeface="JetBrains Mono"/>
              </a:rPr>
              <a:t>T controla a história apresentada ao modelo.</a:t>
            </a:r>
          </a:p>
        </p:txBody>
      </p:sp>
      <p:sp>
        <p:nvSpPr>
          <p:cNvPr id="36006" name="Horizonte">
            <a:extLst xmlns:a="http://schemas.openxmlformats.org/drawingml/2006/main">
              <a:ext uri="{FF2B5EF4-FFF2-40B4-BE49-F238E27FC236}">
                <a16:creationId xmlns:a16="http://schemas.microsoft.com/office/drawing/2014/main" id="{2F064CF5-1BC7-55E7-8E8C-09AAC6C32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38800"/>
            <a:ext cx="11277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875" b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O horizonte indica quão à frente fica o alvo.</a:t>
            </a:r>
          </a:p>
        </p:txBody>
      </p:sp>
      <p:pic>
        <p:nvPicPr>
          <p:cNvPr id="36007" name="Imagem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11545387294581"/>
          <a:srcRect xmlns:a="http://schemas.openxmlformats.org/drawingml/2006/main" l="3570" t="0" r="8084" b="1819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3701" y="6294313"/>
            <a:ext cx="308300" cy="272211"/>
          </a:xfrm>
          <a:prstGeom xmlns:a="http://schemas.openxmlformats.org/drawingml/2006/main" prst="rect">
            <a:avLst/>
          </a:prstGeom>
        </p:spPr>
      </p:pic>
      <p:sp>
        <p:nvSpPr>
          <p:cNvPr id="36008" name="Hydro-UAI Aplicação hidrológica">
            <a:extLst xmlns:a="http://schemas.openxmlformats.org/drawingml/2006/main">
              <a:ext uri="{FF2B5EF4-FFF2-40B4-BE49-F238E27FC236}">
                <a16:creationId xmlns:a16="http://schemas.microsoft.com/office/drawing/2014/main" id="{6ECDD1A2-F2F9-57A7-9939-E84365B13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676" y="741617"/>
            <a:ext cx="11284553" cy="4855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 i="1">
                <a:solidFill>
                  <a:srgbClr val="FFFFFF"/>
                </a:solidFill>
                <a:latin typeface="JetBrains Mono ExtraBold"/>
                <a:ea typeface="JetBrains Mono ExtraBold"/>
                <a:cs typeface="JetBrains Mono ExtraBold"/>
              </a:defRPr>
            </a:pPr>
            <a:r>
              <a:rPr sz="2400" b="1" i="1">
                <a:solidFill>
                  <a:srgbClr val="FFFFFF"/>
                </a:solidFill>
                <a:latin typeface="JetBrains Mono ExtraBold"/>
                <a:ea typeface="JetBrains Mono ExtraBold"/>
                <a:cs typeface="JetBrains Mono ExtraBold"/>
              </a:rPr>
              <a:t>Aplicação hidrológica</a:t>
            </a:r>
          </a:p>
        </p:txBody>
      </p:sp>
      <p:sp>
        <p:nvSpPr>
          <p:cNvPr id="36009" name="Divisor Hydro-UAI">
            <a:extLst xmlns:a="http://schemas.openxmlformats.org/drawingml/2006/main">
              <a:ext uri="{FF2B5EF4-FFF2-40B4-BE49-F238E27FC236}">
                <a16:creationId xmlns:a16="http://schemas.microsoft.com/office/drawing/2014/main" id="{433C05CE-249F-5B40-993C-4419245D9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08259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668">
            <a:solidFill>
              <a:srgbClr val="FFFFFF"/>
            </a:solidFill>
          </a:ln>
        </p:spPr>
      </p:sp>
      <p:sp>
        <p:nvSpPr>
          <p:cNvPr id="36010" name="Hydro-UAI Hydro-UAI Course">
            <a:extLst xmlns:a="http://schemas.openxmlformats.org/drawingml/2006/main">
              <a:ext uri="{FF2B5EF4-FFF2-40B4-BE49-F238E27FC236}">
                <a16:creationId xmlns:a16="http://schemas.microsoft.com/office/drawing/2014/main" id="{70FCD4A3-B8E6-5031-9790-DAE75F11E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63436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45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945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Hydro-UAI Course</a:t>
            </a:r>
          </a:p>
        </p:txBody>
      </p:sp>
      <p:sp>
        <p:nvSpPr>
          <p:cNvPr id="36011" name="Hydro-UAI 36 / 47">
            <a:extLst xmlns:a="http://schemas.openxmlformats.org/drawingml/2006/main">
              <a:ext uri="{FF2B5EF4-FFF2-40B4-BE49-F238E27FC236}">
                <a16:creationId xmlns:a16="http://schemas.microsoft.com/office/drawing/2014/main" id="{A5C0130A-5734-5518-BDF9-A7C6E3124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343650"/>
            <a:ext cx="1219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91A4BD"/>
                </a:solidFill>
                <a:latin typeface="JetBrains Mono"/>
                <a:ea typeface="JetBrains Mono"/>
                <a:cs typeface="JetBrains Mono"/>
              </a:defRPr>
            </a:pPr>
            <a:r>
              <a:rPr sz="975" b="0" i="0">
                <a:solidFill>
                  <a:srgbClr val="91A4BD"/>
                </a:solidFill>
                <a:latin typeface="JetBrains Mono"/>
                <a:ea typeface="JetBrains Mono"/>
                <a:cs typeface="JetBrains Mono"/>
              </a:rPr>
              <a:t>36 / 47</a:t>
            </a:r>
          </a:p>
        </p:txBody>
      </p:sp>
    </p:spTree>
    <p:extLst>
      <p:ext uri="{BB962C8B-B14F-4D97-AF65-F5344CB8AC3E}">
        <p14:creationId xmlns:p14="http://schemas.microsoft.com/office/powerpoint/2010/main" val="3991283715"/>
      </p:ext>
    </p:extLst>
  </p:cSld>
</p:sld>
</file>

<file path=ppt/slides/slide37.xml><?xml version="1.0" encoding="utf-8"?>
<p:sld xmlns:p="http://schemas.openxmlformats.org/presentationml/2006/main">
  <p:cSld>
    <p:spTree>
      <p:nvGrpSpPr>
        <p:cNvPr id="37001" name=""/>
        <p:cNvGrpSpPr/>
        <p:nvPr/>
      </p:nvGrpSpPr>
      <p:grpSpPr>
        <a:xfrm xmlns:a="http://schemas.openxmlformats.org/drawingml/2006/main"/>
      </p:grpSpPr>
      <p:sp>
        <p:nvSpPr>
          <p:cNvPr id="37002" name="Retângulo 6">
            <a:extLst xmlns:a="http://schemas.openxmlformats.org/drawingml/2006/main">
              <a:ext uri="{FF2B5EF4-FFF2-40B4-BE49-F238E27FC236}">
                <a16:creationId xmlns:a16="http://schemas.microsoft.com/office/drawing/2014/main" id="{D952746A-58B9-5BF9-90C4-84E0D86E1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F29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7003" name="Tema do slide">
            <a:extLst xmlns:a="http://schemas.openxmlformats.org/drawingml/2006/main">
              <a:ext uri="{FF2B5EF4-FFF2-40B4-BE49-F238E27FC236}">
                <a16:creationId xmlns:a16="http://schemas.microsoft.com/office/drawing/2014/main" id="{754F814B-C0D8-5866-AEBE-96941C7C4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90700"/>
            <a:ext cx="11277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2025" b="1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Separação temporal e preparo dos dados</a:t>
            </a:r>
          </a:p>
        </p:txBody>
      </p:sp>
      <p:sp>
        <p:nvSpPr>
          <p:cNvPr id="37004" name="Diagrama TREINO">
            <a:extLst xmlns:a="http://schemas.openxmlformats.org/drawingml/2006/main">
              <a:ext uri="{FF2B5EF4-FFF2-40B4-BE49-F238E27FC236}">
                <a16:creationId xmlns:a16="http://schemas.microsoft.com/office/drawing/2014/main" id="{0FFCAF3C-862A-5CAF-9E0F-A7C2D9057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86075"/>
            <a:ext cx="528637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F29"/>
          </a:solidFill>
          <a:ln xmlns:a="http://schemas.openxmlformats.org/drawingml/2006/main" w="19050">
            <a:solidFill>
              <a:srgbClr val="83DFFF"/>
            </a:solidFill>
          </a:ln>
        </p:spPr>
        <p:txBody>
          <a:bodyPr xmlns:a="http://schemas.openxmlformats.org/drawingml/2006/main" lIns="76200" tIns="47625" rIns="762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95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TREINO</a:t>
            </a:r>
          </a:p>
        </p:txBody>
      </p:sp>
      <p:sp>
        <p:nvSpPr>
          <p:cNvPr id="37005" name="Diagrama VALIDAÇÃO">
            <a:extLst xmlns:a="http://schemas.openxmlformats.org/drawingml/2006/main">
              <a:ext uri="{FF2B5EF4-FFF2-40B4-BE49-F238E27FC236}">
                <a16:creationId xmlns:a16="http://schemas.microsoft.com/office/drawing/2014/main" id="{3180C642-8A2F-53F6-817D-CE5911B93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75" y="2886075"/>
            <a:ext cx="30289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F29"/>
          </a:solidFill>
          <a:ln xmlns:a="http://schemas.openxmlformats.org/drawingml/2006/main" w="19050">
            <a:solidFill>
              <a:srgbClr val="83DFFF"/>
            </a:solidFill>
          </a:ln>
        </p:spPr>
        <p:txBody>
          <a:bodyPr xmlns:a="http://schemas.openxmlformats.org/drawingml/2006/main" lIns="76200" tIns="47625" rIns="762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875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VALIDAÇÃO</a:t>
            </a:r>
          </a:p>
        </p:txBody>
      </p:sp>
      <p:sp>
        <p:nvSpPr>
          <p:cNvPr id="37006" name="Diagrama TESTE">
            <a:extLst xmlns:a="http://schemas.openxmlformats.org/drawingml/2006/main">
              <a:ext uri="{FF2B5EF4-FFF2-40B4-BE49-F238E27FC236}">
                <a16:creationId xmlns:a16="http://schemas.microsoft.com/office/drawing/2014/main" id="{A654772B-BD1E-5A29-BDC7-9907F9FC4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5" y="2886075"/>
            <a:ext cx="288607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F29"/>
          </a:solidFill>
          <a:ln xmlns:a="http://schemas.openxmlformats.org/drawingml/2006/main" w="19050">
            <a:solidFill>
              <a:srgbClr val="91A4BD"/>
            </a:solidFill>
          </a:ln>
        </p:spPr>
        <p:txBody>
          <a:bodyPr xmlns:a="http://schemas.openxmlformats.org/drawingml/2006/main" lIns="76200" tIns="47625" rIns="762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95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TESTE</a:t>
            </a:r>
          </a:p>
        </p:txBody>
      </p:sp>
      <p:sp>
        <p:nvSpPr>
          <p:cNvPr id="37007" name="Treino">
            <a:extLst xmlns:a="http://schemas.openxmlformats.org/drawingml/2006/main">
              <a:ext uri="{FF2B5EF4-FFF2-40B4-BE49-F238E27FC236}">
                <a16:creationId xmlns:a16="http://schemas.microsoft.com/office/drawing/2014/main" id="{D9D56CD1-D3DB-56A4-933E-B9B492966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990975"/>
            <a:ext cx="5143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725" b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Ajusta pesos,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725" b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escala e imputação.</a:t>
            </a:r>
          </a:p>
        </p:txBody>
      </p:sp>
      <p:sp>
        <p:nvSpPr>
          <p:cNvPr id="37008" name="Val">
            <a:extLst xmlns:a="http://schemas.openxmlformats.org/drawingml/2006/main">
              <a:ext uri="{FF2B5EF4-FFF2-40B4-BE49-F238E27FC236}">
                <a16:creationId xmlns:a16="http://schemas.microsoft.com/office/drawing/2014/main" id="{202E138E-5210-5251-AC6F-0D776731F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75" y="3990975"/>
            <a:ext cx="2857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650" b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Seleciona janela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650" b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e configuração.</a:t>
            </a:r>
          </a:p>
        </p:txBody>
      </p:sp>
      <p:sp>
        <p:nvSpPr>
          <p:cNvPr id="37009" name="Teste">
            <a:extLst xmlns:a="http://schemas.openxmlformats.org/drawingml/2006/main">
              <a:ext uri="{FF2B5EF4-FFF2-40B4-BE49-F238E27FC236}">
                <a16:creationId xmlns:a16="http://schemas.microsoft.com/office/drawing/2014/main" id="{9BDA70C1-CD15-5AEF-9C2E-BAA7F2569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5" y="3990975"/>
            <a:ext cx="28860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650" b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Avalia o modelo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650" b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já escolhido.</a:t>
            </a:r>
          </a:p>
        </p:txBody>
      </p:sp>
      <p:sp>
        <p:nvSpPr>
          <p:cNvPr id="37010" name="Alvos">
            <a:extLst xmlns:a="http://schemas.openxmlformats.org/drawingml/2006/main">
              <a:ext uri="{FF2B5EF4-FFF2-40B4-BE49-F238E27FC236}">
                <a16:creationId xmlns:a16="http://schemas.microsoft.com/office/drawing/2014/main" id="{D7B97F27-F131-5644-8CC0-4463818A9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91125"/>
            <a:ext cx="11277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83D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875" b="1">
                <a:solidFill>
                  <a:srgbClr val="83DFFF"/>
                </a:solidFill>
                <a:latin typeface="JetBrains Mono"/>
                <a:ea typeface="JetBrains Mono"/>
                <a:cs typeface="JetBrains Mono"/>
              </a:rPr>
              <a:t>Cada amostra pertence ao bloco pela data do seu alvo.</a:t>
            </a:r>
          </a:p>
        </p:txBody>
      </p:sp>
      <p:sp>
        <p:nvSpPr>
          <p:cNvPr id="37011" name="Contexto">
            <a:extLst xmlns:a="http://schemas.openxmlformats.org/drawingml/2006/main">
              <a:ext uri="{FF2B5EF4-FFF2-40B4-BE49-F238E27FC236}">
                <a16:creationId xmlns:a16="http://schemas.microsoft.com/office/drawing/2014/main" id="{7C9526EB-CCBA-51E6-8E9E-A31EABC15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29325"/>
            <a:ext cx="11277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91A4BD"/>
                </a:solidFill>
                <a:latin typeface="JetBrains Mono"/>
                <a:ea typeface="JetBrains Mono"/>
                <a:cs typeface="JetBrains Mono"/>
              </a:defRPr>
            </a:pPr>
            <a:r>
              <a:rPr sz="1125" b="0">
                <a:solidFill>
                  <a:srgbClr val="91A4BD"/>
                </a:solidFill>
                <a:latin typeface="JetBrains Mono"/>
                <a:ea typeface="JetBrains Mono"/>
                <a:cs typeface="JetBrains Mono"/>
              </a:rPr>
              <a:t>Histórico anterior disponível pode compor a janela de validação. O alvo futuro continua fora do treino.</a:t>
            </a:r>
          </a:p>
        </p:txBody>
      </p:sp>
      <p:pic>
        <p:nvPicPr>
          <p:cNvPr id="37012" name="Imagem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f465fd3fee48e8"/>
          <a:srcRect xmlns:a="http://schemas.openxmlformats.org/drawingml/2006/main" l="3570" t="0" r="8084" b="1819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3701" y="6294313"/>
            <a:ext cx="308300" cy="272211"/>
          </a:xfrm>
          <a:prstGeom xmlns:a="http://schemas.openxmlformats.org/drawingml/2006/main" prst="rect">
            <a:avLst/>
          </a:prstGeom>
        </p:spPr>
      </p:pic>
      <p:sp>
        <p:nvSpPr>
          <p:cNvPr id="37013" name="Hydro-UAI Aplicação hidrológica">
            <a:extLst xmlns:a="http://schemas.openxmlformats.org/drawingml/2006/main">
              <a:ext uri="{FF2B5EF4-FFF2-40B4-BE49-F238E27FC236}">
                <a16:creationId xmlns:a16="http://schemas.microsoft.com/office/drawing/2014/main" id="{8ACD76C3-0A2D-5736-BDFA-72A6A9915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676" y="741617"/>
            <a:ext cx="11284553" cy="4855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 i="1">
                <a:solidFill>
                  <a:srgbClr val="FFFFFF"/>
                </a:solidFill>
                <a:latin typeface="JetBrains Mono ExtraBold"/>
                <a:ea typeface="JetBrains Mono ExtraBold"/>
                <a:cs typeface="JetBrains Mono ExtraBold"/>
              </a:defRPr>
            </a:pPr>
            <a:r>
              <a:rPr sz="2400" b="1" i="1">
                <a:solidFill>
                  <a:srgbClr val="FFFFFF"/>
                </a:solidFill>
                <a:latin typeface="JetBrains Mono ExtraBold"/>
                <a:ea typeface="JetBrains Mono ExtraBold"/>
                <a:cs typeface="JetBrains Mono ExtraBold"/>
              </a:rPr>
              <a:t>Aplicação hidrológica</a:t>
            </a:r>
          </a:p>
        </p:txBody>
      </p:sp>
      <p:sp>
        <p:nvSpPr>
          <p:cNvPr id="37014" name="Divisor Hydro-UAI">
            <a:extLst xmlns:a="http://schemas.openxmlformats.org/drawingml/2006/main">
              <a:ext uri="{FF2B5EF4-FFF2-40B4-BE49-F238E27FC236}">
                <a16:creationId xmlns:a16="http://schemas.microsoft.com/office/drawing/2014/main" id="{864C91F2-7C53-598A-BE67-29128E6C3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08259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668">
            <a:solidFill>
              <a:srgbClr val="FFFFFF"/>
            </a:solidFill>
          </a:ln>
        </p:spPr>
      </p:sp>
      <p:sp>
        <p:nvSpPr>
          <p:cNvPr id="37015" name="Hydro-UAI Hydro-UAI Course">
            <a:extLst xmlns:a="http://schemas.openxmlformats.org/drawingml/2006/main">
              <a:ext uri="{FF2B5EF4-FFF2-40B4-BE49-F238E27FC236}">
                <a16:creationId xmlns:a16="http://schemas.microsoft.com/office/drawing/2014/main" id="{61AEA25C-6018-53BB-91AD-74DC9BE23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63436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45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945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Hydro-UAI Course</a:t>
            </a:r>
          </a:p>
        </p:txBody>
      </p:sp>
      <p:sp>
        <p:nvSpPr>
          <p:cNvPr id="37016" name="Hydro-UAI 37 / 47">
            <a:extLst xmlns:a="http://schemas.openxmlformats.org/drawingml/2006/main">
              <a:ext uri="{FF2B5EF4-FFF2-40B4-BE49-F238E27FC236}">
                <a16:creationId xmlns:a16="http://schemas.microsoft.com/office/drawing/2014/main" id="{20D6B3BE-EB91-588F-B3C5-C10E9044E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343650"/>
            <a:ext cx="1219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91A4BD"/>
                </a:solidFill>
                <a:latin typeface="JetBrains Mono"/>
                <a:ea typeface="JetBrains Mono"/>
                <a:cs typeface="JetBrains Mono"/>
              </a:defRPr>
            </a:pPr>
            <a:r>
              <a:rPr sz="975" b="0" i="0">
                <a:solidFill>
                  <a:srgbClr val="91A4BD"/>
                </a:solidFill>
                <a:latin typeface="JetBrains Mono"/>
                <a:ea typeface="JetBrains Mono"/>
                <a:cs typeface="JetBrains Mono"/>
              </a:rPr>
              <a:t>37 / 47</a:t>
            </a:r>
          </a:p>
        </p:txBody>
      </p:sp>
    </p:spTree>
    <p:extLst>
      <p:ext uri="{BB962C8B-B14F-4D97-AF65-F5344CB8AC3E}">
        <p14:creationId xmlns:p14="http://schemas.microsoft.com/office/powerpoint/2010/main" val="3991283715"/>
      </p:ext>
    </p:extLst>
  </p:cSld>
</p:sld>
</file>

<file path=ppt/slides/slide38.xml><?xml version="1.0" encoding="utf-8"?>
<p:sld xmlns:p="http://schemas.openxmlformats.org/presentationml/2006/main">
  <p:cSld>
    <p:spTree>
      <p:nvGrpSpPr>
        <p:cNvPr id="38001" name=""/>
        <p:cNvGrpSpPr/>
        <p:nvPr/>
      </p:nvGrpSpPr>
      <p:grpSpPr>
        <a:xfrm xmlns:a="http://schemas.openxmlformats.org/drawingml/2006/main"/>
      </p:grpSpPr>
      <p:sp>
        <p:nvSpPr>
          <p:cNvPr id="38002" name="Retângulo 6">
            <a:extLst xmlns:a="http://schemas.openxmlformats.org/drawingml/2006/main">
              <a:ext uri="{FF2B5EF4-FFF2-40B4-BE49-F238E27FC236}">
                <a16:creationId xmlns:a16="http://schemas.microsoft.com/office/drawing/2014/main" id="{356C0169-4843-5A5D-BF2A-0927A554E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F29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graphicFrame>
        <p:nvGraphicFramePr>
          <p:cNvPr id="38003" name=""/>
          <p:cNvGraphicFramePr/>
          <p:nvPr/>
        </p:nvGraphicFramePr>
        <p:xfrm>
          <a:off xmlns:a="http://schemas.openxmlformats.org/drawingml/2006/main" x="457200" y="4343400"/>
          <a:ext xmlns:a="http://schemas.openxmlformats.org/drawingml/2006/main" cx="11277600" cy="155257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4781550"/>
                <a:gridCol w="6496050"/>
              </a:tblGrid>
              <a:tr h="381000"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Informação em t</a:t>
                      </a:r>
                    </a:p>
                  </a:txBody>
                  <a:tcPr marL="91440" marR="91440" marT="45720" marB="45720" anchor="ctr">
                    <a:solidFill>
                      <a:srgbClr val="0053EB"/>
                    </a:solidFill>
                  </a:tcPr>
                </a:tc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Uso na previsão de t + 1</a:t>
                      </a:r>
                    </a:p>
                  </a:txBody>
                  <a:tcPr marL="91440" marR="91440" marT="45720" marB="45720" anchor="ctr">
                    <a:solidFill>
                      <a:srgbClr val="0053EB"/>
                    </a:solidFill>
                  </a:tcPr>
                </a:tc>
              </a:tr>
              <a:tr h="390525"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Chuva observada até t</a:t>
                      </a:r>
                    </a:p>
                  </a:txBody>
                  <a:tcPr marL="91440" marR="91440" marT="45720" marB="45720" anchor="ctr">
                    <a:solidFill>
                      <a:srgbClr val="000F29"/>
                    </a:solidFill>
                  </a:tcPr>
                </a:tc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Pode entrar, considerando a latência.</a:t>
                      </a:r>
                    </a:p>
                  </a:txBody>
                  <a:tcPr marL="91440" marR="91440" marT="45720" marB="45720" anchor="ctr">
                    <a:solidFill>
                      <a:srgbClr val="000F29"/>
                    </a:solidFill>
                  </a:tcPr>
                </a:tc>
              </a:tr>
              <a:tr h="390525"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Previsão de chuva emitida em t</a:t>
                      </a:r>
                    </a:p>
                  </a:txBody>
                  <a:tcPr marL="91440" marR="91440" marT="45720" marB="45720" anchor="ctr">
                    <a:solidFill>
                      <a:srgbClr val="000F29"/>
                    </a:solidFill>
                  </a:tcPr>
                </a:tc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Pode entrar como previsão, com erro próprio.</a:t>
                      </a:r>
                    </a:p>
                  </a:txBody>
                  <a:tcPr marL="91440" marR="91440" marT="45720" marB="45720" anchor="ctr">
                    <a:solidFill>
                      <a:srgbClr val="000F29"/>
                    </a:solidFill>
                  </a:tcPr>
                </a:tc>
              </a:tr>
              <a:tr h="390525"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Chuva observada em t + 1</a:t>
                      </a:r>
                    </a:p>
                  </a:txBody>
                  <a:tcPr marL="91440" marR="91440" marT="45720" marB="45720" anchor="ctr">
                    <a:solidFill>
                      <a:srgbClr val="000F29"/>
                    </a:solidFill>
                  </a:tcPr>
                </a:tc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Só existe depois do instante de emissão.</a:t>
                      </a:r>
                    </a:p>
                  </a:txBody>
                  <a:tcPr marL="91440" marR="91440" marT="45720" marB="45720" anchor="ctr">
                    <a:solidFill>
                      <a:srgbClr val="000F29"/>
                    </a:solidFill>
                  </a:tcPr>
                </a:tc>
              </a:tr>
            </a:tbl>
          </a:graphicData>
        </a:graphic>
      </p:graphicFrame>
      <p:sp>
        <p:nvSpPr>
          <p:cNvPr id="38004" name="Tema do slide">
            <a:extLst xmlns:a="http://schemas.openxmlformats.org/drawingml/2006/main">
              <a:ext uri="{FF2B5EF4-FFF2-40B4-BE49-F238E27FC236}">
                <a16:creationId xmlns:a16="http://schemas.microsoft.com/office/drawing/2014/main" id="{B470F2BA-70D9-5C90-BAF1-6C91C2DF3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90700"/>
            <a:ext cx="11277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2025" b="1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LSTM “vidente” e informação futura</a:t>
            </a:r>
          </a:p>
        </p:txBody>
      </p:sp>
      <p:sp>
        <p:nvSpPr>
          <p:cNvPr id="38005" name="Piada">
            <a:extLst xmlns:a="http://schemas.openxmlformats.org/drawingml/2006/main">
              <a:ext uri="{FF2B5EF4-FFF2-40B4-BE49-F238E27FC236}">
                <a16:creationId xmlns:a16="http://schemas.microsoft.com/office/drawing/2014/main" id="{AE889101-6DB0-5F96-AB7A-27B7414C1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47950"/>
            <a:ext cx="11277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83D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2400" b="1">
                <a:solidFill>
                  <a:srgbClr val="83DFFF"/>
                </a:solidFill>
                <a:latin typeface="JetBrains Mono"/>
                <a:ea typeface="JetBrains Mono"/>
                <a:cs typeface="JetBrains Mono"/>
              </a:rPr>
              <a:t>A LSTM: “Previ perfeitamente a cheia!”</a:t>
            </a:r>
          </a:p>
        </p:txBody>
      </p:sp>
      <p:sp>
        <p:nvSpPr>
          <p:cNvPr id="38006" name="Resposta">
            <a:extLst xmlns:a="http://schemas.openxmlformats.org/drawingml/2006/main">
              <a:ext uri="{FF2B5EF4-FFF2-40B4-BE49-F238E27FC236}">
                <a16:creationId xmlns:a16="http://schemas.microsoft.com/office/drawing/2014/main" id="{99B5BA70-EA4F-5773-97F7-F9BB24E40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57575"/>
            <a:ext cx="11277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FFAD62"/>
                </a:solidFill>
                <a:latin typeface="JetBrains Mono"/>
                <a:ea typeface="JetBrains Mono"/>
                <a:cs typeface="JetBrains Mono"/>
              </a:defRPr>
            </a:pPr>
            <a:r>
              <a:rPr sz="2250" b="1">
                <a:solidFill>
                  <a:srgbClr val="FFAD62"/>
                </a:solidFill>
                <a:latin typeface="JetBrains Mono"/>
                <a:ea typeface="JetBrains Mono"/>
                <a:cs typeface="JetBrains Mono"/>
              </a:rPr>
              <a:t>O dataset: “Eu te passei a chuva de amanhã.”</a:t>
            </a:r>
          </a:p>
        </p:txBody>
      </p:sp>
      <p:pic>
        <p:nvPicPr>
          <p:cNvPr id="38007" name="Imagem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096c737e9c44ee"/>
          <a:srcRect xmlns:a="http://schemas.openxmlformats.org/drawingml/2006/main" l="3570" t="0" r="8084" b="1819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3701" y="6294313"/>
            <a:ext cx="308300" cy="272211"/>
          </a:xfrm>
          <a:prstGeom xmlns:a="http://schemas.openxmlformats.org/drawingml/2006/main" prst="rect">
            <a:avLst/>
          </a:prstGeom>
        </p:spPr>
      </p:pic>
      <p:sp>
        <p:nvSpPr>
          <p:cNvPr id="38008" name="Hydro-UAI Aplicação hidrológica">
            <a:extLst xmlns:a="http://schemas.openxmlformats.org/drawingml/2006/main">
              <a:ext uri="{FF2B5EF4-FFF2-40B4-BE49-F238E27FC236}">
                <a16:creationId xmlns:a16="http://schemas.microsoft.com/office/drawing/2014/main" id="{CC752FC2-6852-5B8E-A482-92A2979CA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676" y="741617"/>
            <a:ext cx="11284553" cy="4855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 i="1">
                <a:solidFill>
                  <a:srgbClr val="FFFFFF"/>
                </a:solidFill>
                <a:latin typeface="JetBrains Mono ExtraBold"/>
                <a:ea typeface="JetBrains Mono ExtraBold"/>
                <a:cs typeface="JetBrains Mono ExtraBold"/>
              </a:defRPr>
            </a:pPr>
            <a:r>
              <a:rPr sz="2400" b="1" i="1">
                <a:solidFill>
                  <a:srgbClr val="FFFFFF"/>
                </a:solidFill>
                <a:latin typeface="JetBrains Mono ExtraBold"/>
                <a:ea typeface="JetBrains Mono ExtraBold"/>
                <a:cs typeface="JetBrains Mono ExtraBold"/>
              </a:rPr>
              <a:t>Aplicação hidrológica</a:t>
            </a:r>
          </a:p>
        </p:txBody>
      </p:sp>
      <p:sp>
        <p:nvSpPr>
          <p:cNvPr id="38009" name="Divisor Hydro-UAI">
            <a:extLst xmlns:a="http://schemas.openxmlformats.org/drawingml/2006/main">
              <a:ext uri="{FF2B5EF4-FFF2-40B4-BE49-F238E27FC236}">
                <a16:creationId xmlns:a16="http://schemas.microsoft.com/office/drawing/2014/main" id="{C3F82B3C-9D24-5579-8F7C-C197F8D10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08259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668">
            <a:solidFill>
              <a:srgbClr val="FFFFFF"/>
            </a:solidFill>
          </a:ln>
        </p:spPr>
      </p:sp>
      <p:sp>
        <p:nvSpPr>
          <p:cNvPr id="38010" name="Hydro-UAI Hydro-UAI Course">
            <a:extLst xmlns:a="http://schemas.openxmlformats.org/drawingml/2006/main">
              <a:ext uri="{FF2B5EF4-FFF2-40B4-BE49-F238E27FC236}">
                <a16:creationId xmlns:a16="http://schemas.microsoft.com/office/drawing/2014/main" id="{E2D1EBD2-95EF-5D5D-9AF5-3CB6C72F5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63436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45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945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Hydro-UAI Course</a:t>
            </a:r>
          </a:p>
        </p:txBody>
      </p:sp>
      <p:sp>
        <p:nvSpPr>
          <p:cNvPr id="38011" name="Hydro-UAI 38 / 47">
            <a:extLst xmlns:a="http://schemas.openxmlformats.org/drawingml/2006/main">
              <a:ext uri="{FF2B5EF4-FFF2-40B4-BE49-F238E27FC236}">
                <a16:creationId xmlns:a16="http://schemas.microsoft.com/office/drawing/2014/main" id="{88490392-15C2-591E-BB35-9176F8CC0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343650"/>
            <a:ext cx="1219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91A4BD"/>
                </a:solidFill>
                <a:latin typeface="JetBrains Mono"/>
                <a:ea typeface="JetBrains Mono"/>
                <a:cs typeface="JetBrains Mono"/>
              </a:defRPr>
            </a:pPr>
            <a:r>
              <a:rPr sz="975" b="0" i="0">
                <a:solidFill>
                  <a:srgbClr val="91A4BD"/>
                </a:solidFill>
                <a:latin typeface="JetBrains Mono"/>
                <a:ea typeface="JetBrains Mono"/>
                <a:cs typeface="JetBrains Mono"/>
              </a:rPr>
              <a:t>38 / 47</a:t>
            </a:r>
          </a:p>
        </p:txBody>
      </p:sp>
    </p:spTree>
    <p:extLst>
      <p:ext uri="{BB962C8B-B14F-4D97-AF65-F5344CB8AC3E}">
        <p14:creationId xmlns:p14="http://schemas.microsoft.com/office/powerpoint/2010/main" val="3991283715"/>
      </p:ext>
    </p:extLst>
  </p:cSld>
</p:sld>
</file>

<file path=ppt/slides/slide39.xml><?xml version="1.0" encoding="utf-8"?>
<p:sld xmlns:p="http://schemas.openxmlformats.org/presentationml/2006/main">
  <p:cSld>
    <p:spTree>
      <p:nvGrpSpPr>
        <p:cNvPr id="39001" name=""/>
        <p:cNvGrpSpPr/>
        <p:nvPr/>
      </p:nvGrpSpPr>
      <p:grpSpPr>
        <a:xfrm xmlns:a="http://schemas.openxmlformats.org/drawingml/2006/main"/>
      </p:grpSpPr>
      <p:sp>
        <p:nvSpPr>
          <p:cNvPr id="39002" name="Retângulo 6">
            <a:extLst xmlns:a="http://schemas.openxmlformats.org/drawingml/2006/main">
              <a:ext uri="{FF2B5EF4-FFF2-40B4-BE49-F238E27FC236}">
                <a16:creationId xmlns:a16="http://schemas.microsoft.com/office/drawing/2014/main" id="{DF02A01D-A894-5B46-96B5-936893D7A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F29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9003" name="Tema do slide">
            <a:extLst xmlns:a="http://schemas.openxmlformats.org/drawingml/2006/main">
              <a:ext uri="{FF2B5EF4-FFF2-40B4-BE49-F238E27FC236}">
                <a16:creationId xmlns:a16="http://schemas.microsoft.com/office/drawing/2014/main" id="{563BB817-517E-5802-849E-F92479050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90700"/>
            <a:ext cx="11277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2025" b="1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Arquitetura mínima em Keras</a:t>
            </a:r>
          </a:p>
        </p:txBody>
      </p:sp>
      <p:sp>
        <p:nvSpPr>
          <p:cNvPr id="39004" name="Código">
            <a:extLst xmlns:a="http://schemas.openxmlformats.org/drawingml/2006/main">
              <a:ext uri="{FF2B5EF4-FFF2-40B4-BE49-F238E27FC236}">
                <a16:creationId xmlns:a16="http://schemas.microsoft.com/office/drawing/2014/main" id="{6D99AAD2-4957-5B0D-BFC5-AD1258872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62225"/>
            <a:ext cx="7172325" cy="2876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800" b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import keras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800" b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from keras import layers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800" b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800" b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modelo = keras.Sequential([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800" b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    keras.Input(shape=(30, 3)),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800" b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    layers.LSTM(32),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800" b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    layers.Dense(1)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800" b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])</a:t>
            </a:r>
          </a:p>
        </p:txBody>
      </p:sp>
      <p:sp>
        <p:nvSpPr>
          <p:cNvPr id="39005" name="Dimensões">
            <a:extLst xmlns:a="http://schemas.openxmlformats.org/drawingml/2006/main">
              <a:ext uri="{FF2B5EF4-FFF2-40B4-BE49-F238E27FC236}">
                <a16:creationId xmlns:a16="http://schemas.microsoft.com/office/drawing/2014/main" id="{4C09BFAF-4DB3-55F4-874A-16E688152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1475" y="2657475"/>
            <a:ext cx="3743325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83D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725" b="1">
                <a:solidFill>
                  <a:srgbClr val="83DFFF"/>
                </a:solidFill>
                <a:latin typeface="JetBrains Mono"/>
                <a:ea typeface="JetBrains Mono"/>
                <a:cs typeface="JetBrains Mono"/>
              </a:rPr>
              <a:t>Entrada: (lote, 30, 3)</a:t>
            </a:r>
          </a:p>
          <a:p xmlns:a="http://schemas.openxmlformats.org/drawingml/2006/main">
            <a:pPr algn="l">
              <a:buNone/>
              <a:defRPr sz="1725" b="1">
                <a:solidFill>
                  <a:srgbClr val="83D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725" b="1">
                <a:solidFill>
                  <a:srgbClr val="83DFFF"/>
                </a:solidFill>
                <a:latin typeface="JetBrains Mono"/>
                <a:ea typeface="JetBrains Mono"/>
                <a:cs typeface="JetBrains Mono"/>
              </a:rPr>
              <a:t>Estado final: (lote, 32)</a:t>
            </a:r>
          </a:p>
          <a:p xmlns:a="http://schemas.openxmlformats.org/drawingml/2006/main">
            <a:pPr algn="l">
              <a:buNone/>
              <a:defRPr sz="1725" b="1">
                <a:solidFill>
                  <a:srgbClr val="83D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725" b="1">
                <a:solidFill>
                  <a:srgbClr val="83DFFF"/>
                </a:solidFill>
                <a:latin typeface="JetBrains Mono"/>
                <a:ea typeface="JetBrains Mono"/>
                <a:cs typeface="JetBrains Mono"/>
              </a:rPr>
              <a:t>Saída: (lote, 1)</a:t>
            </a:r>
          </a:p>
        </p:txBody>
      </p:sp>
      <p:sp>
        <p:nvSpPr>
          <p:cNvPr id="39006" name="Estado">
            <a:extLst xmlns:a="http://schemas.openxmlformats.org/drawingml/2006/main">
              <a:ext uri="{FF2B5EF4-FFF2-40B4-BE49-F238E27FC236}">
                <a16:creationId xmlns:a16="http://schemas.microsoft.com/office/drawing/2014/main" id="{7F0901C8-268F-5222-8F3E-CBB818757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1475" y="4495800"/>
            <a:ext cx="3743325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650" b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stateful=False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650" b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Cada janela inicia com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650" b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estados zerados por padrão.</a:t>
            </a:r>
          </a:p>
        </p:txBody>
      </p:sp>
      <p:sp>
        <p:nvSpPr>
          <p:cNvPr id="39007" name="Contexto">
            <a:extLst xmlns:a="http://schemas.openxmlformats.org/drawingml/2006/main">
              <a:ext uri="{FF2B5EF4-FFF2-40B4-BE49-F238E27FC236}">
                <a16:creationId xmlns:a16="http://schemas.microsoft.com/office/drawing/2014/main" id="{ED201DDF-D2C8-5497-9BBB-DC3E4A41A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29325"/>
            <a:ext cx="11277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91A4BD"/>
                </a:solidFill>
                <a:latin typeface="JetBrains Mono"/>
                <a:ea typeface="JetBrains Mono"/>
                <a:cs typeface="JetBrains Mono"/>
              </a:defRPr>
            </a:pPr>
            <a:r>
              <a:rPr sz="1125" b="0">
                <a:solidFill>
                  <a:srgbClr val="91A4BD"/>
                </a:solidFill>
                <a:latin typeface="JetBrains Mono"/>
                <a:ea typeface="JetBrains Mono"/>
                <a:cs typeface="JetBrains Mono"/>
              </a:rPr>
              <a:t>Trecho didático de Keras 3. Pressupõe janelas e alvos previamente preparados e um backend configurado.</a:t>
            </a:r>
          </a:p>
        </p:txBody>
      </p:sp>
      <p:pic>
        <p:nvPicPr>
          <p:cNvPr id="39008" name="Imagem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c6fbfd51e74aaf"/>
          <a:srcRect xmlns:a="http://schemas.openxmlformats.org/drawingml/2006/main" l="3570" t="0" r="8084" b="1819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3701" y="6294313"/>
            <a:ext cx="308300" cy="272211"/>
          </a:xfrm>
          <a:prstGeom xmlns:a="http://schemas.openxmlformats.org/drawingml/2006/main" prst="rect">
            <a:avLst/>
          </a:prstGeom>
        </p:spPr>
      </p:pic>
      <p:sp>
        <p:nvSpPr>
          <p:cNvPr id="39009" name="Hydro-UAI Aplicação hidrológica">
            <a:extLst xmlns:a="http://schemas.openxmlformats.org/drawingml/2006/main">
              <a:ext uri="{FF2B5EF4-FFF2-40B4-BE49-F238E27FC236}">
                <a16:creationId xmlns:a16="http://schemas.microsoft.com/office/drawing/2014/main" id="{72CB8F24-342E-5ECA-9C73-E3A306903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676" y="741617"/>
            <a:ext cx="11284553" cy="4855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 i="1">
                <a:solidFill>
                  <a:srgbClr val="FFFFFF"/>
                </a:solidFill>
                <a:latin typeface="JetBrains Mono ExtraBold"/>
                <a:ea typeface="JetBrains Mono ExtraBold"/>
                <a:cs typeface="JetBrains Mono ExtraBold"/>
              </a:defRPr>
            </a:pPr>
            <a:r>
              <a:rPr sz="2400" b="1" i="1">
                <a:solidFill>
                  <a:srgbClr val="FFFFFF"/>
                </a:solidFill>
                <a:latin typeface="JetBrains Mono ExtraBold"/>
                <a:ea typeface="JetBrains Mono ExtraBold"/>
                <a:cs typeface="JetBrains Mono ExtraBold"/>
              </a:rPr>
              <a:t>Aplicação hidrológica</a:t>
            </a:r>
          </a:p>
        </p:txBody>
      </p:sp>
      <p:sp>
        <p:nvSpPr>
          <p:cNvPr id="39010" name="Divisor Hydro-UAI">
            <a:extLst xmlns:a="http://schemas.openxmlformats.org/drawingml/2006/main">
              <a:ext uri="{FF2B5EF4-FFF2-40B4-BE49-F238E27FC236}">
                <a16:creationId xmlns:a16="http://schemas.microsoft.com/office/drawing/2014/main" id="{5752674D-3C95-5F63-AC84-92619DEDE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08259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668">
            <a:solidFill>
              <a:srgbClr val="FFFFFF"/>
            </a:solidFill>
          </a:ln>
        </p:spPr>
      </p:sp>
      <p:sp>
        <p:nvSpPr>
          <p:cNvPr id="39011" name="Hydro-UAI Hydro-UAI Course">
            <a:extLst xmlns:a="http://schemas.openxmlformats.org/drawingml/2006/main">
              <a:ext uri="{FF2B5EF4-FFF2-40B4-BE49-F238E27FC236}">
                <a16:creationId xmlns:a16="http://schemas.microsoft.com/office/drawing/2014/main" id="{1C75E1CD-C0BB-5962-A7F7-928CA003E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63436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45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945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Hydro-UAI Course</a:t>
            </a:r>
          </a:p>
        </p:txBody>
      </p:sp>
      <p:sp>
        <p:nvSpPr>
          <p:cNvPr id="39012" name="Hydro-UAI 39 / 47">
            <a:extLst xmlns:a="http://schemas.openxmlformats.org/drawingml/2006/main">
              <a:ext uri="{FF2B5EF4-FFF2-40B4-BE49-F238E27FC236}">
                <a16:creationId xmlns:a16="http://schemas.microsoft.com/office/drawing/2014/main" id="{E503216C-D610-5ECF-9F66-3E394ADEC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343650"/>
            <a:ext cx="1219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91A4BD"/>
                </a:solidFill>
                <a:latin typeface="JetBrains Mono"/>
                <a:ea typeface="JetBrains Mono"/>
                <a:cs typeface="JetBrains Mono"/>
              </a:defRPr>
            </a:pPr>
            <a:r>
              <a:rPr sz="975" b="0" i="0">
                <a:solidFill>
                  <a:srgbClr val="91A4BD"/>
                </a:solidFill>
                <a:latin typeface="JetBrains Mono"/>
                <a:ea typeface="JetBrains Mono"/>
                <a:cs typeface="JetBrains Mono"/>
              </a:rPr>
              <a:t>39 / 47</a:t>
            </a:r>
          </a:p>
        </p:txBody>
      </p:sp>
    </p:spTree>
    <p:extLst>
      <p:ext uri="{BB962C8B-B14F-4D97-AF65-F5344CB8AC3E}">
        <p14:creationId xmlns:p14="http://schemas.microsoft.com/office/powerpoint/2010/main" val="3991283715"/>
      </p:ext>
    </p:extLst>
  </p:cSld>
</p:sld>
</file>

<file path=ppt/slides/slide40.xml><?xml version="1.0" encoding="utf-8"?>
<p:sld xmlns:p="http://schemas.openxmlformats.org/presentationml/2006/main">
  <p:cSld>
    <p:spTree>
      <p:nvGrpSpPr>
        <p:cNvPr id="40001" name=""/>
        <p:cNvGrpSpPr/>
        <p:nvPr/>
      </p:nvGrpSpPr>
      <p:grpSpPr>
        <a:xfrm xmlns:a="http://schemas.openxmlformats.org/drawingml/2006/main"/>
      </p:grpSpPr>
      <p:sp>
        <p:nvSpPr>
          <p:cNvPr id="40002" name="Retângulo 6">
            <a:extLst xmlns:a="http://schemas.openxmlformats.org/drawingml/2006/main">
              <a:ext uri="{FF2B5EF4-FFF2-40B4-BE49-F238E27FC236}">
                <a16:creationId xmlns:a16="http://schemas.microsoft.com/office/drawing/2014/main" id="{AFB6F321-1FE4-5315-B54A-039CDF039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F29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0003" name="Tema do slide">
            <a:extLst xmlns:a="http://schemas.openxmlformats.org/drawingml/2006/main">
              <a:ext uri="{FF2B5EF4-FFF2-40B4-BE49-F238E27FC236}">
                <a16:creationId xmlns:a16="http://schemas.microsoft.com/office/drawing/2014/main" id="{3185F74D-AD08-500B-9C70-731BE5A43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90700"/>
            <a:ext cx="11277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2025" b="1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Treinamento com clipping e parada antecipada</a:t>
            </a:r>
          </a:p>
        </p:txBody>
      </p:sp>
      <p:sp>
        <p:nvSpPr>
          <p:cNvPr id="40004" name="Código">
            <a:extLst xmlns:a="http://schemas.openxmlformats.org/drawingml/2006/main">
              <a:ext uri="{FF2B5EF4-FFF2-40B4-BE49-F238E27FC236}">
                <a16:creationId xmlns:a16="http://schemas.microsoft.com/office/drawing/2014/main" id="{4DCABEC3-9827-5256-AC40-CFE0709C2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43175"/>
            <a:ext cx="11277600" cy="2924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650" b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modelo.compile(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650" b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    optimizer=keras.optimizers.Adam(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650" b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        learning_rate=1e-3, global_clipnorm=1.0),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650" b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    loss="mse")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650" b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parada = keras.callbacks.EarlyStopping(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650" b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    patience=10, restore_best_weights=True)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650" b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modelo.fit(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650" b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    X_treino, y_treino, epochs=100, batch_size=32,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650" b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    validation_data=(X_val, y_val),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650" b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    callbacks=[parada], shuffle=False)</a:t>
            </a:r>
          </a:p>
        </p:txBody>
      </p:sp>
      <p:sp>
        <p:nvSpPr>
          <p:cNvPr id="40005" name="Configuração">
            <a:extLst xmlns:a="http://schemas.openxmlformats.org/drawingml/2006/main">
              <a:ext uri="{FF2B5EF4-FFF2-40B4-BE49-F238E27FC236}">
                <a16:creationId xmlns:a16="http://schemas.microsoft.com/office/drawing/2014/main" id="{56BEF3B9-DDD0-5978-B8D3-38334400D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24500"/>
            <a:ext cx="11277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83D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725" b="1">
                <a:solidFill>
                  <a:srgbClr val="83DFFF"/>
                </a:solidFill>
                <a:latin typeface="JetBrains Mono"/>
                <a:ea typeface="JetBrains Mono"/>
                <a:cs typeface="JetBrains Mono"/>
              </a:rPr>
              <a:t>global_clipnorm limita a norma conjunta dos gradientes.</a:t>
            </a:r>
          </a:p>
        </p:txBody>
      </p:sp>
      <p:sp>
        <p:nvSpPr>
          <p:cNvPr id="40006" name="Contexto">
            <a:extLst xmlns:a="http://schemas.openxmlformats.org/drawingml/2006/main">
              <a:ext uri="{FF2B5EF4-FFF2-40B4-BE49-F238E27FC236}">
                <a16:creationId xmlns:a16="http://schemas.microsoft.com/office/drawing/2014/main" id="{C745FA21-2185-56A3-B2D8-48B8235ED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29325"/>
            <a:ext cx="11277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91A4BD"/>
                </a:solidFill>
                <a:latin typeface="JetBrains Mono"/>
                <a:ea typeface="JetBrains Mono"/>
                <a:cs typeface="JetBrains Mono"/>
              </a:defRPr>
            </a:pPr>
            <a:r>
              <a:rPr sz="1125" b="0">
                <a:solidFill>
                  <a:srgbClr val="91A4BD"/>
                </a:solidFill>
                <a:latin typeface="JetBrains Mono"/>
                <a:ea typeface="JetBrains Mono"/>
                <a:cs typeface="JetBrains Mono"/>
              </a:rPr>
              <a:t>Valores de partida ilustrativos. Os tensores de validação pertencem a um período posterior.</a:t>
            </a:r>
          </a:p>
        </p:txBody>
      </p:sp>
      <p:pic>
        <p:nvPicPr>
          <p:cNvPr id="40007" name="Imagem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0fe5d180b64162"/>
          <a:srcRect xmlns:a="http://schemas.openxmlformats.org/drawingml/2006/main" l="3570" t="0" r="8084" b="1819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3701" y="6294313"/>
            <a:ext cx="308300" cy="272211"/>
          </a:xfrm>
          <a:prstGeom xmlns:a="http://schemas.openxmlformats.org/drawingml/2006/main" prst="rect">
            <a:avLst/>
          </a:prstGeom>
        </p:spPr>
      </p:pic>
      <p:sp>
        <p:nvSpPr>
          <p:cNvPr id="40008" name="Hydro-UAI Aplicação hidrológica">
            <a:extLst xmlns:a="http://schemas.openxmlformats.org/drawingml/2006/main">
              <a:ext uri="{FF2B5EF4-FFF2-40B4-BE49-F238E27FC236}">
                <a16:creationId xmlns:a16="http://schemas.microsoft.com/office/drawing/2014/main" id="{99EBC7D9-47BA-55F2-83A2-51397BB16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676" y="741617"/>
            <a:ext cx="11284553" cy="4855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 i="1">
                <a:solidFill>
                  <a:srgbClr val="FFFFFF"/>
                </a:solidFill>
                <a:latin typeface="JetBrains Mono ExtraBold"/>
                <a:ea typeface="JetBrains Mono ExtraBold"/>
                <a:cs typeface="JetBrains Mono ExtraBold"/>
              </a:defRPr>
            </a:pPr>
            <a:r>
              <a:rPr sz="2400" b="1" i="1">
                <a:solidFill>
                  <a:srgbClr val="FFFFFF"/>
                </a:solidFill>
                <a:latin typeface="JetBrains Mono ExtraBold"/>
                <a:ea typeface="JetBrains Mono ExtraBold"/>
                <a:cs typeface="JetBrains Mono ExtraBold"/>
              </a:rPr>
              <a:t>Aplicação hidrológica</a:t>
            </a:r>
          </a:p>
        </p:txBody>
      </p:sp>
      <p:sp>
        <p:nvSpPr>
          <p:cNvPr id="40009" name="Divisor Hydro-UAI">
            <a:extLst xmlns:a="http://schemas.openxmlformats.org/drawingml/2006/main">
              <a:ext uri="{FF2B5EF4-FFF2-40B4-BE49-F238E27FC236}">
                <a16:creationId xmlns:a16="http://schemas.microsoft.com/office/drawing/2014/main" id="{FFE3A7B0-D118-55F2-A503-BDD04B204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08259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668">
            <a:solidFill>
              <a:srgbClr val="FFFFFF"/>
            </a:solidFill>
          </a:ln>
        </p:spPr>
      </p:sp>
      <p:sp>
        <p:nvSpPr>
          <p:cNvPr id="40010" name="Hydro-UAI Hydro-UAI Course">
            <a:extLst xmlns:a="http://schemas.openxmlformats.org/drawingml/2006/main">
              <a:ext uri="{FF2B5EF4-FFF2-40B4-BE49-F238E27FC236}">
                <a16:creationId xmlns:a16="http://schemas.microsoft.com/office/drawing/2014/main" id="{1E54B5C7-8D2F-5DD5-B5AF-2F8ED3009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63436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45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945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Hydro-UAI Course</a:t>
            </a:r>
          </a:p>
        </p:txBody>
      </p:sp>
      <p:sp>
        <p:nvSpPr>
          <p:cNvPr id="40011" name="Hydro-UAI 40 / 47">
            <a:extLst xmlns:a="http://schemas.openxmlformats.org/drawingml/2006/main">
              <a:ext uri="{FF2B5EF4-FFF2-40B4-BE49-F238E27FC236}">
                <a16:creationId xmlns:a16="http://schemas.microsoft.com/office/drawing/2014/main" id="{3BCDC116-F350-5914-BD8E-B2261513C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343650"/>
            <a:ext cx="1219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91A4BD"/>
                </a:solidFill>
                <a:latin typeface="JetBrains Mono"/>
                <a:ea typeface="JetBrains Mono"/>
                <a:cs typeface="JetBrains Mono"/>
              </a:defRPr>
            </a:pPr>
            <a:r>
              <a:rPr sz="975" b="0" i="0">
                <a:solidFill>
                  <a:srgbClr val="91A4BD"/>
                </a:solidFill>
                <a:latin typeface="JetBrains Mono"/>
                <a:ea typeface="JetBrains Mono"/>
                <a:cs typeface="JetBrains Mono"/>
              </a:rPr>
              <a:t>40 / 47</a:t>
            </a:r>
          </a:p>
        </p:txBody>
      </p:sp>
    </p:spTree>
    <p:extLst>
      <p:ext uri="{BB962C8B-B14F-4D97-AF65-F5344CB8AC3E}">
        <p14:creationId xmlns:p14="http://schemas.microsoft.com/office/powerpoint/2010/main" val="3991283715"/>
      </p:ext>
    </p:extLst>
  </p:cSld>
</p:sld>
</file>

<file path=ppt/slides/slide41.xml><?xml version="1.0" encoding="utf-8"?>
<p:sld xmlns:p="http://schemas.openxmlformats.org/presentationml/2006/main">
  <p:cSld>
    <p:spTree>
      <p:nvGrpSpPr>
        <p:cNvPr id="41001" name=""/>
        <p:cNvGrpSpPr/>
        <p:nvPr/>
      </p:nvGrpSpPr>
      <p:grpSpPr>
        <a:xfrm xmlns:a="http://schemas.openxmlformats.org/drawingml/2006/main"/>
      </p:grpSpPr>
      <p:sp>
        <p:nvSpPr>
          <p:cNvPr id="41002" name="Retângulo 6">
            <a:extLst xmlns:a="http://schemas.openxmlformats.org/drawingml/2006/main">
              <a:ext uri="{FF2B5EF4-FFF2-40B4-BE49-F238E27FC236}">
                <a16:creationId xmlns:a16="http://schemas.microsoft.com/office/drawing/2014/main" id="{D97C605D-A0A3-572C-B98F-BA5AADDEF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F29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graphicFrame>
        <p:nvGraphicFramePr>
          <p:cNvPr id="41003" name=""/>
          <p:cNvGraphicFramePr/>
          <p:nvPr/>
        </p:nvGraphicFramePr>
        <p:xfrm>
          <a:off xmlns:a="http://schemas.openxmlformats.org/drawingml/2006/main" x="457200" y="2571750"/>
          <a:ext xmlns:a="http://schemas.openxmlformats.org/drawingml/2006/main" cx="11277600" cy="288607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086100"/>
                <a:gridCol w="4105275"/>
                <a:gridCol w="4086225"/>
              </a:tblGrid>
              <a:tr h="485775"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Estratégia</a:t>
                      </a:r>
                    </a:p>
                  </a:txBody>
                  <a:tcPr marL="91440" marR="91440" marT="45720" marB="45720" anchor="ctr">
                    <a:solidFill>
                      <a:srgbClr val="0053EB"/>
                    </a:solidFill>
                  </a:tcPr>
                </a:tc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Tratamento do estado</a:t>
                      </a:r>
                    </a:p>
                  </a:txBody>
                  <a:tcPr marL="91440" marR="91440" marT="45720" marB="45720" anchor="ctr">
                    <a:solidFill>
                      <a:srgbClr val="0053EB"/>
                    </a:solidFill>
                  </a:tcPr>
                </a:tc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Cuidado</a:t>
                      </a:r>
                    </a:p>
                  </a:txBody>
                  <a:tcPr marL="91440" marR="91440" marT="45720" marB="45720" anchor="ctr">
                    <a:solidFill>
                      <a:srgbClr val="0053EB"/>
                    </a:solidFill>
                  </a:tcPr>
                </a:tc>
              </a:tr>
              <a:tr h="800100"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Janelas independentes</a:t>
                      </a:r>
                    </a:p>
                  </a:txBody>
                  <a:tcPr marL="91440" marR="91440" marT="45720" marB="45720" anchor="ctr">
                    <a:solidFill>
                      <a:srgbClr val="000F29"/>
                    </a:solidFill>
                  </a:tcPr>
                </a:tc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Reinicia h e c em cada janela.</a:t>
                      </a:r>
                    </a:p>
                  </a:txBody>
                  <a:tcPr marL="91440" marR="91440" marT="45720" marB="45720" anchor="ctr">
                    <a:solidFill>
                      <a:srgbClr val="000F29"/>
                    </a:solidFill>
                  </a:tcPr>
                </a:tc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Memória começa no início</a:t>
                      </a:r>
                    </a:p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da janela apresentada.</a:t>
                      </a:r>
                    </a:p>
                  </a:txBody>
                  <a:tcPr marL="91440" marR="91440" marT="45720" marB="45720" anchor="ctr">
                    <a:solidFill>
                      <a:srgbClr val="000F29"/>
                    </a:solidFill>
                  </a:tcPr>
                </a:tc>
              </a:tr>
              <a:tr h="800100"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Sequência contínua</a:t>
                      </a:r>
                    </a:p>
                  </a:txBody>
                  <a:tcPr marL="91440" marR="91440" marT="45720" marB="45720" anchor="ctr">
                    <a:solidFill>
                      <a:srgbClr val="000F29"/>
                    </a:solidFill>
                  </a:tcPr>
                </a:tc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Pode transportar h e c</a:t>
                      </a:r>
                    </a:p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entre trechos contíguos.</a:t>
                      </a:r>
                    </a:p>
                  </a:txBody>
                  <a:tcPr marL="91440" marR="91440" marT="45720" marB="45720" anchor="ctr">
                    <a:solidFill>
                      <a:srgbClr val="000F29"/>
                    </a:solidFill>
                  </a:tcPr>
                </a:tc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Exige ordem temporal e</a:t>
                      </a:r>
                    </a:p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continuidade de cada série.</a:t>
                      </a:r>
                    </a:p>
                  </a:txBody>
                  <a:tcPr marL="91440" marR="91440" marT="45720" marB="45720" anchor="ctr">
                    <a:solidFill>
                      <a:srgbClr val="000F29"/>
                    </a:solidFill>
                  </a:tcPr>
                </a:tc>
              </a:tr>
              <a:tr h="800100"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BPTT truncado</a:t>
                      </a:r>
                    </a:p>
                  </a:txBody>
                  <a:tcPr marL="91440" marR="91440" marT="45720" marB="45720" anchor="ctr">
                    <a:solidFill>
                      <a:srgbClr val="000F29"/>
                    </a:solidFill>
                  </a:tcPr>
                </a:tc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Corta o caminho do gradiente</a:t>
                      </a:r>
                    </a:p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na fronteira entre trechos.</a:t>
                      </a:r>
                    </a:p>
                  </a:txBody>
                  <a:tcPr marL="91440" marR="91440" marT="45720" marB="45720" anchor="ctr">
                    <a:solidFill>
                      <a:srgbClr val="000F29"/>
                    </a:solidFill>
                  </a:tcPr>
                </a:tc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Carregar estado não recupera</a:t>
                      </a:r>
                    </a:p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o crédito além desse corte.</a:t>
                      </a:r>
                    </a:p>
                  </a:txBody>
                  <a:tcPr marL="91440" marR="91440" marT="45720" marB="45720" anchor="ctr">
                    <a:solidFill>
                      <a:srgbClr val="000F29"/>
                    </a:solidFill>
                  </a:tcPr>
                </a:tc>
              </a:tr>
            </a:tbl>
          </a:graphicData>
        </a:graphic>
      </p:graphicFrame>
      <p:sp>
        <p:nvSpPr>
          <p:cNvPr id="41004" name="Tema do slide">
            <a:extLst xmlns:a="http://schemas.openxmlformats.org/drawingml/2006/main">
              <a:ext uri="{FF2B5EF4-FFF2-40B4-BE49-F238E27FC236}">
                <a16:creationId xmlns:a16="http://schemas.microsoft.com/office/drawing/2014/main" id="{F72F4D97-54FB-5503-9449-065894D46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90700"/>
            <a:ext cx="11277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2025" b="1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Estados entre janelas e BPTT truncado</a:t>
            </a:r>
          </a:p>
        </p:txBody>
      </p:sp>
      <p:sp>
        <p:nvSpPr>
          <p:cNvPr id="41005" name="Fronteiras">
            <a:extLst xmlns:a="http://schemas.openxmlformats.org/drawingml/2006/main">
              <a:ext uri="{FF2B5EF4-FFF2-40B4-BE49-F238E27FC236}">
                <a16:creationId xmlns:a16="http://schemas.microsoft.com/office/drawing/2014/main" id="{4C7095EF-A63F-5FA8-85C3-04A966077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48325"/>
            <a:ext cx="112776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83D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725" b="1">
                <a:solidFill>
                  <a:srgbClr val="83DFFF"/>
                </a:solidFill>
                <a:latin typeface="JetBrains Mono"/>
                <a:ea typeface="JetBrains Mono"/>
                <a:cs typeface="JetBrains Mono"/>
              </a:rPr>
              <a:t>Mudança de bacia ou série exige tratamento explícito do estado.</a:t>
            </a:r>
          </a:p>
        </p:txBody>
      </p:sp>
      <p:pic>
        <p:nvPicPr>
          <p:cNvPr id="41006" name="Imagem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8b7d03f31b4975"/>
          <a:srcRect xmlns:a="http://schemas.openxmlformats.org/drawingml/2006/main" l="3570" t="0" r="8084" b="1819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3701" y="6294313"/>
            <a:ext cx="308300" cy="272211"/>
          </a:xfrm>
          <a:prstGeom xmlns:a="http://schemas.openxmlformats.org/drawingml/2006/main" prst="rect">
            <a:avLst/>
          </a:prstGeom>
        </p:spPr>
      </p:pic>
      <p:sp>
        <p:nvSpPr>
          <p:cNvPr id="41007" name="Hydro-UAI Aplicação hidrológica">
            <a:extLst xmlns:a="http://schemas.openxmlformats.org/drawingml/2006/main">
              <a:ext uri="{FF2B5EF4-FFF2-40B4-BE49-F238E27FC236}">
                <a16:creationId xmlns:a16="http://schemas.microsoft.com/office/drawing/2014/main" id="{718E3DFE-DC12-5646-B1A1-54ECEA44C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676" y="741617"/>
            <a:ext cx="11284553" cy="4855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 i="1">
                <a:solidFill>
                  <a:srgbClr val="FFFFFF"/>
                </a:solidFill>
                <a:latin typeface="JetBrains Mono ExtraBold"/>
                <a:ea typeface="JetBrains Mono ExtraBold"/>
                <a:cs typeface="JetBrains Mono ExtraBold"/>
              </a:defRPr>
            </a:pPr>
            <a:r>
              <a:rPr sz="2400" b="1" i="1">
                <a:solidFill>
                  <a:srgbClr val="FFFFFF"/>
                </a:solidFill>
                <a:latin typeface="JetBrains Mono ExtraBold"/>
                <a:ea typeface="JetBrains Mono ExtraBold"/>
                <a:cs typeface="JetBrains Mono ExtraBold"/>
              </a:rPr>
              <a:t>Aplicação hidrológica</a:t>
            </a:r>
          </a:p>
        </p:txBody>
      </p:sp>
      <p:sp>
        <p:nvSpPr>
          <p:cNvPr id="41008" name="Divisor Hydro-UAI">
            <a:extLst xmlns:a="http://schemas.openxmlformats.org/drawingml/2006/main">
              <a:ext uri="{FF2B5EF4-FFF2-40B4-BE49-F238E27FC236}">
                <a16:creationId xmlns:a16="http://schemas.microsoft.com/office/drawing/2014/main" id="{D07D0519-30BD-5A62-A2F0-115321B18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08259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668">
            <a:solidFill>
              <a:srgbClr val="FFFFFF"/>
            </a:solidFill>
          </a:ln>
        </p:spPr>
      </p:sp>
      <p:sp>
        <p:nvSpPr>
          <p:cNvPr id="41009" name="Hydro-UAI Hydro-UAI Course">
            <a:extLst xmlns:a="http://schemas.openxmlformats.org/drawingml/2006/main">
              <a:ext uri="{FF2B5EF4-FFF2-40B4-BE49-F238E27FC236}">
                <a16:creationId xmlns:a16="http://schemas.microsoft.com/office/drawing/2014/main" id="{60C7DC78-EC55-5232-81C6-E0861841B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63436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45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945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Hydro-UAI Course</a:t>
            </a:r>
          </a:p>
        </p:txBody>
      </p:sp>
      <p:sp>
        <p:nvSpPr>
          <p:cNvPr id="41010" name="Hydro-UAI 41 / 47">
            <a:extLst xmlns:a="http://schemas.openxmlformats.org/drawingml/2006/main">
              <a:ext uri="{FF2B5EF4-FFF2-40B4-BE49-F238E27FC236}">
                <a16:creationId xmlns:a16="http://schemas.microsoft.com/office/drawing/2014/main" id="{FD41F555-D4B4-5C72-A8FD-AE9985EBE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343650"/>
            <a:ext cx="1219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91A4BD"/>
                </a:solidFill>
                <a:latin typeface="JetBrains Mono"/>
                <a:ea typeface="JetBrains Mono"/>
                <a:cs typeface="JetBrains Mono"/>
              </a:defRPr>
            </a:pPr>
            <a:r>
              <a:rPr sz="975" b="0" i="0">
                <a:solidFill>
                  <a:srgbClr val="91A4BD"/>
                </a:solidFill>
                <a:latin typeface="JetBrains Mono"/>
                <a:ea typeface="JetBrains Mono"/>
                <a:cs typeface="JetBrains Mono"/>
              </a:rPr>
              <a:t>41 / 47</a:t>
            </a:r>
          </a:p>
        </p:txBody>
      </p:sp>
    </p:spTree>
    <p:extLst>
      <p:ext uri="{BB962C8B-B14F-4D97-AF65-F5344CB8AC3E}">
        <p14:creationId xmlns:p14="http://schemas.microsoft.com/office/powerpoint/2010/main" val="3991283715"/>
      </p:ext>
    </p:extLst>
  </p:cSld>
</p:sld>
</file>

<file path=ppt/slides/slide42.xml><?xml version="1.0" encoding="utf-8"?>
<p:sld xmlns:p="http://schemas.openxmlformats.org/presentationml/2006/main">
  <p:cSld>
    <p:spTree>
      <p:nvGrpSpPr>
        <p:cNvPr id="42001" name=""/>
        <p:cNvGrpSpPr/>
        <p:nvPr/>
      </p:nvGrpSpPr>
      <p:grpSpPr>
        <a:xfrm xmlns:a="http://schemas.openxmlformats.org/drawingml/2006/main"/>
      </p:grpSpPr>
      <p:sp>
        <p:nvSpPr>
          <p:cNvPr id="42002" name="Retângulo 6">
            <a:extLst xmlns:a="http://schemas.openxmlformats.org/drawingml/2006/main">
              <a:ext uri="{FF2B5EF4-FFF2-40B4-BE49-F238E27FC236}">
                <a16:creationId xmlns:a16="http://schemas.microsoft.com/office/drawing/2014/main" id="{B0F02BDC-8DD5-57C6-9E84-D6164A3EE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F29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graphicFrame>
        <p:nvGraphicFramePr>
          <p:cNvPr id="42003" name="Chart"/>
          <p:cNvGraphicFramePr/>
          <p:nvPr/>
        </p:nvGraphicFramePr>
        <p:xfrm>
          <a:off xmlns:a="http://schemas.openxmlformats.org/drawingml/2006/main" x="457200" y="2647950"/>
          <a:ext xmlns:a="http://schemas.openxmlformats.org/drawingml/2006/main" cx="7096125" cy="28765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b5dce005b484491"/>
          </a:graphicData>
        </a:graphic>
      </p:graphicFrame>
      <p:sp>
        <p:nvSpPr>
          <p:cNvPr id="42004" name="Tema do slide">
            <a:extLst xmlns:a="http://schemas.openxmlformats.org/drawingml/2006/main">
              <a:ext uri="{FF2B5EF4-FFF2-40B4-BE49-F238E27FC236}">
                <a16:creationId xmlns:a16="http://schemas.microsoft.com/office/drawing/2014/main" id="{3A08DF3B-4612-568C-A11F-C6249F5F1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90700"/>
            <a:ext cx="11277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2025" b="1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Diagnóstico de uma previsão hidrológica</a:t>
            </a:r>
          </a:p>
        </p:txBody>
      </p:sp>
      <p:sp>
        <p:nvSpPr>
          <p:cNvPr id="42005" name="Pico">
            <a:extLst xmlns:a="http://schemas.openxmlformats.org/drawingml/2006/main">
              <a:ext uri="{FF2B5EF4-FFF2-40B4-BE49-F238E27FC236}">
                <a16:creationId xmlns:a16="http://schemas.microsoft.com/office/drawing/2014/main" id="{9AA63E20-2CFC-568E-97CB-CB9A132FC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781300"/>
            <a:ext cx="378142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FFAD62"/>
                </a:solidFill>
                <a:latin typeface="JetBrains Mono"/>
                <a:ea typeface="JetBrains Mono"/>
                <a:cs typeface="JetBrains Mono"/>
              </a:defRPr>
            </a:pPr>
            <a:r>
              <a:rPr sz="1875" b="1">
                <a:solidFill>
                  <a:srgbClr val="FFAD62"/>
                </a:solidFill>
                <a:latin typeface="JetBrains Mono"/>
                <a:ea typeface="JetBrains Mono"/>
                <a:cs typeface="JetBrains Mono"/>
              </a:rPr>
              <a:t>O pico apresenta</a:t>
            </a:r>
          </a:p>
          <a:p xmlns:a="http://schemas.openxmlformats.org/drawingml/2006/main">
            <a:pPr algn="l">
              <a:buNone/>
              <a:defRPr sz="1875" b="1">
                <a:solidFill>
                  <a:srgbClr val="FFAD62"/>
                </a:solidFill>
                <a:latin typeface="JetBrains Mono"/>
                <a:ea typeface="JetBrains Mono"/>
                <a:cs typeface="JetBrains Mono"/>
              </a:defRPr>
            </a:pPr>
            <a:r>
              <a:rPr sz="1875" b="1">
                <a:solidFill>
                  <a:srgbClr val="FFAD62"/>
                </a:solidFill>
                <a:latin typeface="JetBrains Mono"/>
                <a:ea typeface="JetBrains Mono"/>
                <a:cs typeface="JetBrains Mono"/>
              </a:rPr>
              <a:t>subestimação.</a:t>
            </a:r>
          </a:p>
        </p:txBody>
      </p:sp>
      <p:sp>
        <p:nvSpPr>
          <p:cNvPr id="42006" name="Avaliação">
            <a:extLst xmlns:a="http://schemas.openxmlformats.org/drawingml/2006/main">
              <a:ext uri="{FF2B5EF4-FFF2-40B4-BE49-F238E27FC236}">
                <a16:creationId xmlns:a16="http://schemas.microsoft.com/office/drawing/2014/main" id="{B1240B42-5225-5DE7-A110-DD2068FA3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048125"/>
            <a:ext cx="3781425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725" b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Avaliar timing, viés,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725" b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estiagem e picos, além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725" b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da métrica global.</a:t>
            </a:r>
          </a:p>
        </p:txBody>
      </p:sp>
      <p:sp>
        <p:nvSpPr>
          <p:cNvPr id="42007" name="Legenda Observado sintético">
            <a:extLst xmlns:a="http://schemas.openxmlformats.org/drawingml/2006/main">
              <a:ext uri="{FF2B5EF4-FFF2-40B4-BE49-F238E27FC236}">
                <a16:creationId xmlns:a16="http://schemas.microsoft.com/office/drawing/2014/main" id="{76DC3341-C52F-5018-8757-D54B80624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24525"/>
            <a:ext cx="247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83DFFF"/>
            </a:solidFill>
          </a:ln>
        </p:spPr>
      </p:sp>
      <p:sp>
        <p:nvSpPr>
          <p:cNvPr id="42008" name="Legenda texto Observado sintético">
            <a:extLst xmlns:a="http://schemas.openxmlformats.org/drawingml/2006/main">
              <a:ext uri="{FF2B5EF4-FFF2-40B4-BE49-F238E27FC236}">
                <a16:creationId xmlns:a16="http://schemas.microsoft.com/office/drawing/2014/main" id="{66C7174D-06F2-5BDC-BDA8-E09AE4577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629275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350" b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Observado sintético</a:t>
            </a:r>
          </a:p>
        </p:txBody>
      </p:sp>
      <p:sp>
        <p:nvSpPr>
          <p:cNvPr id="42009" name="Legenda Previsão ilustrativa">
            <a:extLst xmlns:a="http://schemas.openxmlformats.org/drawingml/2006/main">
              <a:ext uri="{FF2B5EF4-FFF2-40B4-BE49-F238E27FC236}">
                <a16:creationId xmlns:a16="http://schemas.microsoft.com/office/drawing/2014/main" id="{14B79EFC-CBDF-5860-A066-A729BB942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5724525"/>
            <a:ext cx="247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AD62"/>
            </a:solidFill>
          </a:ln>
        </p:spPr>
      </p:sp>
      <p:sp>
        <p:nvSpPr>
          <p:cNvPr id="42010" name="Legenda texto Previsão ilustrativa">
            <a:extLst xmlns:a="http://schemas.openxmlformats.org/drawingml/2006/main">
              <a:ext uri="{FF2B5EF4-FFF2-40B4-BE49-F238E27FC236}">
                <a16:creationId xmlns:a16="http://schemas.microsoft.com/office/drawing/2014/main" id="{DD9D3828-C7FC-50B7-AD15-8D4BB6AA3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5629275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350" b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Previsão ilustrativa</a:t>
            </a:r>
          </a:p>
        </p:txBody>
      </p:sp>
      <p:sp>
        <p:nvSpPr>
          <p:cNvPr id="42011" name="Contexto">
            <a:extLst xmlns:a="http://schemas.openxmlformats.org/drawingml/2006/main">
              <a:ext uri="{FF2B5EF4-FFF2-40B4-BE49-F238E27FC236}">
                <a16:creationId xmlns:a16="http://schemas.microsoft.com/office/drawing/2014/main" id="{E5D33244-B0D3-5C34-96D2-0E166FAE1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29325"/>
            <a:ext cx="11277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91A4BD"/>
                </a:solidFill>
                <a:latin typeface="JetBrains Mono"/>
                <a:ea typeface="JetBrains Mono"/>
                <a:cs typeface="JetBrains Mono"/>
              </a:defRPr>
            </a:pPr>
            <a:r>
              <a:rPr sz="1125" b="0">
                <a:solidFill>
                  <a:srgbClr val="91A4BD"/>
                </a:solidFill>
                <a:latin typeface="JetBrains Mono"/>
                <a:ea typeface="JetBrains Mono"/>
                <a:cs typeface="JetBrains Mono"/>
              </a:rPr>
              <a:t>Curvas construídas para diagnóstico. Nenhuma arquitetura foi treinada para gerar este exemplo.</a:t>
            </a:r>
          </a:p>
        </p:txBody>
      </p:sp>
      <p:pic>
        <p:nvPicPr>
          <p:cNvPr id="42012" name="Imagem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0fa0e193624b5b"/>
          <a:srcRect xmlns:a="http://schemas.openxmlformats.org/drawingml/2006/main" l="3570" t="0" r="8084" b="1819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3701" y="6294313"/>
            <a:ext cx="308300" cy="272211"/>
          </a:xfrm>
          <a:prstGeom xmlns:a="http://schemas.openxmlformats.org/drawingml/2006/main" prst="rect">
            <a:avLst/>
          </a:prstGeom>
        </p:spPr>
      </p:pic>
      <p:sp>
        <p:nvSpPr>
          <p:cNvPr id="42013" name="Hydro-UAI Aplicação hidrológica">
            <a:extLst xmlns:a="http://schemas.openxmlformats.org/drawingml/2006/main">
              <a:ext uri="{FF2B5EF4-FFF2-40B4-BE49-F238E27FC236}">
                <a16:creationId xmlns:a16="http://schemas.microsoft.com/office/drawing/2014/main" id="{06F597AD-3F5A-5E66-93D8-BC44D9638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676" y="741617"/>
            <a:ext cx="11284553" cy="4855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 i="1">
                <a:solidFill>
                  <a:srgbClr val="FFFFFF"/>
                </a:solidFill>
                <a:latin typeface="JetBrains Mono ExtraBold"/>
                <a:ea typeface="JetBrains Mono ExtraBold"/>
                <a:cs typeface="JetBrains Mono ExtraBold"/>
              </a:defRPr>
            </a:pPr>
            <a:r>
              <a:rPr sz="2400" b="1" i="1">
                <a:solidFill>
                  <a:srgbClr val="FFFFFF"/>
                </a:solidFill>
                <a:latin typeface="JetBrains Mono ExtraBold"/>
                <a:ea typeface="JetBrains Mono ExtraBold"/>
                <a:cs typeface="JetBrains Mono ExtraBold"/>
              </a:rPr>
              <a:t>Aplicação hidrológica</a:t>
            </a:r>
          </a:p>
        </p:txBody>
      </p:sp>
      <p:sp>
        <p:nvSpPr>
          <p:cNvPr id="42014" name="Divisor Hydro-UAI">
            <a:extLst xmlns:a="http://schemas.openxmlformats.org/drawingml/2006/main">
              <a:ext uri="{FF2B5EF4-FFF2-40B4-BE49-F238E27FC236}">
                <a16:creationId xmlns:a16="http://schemas.microsoft.com/office/drawing/2014/main" id="{0265F0DC-1951-5730-8FCE-896E3F6BC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08259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668">
            <a:solidFill>
              <a:srgbClr val="FFFFFF"/>
            </a:solidFill>
          </a:ln>
        </p:spPr>
      </p:sp>
      <p:sp>
        <p:nvSpPr>
          <p:cNvPr id="42015" name="Hydro-UAI Hydro-UAI Course">
            <a:extLst xmlns:a="http://schemas.openxmlformats.org/drawingml/2006/main">
              <a:ext uri="{FF2B5EF4-FFF2-40B4-BE49-F238E27FC236}">
                <a16:creationId xmlns:a16="http://schemas.microsoft.com/office/drawing/2014/main" id="{57B83DD3-848C-5785-B723-CBF149A5F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63436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45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945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Hydro-UAI Course</a:t>
            </a:r>
          </a:p>
        </p:txBody>
      </p:sp>
      <p:sp>
        <p:nvSpPr>
          <p:cNvPr id="42016" name="Hydro-UAI 42 / 47">
            <a:extLst xmlns:a="http://schemas.openxmlformats.org/drawingml/2006/main">
              <a:ext uri="{FF2B5EF4-FFF2-40B4-BE49-F238E27FC236}">
                <a16:creationId xmlns:a16="http://schemas.microsoft.com/office/drawing/2014/main" id="{67BD0ED0-0FAF-53A5-8817-D9A2F1AA5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343650"/>
            <a:ext cx="1219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91A4BD"/>
                </a:solidFill>
                <a:latin typeface="JetBrains Mono"/>
                <a:ea typeface="JetBrains Mono"/>
                <a:cs typeface="JetBrains Mono"/>
              </a:defRPr>
            </a:pPr>
            <a:r>
              <a:rPr sz="975" b="0" i="0">
                <a:solidFill>
                  <a:srgbClr val="91A4BD"/>
                </a:solidFill>
                <a:latin typeface="JetBrains Mono"/>
                <a:ea typeface="JetBrains Mono"/>
                <a:cs typeface="JetBrains Mono"/>
              </a:rPr>
              <a:t>42 / 47</a:t>
            </a:r>
          </a:p>
        </p:txBody>
      </p:sp>
    </p:spTree>
    <p:extLst>
      <p:ext uri="{BB962C8B-B14F-4D97-AF65-F5344CB8AC3E}">
        <p14:creationId xmlns:p14="http://schemas.microsoft.com/office/powerpoint/2010/main" val="3991283715"/>
      </p:ext>
    </p:extLst>
  </p:cSld>
</p:sld>
</file>

<file path=ppt/slides/slide43.xml><?xml version="1.0" encoding="utf-8"?>
<p:sld xmlns:p="http://schemas.openxmlformats.org/presentationml/2006/main">
  <p:cSld>
    <p:spTree>
      <p:nvGrpSpPr>
        <p:cNvPr id="43001" name=""/>
        <p:cNvGrpSpPr/>
        <p:nvPr/>
      </p:nvGrpSpPr>
      <p:grpSpPr>
        <a:xfrm xmlns:a="http://schemas.openxmlformats.org/drawingml/2006/main"/>
      </p:grpSpPr>
      <p:sp>
        <p:nvSpPr>
          <p:cNvPr id="43002" name="Retângulo 6">
            <a:extLst xmlns:a="http://schemas.openxmlformats.org/drawingml/2006/main">
              <a:ext uri="{FF2B5EF4-FFF2-40B4-BE49-F238E27FC236}">
                <a16:creationId xmlns:a16="http://schemas.microsoft.com/office/drawing/2014/main" id="{46DB17A2-B053-55BB-B2A1-3178DA6E2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F29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graphicFrame>
        <p:nvGraphicFramePr>
          <p:cNvPr id="43003" name=""/>
          <p:cNvGraphicFramePr/>
          <p:nvPr/>
        </p:nvGraphicFramePr>
        <p:xfrm>
          <a:off xmlns:a="http://schemas.openxmlformats.org/drawingml/2006/main" x="457200" y="3343275"/>
          <a:ext xmlns:a="http://schemas.openxmlformats.org/drawingml/2006/main" cx="11277600" cy="250507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895600"/>
                <a:gridCol w="8382000"/>
              </a:tblGrid>
              <a:tr h="428625"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575" b="1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Dimensão</a:t>
                      </a:r>
                    </a:p>
                  </a:txBody>
                  <a:tcPr marL="91440" marR="91440" marT="45720" marB="45720" anchor="ctr">
                    <a:solidFill>
                      <a:srgbClr val="0053EB"/>
                    </a:solidFill>
                  </a:tcPr>
                </a:tc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575" b="1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Desenho do estudo</a:t>
                      </a:r>
                    </a:p>
                  </a:txBody>
                  <a:tcPr marL="91440" marR="91440" marT="45720" marB="45720" anchor="ctr">
                    <a:solidFill>
                      <a:srgbClr val="0053EB"/>
                    </a:solidFill>
                  </a:tcPr>
                </a:tc>
              </a:tr>
              <a:tr h="409575"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575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Dados</a:t>
                      </a:r>
                    </a:p>
                  </a:txBody>
                  <a:tcPr marL="91440" marR="91440" marT="45720" marB="45720" anchor="ctr">
                    <a:solidFill>
                      <a:srgbClr val="000F29"/>
                    </a:solidFill>
                  </a:tcPr>
                </a:tc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575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241 bacias do CAMELS, nos Estados Unidos.</a:t>
                      </a:r>
                    </a:p>
                  </a:txBody>
                  <a:tcPr marL="91440" marR="91440" marT="45720" marB="45720" anchor="ctr">
                    <a:solidFill>
                      <a:srgbClr val="000F29"/>
                    </a:solidFill>
                  </a:tcPr>
                </a:tc>
              </a:tr>
              <a:tr h="409575"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575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Entradas</a:t>
                      </a:r>
                    </a:p>
                  </a:txBody>
                  <a:tcPr marL="91440" marR="91440" marT="45720" marB="45720" anchor="ctr">
                    <a:solidFill>
                      <a:srgbClr val="000F29"/>
                    </a:solidFill>
                  </a:tcPr>
                </a:tc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575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Forçantes meteorológicas diárias.</a:t>
                      </a:r>
                    </a:p>
                  </a:txBody>
                  <a:tcPr marL="91440" marR="91440" marT="45720" marB="45720" anchor="ctr">
                    <a:solidFill>
                      <a:srgbClr val="000F29"/>
                    </a:solidFill>
                  </a:tcPr>
                </a:tc>
              </a:tr>
              <a:tr h="409575"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575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Alvo</a:t>
                      </a:r>
                    </a:p>
                  </a:txBody>
                  <a:tcPr marL="91440" marR="91440" marT="45720" marB="45720" anchor="ctr">
                    <a:solidFill>
                      <a:srgbClr val="000F29"/>
                    </a:solidFill>
                  </a:tcPr>
                </a:tc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575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Vazão diária.</a:t>
                      </a:r>
                    </a:p>
                  </a:txBody>
                  <a:tcPr marL="91440" marR="91440" marT="45720" marB="45720" anchor="ctr">
                    <a:solidFill>
                      <a:srgbClr val="000F29"/>
                    </a:solidFill>
                  </a:tcPr>
                </a:tc>
              </a:tr>
              <a:tr h="419100"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575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Comparação</a:t>
                      </a:r>
                    </a:p>
                  </a:txBody>
                  <a:tcPr marL="91440" marR="91440" marT="45720" marB="45720" anchor="ctr">
                    <a:solidFill>
                      <a:srgbClr val="000F29"/>
                    </a:solidFill>
                  </a:tcPr>
                </a:tc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575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SAC-SMA acoplado a Snow-17.</a:t>
                      </a:r>
                    </a:p>
                  </a:txBody>
                  <a:tcPr marL="91440" marR="91440" marT="45720" marB="45720" anchor="ctr">
                    <a:solidFill>
                      <a:srgbClr val="000F29"/>
                    </a:solidFill>
                  </a:tcPr>
                </a:tc>
              </a:tr>
              <a:tr h="428625"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575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Experimentos</a:t>
                      </a:r>
                    </a:p>
                  </a:txBody>
                  <a:tcPr marL="91440" marR="91440" marT="45720" marB="45720" anchor="ctr">
                    <a:solidFill>
                      <a:srgbClr val="000F29"/>
                    </a:solidFill>
                  </a:tcPr>
                </a:tc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575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Modelos por bacia, regionalização e transferência.</a:t>
                      </a:r>
                    </a:p>
                  </a:txBody>
                  <a:tcPr marL="91440" marR="91440" marT="45720" marB="45720" anchor="ctr">
                    <a:solidFill>
                      <a:srgbClr val="000F29"/>
                    </a:solidFill>
                  </a:tcPr>
                </a:tc>
              </a:tr>
            </a:tbl>
          </a:graphicData>
        </a:graphic>
      </p:graphicFrame>
      <p:sp>
        <p:nvSpPr>
          <p:cNvPr id="43004" name="Tema do slide">
            <a:extLst xmlns:a="http://schemas.openxmlformats.org/drawingml/2006/main">
              <a:ext uri="{FF2B5EF4-FFF2-40B4-BE49-F238E27FC236}">
                <a16:creationId xmlns:a16="http://schemas.microsoft.com/office/drawing/2014/main" id="{29BB66AC-E6DC-5840-A553-94CB51626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90700"/>
            <a:ext cx="11277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2025" b="1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Evidência de uso da LSTM em chuva–vazão</a:t>
            </a:r>
          </a:p>
        </p:txBody>
      </p:sp>
      <p:sp>
        <p:nvSpPr>
          <p:cNvPr id="43005" name="Estudo">
            <a:extLst xmlns:a="http://schemas.openxmlformats.org/drawingml/2006/main">
              <a:ext uri="{FF2B5EF4-FFF2-40B4-BE49-F238E27FC236}">
                <a16:creationId xmlns:a16="http://schemas.microsoft.com/office/drawing/2014/main" id="{DF792086-1154-52EE-998F-EFDDEDBF6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33650"/>
            <a:ext cx="112776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83D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2400" b="1">
                <a:solidFill>
                  <a:srgbClr val="83DFFF"/>
                </a:solidFill>
                <a:latin typeface="JetBrains Mono"/>
                <a:ea typeface="JetBrains Mono"/>
                <a:cs typeface="JetBrains Mono"/>
              </a:rPr>
              <a:t>Kratzert et al. (2018)</a:t>
            </a:r>
          </a:p>
        </p:txBody>
      </p:sp>
      <p:sp>
        <p:nvSpPr>
          <p:cNvPr id="43006" name="Contexto">
            <a:extLst xmlns:a="http://schemas.openxmlformats.org/drawingml/2006/main">
              <a:ext uri="{FF2B5EF4-FFF2-40B4-BE49-F238E27FC236}">
                <a16:creationId xmlns:a16="http://schemas.microsoft.com/office/drawing/2014/main" id="{6F89297D-52F8-5656-A305-0EA8BAED8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29325"/>
            <a:ext cx="11277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91A4BD"/>
                </a:solidFill>
                <a:latin typeface="JetBrains Mono"/>
                <a:ea typeface="JetBrains Mono"/>
                <a:cs typeface="JetBrains Mono"/>
              </a:defRPr>
            </a:pPr>
            <a:r>
              <a:rPr sz="1125" b="0">
                <a:solidFill>
                  <a:srgbClr val="91A4BD"/>
                </a:solidFill>
                <a:latin typeface="JetBrains Mono"/>
                <a:ea typeface="JetBrains Mono"/>
                <a:cs typeface="JetBrains Mono"/>
              </a:rPr>
              <a:t>HESS 22, 6005–6022. Resultados naquele conjunto e desenho não garantem desempenho em outra aplicação.</a:t>
            </a:r>
          </a:p>
        </p:txBody>
      </p:sp>
      <p:pic>
        <p:nvPicPr>
          <p:cNvPr id="43007" name="Imagem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bfb4dc9e854e0f"/>
          <a:srcRect xmlns:a="http://schemas.openxmlformats.org/drawingml/2006/main" l="3570" t="0" r="8084" b="1819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3701" y="6294313"/>
            <a:ext cx="308300" cy="272211"/>
          </a:xfrm>
          <a:prstGeom xmlns:a="http://schemas.openxmlformats.org/drawingml/2006/main" prst="rect">
            <a:avLst/>
          </a:prstGeom>
        </p:spPr>
      </p:pic>
      <p:sp>
        <p:nvSpPr>
          <p:cNvPr id="43008" name="Hydro-UAI Aplicação hidrológica">
            <a:extLst xmlns:a="http://schemas.openxmlformats.org/drawingml/2006/main">
              <a:ext uri="{FF2B5EF4-FFF2-40B4-BE49-F238E27FC236}">
                <a16:creationId xmlns:a16="http://schemas.microsoft.com/office/drawing/2014/main" id="{B501152D-7C3E-583A-BBBD-7A0EC9FD9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676" y="741617"/>
            <a:ext cx="11284553" cy="4855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 i="1">
                <a:solidFill>
                  <a:srgbClr val="FFFFFF"/>
                </a:solidFill>
                <a:latin typeface="JetBrains Mono ExtraBold"/>
                <a:ea typeface="JetBrains Mono ExtraBold"/>
                <a:cs typeface="JetBrains Mono ExtraBold"/>
              </a:defRPr>
            </a:pPr>
            <a:r>
              <a:rPr sz="2400" b="1" i="1">
                <a:solidFill>
                  <a:srgbClr val="FFFFFF"/>
                </a:solidFill>
                <a:latin typeface="JetBrains Mono ExtraBold"/>
                <a:ea typeface="JetBrains Mono ExtraBold"/>
                <a:cs typeface="JetBrains Mono ExtraBold"/>
              </a:rPr>
              <a:t>Aplicação hidrológica</a:t>
            </a:r>
          </a:p>
        </p:txBody>
      </p:sp>
      <p:sp>
        <p:nvSpPr>
          <p:cNvPr id="43009" name="Divisor Hydro-UAI">
            <a:extLst xmlns:a="http://schemas.openxmlformats.org/drawingml/2006/main">
              <a:ext uri="{FF2B5EF4-FFF2-40B4-BE49-F238E27FC236}">
                <a16:creationId xmlns:a16="http://schemas.microsoft.com/office/drawing/2014/main" id="{A4D3FCEF-3723-54BB-B83F-315FCB8C6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08259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668">
            <a:solidFill>
              <a:srgbClr val="FFFFFF"/>
            </a:solidFill>
          </a:ln>
        </p:spPr>
      </p:sp>
      <p:sp>
        <p:nvSpPr>
          <p:cNvPr id="43010" name="Hydro-UAI Hydro-UAI Course">
            <a:extLst xmlns:a="http://schemas.openxmlformats.org/drawingml/2006/main">
              <a:ext uri="{FF2B5EF4-FFF2-40B4-BE49-F238E27FC236}">
                <a16:creationId xmlns:a16="http://schemas.microsoft.com/office/drawing/2014/main" id="{03D0597B-0677-5079-ACA6-16301CA15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63436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45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945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Hydro-UAI Course</a:t>
            </a:r>
          </a:p>
        </p:txBody>
      </p:sp>
      <p:sp>
        <p:nvSpPr>
          <p:cNvPr id="43011" name="Hydro-UAI 43 / 47">
            <a:extLst xmlns:a="http://schemas.openxmlformats.org/drawingml/2006/main">
              <a:ext uri="{FF2B5EF4-FFF2-40B4-BE49-F238E27FC236}">
                <a16:creationId xmlns:a16="http://schemas.microsoft.com/office/drawing/2014/main" id="{224A2DD5-B993-5800-8022-8128F1AE1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343650"/>
            <a:ext cx="1219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91A4BD"/>
                </a:solidFill>
                <a:latin typeface="JetBrains Mono"/>
                <a:ea typeface="JetBrains Mono"/>
                <a:cs typeface="JetBrains Mono"/>
              </a:defRPr>
            </a:pPr>
            <a:r>
              <a:rPr sz="975" b="0" i="0">
                <a:solidFill>
                  <a:srgbClr val="91A4BD"/>
                </a:solidFill>
                <a:latin typeface="JetBrains Mono"/>
                <a:ea typeface="JetBrains Mono"/>
                <a:cs typeface="JetBrains Mono"/>
              </a:rPr>
              <a:t>43 / 47</a:t>
            </a:r>
          </a:p>
        </p:txBody>
      </p:sp>
    </p:spTree>
    <p:extLst>
      <p:ext uri="{BB962C8B-B14F-4D97-AF65-F5344CB8AC3E}">
        <p14:creationId xmlns:p14="http://schemas.microsoft.com/office/powerpoint/2010/main" val="3991283715"/>
      </p:ext>
    </p:extLst>
  </p:cSld>
</p:sld>
</file>

<file path=ppt/slides/slide44.xml><?xml version="1.0" encoding="utf-8"?>
<p:sld xmlns:p="http://schemas.openxmlformats.org/presentationml/2006/main">
  <p:cSld>
    <p:spTree>
      <p:nvGrpSpPr>
        <p:cNvPr id="44001" name=""/>
        <p:cNvGrpSpPr/>
        <p:nvPr/>
      </p:nvGrpSpPr>
      <p:grpSpPr>
        <a:xfrm xmlns:a="http://schemas.openxmlformats.org/drawingml/2006/main"/>
      </p:grpSpPr>
      <p:sp>
        <p:nvSpPr>
          <p:cNvPr id="44002" name="Retângulo 6">
            <a:extLst xmlns:a="http://schemas.openxmlformats.org/drawingml/2006/main">
              <a:ext uri="{FF2B5EF4-FFF2-40B4-BE49-F238E27FC236}">
                <a16:creationId xmlns:a16="http://schemas.microsoft.com/office/drawing/2014/main" id="{6203EDB1-E1A2-524F-A13F-21FC6A541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F29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4003" name="Tema do slide">
            <a:extLst xmlns:a="http://schemas.openxmlformats.org/drawingml/2006/main">
              <a:ext uri="{FF2B5EF4-FFF2-40B4-BE49-F238E27FC236}">
                <a16:creationId xmlns:a16="http://schemas.microsoft.com/office/drawing/2014/main" id="{CC64EB11-CAAD-5969-8148-D3A9B1441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90700"/>
            <a:ext cx="11277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2025" b="1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Exercício: uma célula LSTM em um passo</a:t>
            </a:r>
          </a:p>
        </p:txBody>
      </p:sp>
      <p:sp>
        <p:nvSpPr>
          <p:cNvPr id="44004" name="Dados">
            <a:extLst xmlns:a="http://schemas.openxmlformats.org/drawingml/2006/main">
              <a:ext uri="{FF2B5EF4-FFF2-40B4-BE49-F238E27FC236}">
                <a16:creationId xmlns:a16="http://schemas.microsoft.com/office/drawing/2014/main" id="{1C74D80A-762E-5109-9245-06D8D7C2E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71750"/>
            <a:ext cx="112776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83D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2250" b="1">
                <a:solidFill>
                  <a:srgbClr val="83DFFF"/>
                </a:solidFill>
                <a:latin typeface="JetBrains Mono"/>
                <a:ea typeface="JetBrains Mono"/>
                <a:cs typeface="JetBrains Mono"/>
              </a:rPr>
              <a:t>cₜ₋₁ = 1,5    fₜ = 0,8    iₜ = 0,2</a:t>
            </a:r>
          </a:p>
          <a:p xmlns:a="http://schemas.openxmlformats.org/drawingml/2006/main">
            <a:pPr algn="l">
              <a:buNone/>
              <a:defRPr sz="2250" b="1">
                <a:solidFill>
                  <a:srgbClr val="83D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2250" b="1">
                <a:solidFill>
                  <a:srgbClr val="83DFFF"/>
                </a:solidFill>
                <a:latin typeface="JetBrains Mono"/>
                <a:ea typeface="JetBrains Mono"/>
                <a:cs typeface="JetBrains Mono"/>
              </a:rPr>
              <a:t>gₜ = −0,5     oₜ = 0,75</a:t>
            </a:r>
          </a:p>
        </p:txBody>
      </p:sp>
      <p:sp>
        <p:nvSpPr>
          <p:cNvPr id="44005" name="Questões">
            <a:extLst xmlns:a="http://schemas.openxmlformats.org/drawingml/2006/main">
              <a:ext uri="{FF2B5EF4-FFF2-40B4-BE49-F238E27FC236}">
                <a16:creationId xmlns:a16="http://schemas.microsoft.com/office/drawing/2014/main" id="{BF8332D5-C82D-5797-887D-678C83F5F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952875"/>
            <a:ext cx="112776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2025" b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1. Calcule o conteúdo mantido e a nova contribuição.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2025" b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2. Calcule cₜ e depois hₜ.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2025" b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3. Se fₜ cair para 0,2, como os estados mudam?</a:t>
            </a:r>
          </a:p>
        </p:txBody>
      </p:sp>
      <p:sp>
        <p:nvSpPr>
          <p:cNvPr id="44006" name="Contexto">
            <a:extLst xmlns:a="http://schemas.openxmlformats.org/drawingml/2006/main">
              <a:ext uri="{FF2B5EF4-FFF2-40B4-BE49-F238E27FC236}">
                <a16:creationId xmlns:a16="http://schemas.microsoft.com/office/drawing/2014/main" id="{AFE3B542-3A82-5C5C-9041-59518D2C0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29325"/>
            <a:ext cx="11277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91A4BD"/>
                </a:solidFill>
                <a:latin typeface="JetBrains Mono"/>
                <a:ea typeface="JetBrains Mono"/>
                <a:cs typeface="JetBrains Mono"/>
              </a:defRPr>
            </a:pPr>
            <a:r>
              <a:rPr sz="1125" b="0">
                <a:solidFill>
                  <a:srgbClr val="91A4BD"/>
                </a:solidFill>
                <a:latin typeface="JetBrains Mono"/>
                <a:ea typeface="JetBrains Mono"/>
                <a:cs typeface="JetBrains Mono"/>
              </a:rPr>
              <a:t>4 minutos em duplas. Todos os valores são escalares e adimensionais. Respostas nas notas.</a:t>
            </a:r>
          </a:p>
        </p:txBody>
      </p:sp>
      <p:pic>
        <p:nvPicPr>
          <p:cNvPr id="44007" name="Imagem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ce77fa73024075"/>
          <a:srcRect xmlns:a="http://schemas.openxmlformats.org/drawingml/2006/main" l="3570" t="0" r="8084" b="1819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3701" y="6294313"/>
            <a:ext cx="308300" cy="272211"/>
          </a:xfrm>
          <a:prstGeom xmlns:a="http://schemas.openxmlformats.org/drawingml/2006/main" prst="rect">
            <a:avLst/>
          </a:prstGeom>
        </p:spPr>
      </p:pic>
      <p:sp>
        <p:nvSpPr>
          <p:cNvPr id="44008" name="Hydro-UAI Atividades e síntese">
            <a:extLst xmlns:a="http://schemas.openxmlformats.org/drawingml/2006/main">
              <a:ext uri="{FF2B5EF4-FFF2-40B4-BE49-F238E27FC236}">
                <a16:creationId xmlns:a16="http://schemas.microsoft.com/office/drawing/2014/main" id="{416C0C30-2816-5653-8F17-6FB3F2FD5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676" y="741617"/>
            <a:ext cx="11284553" cy="4855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 i="1">
                <a:solidFill>
                  <a:srgbClr val="FFFFFF"/>
                </a:solidFill>
                <a:latin typeface="JetBrains Mono ExtraBold"/>
                <a:ea typeface="JetBrains Mono ExtraBold"/>
                <a:cs typeface="JetBrains Mono ExtraBold"/>
              </a:defRPr>
            </a:pPr>
            <a:r>
              <a:rPr sz="2400" b="1" i="1">
                <a:solidFill>
                  <a:srgbClr val="FFFFFF"/>
                </a:solidFill>
                <a:latin typeface="JetBrains Mono ExtraBold"/>
                <a:ea typeface="JetBrains Mono ExtraBold"/>
                <a:cs typeface="JetBrains Mono ExtraBold"/>
              </a:rPr>
              <a:t>Atividades e síntese</a:t>
            </a:r>
          </a:p>
        </p:txBody>
      </p:sp>
      <p:sp>
        <p:nvSpPr>
          <p:cNvPr id="44009" name="Divisor Hydro-UAI">
            <a:extLst xmlns:a="http://schemas.openxmlformats.org/drawingml/2006/main">
              <a:ext uri="{FF2B5EF4-FFF2-40B4-BE49-F238E27FC236}">
                <a16:creationId xmlns:a16="http://schemas.microsoft.com/office/drawing/2014/main" id="{3F51F287-452C-5DFD-B270-49E3BF243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08259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668">
            <a:solidFill>
              <a:srgbClr val="FFFFFF"/>
            </a:solidFill>
          </a:ln>
        </p:spPr>
      </p:sp>
      <p:sp>
        <p:nvSpPr>
          <p:cNvPr id="44010" name="Hydro-UAI Hydro-UAI Course">
            <a:extLst xmlns:a="http://schemas.openxmlformats.org/drawingml/2006/main">
              <a:ext uri="{FF2B5EF4-FFF2-40B4-BE49-F238E27FC236}">
                <a16:creationId xmlns:a16="http://schemas.microsoft.com/office/drawing/2014/main" id="{5E218D61-5BD0-552A-9DF9-4FE7E9B15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63436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45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945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Hydro-UAI Course</a:t>
            </a:r>
          </a:p>
        </p:txBody>
      </p:sp>
      <p:sp>
        <p:nvSpPr>
          <p:cNvPr id="44011" name="Hydro-UAI 44 / 47">
            <a:extLst xmlns:a="http://schemas.openxmlformats.org/drawingml/2006/main">
              <a:ext uri="{FF2B5EF4-FFF2-40B4-BE49-F238E27FC236}">
                <a16:creationId xmlns:a16="http://schemas.microsoft.com/office/drawing/2014/main" id="{B2F95241-4F60-5270-990D-7492AF597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343650"/>
            <a:ext cx="1219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91A4BD"/>
                </a:solidFill>
                <a:latin typeface="JetBrains Mono"/>
                <a:ea typeface="JetBrains Mono"/>
                <a:cs typeface="JetBrains Mono"/>
              </a:defRPr>
            </a:pPr>
            <a:r>
              <a:rPr sz="975" b="0" i="0">
                <a:solidFill>
                  <a:srgbClr val="91A4BD"/>
                </a:solidFill>
                <a:latin typeface="JetBrains Mono"/>
                <a:ea typeface="JetBrains Mono"/>
                <a:cs typeface="JetBrains Mono"/>
              </a:rPr>
              <a:t>44 / 47</a:t>
            </a:r>
          </a:p>
        </p:txBody>
      </p:sp>
    </p:spTree>
    <p:extLst>
      <p:ext uri="{BB962C8B-B14F-4D97-AF65-F5344CB8AC3E}">
        <p14:creationId xmlns:p14="http://schemas.microsoft.com/office/powerpoint/2010/main" val="3991283715"/>
      </p:ext>
    </p:extLst>
  </p:cSld>
</p:sld>
</file>

<file path=ppt/slides/slide45.xml><?xml version="1.0" encoding="utf-8"?>
<p:sld xmlns:p="http://schemas.openxmlformats.org/presentationml/2006/main">
  <p:cSld>
    <p:spTree>
      <p:nvGrpSpPr>
        <p:cNvPr id="45001" name=""/>
        <p:cNvGrpSpPr/>
        <p:nvPr/>
      </p:nvGrpSpPr>
      <p:grpSpPr>
        <a:xfrm xmlns:a="http://schemas.openxmlformats.org/drawingml/2006/main"/>
      </p:grpSpPr>
      <p:sp>
        <p:nvSpPr>
          <p:cNvPr id="45002" name="Retângulo 6">
            <a:extLst xmlns:a="http://schemas.openxmlformats.org/drawingml/2006/main">
              <a:ext uri="{FF2B5EF4-FFF2-40B4-BE49-F238E27FC236}">
                <a16:creationId xmlns:a16="http://schemas.microsoft.com/office/drawing/2014/main" id="{604180DD-7D9D-50CE-84AC-CD0D0F91C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F29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5003" name="Tema do slide">
            <a:extLst xmlns:a="http://schemas.openxmlformats.org/drawingml/2006/main">
              <a:ext uri="{FF2B5EF4-FFF2-40B4-BE49-F238E27FC236}">
                <a16:creationId xmlns:a16="http://schemas.microsoft.com/office/drawing/2014/main" id="{FDBAB14D-7F6E-5725-8BE7-5243F2A2E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90700"/>
            <a:ext cx="11277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2025" b="1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Checagem de compreensão</a:t>
            </a:r>
          </a:p>
        </p:txBody>
      </p:sp>
      <p:sp>
        <p:nvSpPr>
          <p:cNvPr id="45004" name="Questão 0">
            <a:extLst xmlns:a="http://schemas.openxmlformats.org/drawingml/2006/main">
              <a:ext uri="{FF2B5EF4-FFF2-40B4-BE49-F238E27FC236}">
                <a16:creationId xmlns:a16="http://schemas.microsoft.com/office/drawing/2014/main" id="{022D9639-051D-53B1-94B6-7170E281B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0"/>
            <a:ext cx="11277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875" b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1. Uma RNN usa pesos diferentes para cada dia?</a:t>
            </a:r>
          </a:p>
        </p:txBody>
      </p:sp>
      <p:sp>
        <p:nvSpPr>
          <p:cNvPr id="45005" name="Questão 1">
            <a:extLst xmlns:a="http://schemas.openxmlformats.org/drawingml/2006/main">
              <a:ext uri="{FF2B5EF4-FFF2-40B4-BE49-F238E27FC236}">
                <a16:creationId xmlns:a16="http://schemas.microsoft.com/office/drawing/2014/main" id="{08F2F267-FFCE-5165-B748-238492EF6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95650"/>
            <a:ext cx="11277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875" b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2. Clipping resolve um gradiente que desapareceu?</a:t>
            </a:r>
          </a:p>
        </p:txBody>
      </p:sp>
      <p:sp>
        <p:nvSpPr>
          <p:cNvPr id="45006" name="Questão 2">
            <a:extLst xmlns:a="http://schemas.openxmlformats.org/drawingml/2006/main">
              <a:ext uri="{FF2B5EF4-FFF2-40B4-BE49-F238E27FC236}">
                <a16:creationId xmlns:a16="http://schemas.microsoft.com/office/drawing/2014/main" id="{42441ADE-0AC7-5434-8EDD-145B890EE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924300"/>
            <a:ext cx="11277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875" b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3. Na LSTM, cₜ e hₜ são iguais?</a:t>
            </a:r>
          </a:p>
        </p:txBody>
      </p:sp>
      <p:sp>
        <p:nvSpPr>
          <p:cNvPr id="45007" name="Questão 3">
            <a:extLst xmlns:a="http://schemas.openxmlformats.org/drawingml/2006/main">
              <a:ext uri="{FF2B5EF4-FFF2-40B4-BE49-F238E27FC236}">
                <a16:creationId xmlns:a16="http://schemas.microsoft.com/office/drawing/2014/main" id="{69BB8038-A438-581E-B0FF-CE724AEA7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52950"/>
            <a:ext cx="11277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875" b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4. return_sequences=True prevê vários dias futuros?</a:t>
            </a:r>
          </a:p>
        </p:txBody>
      </p:sp>
      <p:sp>
        <p:nvSpPr>
          <p:cNvPr id="45008" name="Questão 4">
            <a:extLst xmlns:a="http://schemas.openxmlformats.org/drawingml/2006/main">
              <a:ext uri="{FF2B5EF4-FFF2-40B4-BE49-F238E27FC236}">
                <a16:creationId xmlns:a16="http://schemas.microsoft.com/office/drawing/2014/main" id="{9E6A813C-0A5E-5F48-B38C-1F5840E96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81600"/>
            <a:ext cx="11277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875" b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5. Uma janela maior garante melhor previsão?</a:t>
            </a:r>
          </a:p>
        </p:txBody>
      </p:sp>
      <p:sp>
        <p:nvSpPr>
          <p:cNvPr id="45009" name="Contexto">
            <a:extLst xmlns:a="http://schemas.openxmlformats.org/drawingml/2006/main">
              <a:ext uri="{FF2B5EF4-FFF2-40B4-BE49-F238E27FC236}">
                <a16:creationId xmlns:a16="http://schemas.microsoft.com/office/drawing/2014/main" id="{76C3F08F-7750-5550-A318-E7F9DFABF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29325"/>
            <a:ext cx="11277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91A4BD"/>
                </a:solidFill>
                <a:latin typeface="JetBrains Mono"/>
                <a:ea typeface="JetBrains Mono"/>
                <a:cs typeface="JetBrains Mono"/>
              </a:defRPr>
            </a:pPr>
            <a:r>
              <a:rPr sz="1125" b="0">
                <a:solidFill>
                  <a:srgbClr val="91A4BD"/>
                </a:solidFill>
                <a:latin typeface="JetBrains Mono"/>
                <a:ea typeface="JetBrains Mono"/>
                <a:cs typeface="JetBrains Mono"/>
              </a:rPr>
              <a:t>3 minutos de discussão. Pedir a explicação, além da resposta. Gabarito comentado nas notas.</a:t>
            </a:r>
          </a:p>
        </p:txBody>
      </p:sp>
      <p:pic>
        <p:nvPicPr>
          <p:cNvPr id="45010" name="Imagem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027c43d8744171"/>
          <a:srcRect xmlns:a="http://schemas.openxmlformats.org/drawingml/2006/main" l="3570" t="0" r="8084" b="1819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3701" y="6294313"/>
            <a:ext cx="308300" cy="272211"/>
          </a:xfrm>
          <a:prstGeom xmlns:a="http://schemas.openxmlformats.org/drawingml/2006/main" prst="rect">
            <a:avLst/>
          </a:prstGeom>
        </p:spPr>
      </p:pic>
      <p:sp>
        <p:nvSpPr>
          <p:cNvPr id="45011" name="Hydro-UAI Atividades e síntese">
            <a:extLst xmlns:a="http://schemas.openxmlformats.org/drawingml/2006/main">
              <a:ext uri="{FF2B5EF4-FFF2-40B4-BE49-F238E27FC236}">
                <a16:creationId xmlns:a16="http://schemas.microsoft.com/office/drawing/2014/main" id="{54AB75DF-5F4E-573F-AE10-DB6A5F79C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676" y="741617"/>
            <a:ext cx="11284553" cy="4855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 i="1">
                <a:solidFill>
                  <a:srgbClr val="FFFFFF"/>
                </a:solidFill>
                <a:latin typeface="JetBrains Mono ExtraBold"/>
                <a:ea typeface="JetBrains Mono ExtraBold"/>
                <a:cs typeface="JetBrains Mono ExtraBold"/>
              </a:defRPr>
            </a:pPr>
            <a:r>
              <a:rPr sz="2400" b="1" i="1">
                <a:solidFill>
                  <a:srgbClr val="FFFFFF"/>
                </a:solidFill>
                <a:latin typeface="JetBrains Mono ExtraBold"/>
                <a:ea typeface="JetBrains Mono ExtraBold"/>
                <a:cs typeface="JetBrains Mono ExtraBold"/>
              </a:rPr>
              <a:t>Atividades e síntese</a:t>
            </a:r>
          </a:p>
        </p:txBody>
      </p:sp>
      <p:sp>
        <p:nvSpPr>
          <p:cNvPr id="45012" name="Divisor Hydro-UAI">
            <a:extLst xmlns:a="http://schemas.openxmlformats.org/drawingml/2006/main">
              <a:ext uri="{FF2B5EF4-FFF2-40B4-BE49-F238E27FC236}">
                <a16:creationId xmlns:a16="http://schemas.microsoft.com/office/drawing/2014/main" id="{5DD31524-C6D2-5CBC-BAA7-0A26D290E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08259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668">
            <a:solidFill>
              <a:srgbClr val="FFFFFF"/>
            </a:solidFill>
          </a:ln>
        </p:spPr>
      </p:sp>
      <p:sp>
        <p:nvSpPr>
          <p:cNvPr id="45013" name="Hydro-UAI Hydro-UAI Course">
            <a:extLst xmlns:a="http://schemas.openxmlformats.org/drawingml/2006/main">
              <a:ext uri="{FF2B5EF4-FFF2-40B4-BE49-F238E27FC236}">
                <a16:creationId xmlns:a16="http://schemas.microsoft.com/office/drawing/2014/main" id="{6BDD2B3D-5D0C-57CE-9E48-A10B33D2E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63436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45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945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Hydro-UAI Course</a:t>
            </a:r>
          </a:p>
        </p:txBody>
      </p:sp>
      <p:sp>
        <p:nvSpPr>
          <p:cNvPr id="45014" name="Hydro-UAI 45 / 47">
            <a:extLst xmlns:a="http://schemas.openxmlformats.org/drawingml/2006/main">
              <a:ext uri="{FF2B5EF4-FFF2-40B4-BE49-F238E27FC236}">
                <a16:creationId xmlns:a16="http://schemas.microsoft.com/office/drawing/2014/main" id="{07E93EC6-59DC-50FF-8415-906A069D0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343650"/>
            <a:ext cx="1219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91A4BD"/>
                </a:solidFill>
                <a:latin typeface="JetBrains Mono"/>
                <a:ea typeface="JetBrains Mono"/>
                <a:cs typeface="JetBrains Mono"/>
              </a:defRPr>
            </a:pPr>
            <a:r>
              <a:rPr sz="975" b="0" i="0">
                <a:solidFill>
                  <a:srgbClr val="91A4BD"/>
                </a:solidFill>
                <a:latin typeface="JetBrains Mono"/>
                <a:ea typeface="JetBrains Mono"/>
                <a:cs typeface="JetBrains Mono"/>
              </a:rPr>
              <a:t>45 / 47</a:t>
            </a:r>
          </a:p>
        </p:txBody>
      </p:sp>
    </p:spTree>
    <p:extLst>
      <p:ext uri="{BB962C8B-B14F-4D97-AF65-F5344CB8AC3E}">
        <p14:creationId xmlns:p14="http://schemas.microsoft.com/office/powerpoint/2010/main" val="3991283715"/>
      </p:ext>
    </p:extLst>
  </p:cSld>
</p:sld>
</file>

<file path=ppt/slides/slide46.xml><?xml version="1.0" encoding="utf-8"?>
<p:sld xmlns:p="http://schemas.openxmlformats.org/presentationml/2006/main">
  <p:cSld>
    <p:spTree>
      <p:nvGrpSpPr>
        <p:cNvPr id="46001" name=""/>
        <p:cNvGrpSpPr/>
        <p:nvPr/>
      </p:nvGrpSpPr>
      <p:grpSpPr>
        <a:xfrm xmlns:a="http://schemas.openxmlformats.org/drawingml/2006/main"/>
      </p:grpSpPr>
      <p:sp>
        <p:nvSpPr>
          <p:cNvPr id="46002" name="Retângulo 6">
            <a:extLst xmlns:a="http://schemas.openxmlformats.org/drawingml/2006/main">
              <a:ext uri="{FF2B5EF4-FFF2-40B4-BE49-F238E27FC236}">
                <a16:creationId xmlns:a16="http://schemas.microsoft.com/office/drawing/2014/main" id="{F5DD7D76-6A70-5208-A105-E5B3BB689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F29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6003" name="Tema do slide">
            <a:extLst xmlns:a="http://schemas.openxmlformats.org/drawingml/2006/main">
              <a:ext uri="{FF2B5EF4-FFF2-40B4-BE49-F238E27FC236}">
                <a16:creationId xmlns:a16="http://schemas.microsoft.com/office/drawing/2014/main" id="{9532F503-E1E2-55AA-A059-6866B2340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90700"/>
            <a:ext cx="11277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2025" b="1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Síntese: memória, aprendizado e previsão</a:t>
            </a:r>
          </a:p>
        </p:txBody>
      </p:sp>
      <p:sp>
        <p:nvSpPr>
          <p:cNvPr id="46004" name="Tema 0">
            <a:extLst xmlns:a="http://schemas.openxmlformats.org/drawingml/2006/main">
              <a:ext uri="{FF2B5EF4-FFF2-40B4-BE49-F238E27FC236}">
                <a16:creationId xmlns:a16="http://schemas.microsoft.com/office/drawing/2014/main" id="{6E18989A-BC74-51C7-B741-4482C2C74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71750"/>
            <a:ext cx="2952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83D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650" b="1">
                <a:solidFill>
                  <a:srgbClr val="83DFFF"/>
                </a:solidFill>
                <a:latin typeface="JetBrains Mono"/>
                <a:ea typeface="JetBrains Mono"/>
                <a:cs typeface="JetBrains Mono"/>
              </a:rPr>
              <a:t>RNN</a:t>
            </a:r>
          </a:p>
        </p:txBody>
      </p:sp>
      <p:sp>
        <p:nvSpPr>
          <p:cNvPr id="46005" name="Resumo 0">
            <a:extLst xmlns:a="http://schemas.openxmlformats.org/drawingml/2006/main">
              <a:ext uri="{FF2B5EF4-FFF2-40B4-BE49-F238E27FC236}">
                <a16:creationId xmlns:a16="http://schemas.microsoft.com/office/drawing/2014/main" id="{6A3D1F4A-0266-5312-8519-4EE5F3BF9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571750"/>
            <a:ext cx="80200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650" b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Atualiza um estado ao ler a sequência, com pesos compartilhados.</a:t>
            </a:r>
          </a:p>
        </p:txBody>
      </p:sp>
      <p:sp>
        <p:nvSpPr>
          <p:cNvPr id="46006" name="Tema 1">
            <a:extLst xmlns:a="http://schemas.openxmlformats.org/drawingml/2006/main">
              <a:ext uri="{FF2B5EF4-FFF2-40B4-BE49-F238E27FC236}">
                <a16:creationId xmlns:a16="http://schemas.microsoft.com/office/drawing/2014/main" id="{ECDC4882-5BB1-5B9A-B4F8-E07847EDB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28975"/>
            <a:ext cx="2952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83D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650" b="1">
                <a:solidFill>
                  <a:srgbClr val="83DFFF"/>
                </a:solidFill>
                <a:latin typeface="JetBrains Mono"/>
                <a:ea typeface="JetBrains Mono"/>
                <a:cs typeface="JetBrains Mono"/>
              </a:rPr>
              <a:t>BPTT</a:t>
            </a:r>
          </a:p>
        </p:txBody>
      </p:sp>
      <p:sp>
        <p:nvSpPr>
          <p:cNvPr id="46007" name="Resumo 1">
            <a:extLst xmlns:a="http://schemas.openxmlformats.org/drawingml/2006/main">
              <a:ext uri="{FF2B5EF4-FFF2-40B4-BE49-F238E27FC236}">
                <a16:creationId xmlns:a16="http://schemas.microsoft.com/office/drawing/2014/main" id="{57B71F70-31F0-5CF8-84CA-5EED15A25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228975"/>
            <a:ext cx="80200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650" b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Propaga o gradiente pelo grafo desenrolado no tempo.</a:t>
            </a:r>
          </a:p>
        </p:txBody>
      </p:sp>
      <p:sp>
        <p:nvSpPr>
          <p:cNvPr id="46008" name="Tema 2">
            <a:extLst xmlns:a="http://schemas.openxmlformats.org/drawingml/2006/main">
              <a:ext uri="{FF2B5EF4-FFF2-40B4-BE49-F238E27FC236}">
                <a16:creationId xmlns:a16="http://schemas.microsoft.com/office/drawing/2014/main" id="{D3F32020-2CE4-5820-B553-E9359DBF2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86200"/>
            <a:ext cx="2952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83D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650" b="1">
                <a:solidFill>
                  <a:srgbClr val="83DFFF"/>
                </a:solidFill>
                <a:latin typeface="JetBrains Mono"/>
                <a:ea typeface="JetBrains Mono"/>
                <a:cs typeface="JetBrains Mono"/>
              </a:rPr>
              <a:t>Vanishing gradient</a:t>
            </a:r>
          </a:p>
        </p:txBody>
      </p:sp>
      <p:sp>
        <p:nvSpPr>
          <p:cNvPr id="46009" name="Resumo 2">
            <a:extLst xmlns:a="http://schemas.openxmlformats.org/drawingml/2006/main">
              <a:ext uri="{FF2B5EF4-FFF2-40B4-BE49-F238E27FC236}">
                <a16:creationId xmlns:a16="http://schemas.microsoft.com/office/drawing/2014/main" id="{B353BC4D-3BCE-5049-B5B7-2010BC83F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886200"/>
            <a:ext cx="80200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650" b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Produtos de Jacobianas podem enfraquecer o sinal distante.</a:t>
            </a:r>
          </a:p>
        </p:txBody>
      </p:sp>
      <p:sp>
        <p:nvSpPr>
          <p:cNvPr id="46010" name="Tema 3">
            <a:extLst xmlns:a="http://schemas.openxmlformats.org/drawingml/2006/main">
              <a:ext uri="{FF2B5EF4-FFF2-40B4-BE49-F238E27FC236}">
                <a16:creationId xmlns:a16="http://schemas.microsoft.com/office/drawing/2014/main" id="{648D1B63-A527-5104-8EF9-18630214F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43425"/>
            <a:ext cx="2952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83D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650" b="1">
                <a:solidFill>
                  <a:srgbClr val="83DFFF"/>
                </a:solidFill>
                <a:latin typeface="JetBrains Mono"/>
                <a:ea typeface="JetBrains Mono"/>
                <a:cs typeface="JetBrains Mono"/>
              </a:rPr>
              <a:t>LSTM</a:t>
            </a:r>
          </a:p>
        </p:txBody>
      </p:sp>
      <p:sp>
        <p:nvSpPr>
          <p:cNvPr id="46011" name="Resumo 3">
            <a:extLst xmlns:a="http://schemas.openxmlformats.org/drawingml/2006/main">
              <a:ext uri="{FF2B5EF4-FFF2-40B4-BE49-F238E27FC236}">
                <a16:creationId xmlns:a16="http://schemas.microsoft.com/office/drawing/2014/main" id="{BA19DEEB-8337-5B96-A39C-425FF01D8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543425"/>
            <a:ext cx="80200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650" b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Portas controlam a atualização aditiva de c e o cálculo de h.</a:t>
            </a:r>
          </a:p>
        </p:txBody>
      </p:sp>
      <p:sp>
        <p:nvSpPr>
          <p:cNvPr id="46012" name="Tema 4">
            <a:extLst xmlns:a="http://schemas.openxmlformats.org/drawingml/2006/main">
              <a:ext uri="{FF2B5EF4-FFF2-40B4-BE49-F238E27FC236}">
                <a16:creationId xmlns:a16="http://schemas.microsoft.com/office/drawing/2014/main" id="{F2F6F428-123F-53C1-9545-BD21AE8BB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00650"/>
            <a:ext cx="2952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83D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650" b="1">
                <a:solidFill>
                  <a:srgbClr val="83DFFF"/>
                </a:solidFill>
                <a:latin typeface="JetBrains Mono"/>
                <a:ea typeface="JetBrains Mono"/>
                <a:cs typeface="JetBrains Mono"/>
              </a:rPr>
              <a:t>Aplicação</a:t>
            </a:r>
          </a:p>
        </p:txBody>
      </p:sp>
      <p:sp>
        <p:nvSpPr>
          <p:cNvPr id="46013" name="Resumo 4">
            <a:extLst xmlns:a="http://schemas.openxmlformats.org/drawingml/2006/main">
              <a:ext uri="{FF2B5EF4-FFF2-40B4-BE49-F238E27FC236}">
                <a16:creationId xmlns:a16="http://schemas.microsoft.com/office/drawing/2014/main" id="{4B401963-A261-5804-A33F-9E63884DA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200650"/>
            <a:ext cx="80200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650" b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Informação disponível e validação temporal definem a avaliação.</a:t>
            </a:r>
          </a:p>
        </p:txBody>
      </p:sp>
      <p:pic>
        <p:nvPicPr>
          <p:cNvPr id="46014" name="Imagem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bedc6722ee40f2"/>
          <a:srcRect xmlns:a="http://schemas.openxmlformats.org/drawingml/2006/main" l="3570" t="0" r="8084" b="1819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3701" y="6294313"/>
            <a:ext cx="308300" cy="272211"/>
          </a:xfrm>
          <a:prstGeom xmlns:a="http://schemas.openxmlformats.org/drawingml/2006/main" prst="rect">
            <a:avLst/>
          </a:prstGeom>
        </p:spPr>
      </p:pic>
      <p:sp>
        <p:nvSpPr>
          <p:cNvPr id="46015" name="Hydro-UAI Atividades e síntese">
            <a:extLst xmlns:a="http://schemas.openxmlformats.org/drawingml/2006/main">
              <a:ext uri="{FF2B5EF4-FFF2-40B4-BE49-F238E27FC236}">
                <a16:creationId xmlns:a16="http://schemas.microsoft.com/office/drawing/2014/main" id="{E60735A2-717C-5688-8B9C-E516B773C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676" y="741617"/>
            <a:ext cx="11284553" cy="4855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 i="1">
                <a:solidFill>
                  <a:srgbClr val="FFFFFF"/>
                </a:solidFill>
                <a:latin typeface="JetBrains Mono ExtraBold"/>
                <a:ea typeface="JetBrains Mono ExtraBold"/>
                <a:cs typeface="JetBrains Mono ExtraBold"/>
              </a:defRPr>
            </a:pPr>
            <a:r>
              <a:rPr sz="2400" b="1" i="1">
                <a:solidFill>
                  <a:srgbClr val="FFFFFF"/>
                </a:solidFill>
                <a:latin typeface="JetBrains Mono ExtraBold"/>
                <a:ea typeface="JetBrains Mono ExtraBold"/>
                <a:cs typeface="JetBrains Mono ExtraBold"/>
              </a:rPr>
              <a:t>Atividades e síntese</a:t>
            </a:r>
          </a:p>
        </p:txBody>
      </p:sp>
      <p:sp>
        <p:nvSpPr>
          <p:cNvPr id="46016" name="Divisor Hydro-UAI">
            <a:extLst xmlns:a="http://schemas.openxmlformats.org/drawingml/2006/main">
              <a:ext uri="{FF2B5EF4-FFF2-40B4-BE49-F238E27FC236}">
                <a16:creationId xmlns:a16="http://schemas.microsoft.com/office/drawing/2014/main" id="{4AAD1FC5-127A-55DE-9A30-F1145232F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08259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668">
            <a:solidFill>
              <a:srgbClr val="FFFFFF"/>
            </a:solidFill>
          </a:ln>
        </p:spPr>
      </p:sp>
      <p:sp>
        <p:nvSpPr>
          <p:cNvPr id="46017" name="Hydro-UAI Hydro-UAI Course">
            <a:extLst xmlns:a="http://schemas.openxmlformats.org/drawingml/2006/main">
              <a:ext uri="{FF2B5EF4-FFF2-40B4-BE49-F238E27FC236}">
                <a16:creationId xmlns:a16="http://schemas.microsoft.com/office/drawing/2014/main" id="{EA09BBDF-84B1-53FD-8AA5-EF1EC6472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63436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45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945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Hydro-UAI Course</a:t>
            </a:r>
          </a:p>
        </p:txBody>
      </p:sp>
      <p:sp>
        <p:nvSpPr>
          <p:cNvPr id="46018" name="Hydro-UAI 46 / 47">
            <a:extLst xmlns:a="http://schemas.openxmlformats.org/drawingml/2006/main">
              <a:ext uri="{FF2B5EF4-FFF2-40B4-BE49-F238E27FC236}">
                <a16:creationId xmlns:a16="http://schemas.microsoft.com/office/drawing/2014/main" id="{3F052FD9-32E5-544F-B9C7-722D1CD85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343650"/>
            <a:ext cx="1219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91A4BD"/>
                </a:solidFill>
                <a:latin typeface="JetBrains Mono"/>
                <a:ea typeface="JetBrains Mono"/>
                <a:cs typeface="JetBrains Mono"/>
              </a:defRPr>
            </a:pPr>
            <a:r>
              <a:rPr sz="975" b="0" i="0">
                <a:solidFill>
                  <a:srgbClr val="91A4BD"/>
                </a:solidFill>
                <a:latin typeface="JetBrains Mono"/>
                <a:ea typeface="JetBrains Mono"/>
                <a:cs typeface="JetBrains Mono"/>
              </a:rPr>
              <a:t>46 / 47</a:t>
            </a:r>
          </a:p>
        </p:txBody>
      </p:sp>
    </p:spTree>
    <p:extLst>
      <p:ext uri="{BB962C8B-B14F-4D97-AF65-F5344CB8AC3E}">
        <p14:creationId xmlns:p14="http://schemas.microsoft.com/office/powerpoint/2010/main" val="3991283715"/>
      </p:ext>
    </p:extLst>
  </p:cSld>
</p:sld>
</file>

<file path=ppt/slides/slide47.xml><?xml version="1.0" encoding="utf-8"?>
<p:sld xmlns:p="http://schemas.openxmlformats.org/presentationml/2006/main">
  <p:cSld>
    <p:spTree>
      <p:nvGrpSpPr>
        <p:cNvPr id="47001" name=""/>
        <p:cNvGrpSpPr/>
        <p:nvPr/>
      </p:nvGrpSpPr>
      <p:grpSpPr>
        <a:xfrm xmlns:a="http://schemas.openxmlformats.org/drawingml/2006/main"/>
      </p:grpSpPr>
      <p:sp>
        <p:nvSpPr>
          <p:cNvPr id="47002" name="Retângulo 6">
            <a:extLst xmlns:a="http://schemas.openxmlformats.org/drawingml/2006/main">
              <a:ext uri="{FF2B5EF4-FFF2-40B4-BE49-F238E27FC236}">
                <a16:creationId xmlns:a16="http://schemas.microsoft.com/office/drawing/2014/main" id="{822AA466-33B5-58F7-9E2D-0B51B0219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F29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7003" name="Tema do slide">
            <a:extLst xmlns:a="http://schemas.openxmlformats.org/drawingml/2006/main">
              <a:ext uri="{FF2B5EF4-FFF2-40B4-BE49-F238E27FC236}">
                <a16:creationId xmlns:a16="http://schemas.microsoft.com/office/drawing/2014/main" id="{04F7DB7C-B8F4-53EB-9E21-C99545971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90700"/>
            <a:ext cx="11277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2025" b="1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Referências e material para consulta</a:t>
            </a:r>
          </a:p>
        </p:txBody>
      </p:sp>
      <p:sp>
        <p:nvSpPr>
          <p:cNvPr id="47004" name="Referência tema 0">
            <a:extLst xmlns:a="http://schemas.openxmlformats.org/drawingml/2006/main">
              <a:ext uri="{FF2B5EF4-FFF2-40B4-BE49-F238E27FC236}">
                <a16:creationId xmlns:a16="http://schemas.microsoft.com/office/drawing/2014/main" id="{B777CBBF-AB5C-581B-A484-C07285B2C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76500"/>
            <a:ext cx="4048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83D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500" b="1">
                <a:solidFill>
                  <a:srgbClr val="83DFFF"/>
                </a:solidFill>
                <a:latin typeface="JetBrains Mono"/>
                <a:ea typeface="JetBrains Mono"/>
                <a:cs typeface="JetBrains Mono"/>
              </a:rPr>
              <a:t>Treinamento de RNN</a:t>
            </a:r>
          </a:p>
        </p:txBody>
      </p:sp>
      <p:sp>
        <p:nvSpPr>
          <p:cNvPr id="47005" name="Referência fonte 0">
            <a:extLst xmlns:a="http://schemas.openxmlformats.org/drawingml/2006/main">
              <a:ext uri="{FF2B5EF4-FFF2-40B4-BE49-F238E27FC236}">
                <a16:creationId xmlns:a16="http://schemas.microsoft.com/office/drawing/2014/main" id="{423B673A-A81D-5722-B16F-18E6AD82D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2476500"/>
            <a:ext cx="69818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350" b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Pascanu, Mikolov e Bengio (2013), ICML</a:t>
            </a:r>
          </a:p>
        </p:txBody>
      </p:sp>
      <p:sp>
        <p:nvSpPr>
          <p:cNvPr id="47006" name="Referência tema 1">
            <a:extLst xmlns:a="http://schemas.openxmlformats.org/drawingml/2006/main">
              <a:ext uri="{FF2B5EF4-FFF2-40B4-BE49-F238E27FC236}">
                <a16:creationId xmlns:a16="http://schemas.microsoft.com/office/drawing/2014/main" id="{79F9C09B-BF01-57F7-BBA8-31BC303DA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19425"/>
            <a:ext cx="4048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83D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500" b="1">
                <a:solidFill>
                  <a:srgbClr val="83DFFF"/>
                </a:solidFill>
                <a:latin typeface="JetBrains Mono"/>
                <a:ea typeface="JetBrains Mono"/>
                <a:cs typeface="JetBrains Mono"/>
              </a:rPr>
              <a:t>LSTM original</a:t>
            </a:r>
          </a:p>
        </p:txBody>
      </p:sp>
      <p:sp>
        <p:nvSpPr>
          <p:cNvPr id="47007" name="Referência fonte 1">
            <a:extLst xmlns:a="http://schemas.openxmlformats.org/drawingml/2006/main">
              <a:ext uri="{FF2B5EF4-FFF2-40B4-BE49-F238E27FC236}">
                <a16:creationId xmlns:a16="http://schemas.microsoft.com/office/drawing/2014/main" id="{8237609C-D5D7-5587-B71C-106F83E9B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3019425"/>
            <a:ext cx="69818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350" b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Hochreiter e Schmidhuber (1997), Neural Computation</a:t>
            </a:r>
          </a:p>
        </p:txBody>
      </p:sp>
      <p:sp>
        <p:nvSpPr>
          <p:cNvPr id="47008" name="Referência tema 2">
            <a:extLst xmlns:a="http://schemas.openxmlformats.org/drawingml/2006/main">
              <a:ext uri="{FF2B5EF4-FFF2-40B4-BE49-F238E27FC236}">
                <a16:creationId xmlns:a16="http://schemas.microsoft.com/office/drawing/2014/main" id="{FB4D1293-1C4C-5B9C-A3BB-DDAFB4125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562350"/>
            <a:ext cx="4048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83D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500" b="1">
                <a:solidFill>
                  <a:srgbClr val="83DFFF"/>
                </a:solidFill>
                <a:latin typeface="JetBrains Mono"/>
                <a:ea typeface="JetBrains Mono"/>
                <a:cs typeface="JetBrains Mono"/>
              </a:rPr>
              <a:t>Porta de esquecimento</a:t>
            </a:r>
          </a:p>
        </p:txBody>
      </p:sp>
      <p:sp>
        <p:nvSpPr>
          <p:cNvPr id="47009" name="Referência fonte 2">
            <a:extLst xmlns:a="http://schemas.openxmlformats.org/drawingml/2006/main">
              <a:ext uri="{FF2B5EF4-FFF2-40B4-BE49-F238E27FC236}">
                <a16:creationId xmlns:a16="http://schemas.microsoft.com/office/drawing/2014/main" id="{6FDE7CBF-BC0D-5592-AFD1-0785754F1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3562350"/>
            <a:ext cx="69818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350" b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Gers, Schmidhuber e Cummins (2000), Neural Computation</a:t>
            </a:r>
          </a:p>
        </p:txBody>
      </p:sp>
      <p:sp>
        <p:nvSpPr>
          <p:cNvPr id="47010" name="Referência tema 3">
            <a:extLst xmlns:a="http://schemas.openxmlformats.org/drawingml/2006/main">
              <a:ext uri="{FF2B5EF4-FFF2-40B4-BE49-F238E27FC236}">
                <a16:creationId xmlns:a16="http://schemas.microsoft.com/office/drawing/2014/main" id="{65073AAD-4B9D-52E4-BD46-B735525B2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05275"/>
            <a:ext cx="4048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83D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500" b="1">
                <a:solidFill>
                  <a:srgbClr val="83DFFF"/>
                </a:solidFill>
                <a:latin typeface="JetBrains Mono"/>
                <a:ea typeface="JetBrains Mono"/>
                <a:cs typeface="JetBrains Mono"/>
              </a:rPr>
              <a:t>Chuva–vazão com LSTM</a:t>
            </a:r>
          </a:p>
        </p:txBody>
      </p:sp>
      <p:sp>
        <p:nvSpPr>
          <p:cNvPr id="47011" name="Referência fonte 3">
            <a:extLst xmlns:a="http://schemas.openxmlformats.org/drawingml/2006/main">
              <a:ext uri="{FF2B5EF4-FFF2-40B4-BE49-F238E27FC236}">
                <a16:creationId xmlns:a16="http://schemas.microsoft.com/office/drawing/2014/main" id="{5428E783-CBA5-5746-B569-6B5579CC1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4105275"/>
            <a:ext cx="69818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350" b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Kratzert et al. (2018), HESS</a:t>
            </a:r>
          </a:p>
        </p:txBody>
      </p:sp>
      <p:sp>
        <p:nvSpPr>
          <p:cNvPr id="47012" name="Referência tema 4">
            <a:extLst xmlns:a="http://schemas.openxmlformats.org/drawingml/2006/main">
              <a:ext uri="{FF2B5EF4-FFF2-40B4-BE49-F238E27FC236}">
                <a16:creationId xmlns:a16="http://schemas.microsoft.com/office/drawing/2014/main" id="{4629CC6D-998D-5387-91B4-B2292069C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648200"/>
            <a:ext cx="4048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83D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500" b="1">
                <a:solidFill>
                  <a:srgbClr val="83DFFF"/>
                </a:solidFill>
                <a:latin typeface="JetBrains Mono"/>
                <a:ea typeface="JetBrains Mono"/>
                <a:cs typeface="JetBrains Mono"/>
              </a:rPr>
              <a:t>Implementação</a:t>
            </a:r>
          </a:p>
        </p:txBody>
      </p:sp>
      <p:sp>
        <p:nvSpPr>
          <p:cNvPr id="47013" name="Referência fonte 4">
            <a:extLst xmlns:a="http://schemas.openxmlformats.org/drawingml/2006/main">
              <a:ext uri="{FF2B5EF4-FFF2-40B4-BE49-F238E27FC236}">
                <a16:creationId xmlns:a16="http://schemas.microsoft.com/office/drawing/2014/main" id="{D309B617-94D4-5A1B-979E-FDC9F90D9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4648200"/>
            <a:ext cx="69818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350" b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Keras 3: SimpleRNN, LSTM, Adam e EarlyStopping</a:t>
            </a:r>
          </a:p>
        </p:txBody>
      </p:sp>
      <p:sp>
        <p:nvSpPr>
          <p:cNvPr id="47014" name="Referência tema 5">
            <a:extLst xmlns:a="http://schemas.openxmlformats.org/drawingml/2006/main">
              <a:ext uri="{FF2B5EF4-FFF2-40B4-BE49-F238E27FC236}">
                <a16:creationId xmlns:a16="http://schemas.microsoft.com/office/drawing/2014/main" id="{B0E2B087-7358-5D09-9A00-4E95FF20D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91125"/>
            <a:ext cx="4048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83D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500" b="1">
                <a:solidFill>
                  <a:srgbClr val="83DFFF"/>
                </a:solidFill>
                <a:latin typeface="JetBrains Mono"/>
                <a:ea typeface="JetBrains Mono"/>
                <a:cs typeface="JetBrains Mono"/>
              </a:rPr>
              <a:t>Preparo dos dados</a:t>
            </a:r>
          </a:p>
        </p:txBody>
      </p:sp>
      <p:sp>
        <p:nvSpPr>
          <p:cNvPr id="47015" name="Referência fonte 5">
            <a:extLst xmlns:a="http://schemas.openxmlformats.org/drawingml/2006/main">
              <a:ext uri="{FF2B5EF4-FFF2-40B4-BE49-F238E27FC236}">
                <a16:creationId xmlns:a16="http://schemas.microsoft.com/office/drawing/2014/main" id="{768CB5B6-8243-573A-9A90-1D307D99A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5191125"/>
            <a:ext cx="69818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350" b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scikit-learn: common pitfalls</a:t>
            </a:r>
          </a:p>
        </p:txBody>
      </p:sp>
      <p:sp>
        <p:nvSpPr>
          <p:cNvPr id="47016" name="Contexto">
            <a:extLst xmlns:a="http://schemas.openxmlformats.org/drawingml/2006/main">
              <a:ext uri="{FF2B5EF4-FFF2-40B4-BE49-F238E27FC236}">
                <a16:creationId xmlns:a16="http://schemas.microsoft.com/office/drawing/2014/main" id="{778D384F-3788-5634-98AB-6668F8349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29325"/>
            <a:ext cx="11277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91A4BD"/>
                </a:solidFill>
                <a:latin typeface="JetBrains Mono"/>
                <a:ea typeface="JetBrains Mono"/>
                <a:cs typeface="JetBrains Mono"/>
              </a:defRPr>
            </a:pPr>
            <a:r>
              <a:rPr sz="1125" b="0">
                <a:solidFill>
                  <a:srgbClr val="91A4BD"/>
                </a:solidFill>
                <a:latin typeface="JetBrains Mono"/>
                <a:ea typeface="JetBrains Mono"/>
                <a:cs typeface="JetBrains Mono"/>
              </a:rPr>
              <a:t>Links completos nas notas. Contas e gráficos didáticos usam dados sintéticos. Ilustrações de humor originais.</a:t>
            </a:r>
          </a:p>
        </p:txBody>
      </p:sp>
      <p:pic>
        <p:nvPicPr>
          <p:cNvPr id="47017" name="Imagem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31236319844fda"/>
          <a:srcRect xmlns:a="http://schemas.openxmlformats.org/drawingml/2006/main" l="3570" t="0" r="8084" b="1819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3701" y="6294313"/>
            <a:ext cx="308300" cy="272211"/>
          </a:xfrm>
          <a:prstGeom xmlns:a="http://schemas.openxmlformats.org/drawingml/2006/main" prst="rect">
            <a:avLst/>
          </a:prstGeom>
        </p:spPr>
      </p:pic>
      <p:sp>
        <p:nvSpPr>
          <p:cNvPr id="47018" name="Hydro-UAI Referências">
            <a:extLst xmlns:a="http://schemas.openxmlformats.org/drawingml/2006/main">
              <a:ext uri="{FF2B5EF4-FFF2-40B4-BE49-F238E27FC236}">
                <a16:creationId xmlns:a16="http://schemas.microsoft.com/office/drawing/2014/main" id="{C303FBDD-042C-5C9B-87C4-EFD00AB41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676" y="741617"/>
            <a:ext cx="11284553" cy="4855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 i="1">
                <a:solidFill>
                  <a:srgbClr val="FFFFFF"/>
                </a:solidFill>
                <a:latin typeface="JetBrains Mono ExtraBold"/>
                <a:ea typeface="JetBrains Mono ExtraBold"/>
                <a:cs typeface="JetBrains Mono ExtraBold"/>
              </a:defRPr>
            </a:pPr>
            <a:r>
              <a:rPr sz="2400" b="1" i="1">
                <a:solidFill>
                  <a:srgbClr val="FFFFFF"/>
                </a:solidFill>
                <a:latin typeface="JetBrains Mono ExtraBold"/>
                <a:ea typeface="JetBrains Mono ExtraBold"/>
                <a:cs typeface="JetBrains Mono ExtraBold"/>
              </a:rPr>
              <a:t>Referências</a:t>
            </a:r>
          </a:p>
        </p:txBody>
      </p:sp>
      <p:sp>
        <p:nvSpPr>
          <p:cNvPr id="47019" name="Divisor Hydro-UAI">
            <a:extLst xmlns:a="http://schemas.openxmlformats.org/drawingml/2006/main">
              <a:ext uri="{FF2B5EF4-FFF2-40B4-BE49-F238E27FC236}">
                <a16:creationId xmlns:a16="http://schemas.microsoft.com/office/drawing/2014/main" id="{F38CDC86-A613-5A5B-A7C4-D53130C46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08259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668">
            <a:solidFill>
              <a:srgbClr val="FFFFFF"/>
            </a:solidFill>
          </a:ln>
        </p:spPr>
      </p:sp>
      <p:sp>
        <p:nvSpPr>
          <p:cNvPr id="47020" name="Hydro-UAI Hydro-UAI Course">
            <a:extLst xmlns:a="http://schemas.openxmlformats.org/drawingml/2006/main">
              <a:ext uri="{FF2B5EF4-FFF2-40B4-BE49-F238E27FC236}">
                <a16:creationId xmlns:a16="http://schemas.microsoft.com/office/drawing/2014/main" id="{6C6C042F-07B1-5EAD-AB0C-D5C1E2ACC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63436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45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945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Hydro-UAI Course</a:t>
            </a:r>
          </a:p>
        </p:txBody>
      </p:sp>
      <p:sp>
        <p:nvSpPr>
          <p:cNvPr id="47021" name="Hydro-UAI 47 / 47">
            <a:extLst xmlns:a="http://schemas.openxmlformats.org/drawingml/2006/main">
              <a:ext uri="{FF2B5EF4-FFF2-40B4-BE49-F238E27FC236}">
                <a16:creationId xmlns:a16="http://schemas.microsoft.com/office/drawing/2014/main" id="{977B78DA-BAF2-50C5-8210-B15611745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343650"/>
            <a:ext cx="1219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91A4BD"/>
                </a:solidFill>
                <a:latin typeface="JetBrains Mono"/>
                <a:ea typeface="JetBrains Mono"/>
                <a:cs typeface="JetBrains Mono"/>
              </a:defRPr>
            </a:pPr>
            <a:r>
              <a:rPr sz="975" b="0" i="0">
                <a:solidFill>
                  <a:srgbClr val="91A4BD"/>
                </a:solidFill>
                <a:latin typeface="JetBrains Mono"/>
                <a:ea typeface="JetBrains Mono"/>
                <a:cs typeface="JetBrains Mono"/>
              </a:rPr>
              <a:t>47 / 47</a:t>
            </a:r>
          </a:p>
        </p:txBody>
      </p:sp>
    </p:spTree>
    <p:extLst>
      <p:ext uri="{BB962C8B-B14F-4D97-AF65-F5344CB8AC3E}">
        <p14:creationId xmlns:p14="http://schemas.microsoft.com/office/powerpoint/2010/main" val="3991283715"/>
      </p:ext>
    </p:extLst>
  </p:cSld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2026-10-06T23:14:43.1230000Z</dcterms:created>
  <dcterms:modified xsi:type="dcterms:W3CDTF">2026-10-06T23:14:43.1230000Z</dcterms:modified>
</coreProperties>
</file>