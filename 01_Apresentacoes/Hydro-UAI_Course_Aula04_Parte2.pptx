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2.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3.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Default Extension="xlsx" ContentType="application/vnd.openxmlformats-officedocument.spreadsheetml.sheet"/>
  <Override PartName="/ppt/notesSlides/notesSlide63.xml" ContentType="application/vnd.openxmlformats-officedocument.presentationml.notesSlide+xml"/>
  <Override PartName="/ppt/slides/slide63.xml" ContentType="application/vnd.openxmlformats-officedocument.presentationml.slide+xml"/>
  <Default Extension="jpeg" ContentType="image/jpeg"/>
  <Override PartName="/ppt/notesSlides/notesSlide64.xml" ContentType="application/vnd.openxmlformats-officedocument.presentationml.notesSlide+xml"/>
  <Override PartName="/ppt/slides/slide64.xml" ContentType="application/vnd.openxmlformats-officedocument.presentationml.slide+xml"/>
  <Override PartName="/ppt/notesSlides/notesSlide65.xml" ContentType="application/vnd.openxmlformats-officedocument.presentationml.notesSlide+xml"/>
  <Override PartName="/ppt/slides/slide65.xml" ContentType="application/vnd.openxmlformats-officedocument.presentationml.slide+xml"/>
  <Override PartName="/ppt/notesSlides/notesSlide66.xml" ContentType="application/vnd.openxmlformats-officedocument.presentationml.notesSlide+xml"/>
  <Override PartName="/ppt/slides/slide66.xml" ContentType="application/vnd.openxmlformats-officedocument.presentationml.slide+xml"/>
  <Override PartName="/ppt/notesSlides/notesSlide67.xml" ContentType="application/vnd.openxmlformats-officedocument.presentationml.notesSlide+xml"/>
  <Override PartName="/ppt/slides/slide67.xml" ContentType="application/vnd.openxmlformats-officedocument.presentationml.slide+xml"/>
  <Override PartName="/ppt/notesSlides/notesSlide68.xml" ContentType="application/vnd.openxmlformats-officedocument.presentationml.notesSlide+xml"/>
  <Override PartName="/ppt/slides/slide68.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91a0dd7eaf7d46ec" /><Relationship Type="http://schemas.openxmlformats.org/officeDocument/2006/relationships/extended-properties" Target="/docProps/app.xml" Id="Rf9d8ce7da1d54a85" /><Relationship Type="http://schemas.openxmlformats.org/officeDocument/2006/relationships/officeDocument" Target="/ppt/presentation.xml" Id="R33a66c49fda84406" /></Relationships>
</file>

<file path=ppt/presentation.xml><?xml version="1.0" encoding="utf-8"?>
<p:presentation xmlns:p="http://schemas.openxmlformats.org/presentationml/2006/main">
  <p:sldMasterIdLst>
    <p:sldMasterId xmlns:r="http://schemas.openxmlformats.org/officeDocument/2006/relationships" id="2147483648" r:id="R4dd063081a6c4323"/>
  </p:sldMasterIdLst>
  <p:notesMasterIdLst>
    <p:notesMasterId xmlns:r="http://schemas.openxmlformats.org/officeDocument/2006/relationships" r:id="R87326a405cd34872"/>
  </p:notesMasterIdLst>
  <p:sldIdLst>
    <p:sldId xmlns:r="http://schemas.openxmlformats.org/officeDocument/2006/relationships" id="256" r:id="R8a9c25978df340b4"/>
    <p:sldId xmlns:r="http://schemas.openxmlformats.org/officeDocument/2006/relationships" id="257" r:id="R6686678211664951"/>
    <p:sldId xmlns:r="http://schemas.openxmlformats.org/officeDocument/2006/relationships" id="258" r:id="R6da3059a86cc4fd8"/>
    <p:sldId xmlns:r="http://schemas.openxmlformats.org/officeDocument/2006/relationships" id="259" r:id="R1bd6b75a9cb7449e"/>
    <p:sldId xmlns:r="http://schemas.openxmlformats.org/officeDocument/2006/relationships" id="260" r:id="Rff6384ede8034dbe"/>
    <p:sldId xmlns:r="http://schemas.openxmlformats.org/officeDocument/2006/relationships" id="261" r:id="Re01238a5761c4f9e"/>
    <p:sldId xmlns:r="http://schemas.openxmlformats.org/officeDocument/2006/relationships" id="262" r:id="R720f664170df440f"/>
    <p:sldId xmlns:ns1="http://schemas.openxmlformats.org/officeDocument/2006/relationships" id="318" ns1:id="RArchitectureSlide63"/>
    <p:sldId xmlns:r="http://schemas.openxmlformats.org/officeDocument/2006/relationships" id="263" r:id="R0e3e8b97928148c7"/>
    <p:sldId xmlns:r="http://schemas.openxmlformats.org/officeDocument/2006/relationships" id="264" r:id="R5fb1d4479c26493a"/>
    <p:sldId xmlns:ns1="http://schemas.openxmlformats.org/officeDocument/2006/relationships" id="319" ns1:id="RArchitectureSlide64"/>
    <p:sldId xmlns:r="http://schemas.openxmlformats.org/officeDocument/2006/relationships" id="265" r:id="Rd2162cff79914bb0"/>
    <p:sldId xmlns:r="http://schemas.openxmlformats.org/officeDocument/2006/relationships" id="266" r:id="R143df897c6bd4e5b"/>
    <p:sldId xmlns:ns1="http://schemas.openxmlformats.org/officeDocument/2006/relationships" id="320" ns1:id="RArchitectureSlide65"/>
    <p:sldId xmlns:r="http://schemas.openxmlformats.org/officeDocument/2006/relationships" id="267" r:id="Ref90ff598fa9497a"/>
    <p:sldId xmlns:r="http://schemas.openxmlformats.org/officeDocument/2006/relationships" id="268" r:id="R3e9f39dd61b14a88"/>
    <p:sldId xmlns:r="http://schemas.openxmlformats.org/officeDocument/2006/relationships" id="269" r:id="R44b7bd0152b641ee"/>
    <p:sldId xmlns:ns1="http://schemas.openxmlformats.org/officeDocument/2006/relationships" id="321" ns1:id="RArchitectureSlide66"/>
    <p:sldId xmlns:ns1="http://schemas.openxmlformats.org/officeDocument/2006/relationships" id="322" ns1:id="RArchitectureSlide67"/>
    <p:sldId xmlns:r="http://schemas.openxmlformats.org/officeDocument/2006/relationships" id="270" r:id="Rcf65e87502bc4d0f"/>
    <p:sldId xmlns:r="http://schemas.openxmlformats.org/officeDocument/2006/relationships" id="271" r:id="Reba78deb20cd4cb3"/>
    <p:sldId xmlns:r="http://schemas.openxmlformats.org/officeDocument/2006/relationships" id="272" r:id="Rf1909c300ce544ce"/>
    <p:sldId xmlns:r="http://schemas.openxmlformats.org/officeDocument/2006/relationships" id="273" r:id="Ra70bdc8c7ed740cc"/>
    <p:sldId xmlns:r="http://schemas.openxmlformats.org/officeDocument/2006/relationships" id="274" r:id="R09bd5358e4d24a17"/>
    <p:sldId xmlns:r="http://schemas.openxmlformats.org/officeDocument/2006/relationships" id="275" r:id="R9dab66e923104c41"/>
    <p:sldId xmlns:r="http://schemas.openxmlformats.org/officeDocument/2006/relationships" id="276" r:id="R6ea8f84106b94f88"/>
    <p:sldId xmlns:r="http://schemas.openxmlformats.org/officeDocument/2006/relationships" id="277" r:id="Raeded3a5638b4629"/>
    <p:sldId xmlns:r="http://schemas.openxmlformats.org/officeDocument/2006/relationships" id="278" r:id="Rbef2f926857643d1"/>
    <p:sldId xmlns:r="http://schemas.openxmlformats.org/officeDocument/2006/relationships" id="279" r:id="Rf326b6fd1b2a4cfc"/>
    <p:sldId xmlns:r="http://schemas.openxmlformats.org/officeDocument/2006/relationships" id="280" r:id="R6141cd2a12674748"/>
    <p:sldId xmlns:ns1="http://schemas.openxmlformats.org/officeDocument/2006/relationships" id="323" ns1:id="RArchitectureSlide68"/>
    <p:sldId xmlns:r="http://schemas.openxmlformats.org/officeDocument/2006/relationships" id="281" r:id="Reb1d3ab6d29e4108"/>
    <p:sldId xmlns:r="http://schemas.openxmlformats.org/officeDocument/2006/relationships" id="282" r:id="Ra12440d277354cdd"/>
    <p:sldId xmlns:r="http://schemas.openxmlformats.org/officeDocument/2006/relationships" id="283" r:id="Rf0e34387a34f4bfd"/>
    <p:sldId xmlns:r="http://schemas.openxmlformats.org/officeDocument/2006/relationships" id="284" r:id="Re8df3d4f64f546d9"/>
    <p:sldId xmlns:r="http://schemas.openxmlformats.org/officeDocument/2006/relationships" id="285" r:id="R150a694413aa4d09"/>
    <p:sldId xmlns:r="http://schemas.openxmlformats.org/officeDocument/2006/relationships" id="286" r:id="Rf2658acecdf14e9d"/>
    <p:sldId xmlns:r="http://schemas.openxmlformats.org/officeDocument/2006/relationships" id="287" r:id="R9db37686ef2d4421"/>
    <p:sldId xmlns:r="http://schemas.openxmlformats.org/officeDocument/2006/relationships" id="288" r:id="Rcb0255176fcd4347"/>
    <p:sldId xmlns:r="http://schemas.openxmlformats.org/officeDocument/2006/relationships" id="289" r:id="Rdf2b9a715a3d4b26"/>
    <p:sldId xmlns:r="http://schemas.openxmlformats.org/officeDocument/2006/relationships" id="290" r:id="R7b63e4b15d3b42c3"/>
    <p:sldId xmlns:r="http://schemas.openxmlformats.org/officeDocument/2006/relationships" id="291" r:id="Rfec681df9f124d3d"/>
    <p:sldId xmlns:r="http://schemas.openxmlformats.org/officeDocument/2006/relationships" id="292" r:id="Rad80a00b8abc4334"/>
    <p:sldId xmlns:r="http://schemas.openxmlformats.org/officeDocument/2006/relationships" id="293" r:id="Rb93701ad7f2f42fa"/>
    <p:sldId xmlns:r="http://schemas.openxmlformats.org/officeDocument/2006/relationships" id="294" r:id="Rd9ad1e9e13fb48cf"/>
    <p:sldId xmlns:r="http://schemas.openxmlformats.org/officeDocument/2006/relationships" id="295" r:id="R6d66187eb3a14f78"/>
    <p:sldId xmlns:r="http://schemas.openxmlformats.org/officeDocument/2006/relationships" id="296" r:id="R60701e0238dd49e6"/>
    <p:sldId xmlns:r="http://schemas.openxmlformats.org/officeDocument/2006/relationships" id="297" r:id="R818f7a9ac24d4bdc"/>
    <p:sldId xmlns:r="http://schemas.openxmlformats.org/officeDocument/2006/relationships" id="298" r:id="R56b8799ae5524257"/>
    <p:sldId xmlns:r="http://schemas.openxmlformats.org/officeDocument/2006/relationships" id="299" r:id="R2994bcb57d224570"/>
    <p:sldId xmlns:r="http://schemas.openxmlformats.org/officeDocument/2006/relationships" id="300" r:id="R8de300ed95c5427a"/>
    <p:sldId xmlns:r="http://schemas.openxmlformats.org/officeDocument/2006/relationships" id="301" r:id="R2acc45b148434a7a"/>
    <p:sldId xmlns:r="http://schemas.openxmlformats.org/officeDocument/2006/relationships" id="302" r:id="R0cabf09327f3427f"/>
    <p:sldId xmlns:r="http://schemas.openxmlformats.org/officeDocument/2006/relationships" id="303" r:id="R1516a4f3b1d84e4f"/>
    <p:sldId xmlns:r="http://schemas.openxmlformats.org/officeDocument/2006/relationships" id="304" r:id="R1688a38795fe46bb"/>
    <p:sldId xmlns:r="http://schemas.openxmlformats.org/officeDocument/2006/relationships" id="305" r:id="Rda40f33410264c7b"/>
    <p:sldId xmlns:r="http://schemas.openxmlformats.org/officeDocument/2006/relationships" id="306" r:id="Rc795fd5915fc4a12"/>
    <p:sldId xmlns:r="http://schemas.openxmlformats.org/officeDocument/2006/relationships" id="307" r:id="R85128a078bf94a50"/>
    <p:sldId xmlns:r="http://schemas.openxmlformats.org/officeDocument/2006/relationships" id="308" r:id="R3f86c051cdee4ea1"/>
    <p:sldId xmlns:r="http://schemas.openxmlformats.org/officeDocument/2006/relationships" id="309" r:id="R70dd9167587e4ab1"/>
    <p:sldId xmlns:r="http://schemas.openxmlformats.org/officeDocument/2006/relationships" id="310" r:id="R690e69e43f3b48ff"/>
    <p:sldId xmlns:r="http://schemas.openxmlformats.org/officeDocument/2006/relationships" id="311" r:id="R7c9bd0438acb40cb"/>
    <p:sldId xmlns:r="http://schemas.openxmlformats.org/officeDocument/2006/relationships" id="312" r:id="R7309b4907a2b4afb"/>
    <p:sldId xmlns:r="http://schemas.openxmlformats.org/officeDocument/2006/relationships" id="313" r:id="Rc5826d4638b24e60"/>
    <p:sldId xmlns:r="http://schemas.openxmlformats.org/officeDocument/2006/relationships" id="314" r:id="R205010b19d464bed"/>
    <p:sldId xmlns:r="http://schemas.openxmlformats.org/officeDocument/2006/relationships" id="315" r:id="Re9c7942645e94624"/>
    <p:sldId xmlns:r="http://schemas.openxmlformats.org/officeDocument/2006/relationships" id="316" r:id="R5c11e4bab5804200"/>
    <p:sldId xmlns:r="http://schemas.openxmlformats.org/officeDocument/2006/relationships" id="317" r:id="R4aa1d40ce15e4883"/>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Relationships xmlns="http://schemas.openxmlformats.org/package/2006/relationships"><Relationship Type="http://schemas.openxmlformats.org/officeDocument/2006/relationships/theme" Target="/ppt/theme/theme1.xml" Id="Re1600fece88b402a"/><Relationship Type="http://schemas.openxmlformats.org/officeDocument/2006/relationships/slideMaster" Target="/ppt/slideMasters/slideMaster1.xml" Id="R4dd063081a6c4323"/><Relationship Type="http://schemas.openxmlformats.org/officeDocument/2006/relationships/notesMaster" Target="/ppt/notesMasters/notesMaster1.xml" Id="R87326a405cd34872"/><Relationship Type="http://schemas.openxmlformats.org/officeDocument/2006/relationships/presProps" Target="/ppt/presProps.xml" Id="R37805cb1a24d43b6"/><Relationship Type="http://schemas.openxmlformats.org/officeDocument/2006/relationships/viewProps" Target="/ppt/viewProps.xml" Id="R8ecc732ef303436d"/><Relationship Type="http://schemas.openxmlformats.org/officeDocument/2006/relationships/tableStyles" Target="/ppt/tableStyles.xml" Id="Rece22a0db9724c25"/><Relationship Type="http://schemas.openxmlformats.org/officeDocument/2006/relationships/slide" Target="/ppt/slides/slide1.xml" Id="R8a9c25978df340b4"/><Relationship Type="http://schemas.openxmlformats.org/officeDocument/2006/relationships/slide" Target="/ppt/slides/slide2.xml" Id="R6686678211664951"/><Relationship Type="http://schemas.openxmlformats.org/officeDocument/2006/relationships/slide" Target="/ppt/slides/slide3.xml" Id="R6da3059a86cc4fd8"/><Relationship Type="http://schemas.openxmlformats.org/officeDocument/2006/relationships/slide" Target="/ppt/slides/slide4.xml" Id="R1bd6b75a9cb7449e"/><Relationship Type="http://schemas.openxmlformats.org/officeDocument/2006/relationships/slide" Target="/ppt/slides/slide5.xml" Id="Rff6384ede8034dbe"/><Relationship Type="http://schemas.openxmlformats.org/officeDocument/2006/relationships/slide" Target="/ppt/slides/slide6.xml" Id="Re01238a5761c4f9e"/><Relationship Type="http://schemas.openxmlformats.org/officeDocument/2006/relationships/slide" Target="/ppt/slides/slide7.xml" Id="R720f664170df440f"/><Relationship Type="http://schemas.openxmlformats.org/officeDocument/2006/relationships/slide" Target="/ppt/slides/slide8.xml" Id="R0e3e8b97928148c7"/><Relationship Type="http://schemas.openxmlformats.org/officeDocument/2006/relationships/slide" Target="/ppt/slides/slide9.xml" Id="R5fb1d4479c26493a"/><Relationship Type="http://schemas.openxmlformats.org/officeDocument/2006/relationships/slide" Target="/ppt/slides/slide10.xml" Id="Rd2162cff79914bb0"/><Relationship Type="http://schemas.openxmlformats.org/officeDocument/2006/relationships/slide" Target="/ppt/slides/slide11.xml" Id="R143df897c6bd4e5b"/><Relationship Type="http://schemas.openxmlformats.org/officeDocument/2006/relationships/slide" Target="/ppt/slides/slide12.xml" Id="Ref90ff598fa9497a"/><Relationship Type="http://schemas.openxmlformats.org/officeDocument/2006/relationships/slide" Target="/ppt/slides/slide13.xml" Id="R3e9f39dd61b14a88"/><Relationship Type="http://schemas.openxmlformats.org/officeDocument/2006/relationships/slide" Target="/ppt/slides/slide14.xml" Id="R44b7bd0152b641ee"/><Relationship Type="http://schemas.openxmlformats.org/officeDocument/2006/relationships/slide" Target="/ppt/slides/slide15.xml" Id="Rcf65e87502bc4d0f"/><Relationship Type="http://schemas.openxmlformats.org/officeDocument/2006/relationships/slide" Target="/ppt/slides/slide16.xml" Id="Reba78deb20cd4cb3"/><Relationship Type="http://schemas.openxmlformats.org/officeDocument/2006/relationships/slide" Target="/ppt/slides/slide17.xml" Id="Rf1909c300ce544ce"/><Relationship Type="http://schemas.openxmlformats.org/officeDocument/2006/relationships/slide" Target="/ppt/slides/slide18.xml" Id="Ra70bdc8c7ed740cc"/><Relationship Type="http://schemas.openxmlformats.org/officeDocument/2006/relationships/slide" Target="/ppt/slides/slide19.xml" Id="R09bd5358e4d24a17"/><Relationship Type="http://schemas.openxmlformats.org/officeDocument/2006/relationships/slide" Target="/ppt/slides/slide20.xml" Id="R9dab66e923104c41"/><Relationship Type="http://schemas.openxmlformats.org/officeDocument/2006/relationships/slide" Target="/ppt/slides/slide21.xml" Id="R6ea8f84106b94f88"/><Relationship Type="http://schemas.openxmlformats.org/officeDocument/2006/relationships/slide" Target="/ppt/slides/slide22.xml" Id="Raeded3a5638b4629"/><Relationship Type="http://schemas.openxmlformats.org/officeDocument/2006/relationships/slide" Target="/ppt/slides/slide23.xml" Id="Rbef2f926857643d1"/><Relationship Type="http://schemas.openxmlformats.org/officeDocument/2006/relationships/slide" Target="/ppt/slides/slide24.xml" Id="Rf326b6fd1b2a4cfc"/><Relationship Type="http://schemas.openxmlformats.org/officeDocument/2006/relationships/slide" Target="/ppt/slides/slide25.xml" Id="R6141cd2a12674748"/><Relationship Type="http://schemas.openxmlformats.org/officeDocument/2006/relationships/slide" Target="/ppt/slides/slide26.xml" Id="Reb1d3ab6d29e4108"/><Relationship Type="http://schemas.openxmlformats.org/officeDocument/2006/relationships/slide" Target="/ppt/slides/slide27.xml" Id="Ra12440d277354cdd"/><Relationship Type="http://schemas.openxmlformats.org/officeDocument/2006/relationships/slide" Target="/ppt/slides/slide28.xml" Id="Rf0e34387a34f4bfd"/><Relationship Type="http://schemas.openxmlformats.org/officeDocument/2006/relationships/slide" Target="/ppt/slides/slide29.xml" Id="Re8df3d4f64f546d9"/><Relationship Type="http://schemas.openxmlformats.org/officeDocument/2006/relationships/slide" Target="/ppt/slides/slide30.xml" Id="R150a694413aa4d09"/><Relationship Type="http://schemas.openxmlformats.org/officeDocument/2006/relationships/slide" Target="/ppt/slides/slide31.xml" Id="Rf2658acecdf14e9d"/><Relationship Type="http://schemas.openxmlformats.org/officeDocument/2006/relationships/slide" Target="/ppt/slides/slide32.xml" Id="R9db37686ef2d4421"/><Relationship Type="http://schemas.openxmlformats.org/officeDocument/2006/relationships/slide" Target="/ppt/slides/slide33.xml" Id="Rcb0255176fcd4347"/><Relationship Type="http://schemas.openxmlformats.org/officeDocument/2006/relationships/slide" Target="/ppt/slides/slide34.xml" Id="Rdf2b9a715a3d4b26"/><Relationship Type="http://schemas.openxmlformats.org/officeDocument/2006/relationships/slide" Target="/ppt/slides/slide35.xml" Id="R7b63e4b15d3b42c3"/><Relationship Type="http://schemas.openxmlformats.org/officeDocument/2006/relationships/slide" Target="/ppt/slides/slide36.xml" Id="Rfec681df9f124d3d"/><Relationship Type="http://schemas.openxmlformats.org/officeDocument/2006/relationships/slide" Target="/ppt/slides/slide37.xml" Id="Rad80a00b8abc4334"/><Relationship Type="http://schemas.openxmlformats.org/officeDocument/2006/relationships/slide" Target="/ppt/slides/slide38.xml" Id="Rb93701ad7f2f42fa"/><Relationship Type="http://schemas.openxmlformats.org/officeDocument/2006/relationships/slide" Target="/ppt/slides/slide39.xml" Id="Rd9ad1e9e13fb48cf"/><Relationship Type="http://schemas.openxmlformats.org/officeDocument/2006/relationships/slide" Target="/ppt/slides/slide40.xml" Id="R6d66187eb3a14f78"/><Relationship Type="http://schemas.openxmlformats.org/officeDocument/2006/relationships/slide" Target="/ppt/slides/slide41.xml" Id="R60701e0238dd49e6"/><Relationship Type="http://schemas.openxmlformats.org/officeDocument/2006/relationships/slide" Target="/ppt/slides/slide42.xml" Id="R818f7a9ac24d4bdc"/><Relationship Type="http://schemas.openxmlformats.org/officeDocument/2006/relationships/slide" Target="/ppt/slides/slide43.xml" Id="R56b8799ae5524257"/><Relationship Type="http://schemas.openxmlformats.org/officeDocument/2006/relationships/slide" Target="/ppt/slides/slide44.xml" Id="R2994bcb57d224570"/><Relationship Type="http://schemas.openxmlformats.org/officeDocument/2006/relationships/slide" Target="/ppt/slides/slide45.xml" Id="R8de300ed95c5427a"/><Relationship Type="http://schemas.openxmlformats.org/officeDocument/2006/relationships/slide" Target="/ppt/slides/slide46.xml" Id="R2acc45b148434a7a"/><Relationship Type="http://schemas.openxmlformats.org/officeDocument/2006/relationships/slide" Target="/ppt/slides/slide47.xml" Id="R0cabf09327f3427f"/><Relationship Type="http://schemas.openxmlformats.org/officeDocument/2006/relationships/slide" Target="/ppt/slides/slide48.xml" Id="R1516a4f3b1d84e4f"/><Relationship Type="http://schemas.openxmlformats.org/officeDocument/2006/relationships/slide" Target="/ppt/slides/slide49.xml" Id="R1688a38795fe46bb"/><Relationship Type="http://schemas.openxmlformats.org/officeDocument/2006/relationships/slide" Target="/ppt/slides/slide50.xml" Id="Rda40f33410264c7b"/><Relationship Type="http://schemas.openxmlformats.org/officeDocument/2006/relationships/slide" Target="/ppt/slides/slide51.xml" Id="Rc795fd5915fc4a12"/><Relationship Type="http://schemas.openxmlformats.org/officeDocument/2006/relationships/slide" Target="/ppt/slides/slide52.xml" Id="R85128a078bf94a50"/><Relationship Type="http://schemas.openxmlformats.org/officeDocument/2006/relationships/slide" Target="/ppt/slides/slide53.xml" Id="R3f86c051cdee4ea1"/><Relationship Type="http://schemas.openxmlformats.org/officeDocument/2006/relationships/slide" Target="/ppt/slides/slide54.xml" Id="R70dd9167587e4ab1"/><Relationship Type="http://schemas.openxmlformats.org/officeDocument/2006/relationships/slide" Target="/ppt/slides/slide55.xml" Id="R690e69e43f3b48ff"/><Relationship Type="http://schemas.openxmlformats.org/officeDocument/2006/relationships/slide" Target="/ppt/slides/slide56.xml" Id="R7c9bd0438acb40cb"/><Relationship Type="http://schemas.openxmlformats.org/officeDocument/2006/relationships/slide" Target="/ppt/slides/slide57.xml" Id="R7309b4907a2b4afb"/><Relationship Type="http://schemas.openxmlformats.org/officeDocument/2006/relationships/slide" Target="/ppt/slides/slide58.xml" Id="Rc5826d4638b24e60"/><Relationship Type="http://schemas.openxmlformats.org/officeDocument/2006/relationships/slide" Target="/ppt/slides/slide59.xml" Id="R205010b19d464bed"/><Relationship Type="http://schemas.openxmlformats.org/officeDocument/2006/relationships/slide" Target="/ppt/slides/slide60.xml" Id="Re9c7942645e94624"/><Relationship Type="http://schemas.openxmlformats.org/officeDocument/2006/relationships/slide" Target="/ppt/slides/slide61.xml" Id="R5c11e4bab5804200"/><Relationship Type="http://schemas.openxmlformats.org/officeDocument/2006/relationships/slide" Target="/ppt/slides/slide62.xml" Id="R4aa1d40ce15e4883"/><Relationship Id="RArchitectureSlide63" Type="http://schemas.openxmlformats.org/officeDocument/2006/relationships/slide" Target="/ppt/slides/slide63.xml"/><Relationship Id="RArchitectureSlide64" Type="http://schemas.openxmlformats.org/officeDocument/2006/relationships/slide" Target="/ppt/slides/slide64.xml"/><Relationship Id="RArchitectureSlide65" Type="http://schemas.openxmlformats.org/officeDocument/2006/relationships/slide" Target="/ppt/slides/slide65.xml"/><Relationship Id="RArchitectureSlide66" Type="http://schemas.openxmlformats.org/officeDocument/2006/relationships/slide" Target="/ppt/slides/slide66.xml"/><Relationship Id="RArchitectureSlide67" Type="http://schemas.openxmlformats.org/officeDocument/2006/relationships/slide" Target="/ppt/slides/slide67.xml"/><Relationship Id="RArchitectureSlide68" Type="http://schemas.openxmlformats.org/officeDocument/2006/relationships/slide" Target="/ppt/slides/slide68.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4b2baa97b44f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276f2c2b46460d" /><Relationship Type="http://schemas.openxmlformats.org/officeDocument/2006/relationships/notesMaster" Target="/ppt/notesMasters/notesMaster1.xml" Id="R26812f8af9694b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46f332cee444cd" /><Relationship Type="http://schemas.openxmlformats.org/officeDocument/2006/relationships/notesMaster" Target="/ppt/notesMasters/notesMaster1.xml" Id="R8b5cf43ff9944a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0cbae8addf4c30" /><Relationship Type="http://schemas.openxmlformats.org/officeDocument/2006/relationships/notesMaster" Target="/ppt/notesMasters/notesMaster1.xml" Id="R16367a0d031442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f9492f36294124" /><Relationship Type="http://schemas.openxmlformats.org/officeDocument/2006/relationships/notesMaster" Target="/ppt/notesMasters/notesMaster1.xml" Id="Rce2df20f65c54f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db85e60b5f448a" /><Relationship Type="http://schemas.openxmlformats.org/officeDocument/2006/relationships/notesMaster" Target="/ppt/notesMasters/notesMaster1.xml" Id="Re3815b5f5d9c41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76c5bf0b4546b2" /><Relationship Type="http://schemas.openxmlformats.org/officeDocument/2006/relationships/notesMaster" Target="/ppt/notesMasters/notesMaster1.xml" Id="Rb8e0606854ee42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e5e08b9c624ba3" /><Relationship Type="http://schemas.openxmlformats.org/officeDocument/2006/relationships/notesMaster" Target="/ppt/notesMasters/notesMaster1.xml" Id="R9253193ec9474f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191c9ae6594e7c" /><Relationship Type="http://schemas.openxmlformats.org/officeDocument/2006/relationships/notesMaster" Target="/ppt/notesMasters/notesMaster1.xml" Id="Rdb7f1a08bb664e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983c48415546fe" /><Relationship Type="http://schemas.openxmlformats.org/officeDocument/2006/relationships/notesMaster" Target="/ppt/notesMasters/notesMaster1.xml" Id="Rd93d3b65f87a48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b82914def1406c" /><Relationship Type="http://schemas.openxmlformats.org/officeDocument/2006/relationships/notesMaster" Target="/ppt/notesMasters/notesMaster1.xml" Id="R2a0cc54d716d46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baee73b6d6f4997" /><Relationship Type="http://schemas.openxmlformats.org/officeDocument/2006/relationships/notesMaster" Target="/ppt/notesMasters/notesMaster1.xml" Id="R09a39c431df14a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05fa064873413d" /><Relationship Type="http://schemas.openxmlformats.org/officeDocument/2006/relationships/notesMaster" Target="/ppt/notesMasters/notesMaster1.xml" Id="R4ba078dbfb224e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4d386d7c164bc2" /><Relationship Type="http://schemas.openxmlformats.org/officeDocument/2006/relationships/notesMaster" Target="/ppt/notesMasters/notesMaster1.xml" Id="R991263942fbc4f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ab03c941a404a51" /><Relationship Type="http://schemas.openxmlformats.org/officeDocument/2006/relationships/notesMaster" Target="/ppt/notesMasters/notesMaster1.xml" Id="Rf6f5ee438ca64f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cba02ed07f74c28" /><Relationship Type="http://schemas.openxmlformats.org/officeDocument/2006/relationships/notesMaster" Target="/ppt/notesMasters/notesMaster1.xml" Id="Rce7daa76ac2043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6d447f4fa54512" /><Relationship Type="http://schemas.openxmlformats.org/officeDocument/2006/relationships/notesMaster" Target="/ppt/notesMasters/notesMaster1.xml" Id="Re8852bd20418431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5c57a4cb2f1408d" /><Relationship Type="http://schemas.openxmlformats.org/officeDocument/2006/relationships/notesMaster" Target="/ppt/notesMasters/notesMaster1.xml" Id="R4b64d0c6b6f644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29e0d7c746e4c46" /><Relationship Type="http://schemas.openxmlformats.org/officeDocument/2006/relationships/notesMaster" Target="/ppt/notesMasters/notesMaster1.xml" Id="R2009dcc467a14a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548c84f2074d0b" /><Relationship Type="http://schemas.openxmlformats.org/officeDocument/2006/relationships/notesMaster" Target="/ppt/notesMasters/notesMaster1.xml" Id="Rf50f1aa0a8b74a7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40ae80e946e4f7c" /><Relationship Type="http://schemas.openxmlformats.org/officeDocument/2006/relationships/notesMaster" Target="/ppt/notesMasters/notesMaster1.xml" Id="Rbc345bd8d45f445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83991aab7744029" /><Relationship Type="http://schemas.openxmlformats.org/officeDocument/2006/relationships/notesMaster" Target="/ppt/notesMasters/notesMaster1.xml" Id="R343ae9cd076a430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fe692993a1e446f" /><Relationship Type="http://schemas.openxmlformats.org/officeDocument/2006/relationships/notesMaster" Target="/ppt/notesMasters/notesMaster1.xml" Id="R222782b93e43439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aac1c13cdd24823" /><Relationship Type="http://schemas.openxmlformats.org/officeDocument/2006/relationships/notesMaster" Target="/ppt/notesMasters/notesMaster1.xml" Id="R94e89871ff5240a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8356a87f10541b8" /><Relationship Type="http://schemas.openxmlformats.org/officeDocument/2006/relationships/notesMaster" Target="/ppt/notesMasters/notesMaster1.xml" Id="R7dc4fb8e30a844a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e55a244be1a4e0a" /><Relationship Type="http://schemas.openxmlformats.org/officeDocument/2006/relationships/notesMaster" Target="/ppt/notesMasters/notesMaster1.xml" Id="R773bf7496816490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4f318f9049a425a" /><Relationship Type="http://schemas.openxmlformats.org/officeDocument/2006/relationships/notesMaster" Target="/ppt/notesMasters/notesMaster1.xml" Id="R68cfdd2a8a98487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068ce9e98354e0e" /><Relationship Type="http://schemas.openxmlformats.org/officeDocument/2006/relationships/notesMaster" Target="/ppt/notesMasters/notesMaster1.xml" Id="Racc2fa896a4a41c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a28b39f4a204d25" /><Relationship Type="http://schemas.openxmlformats.org/officeDocument/2006/relationships/notesMaster" Target="/ppt/notesMasters/notesMaster1.xml" Id="R5ee409fde9dc477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94bbc95b3ab4edb" /><Relationship Type="http://schemas.openxmlformats.org/officeDocument/2006/relationships/notesMaster" Target="/ppt/notesMasters/notesMaster1.xml" Id="Re6c5ecfc40464e6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165938aa39f4056" /><Relationship Type="http://schemas.openxmlformats.org/officeDocument/2006/relationships/notesMaster" Target="/ppt/notesMasters/notesMaster1.xml" Id="R00397619660f481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e1038c1c865435c" /><Relationship Type="http://schemas.openxmlformats.org/officeDocument/2006/relationships/notesMaster" Target="/ppt/notesMasters/notesMaster1.xml" Id="Rf149d799b14e445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9d7799c4792413b" /><Relationship Type="http://schemas.openxmlformats.org/officeDocument/2006/relationships/notesMaster" Target="/ppt/notesMasters/notesMaster1.xml" Id="Rb6f2770ce143448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edde49ceae540d0" /><Relationship Type="http://schemas.openxmlformats.org/officeDocument/2006/relationships/notesMaster" Target="/ppt/notesMasters/notesMaster1.xml" Id="R64e3ca6caaaa491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715f1cc79604ba3" /><Relationship Type="http://schemas.openxmlformats.org/officeDocument/2006/relationships/notesMaster" Target="/ppt/notesMasters/notesMaster1.xml" Id="R65fa3dbbe3144b0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257bd4375294210" /><Relationship Type="http://schemas.openxmlformats.org/officeDocument/2006/relationships/notesMaster" Target="/ppt/notesMasters/notesMaster1.xml" Id="R9b5d39de11e8478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68f31dd7128493c" /><Relationship Type="http://schemas.openxmlformats.org/officeDocument/2006/relationships/notesMaster" Target="/ppt/notesMasters/notesMaster1.xml" Id="Rdb2530d644cc4d9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0dc7a3bb5544b48" /><Relationship Type="http://schemas.openxmlformats.org/officeDocument/2006/relationships/notesMaster" Target="/ppt/notesMasters/notesMaster1.xml" Id="R9bcc7517c38647d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54273409de646ee" /><Relationship Type="http://schemas.openxmlformats.org/officeDocument/2006/relationships/notesMaster" Target="/ppt/notesMasters/notesMaster1.xml" Id="R31aee1949e1c40b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1aef0996f274ebb" /><Relationship Type="http://schemas.openxmlformats.org/officeDocument/2006/relationships/notesMaster" Target="/ppt/notesMasters/notesMaster1.xml" Id="R7701df26b70845d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24ee7eb81124971" /><Relationship Type="http://schemas.openxmlformats.org/officeDocument/2006/relationships/notesMaster" Target="/ppt/notesMasters/notesMaster1.xml" Id="Rb267594c2e30448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5fab1d4ce8f4489" /><Relationship Type="http://schemas.openxmlformats.org/officeDocument/2006/relationships/notesMaster" Target="/ppt/notesMasters/notesMaster1.xml" Id="R34f016426bd0434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2f1e9b91e1e4ec7" /><Relationship Type="http://schemas.openxmlformats.org/officeDocument/2006/relationships/notesMaster" Target="/ppt/notesMasters/notesMaster1.xml" Id="Rddbb18235ef9403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45eb0c5cf93431d" /><Relationship Type="http://schemas.openxmlformats.org/officeDocument/2006/relationships/notesMaster" Target="/ppt/notesMasters/notesMaster1.xml" Id="R083b1d69f28d4ea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472d68080994ea0" /><Relationship Type="http://schemas.openxmlformats.org/officeDocument/2006/relationships/notesMaster" Target="/ppt/notesMasters/notesMaster1.xml" Id="R3e534691780f49f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3bc26bc64604fcf" /><Relationship Type="http://schemas.openxmlformats.org/officeDocument/2006/relationships/notesMaster" Target="/ppt/notesMasters/notesMaster1.xml" Id="R67c5149f3c464d7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9bb5589f2ce4534" /><Relationship Type="http://schemas.openxmlformats.org/officeDocument/2006/relationships/notesMaster" Target="/ppt/notesMasters/notesMaster1.xml" Id="Re02158ce19634fa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ebf99a1f3e6413c" /><Relationship Type="http://schemas.openxmlformats.org/officeDocument/2006/relationships/notesMaster" Target="/ppt/notesMasters/notesMaster1.xml" Id="Rf9ef80663bbb498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ce1430475cf46ff" /><Relationship Type="http://schemas.openxmlformats.org/officeDocument/2006/relationships/notesMaster" Target="/ppt/notesMasters/notesMaster1.xml" Id="R1e14d969f7f6497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cc2e2a47545429e" /><Relationship Type="http://schemas.openxmlformats.org/officeDocument/2006/relationships/notesMaster" Target="/ppt/notesMasters/notesMaster1.xml" Id="Ra5557b8e5c44443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6f034a56f7d45c7" /><Relationship Type="http://schemas.openxmlformats.org/officeDocument/2006/relationships/notesMaster" Target="/ppt/notesMasters/notesMaster1.xml" Id="R4035949e40624bb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8e4e2ca342045be" /><Relationship Type="http://schemas.openxmlformats.org/officeDocument/2006/relationships/notesMaster" Target="/ppt/notesMasters/notesMaster1.xml" Id="R626600a8a487416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6ab2b7baa6c4039" /><Relationship Type="http://schemas.openxmlformats.org/officeDocument/2006/relationships/notesMaster" Target="/ppt/notesMasters/notesMaster1.xml" Id="Re966a1dfc05a4f6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5bf614563f44c5c" /><Relationship Type="http://schemas.openxmlformats.org/officeDocument/2006/relationships/notesMaster" Target="/ppt/notesMasters/notesMaster1.xml" Id="R846e02bdefb646e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1e81f7282dc41a7" /><Relationship Type="http://schemas.openxmlformats.org/officeDocument/2006/relationships/notesMaster" Target="/ppt/notesMasters/notesMaster1.xml" Id="Ra2c15c0d5e2e4a4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1515806ee4a411d" /><Relationship Type="http://schemas.openxmlformats.org/officeDocument/2006/relationships/notesMaster" Target="/ppt/notesMasters/notesMaster1.xml" Id="Re89c9803d3fd476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e1c94e9c10884655" /><Relationship Type="http://schemas.openxmlformats.org/officeDocument/2006/relationships/notesMaster" Target="/ppt/notesMasters/notesMaster1.xml" Id="R2cb6b6e652274ca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827bdc118da47b0" /><Relationship Type="http://schemas.openxmlformats.org/officeDocument/2006/relationships/notesMaster" Target="/ppt/notesMasters/notesMaster1.xml" Id="Raaffa44ac434441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39d64d1c9244d3f" /><Relationship Type="http://schemas.openxmlformats.org/officeDocument/2006/relationships/notesMaster" Target="/ppt/notesMasters/notesMaster1.xml" Id="R90a068467b6f4062"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470e90483d14ef0" /><Relationship Type="http://schemas.openxmlformats.org/officeDocument/2006/relationships/notesMaster" Target="/ppt/notesMasters/notesMaster1.xml" Id="R993f9da1cd4d4cf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f8b17134d4744fd" /><Relationship Type="http://schemas.openxmlformats.org/officeDocument/2006/relationships/notesMaster" Target="/ppt/notesMasters/notesMaster1.xml" Id="R0abe6bb43e704c8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aed817af8294c62" /><Relationship Type="http://schemas.openxmlformats.org/officeDocument/2006/relationships/notesMaster" Target="/ppt/notesMasters/notesMaster1.xml" Id="Rc112481800e04adf"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c1b2a3f8305442c" /><Relationship Type="http://schemas.openxmlformats.org/officeDocument/2006/relationships/notesMaster" Target="/ppt/notesMasters/notesMaster1.xml" Id="R977c94f448ae44ad" /></Relationships>
</file>

<file path=ppt/notesSlides/_rels/notesSlide63.xml.rels><?xml version='1.0' encoding='UTF-8'?>
<Relationships xmlns="http://schemas.openxmlformats.org/package/2006/relationships"><Relationship Type="http://schemas.openxmlformats.org/officeDocument/2006/relationships/slide" Target="/ppt/slides/slide63.xml" Id="R24cd0424f2c346d8"/><Relationship Type="http://schemas.openxmlformats.org/officeDocument/2006/relationships/notesMaster" Target="/ppt/notesMasters/notesMaster1.xml" Id="R78366147750d4dc9"/></Relationships>
</file>

<file path=ppt/notesSlides/_rels/notesSlide64.xml.rels><?xml version='1.0' encoding='UTF-8'?>
<Relationships xmlns="http://schemas.openxmlformats.org/package/2006/relationships"><Relationship Type="http://schemas.openxmlformats.org/officeDocument/2006/relationships/slide" Target="/ppt/slides/slide64.xml" Id="R8da2244000a8458c"/><Relationship Type="http://schemas.openxmlformats.org/officeDocument/2006/relationships/notesMaster" Target="/ppt/notesMasters/notesMaster1.xml" Id="R0c17d61f6f9d4eb7"/></Relationships>
</file>

<file path=ppt/notesSlides/_rels/notesSlide65.xml.rels><?xml version='1.0' encoding='UTF-8'?>
<Relationships xmlns="http://schemas.openxmlformats.org/package/2006/relationships"><Relationship Type="http://schemas.openxmlformats.org/officeDocument/2006/relationships/slide" Target="/ppt/slides/slide65.xml" Id="Rb8fce777c4bb46fb"/><Relationship Type="http://schemas.openxmlformats.org/officeDocument/2006/relationships/notesMaster" Target="/ppt/notesMasters/notesMaster1.xml" Id="R966ebe97ccce4e43"/></Relationships>
</file>

<file path=ppt/notesSlides/_rels/notesSlide66.xml.rels><?xml version='1.0' encoding='UTF-8'?>
<Relationships xmlns="http://schemas.openxmlformats.org/package/2006/relationships"><Relationship Type="http://schemas.openxmlformats.org/officeDocument/2006/relationships/slide" Target="/ppt/slides/slide66.xml" Id="Rf741f0cdd60e4307"/><Relationship Type="http://schemas.openxmlformats.org/officeDocument/2006/relationships/notesMaster" Target="/ppt/notesMasters/notesMaster1.xml" Id="Ra22de446294a422c"/></Relationships>
</file>

<file path=ppt/notesSlides/_rels/notesSlide67.xml.rels><?xml version='1.0' encoding='UTF-8'?>
<Relationships xmlns="http://schemas.openxmlformats.org/package/2006/relationships"><Relationship Type="http://schemas.openxmlformats.org/officeDocument/2006/relationships/slide" Target="/ppt/slides/slide67.xml" Id="R83e73aa098244387"/><Relationship Type="http://schemas.openxmlformats.org/officeDocument/2006/relationships/notesMaster" Target="/ppt/notesMasters/notesMaster1.xml" Id="R64035689cc0840a8"/></Relationships>
</file>

<file path=ppt/notesSlides/_rels/notesSlide68.xml.rels><?xml version='1.0' encoding='UTF-8'?>
<Relationships xmlns="http://schemas.openxmlformats.org/package/2006/relationships"><Relationship Type="http://schemas.openxmlformats.org/officeDocument/2006/relationships/slide" Target="/ppt/slides/slide68.xml" Id="Ra06c72c791294c29"/><Relationship Type="http://schemas.openxmlformats.org/officeDocument/2006/relationships/notesMaster" Target="/ppt/notesMasters/notesMaster1.xml" Id="R7c0fe3a0ddb14319"/></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Aula de aproximadamente 210 minutos. Público com conhecimentos de redes neurais, séries temporais e avaliação de previsões. Roteiro: introdução 10 min, CNN 55 min, explicabilidade 45 min, PINN 40 min, LLM 30 min e atividades/discussão 30 min. Pausa após explicabilidade. Para 90 minutos, selecionar 4–9, 11, 14–15, 18–19, 24–26, 30–31, 37–41, 50–55 e 61–66. Os gráficos e contas hidrológicas da aula são sintéticos. As novas figuras clássicas apresentam arquiteturas e exemplos publicados, com créditos nas notas. A máscara FloodNet é anotação de referência. Os estudos publicados mantêm contexto e fontes. As ilustrações de humor são originais.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Apresentar os quatro módulos e explicar que eles podem atuar em etapas diferentes de um projeto. Evitar sugerir que toda aplicação exige as quatro ferramentas. Pedir que os alunos citem um problema de previsão ou modelagem em que já trabalharam. Retomar esses exemplos na atividade final.</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Ao final, cada aluno deverá conseguir desenhar o fluxo de uma aplicação, nomear a variável alvo e propor um teste que avalie o resultado. O objetivo não é apenas memorizar siglas. Verificar especialmente se a turma entende que uma máscara de inundação e uma previsão de vazão são saídas distintas.</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Fixar o instante de emissão antes de discutir arquitetura. Este caso é ilustrativo. Uma janela de 48 passos de 30 minutos contém 24 horas de histórico, e o alvo uma hora à frente corresponde a dois passos. Sensores têm latência. Chuva observada depois de t não está disponível operacionalmente, enquanto uma previsão emitida até t pode ser uma entrada. O modelo deve reproduzir essas condições na validação.</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categorias têm naturezas diferentes: CNN é uma arquitetura, XAI é um conjunto de métodos de análise, PINN é uma formulação de aprendizado com física e LLM é um modelo de linguagem. Uma CNN pode receber regularização física e ser investigada por XAI. Um LLM pode acionar um simulador ou um modelo numérico. Essa integração exige definir exatamente o papel de cada componente.</a:t>
            </a:r>
          </a:p>
          <a:p xmlns:a="http://schemas.openxmlformats.org/drawingml/2006/main">
            <a:r>
              <a:t/>
            </a:r>
          </a:p>
          <a:p xmlns:a="http://schemas.openxmlformats.org/drawingml/2006/main">
            <a:r>
              <a:t>Referências:</a:t>
            </a:r>
          </a:p>
          <a:p xmlns:a="http://schemas.openxmlformats.org/drawingml/2006/main">
            <a:r>
              <a:t>https://keras.io/api/layers/convolution_layers/convolution1d/</a:t>
            </a:r>
          </a:p>
          <a:p xmlns:a="http://schemas.openxmlformats.org/drawingml/2006/main">
            <a:r>
              <a:t>https://arxiv.org/abs/1711.10561</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células representam áreas iguais de uma grade hipotética. A soma é 90 mm/h e a média 10 mm/h nos dois cenários. Perguntar se o local da chuva pode alterar a chegada da água ao exutório. A resposta depende da topografia, da rede de drenagem, do estado antecedente e dos tempos de deslocamento. A CNN recebe a distribuição espacial, mas seus filtros não impõem automaticamente conexão hidráulica ou direção do escoamento.</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cada eixo, sem confundir canais com passos temporais. Em Keras, os exemplos assumem channels_last. Um lote acrescenta o primeiro eixo: por exemplo, (32,48,3) para CNN 1D. Relevo e uso do solo são estáticos, enquanto chuva varia no tempo. Resolução, projeção cartográfica, máscara da bacia e tratamento de dados ausentes devem ser coerentes antes da concatenação.</a:t>
            </a:r>
          </a:p>
          <a:p xmlns:a="http://schemas.openxmlformats.org/drawingml/2006/main">
            <a:r>
              <a:t/>
            </a:r>
          </a:p>
          <a:p xmlns:a="http://schemas.openxmlformats.org/drawingml/2006/main">
            <a:r>
              <a:t>Referências:</a:t>
            </a:r>
          </a:p>
          <a:p xmlns:a="http://schemas.openxmlformats.org/drawingml/2006/main">
            <a:r>
              <a:t>https://keras.io/api/layers/convolution_layers/convolution1d/</a:t>
            </a:r>
          </a:p>
          <a:p xmlns:a="http://schemas.openxmlformats.org/drawingml/2006/main">
            <a:r>
              <a:t>https://keras.io/api/layers/convolution_layers/convolution2d/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Aplicar um filtro 2×2 com passo 1, sem padding, sem bias e sem ativação. A saída tem 3×3 posições. O filtro escolhido calcula médias locais e está fixo apenas para a conta. Em uma CNN, o treinamento ajusta pesos e bias, que não precisam ser positivos nem somar 1. As bibliotecas de aprendizado normalmente aplicam correlação cruzada, sem inverter o kernel; a aula usa essa convenção. Conferir também a posição central: (0+1+2+4)/4=1,75.</a:t>
            </a:r>
          </a:p>
          <a:p xmlns:a="http://schemas.openxmlformats.org/drawingml/2006/main">
            <a:r>
              <a:t/>
            </a:r>
          </a:p>
          <a:p xmlns:a="http://schemas.openxmlformats.org/drawingml/2006/main">
            <a:r>
              <a:t>Referências:</a:t>
            </a:r>
          </a:p>
          <a:p xmlns:a="http://schemas.openxmlformats.org/drawingml/2006/main">
            <a:r>
              <a:t>https://keras.io/api/layers/convolution_layers/convolution2d/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o filtro de diferença, calcular −2+4−2+4=4. Esses valores são respostas de filtros, não previsões de vazão. Uma CNN aprende vários filtros em paralelo e pode aplicar uma ativação depois de cada resposta. A interpretação como média ou diferença vale para os kernels escolhidos, não para todos os filtros aprendidos. Nas aplicações reais, múltiplos canais contribuem para cada filtro.</a:t>
            </a:r>
          </a:p>
          <a:p xmlns:a="http://schemas.openxmlformats.org/drawingml/2006/main">
            <a:r>
              <a:t/>
            </a:r>
          </a:p>
          <a:p xmlns:a="http://schemas.openxmlformats.org/drawingml/2006/main">
            <a:r>
              <a:t>Referências:</a:t>
            </a:r>
          </a:p>
          <a:p xmlns:a="http://schemas.openxmlformats.org/drawingml/2006/main">
            <a:r>
              <a:t>https://keras.io/api/layers/convolution_layers/convolution2d/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Usar zero à esquerda para os dois instantes anteriores à sequência. No passo 3: 0,2×0+0,3×2+0,5×8=4,6. No passo 4: 0,2×2+0,3×8+0,5×4=4,8. No passo 5: 0,2×8+0,3×4=2,8. O filtro é causal, pois a resposta em t só usa entradas até t. Essa operação cria uma característica temporal; transformar características em vazão exige uma camada de saída treinada para o alvo.</a:t>
            </a:r>
          </a:p>
          <a:p xmlns:a="http://schemas.openxmlformats.org/drawingml/2006/main">
            <a:r>
              <a:t/>
            </a:r>
          </a:p>
          <a:p xmlns:a="http://schemas.openxmlformats.org/drawingml/2006/main">
            <a:r>
              <a:t>Referências:</a:t>
            </a:r>
          </a:p>
          <a:p xmlns:a="http://schemas.openxmlformats.org/drawingml/2006/main">
            <a:r>
              <a:t>https://keras.io/api/layers/convolution_layers/convolution1d/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fórmula vale para esta sequência de convoluções sem mudança de passo. A dilatação espaça os pontos do filtro e amplia o contexto sem aumentar o número de pesos do kernel. Mostrar as contas 1+2=3, 1+2+4=7 e 1+2+4+8=15. Campo receptivo de uma característica é diferente de janela de entrada: uma camada de leitura que agrega todas as posições pode usar o histórico completo. Com pooling ou strides, a fórmula precisa incluir os saltos entre posições.</a:t>
            </a:r>
          </a:p>
          <a:p xmlns:a="http://schemas.openxmlformats.org/drawingml/2006/main">
            <a:r>
              <a:t/>
            </a:r>
          </a:p>
          <a:p xmlns:a="http://schemas.openxmlformats.org/drawingml/2006/main">
            <a:r>
              <a:t>Referências:</a:t>
            </a:r>
          </a:p>
          <a:p xmlns:a="http://schemas.openxmlformats.org/drawingml/2006/main">
            <a:r>
              <a:t>https://keras.io/api/layers/convolution_layers/convolution1d/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arquitetura é uma proposta didática, não um modelo treinado nesta aula. A CNN extrai um vetor para cada mapa, e a LSTM recebe a sequência desses vetores. A leitura pode incluir atributos estáticos ou vazão antecedente, desde que disponíveis. Comparar com um modelo que usa chuva média na bacia para testar o benefício da informação espacial. A grade comum não garante que o modelo aprenda propagação hidrológica correta.</a:t>
            </a:r>
          </a:p>
          <a:p xmlns:a="http://schemas.openxmlformats.org/drawingml/2006/main">
            <a:r>
              <a:t/>
            </a:r>
          </a:p>
          <a:p xmlns:a="http://schemas.openxmlformats.org/drawingml/2006/main">
            <a:r>
              <a:t>Referências:</a:t>
            </a:r>
          </a:p>
          <a:p xmlns:a="http://schemas.openxmlformats.org/drawingml/2006/main">
            <a:r>
              <a:t>https://keras.io/api/layers/convolution_layers/convolution2d/</a:t>
            </a:r>
          </a:p>
          <a:p xmlns:a="http://schemas.openxmlformats.org/drawingml/2006/main">
            <a:r>
              <a:t>https://arxiv.org/abs/1506.04214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Shi et al. (2015) introduziram ConvLSTM para previsão imediata de precipitação, com convoluções nas transições que atualizam os estados. As entradas e saídas são sequências espaciais. O trabalho demonstra previsão de chuva, não previsão automática de vazão. Para uma cadeia hidrometeorológica, alimentar um modelo chuva-vazão com a chuva prevista e avaliar os erros das duas etapas e do resultado final.</a:t>
            </a:r>
          </a:p>
          <a:p xmlns:a="http://schemas.openxmlformats.org/drawingml/2006/main">
            <a:r>
              <a:t/>
            </a:r>
          </a:p>
          <a:p xmlns:a="http://schemas.openxmlformats.org/drawingml/2006/main">
            <a:r>
              <a:t>Referências:</a:t>
            </a:r>
          </a:p>
          <a:p xmlns:a="http://schemas.openxmlformats.org/drawingml/2006/main">
            <a:r>
              <a:t>https://arxiv.org/abs/1506.04214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U-Net nasceu na segmentação biomédica; aqui a adaptação para inundação é uma proposta de aplicação. O encoder agrega contexto, o decoder recupera resolução, e as skip connections transportam características em resoluções correspondentes. O desenho simplifica uma dessas conexões. É preciso treinar com máscaras de referência, alinhamento espacial e eventos separados entre treino e teste. Pixels de sombra, nuvens ou baixa qualidade devem ser avaliados. Métricas possíveis: IoU e F1 por evento. Uma máscara indica extensão, não profundidade nem vazão.</a:t>
            </a:r>
          </a:p>
          <a:p xmlns:a="http://schemas.openxmlformats.org/drawingml/2006/main">
            <a:r>
              <a:t/>
            </a:r>
          </a:p>
          <a:p xmlns:a="http://schemas.openxmlformats.org/drawingml/2006/main">
            <a:r>
              <a:t>Referências:</a:t>
            </a:r>
          </a:p>
          <a:p xmlns:a="http://schemas.openxmlformats.org/drawingml/2006/main">
            <a:r>
              <a:t>https://arxiv.org/abs/1505.04597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Trecho didático verificado com a documentação de Keras 3. Pressupõe um backend configurado, dados preparados e um alvo definido. Os blocos de convolução têm 160 e 784 parâmetros. A saída do segundo bloco mantém 48×16 elementos, o Flatten produz 768 elementos e a camada Dense tem 769 parâmetros, totalizando 1.713. A característica da segunda convolução usa 7 passos, mas a leitura reúne todas as posições da janela. Usar pré-processamento ajustado apenas no treino, alvo fora do histórico e separação temporal. Não é um exemplo de treinamento executado.</a:t>
            </a:r>
          </a:p>
          <a:p xmlns:a="http://schemas.openxmlformats.org/drawingml/2006/main">
            <a:r>
              <a:t/>
            </a:r>
          </a:p>
          <a:p xmlns:a="http://schemas.openxmlformats.org/drawingml/2006/main">
            <a:r>
              <a:t>Referências:</a:t>
            </a:r>
          </a:p>
          <a:p xmlns:a="http://schemas.openxmlformats.org/drawingml/2006/main">
            <a:r>
              <a:t>https://keras.io/api/layers/convolution_layers/convolution1d/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Escolher a referência antes de olhar o resultado final. Para vazão, usar persistência, modelo conceitual ou um modelo de séries simples, conforme a tarefa. Para mapas, usar métricas por evento e evitar que recortes de uma mesma cena caiam em treino e teste. Relevo e limites da bacia precisam ter significado espacial consistente. Conv2D assume vizinhança de pixels, e essa vizinhança não impõe uma rede de drenagem.</a:t>
            </a:r>
          </a:p>
          <a:p xmlns:a="http://schemas.openxmlformats.org/drawingml/2006/main">
            <a:r>
              <a:t/>
            </a:r>
          </a:p>
          <a:p xmlns:a="http://schemas.openxmlformats.org/drawingml/2006/main">
            <a:r>
              <a:t>Referências:</a:t>
            </a:r>
          </a:p>
          <a:p xmlns:a="http://schemas.openxmlformats.org/drawingml/2006/main">
            <a:r>
              <a:t>https://keras.io/api/layers/convolution_layers/convolution1d/</a:t>
            </a:r>
          </a:p>
          <a:p xmlns:a="http://schemas.openxmlformats.org/drawingml/2006/main">
            <a:r>
              <a:t>https://keras.io/api/layers/convolution_layers/convolution2d/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Humor de apoio à transferência espacial. Fazer uma pausa e pedir exemplos de padrões que poderiam representar apenas o local de treinamento, como relevo, sinal de sensor ou padrão de processamento. A ilustração é uma metáfora, sem dados. A conversa pode retomar viés de domínio e validação por eventos.</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4 minutos em duplas. Respostas: 1) (0+2+6+8)/4=4. 2) É uma característica calculada a partir da entrada; uma previsão de vazão exige associá-la ao alvo por uma camada de saída e treinamento. 3) O treinamento pode alterar pesos do kernel, bias e demais parâmetros da rede. Um filtro de CNN não precisa conservar média ou massa. A resposta 4 conserva as unidades da entrada apenas neste kernel linear fixo.</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Usar um exemplo com chuva e vazão antecedente correlacionadas. Uma atribuição descreve o funcionamento da previsão em relação a uma referência ou distribuição. Para estimar efeito de intervenção, são necessárias hipóteses causais, definição da intervenção e tratamento de confundimento. Uma figura SHAP não fornece essas condições. Esse ponto é central em uso do solo, manejo de reservatórios e cenários futuros.</a:t>
            </a:r>
          </a:p>
          <a:p xmlns:a="http://schemas.openxmlformats.org/drawingml/2006/main">
            <a:r>
              <a:t/>
            </a:r>
          </a:p>
          <a:p xmlns:a="http://schemas.openxmlformats.org/drawingml/2006/main">
            <a:r>
              <a:t>Referências:</a:t>
            </a:r>
          </a:p>
          <a:p xmlns:a="http://schemas.openxmlformats.org/drawingml/2006/main">
            <a:r>
              <a:t>https://papers.nips.cc/paper/7062-a-unified-approach-to-interpreting-model-predictions</a:t>
            </a:r>
          </a:p>
          <a:p xmlns:a="http://schemas.openxmlformats.org/drawingml/2006/main">
            <a:r>
              <a:t>https://hess.copernicus.org/articles/25/5839/2021/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que global não significa lei universal da bacia. A análise depende das amostras usadas. Separar eventos de cheia, estiagem e regimes sazonais permite verificar padrões que a média esconde. Valores absolutos de SHAP medem tamanho da atribuição, enquanto os sinais de cada amostra indicam contribuição relativa à referência. Comparações entre modelos exigem a mesma saída, unidades e conjunto de avaliação.</a:t>
            </a:r>
          </a:p>
          <a:p xmlns:a="http://schemas.openxmlformats.org/drawingml/2006/main">
            <a:r>
              <a:t/>
            </a:r>
          </a:p>
          <a:p xmlns:a="http://schemas.openxmlformats.org/drawingml/2006/main">
            <a:r>
              <a:t>Referências:</a:t>
            </a:r>
          </a:p>
          <a:p xmlns:a="http://schemas.openxmlformats.org/drawingml/2006/main">
            <a:r>
              <a:t>https://papers.nips.cc/paper/7062-a-unified-approach-to-interpreting-model-predictions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contribuições são hipotéticas e escolhidas para mostrar a soma. A referência 15 m³/s representa o valor base do modelo no conjunto de referência; não é uma observação do evento. SHAP atribui a diferença da previsão em relação à referência. Métodos aproximados podem deixar um pequeno erro de reconstrução, e a escala pode ser a saída transformada do modelo. Atribuição positiva da chuva não quantifica por si só um efeito causal sobre vazão.</a:t>
            </a:r>
          </a:p>
          <a:p xmlns:a="http://schemas.openxmlformats.org/drawingml/2006/main">
            <a:r>
              <a:t/>
            </a:r>
          </a:p>
          <a:p xmlns:a="http://schemas.openxmlformats.org/drawingml/2006/main">
            <a:r>
              <a:t>Referências:</a:t>
            </a:r>
          </a:p>
          <a:p xmlns:a="http://schemas.openxmlformats.org/drawingml/2006/main">
            <a:r>
              <a:t>https://papers.nips.cc/paper/7062-a-unified-approach-to-interpreting-model-predictions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Dados sintéticos. Pedir à turma que diferencie este gráfico do anterior. O ranking informa quanto a contribuição variou em magnitude no conjunto escolhido. Ele não indica que aumentar P sempre eleva Q nem que T não seja fisicamente relevante. A importância depende do modelo, das entradas redundantes e do regime das amostras. Analisar também sinais, distribuição, dependência e períodos de avaliação.</a:t>
            </a:r>
          </a:p>
          <a:p xmlns:a="http://schemas.openxmlformats.org/drawingml/2006/main">
            <a:r>
              <a:t/>
            </a:r>
          </a:p>
          <a:p xmlns:a="http://schemas.openxmlformats.org/drawingml/2006/main">
            <a:r>
              <a:t>Referências:</a:t>
            </a:r>
          </a:p>
          <a:p xmlns:a="http://schemas.openxmlformats.org/drawingml/2006/main">
            <a:r>
              <a:t>https://papers.nips.cc/paper/7062-a-unified-approach-to-interpreting-model-predictions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 integra gradientes ao longo de um caminho entre uma entrada de referência e a entrada avaliada. A integral na fórmula usa o gradiente em relação à coordenada de entrada, avaliado em cada ponto do caminho. Para F linear, os gradientes são [2,1], então as contribuições são [4×2,3×1]=[8,3]. A propriedade de completude soma F(x)−F(x′) nas condições do método, com tolerância numérica na implementação. Referência zero pode ser útil para o exemplo, mas chuva zero e vazão zero nem sempre representam um estado hidrológico plausível.</a:t>
            </a:r>
          </a:p>
          <a:p xmlns:a="http://schemas.openxmlformats.org/drawingml/2006/main">
            <a:r>
              <a:t/>
            </a:r>
          </a:p>
          <a:p xmlns:a="http://schemas.openxmlformats.org/drawingml/2006/main">
            <a:r>
              <a:t>Referências:</a:t>
            </a:r>
          </a:p>
          <a:p xmlns:a="http://schemas.openxmlformats.org/drawingml/2006/main">
            <a:r>
              <a:t>https://proceedings.mlr.press/v70/sundararajan17a.html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tabela usa atribuições hipotéticas, em m³/s, apenas para ilustrar a organização temporal de IG ou de outro método compatível. Não corresponde a uma aplicação executada. Pedir que os alunos identifiquem a contribuição de chuva mais recente e discutam o que pode mudar em uma bacia lenta. Somar por variável elimina parte do detalhe temporal. Comparar a saída atribuída e a referência em cada análise; métodos distintos podem produzir atribuições diferentes.</a:t>
            </a:r>
          </a:p>
          <a:p xmlns:a="http://schemas.openxmlformats.org/drawingml/2006/main">
            <a:r>
              <a:t/>
            </a:r>
          </a:p>
          <a:p xmlns:a="http://schemas.openxmlformats.org/drawingml/2006/main">
            <a:r>
              <a:t>Referências:</a:t>
            </a:r>
          </a:p>
          <a:p xmlns:a="http://schemas.openxmlformats.org/drawingml/2006/main">
            <a:r>
              <a:t>https://proceedings.mlr.press/v70/sundararajan17a.html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Grades sintéticas independentes, escolhidas para explicar como visualizar atribuições espaciais. Atribuição não é um novo campo de chuva. Fixar o alvo: previsão de Q em determinado horizonte. Mostrar o mapa de entrada, a máscara da bacia e o mapa de atribuição alinhados. Testar sensibilidade à referência e comparar eventos. Em um modelo espacial, células relevantes podem refletir posição, conteúdo ou combinações com outros canais. Não inferir trajetórias físicas da água apenas da cor do mapa.</a:t>
            </a:r>
          </a:p>
          <a:p xmlns:a="http://schemas.openxmlformats.org/drawingml/2006/main">
            <a:r>
              <a:t/>
            </a:r>
          </a:p>
          <a:p xmlns:a="http://schemas.openxmlformats.org/drawingml/2006/main">
            <a:r>
              <a:t>Referências:</a:t>
            </a:r>
          </a:p>
          <a:p xmlns:a="http://schemas.openxmlformats.org/drawingml/2006/main">
            <a:r>
              <a:t>https://proceedings.mlr.press/v70/sundararajan17a.html</a:t>
            </a:r>
          </a:p>
          <a:p xmlns:a="http://schemas.openxmlformats.org/drawingml/2006/main">
            <a:r>
              <a:t>https://arxiv.org/abs/1610.02391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Escolher método de acordo com modelo, alvo e pergunta. Grad-CAM pondera mapas de características usando gradientes do alvo e oferece localização espacial; não produz a mesma decomposição aditiva de SHAP ou IG. Para permutação em séries e variáveis correlacionadas, considerar blocos ou estratégias condicionais, em vez de embaralhar indiscriminadamente. Esse cuidado decorre da dependência dos dados, não torna um método universalmente superior.</a:t>
            </a:r>
          </a:p>
          <a:p xmlns:a="http://schemas.openxmlformats.org/drawingml/2006/main">
            <a:r>
              <a:t/>
            </a:r>
          </a:p>
          <a:p xmlns:a="http://schemas.openxmlformats.org/drawingml/2006/main">
            <a:r>
              <a:t>Referências:</a:t>
            </a:r>
          </a:p>
          <a:p xmlns:a="http://schemas.openxmlformats.org/drawingml/2006/main">
            <a:r>
              <a:t>https://papers.nips.cc/paper/7062-a-unified-approach-to-interpreting-model-predictions</a:t>
            </a:r>
          </a:p>
          <a:p xmlns:a="http://schemas.openxmlformats.org/drawingml/2006/main">
            <a:r>
              <a:t>https://proceedings.mlr.press/v70/sundararajan17a.html</a:t>
            </a:r>
          </a:p>
          <a:p xmlns:a="http://schemas.openxmlformats.org/drawingml/2006/main">
            <a:r>
              <a:t>https://arxiv.org/abs/1610.02391</a:t>
            </a:r>
          </a:p>
          <a:p xmlns:a="http://schemas.openxmlformats.org/drawingml/2006/main">
            <a:r>
              <a:t>https://hess.copernicus.org/articles/25/5839/2021/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Usar como exemplo chuva acumulada em 3 e 7 dias: ambas contêm parte dos mesmos dados. Não interpretar o ranking isolado como importância física independente. Verificar estabilidade da explicação sob escolhas justificadas de referência e, quando útil, agrupar variáveis relacionadas. Nas redes temporais, considerar os vínculos entre instantes. Explicações plausíveis devem motivar testes e hipóteses, e não substituir observação física.</a:t>
            </a:r>
          </a:p>
          <a:p xmlns:a="http://schemas.openxmlformats.org/drawingml/2006/main">
            <a:r>
              <a:t/>
            </a:r>
          </a:p>
          <a:p xmlns:a="http://schemas.openxmlformats.org/drawingml/2006/main">
            <a:r>
              <a:t>Referências:</a:t>
            </a:r>
          </a:p>
          <a:p xmlns:a="http://schemas.openxmlformats.org/drawingml/2006/main">
            <a:r>
              <a:t>https://papers.nips.cc/paper/7062-a-unified-approach-to-interpreting-model-predictions</a:t>
            </a:r>
          </a:p>
          <a:p xmlns:a="http://schemas.openxmlformats.org/drawingml/2006/main">
            <a:r>
              <a:t>https://proceedings.mlr.press/v70/sundararajan17a.html</a:t>
            </a:r>
          </a:p>
          <a:p xmlns:a="http://schemas.openxmlformats.org/drawingml/2006/main">
            <a:r>
              <a:t>https://hess.copernicus.org/articles/25/5839/2021/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SuDS são sistemas de drenagem urbana sustentável. O estudo compara precisão das previsões com plausibilidade das explicações inferidas e mostra que uma não garante a outra. O exemplo publicado inclui contribuições negativas de chuva em alguns modelos, que exigem interpretação contextual e análise de incerteza. Usar o estudo para motivar avaliação simultânea de erro, estabilidade das atribuições e coerência física. Os resultados pertencem ao desenho estudado.</a:t>
            </a:r>
          </a:p>
          <a:p xmlns:a="http://schemas.openxmlformats.org/drawingml/2006/main">
            <a:r>
              <a:t/>
            </a:r>
          </a:p>
          <a:p xmlns:a="http://schemas.openxmlformats.org/drawingml/2006/main">
            <a:r>
              <a:t>Referências:</a:t>
            </a:r>
          </a:p>
          <a:p xmlns:a="http://schemas.openxmlformats.org/drawingml/2006/main">
            <a:r>
              <a:t>https://hess.copernicus.org/articles/25/5839/2021/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Alusão bem-humorada a investigação científica. Atribuição elevada a uma variável futura pode levantar suspeita de vazamento de informação, mas a confirmação depende de rastrear geração, disponibilidade e uso da entrada. Uma previsão de chuva emitida antes da hora de previsão é diferente de chuva observada posteriormente. Peça à turma que descreva a verificação de origem de uma variável.</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4 minutos. Gabarito: previsão 12+9+6−2=25 m³/s. O sinal negativo significa que a contribuição da ETP reduz a saída do modelo em relação à referência e à convenção do método. Isso não demonstra que uma intervenção em ETP reduziria a vazão em exatamente 2 m³/s. Também não é um intervalo de confiança. Atribuições explicam uma saída e não quantificam automaticamente sua incerteza.</a:t>
            </a:r>
          </a:p>
          <a:p xmlns:a="http://schemas.openxmlformats.org/drawingml/2006/main">
            <a:r>
              <a:t/>
            </a:r>
          </a:p>
          <a:p xmlns:a="http://schemas.openxmlformats.org/drawingml/2006/main">
            <a:r>
              <a:t>Referências:</a:t>
            </a:r>
          </a:p>
          <a:p xmlns:a="http://schemas.openxmlformats.org/drawingml/2006/main">
            <a:r>
              <a:t>https://papers.nips.cc/paper/7062-a-unified-approach-to-interpreting-model-predictions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 formulação clássica de PINN, uma rede representa uma função de coordenadas e o treinamento usa derivadas calculadas por diferenciação automática. Em hidrologia, a saída pode ser armazenamento ou carga hidráulica; em hidráulica, área e vazão. Resíduos pequenos em pontos de treinamento não provam que a solução é correta em todo o domínio. O problema exige equações, condições e unidades bem definidas.</a:t>
            </a:r>
          </a:p>
          <a:p xmlns:a="http://schemas.openxmlformats.org/drawingml/2006/main">
            <a:r>
              <a:t/>
            </a:r>
          </a:p>
          <a:p xmlns:a="http://schemas.openxmlformats.org/drawingml/2006/main">
            <a:r>
              <a:t>Referências:</a:t>
            </a:r>
          </a:p>
          <a:p xmlns:a="http://schemas.openxmlformats.org/drawingml/2006/main">
            <a:r>
              <a:t>https://arxiv.org/abs/1711.10561</a:t>
            </a:r>
          </a:p>
          <a:p xmlns:a="http://schemas.openxmlformats.org/drawingml/2006/main">
            <a:r>
              <a:t>https://doi.org/10.1016/j.jcp.2018.10.045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Modelo didático de um reservatório linear, sem limite de capacidade e sem outros compartimentos. Usar q minúsculo para distinguir lâmina de escoamento de Q volumétrico em m³/s. Para converter q em Q, usar a área da bacia e unidades de tempo coerentes. P é a entrada do armazenamento e ET é uma saída prescrita neste exemplo. Sua representação e a validade de q=kS precisam ser avaliadas para o sistema estudado. A rede aproxima S(t); o balanço restringe sua evolução.</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diferenciação automática calcula a derivada da função implementada pela rede; não é a diferença finita entre duas medições ruidosas. Explicar que pesos e, em um problema inverso, parâmetros físicos podem receber gradientes do resíduo. Para equações com derivadas de ordem elevada, a suavidade da ativação importa. Não substituir uma derivada desconhecida de uma observação por uma informação inventada. P e ET devem vir de uma fonte coerente com a aplicação.</a:t>
            </a:r>
          </a:p>
          <a:p xmlns:a="http://schemas.openxmlformats.org/drawingml/2006/main">
            <a:r>
              <a:t/>
            </a:r>
          </a:p>
          <a:p xmlns:a="http://schemas.openxmlformats.org/drawingml/2006/main">
            <a:r>
              <a:t>Referências:</a:t>
            </a:r>
          </a:p>
          <a:p xmlns:a="http://schemas.openxmlformats.org/drawingml/2006/main">
            <a:r>
              <a:t>https://arxiv.org/abs/1711.10561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parcela deve ser normalizada por escalas apropriadas, ou as unidades e magnitudes tornam a soma arbitrária. Por exemplo, dividir o erro de S por uma escala de armazenamento e o resíduo por uma escala de fluxo antes de elevar ao quadrado. Os pesos λ regulam o equilíbrio das parcelas. Pontos de colocação são posições no domínio onde a equação é avaliada, mesmo sem observação. Neste problema de ODE há condição inicial; problemas espaciais também precisam de condições de contorno. Penalização é uma restrição aproximada.</a:t>
            </a:r>
          </a:p>
          <a:p xmlns:a="http://schemas.openxmlformats.org/drawingml/2006/main">
            <a:r>
              <a:t/>
            </a:r>
          </a:p>
          <a:p xmlns:a="http://schemas.openxmlformats.org/drawingml/2006/main">
            <a:r>
              <a:t>Referências:</a:t>
            </a:r>
          </a:p>
          <a:p xmlns:a="http://schemas.openxmlformats.org/drawingml/2006/main">
            <a:r>
              <a:t>https://arxiv.org/abs/1711.10561</a:t>
            </a:r>
          </a:p>
          <a:p xmlns:a="http://schemas.openxmlformats.org/drawingml/2006/main">
            <a:r>
              <a:t>https://doi.org/10.1137/20M1318043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balanço exige uma taxa de armazenamento igual a 3 mm/dia. A derivada representada pela rede vale 2 mm/dia; sob a convenção do slide, o resíduo é −1 mm/dia. O quadrado do resíduo é 1 (mm/dia)² antes da normalização. O sinal depende da definição do resíduo, e a perda quadrática ignora esse sinal. Este é um ponto da equação; a avaliação do modelo exige vários instantes, dados e condições.</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 entrada ou evapotranspiração, dS/dt=−kS. Para S0=100 mm e k=0,2/dia, a solução é S=100 exp(−0,2t). A outra curva adiciona 25 sin(πt/5): ela coincide com os três pontos observados, mas viola a equação entre eles e chega a armazenamento negativo. As curvas são funções construídas para a explicação, não saídas de redes treinadas. A física pode restringir soluções compatíveis com poucos dados, desde que a equação e as condições representem o sistema. Isso não garante sucesso do treinamento.</a:t>
            </a:r>
          </a:p>
          <a:p xmlns:a="http://schemas.openxmlformats.org/drawingml/2006/main">
            <a:r>
              <a:t/>
            </a:r>
          </a:p>
          <a:p xmlns:a="http://schemas.openxmlformats.org/drawingml/2006/main">
            <a:r>
              <a:t>Referências:</a:t>
            </a:r>
          </a:p>
          <a:p xmlns:a="http://schemas.openxmlformats.org/drawingml/2006/main">
            <a:r>
              <a:t>https://arxiv.org/abs/1711.10561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Distinguir aprendizagem dos pesos da rede e identificação do parâmetro físico. Em um problema inverso, k pode ser treinado junto com Sθ(t), com uma transformação que garanta k positivo quando necessário. Se ET e k forem desconhecidos, o mesmo declínio do armazenamento pode ter explicações distintas. Identificabilidade depende de observações, forçantes e condições. Repetir com outras condições e comparar com calibração convencional ajuda a avaliar a estimativa.</a:t>
            </a:r>
          </a:p>
          <a:p xmlns:a="http://schemas.openxmlformats.org/drawingml/2006/main">
            <a:r>
              <a:t/>
            </a:r>
          </a:p>
          <a:p xmlns:a="http://schemas.openxmlformats.org/drawingml/2006/main">
            <a:r>
              <a:t>Referências:</a:t>
            </a:r>
          </a:p>
          <a:p xmlns:a="http://schemas.openxmlformats.org/drawingml/2006/main">
            <a:r>
              <a:t>https://arxiv.org/abs/1711.10561</a:t>
            </a:r>
          </a:p>
          <a:p xmlns:a="http://schemas.openxmlformats.org/drawingml/2006/main">
            <a:r>
              <a:t>https://doi.org/10.1029/2019WR026731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Exemplo de escoamento unidimensional, saturado, estacionário e sem fontes internas. h tem unidade de comprimento, K de comprimento/tempo e q é fluxo de Darcy por área. A continuidade exige q constante. Em um meio homogêneo com apenas cargas prescritas, as cargas podem definir o gradiente sem identificar a escala de K; medir fluxo ou adicionar informação é importante. Tartakovsky et al. (2020) estudam problemas de escoamento subterrâneo usando dados e restrições Darcy/Richards para estimar parâmetros e relações constitutivas. O exemplo da aula é simplificado e não reproduz seus experimentos.</a:t>
            </a:r>
          </a:p>
          <a:p xmlns:a="http://schemas.openxmlformats.org/drawingml/2006/main">
            <a:r>
              <a:t/>
            </a:r>
          </a:p>
          <a:p xmlns:a="http://schemas.openxmlformats.org/drawingml/2006/main">
            <a:r>
              <a:t>Referências:</a:t>
            </a:r>
          </a:p>
          <a:p xmlns:a="http://schemas.openxmlformats.org/drawingml/2006/main">
            <a:r>
              <a:t>https://doi.org/10.1029/2019WR026731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equação é o balanço local de massa no canal. A e Q são incógnitas e a continuidade sozinha não determina ambas. Uma formulação de propagação também exige uma relação dinâmica ou equação de quantidade de movimento, geometria, condições iniciais e de contorno. Uma PINN pode representar os estados e penalizar resíduos, mas frentes rápidas, descontinuidades, molhamento/secagem e condições de borda podem dificultar a solução. Comparar com um solver numérico apropriado; não presumir vantagem da rede.</a:t>
            </a:r>
          </a:p>
          <a:p xmlns:a="http://schemas.openxmlformats.org/drawingml/2006/main">
            <a:r>
              <a:t/>
            </a:r>
          </a:p>
          <a:p xmlns:a="http://schemas.openxmlformats.org/drawingml/2006/main">
            <a:r>
              <a:t>Referências:</a:t>
            </a:r>
          </a:p>
          <a:p xmlns:a="http://schemas.openxmlformats.org/drawingml/2006/main">
            <a:r>
              <a:t>https://arxiv.org/abs/1711.10561</a:t>
            </a:r>
          </a:p>
          <a:p xmlns:a="http://schemas.openxmlformats.org/drawingml/2006/main">
            <a:r>
              <a:t>https://doi.org/10.1137/20M1318043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é uma organização didática e não uma taxonomia única da literatura. Explicar o mecanismo concreto da restrição em cada projeto. Uma CNN com penalização de balanço pode ser uma rede guiada pela física sem usar a formulação clássica de PINN. Uma penalização pequena é diferente de uma relação satisfeita por construção. Mesmo um modelo conservativo pode usar processos ou parâmetros inadequados. Em modelos híbridos, documentar quais componentes são aprendidos e quais são fixos.</a:t>
            </a:r>
          </a:p>
          <a:p xmlns:a="http://schemas.openxmlformats.org/drawingml/2006/main">
            <a:r>
              <a:t/>
            </a:r>
          </a:p>
          <a:p xmlns:a="http://schemas.openxmlformats.org/drawingml/2006/main">
            <a:r>
              <a:t>Referências:</a:t>
            </a:r>
          </a:p>
          <a:p xmlns:a="http://schemas.openxmlformats.org/drawingml/2006/main">
            <a:r>
              <a:t>https://arxiv.org/abs/1711.10561</a:t>
            </a:r>
          </a:p>
          <a:p xmlns:a="http://schemas.openxmlformats.org/drawingml/2006/main">
            <a:r>
              <a:t>https://doi.org/10.1137/20M1318043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Wang, Teng e Perdikaris (2021) analisam desequilíbrio de gradientes em perdas compostas de PINNs. A comparação deve avaliar ajuste aos dados, conservação, condições e erro da solução. Reduzir a perda total pode esconder uma parcela ruim. Repetir com sementes e pontos de colocação diferentes ajuda a verificar estabilidade. Condições físicas inadequadas podem regularizar o modelo para uma resposta errada. Não anunciar que PINNs sempre precisam de menos dados ou substituem automaticamente solvers.</a:t>
            </a:r>
          </a:p>
          <a:p xmlns:a="http://schemas.openxmlformats.org/drawingml/2006/main">
            <a:r>
              <a:t/>
            </a:r>
          </a:p>
          <a:p xmlns:a="http://schemas.openxmlformats.org/drawingml/2006/main">
            <a:r>
              <a:t>Referências:</a:t>
            </a:r>
          </a:p>
          <a:p xmlns:a="http://schemas.openxmlformats.org/drawingml/2006/main">
            <a:r>
              <a:t>https://doi.org/10.1137/20M1318043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piada personifica a equação como um fiscal. Ressaltar que o fiscal só verifica a lei que foi escrita e nos pontos avaliados. Erros de medição, processos omitidos ou conversões de unidade também podem gerar resíduo. Conservação pequena ajuda o diagnóstico, mas não confirma por si só a correção de todos os processos.</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5 minutos. Gabarito: q=6 mm/dia, taxa pelo balanço=9−1−6=2 mm/dia, resíduo=3−2=1 mm/dia. Para validar: observar estados/fluxos em outros instantes, verificar condições, forçantes, equação, unidades e solução fora dos pontos de treinamento. O quadrado vale 1 (mm/dia)² antes da normalização. Discutir se aumentar o peso do resíduo poderia prejudicar o ajuste aos dados quando a física escolhida é incompleta.</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Tokens podem ser palavras, partes de palavras ou outros símbolos conforme o vocabulário. As representações vetoriais alimentam camadas de atenção que combinam informações de posições do contexto. Muitos LLMs de geração predizem o próximo token condicionado ao que receberam e geraram. Treinamento e ajustes posteriores influenciam respostas. Probabilidade de texto não é probabilidade de excedência de vazão. Modelos de base para séries temporais são outra classe de aplicação e precisam de avaliação numérica própria.</a:t>
            </a:r>
          </a:p>
          <a:p xmlns:a="http://schemas.openxmlformats.org/drawingml/2006/main">
            <a:r>
              <a:t/>
            </a:r>
          </a:p>
          <a:p xmlns:a="http://schemas.openxmlformats.org/drawingml/2006/main">
            <a:r>
              <a:t>Referências:</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Relacionar aos trabalhos da turma: documentação de estação, consulta a manual, preparação de CSV e simulação de bacia. O papel pode ser assistivo ou integrado a ferramentas. A saída deve permitir verificar cada ação ou conclusão. Um texto convincente não mostra que a modelagem foi executada. Dados numéricos do boletim devem vir de observações, simuladores ou modelos de previsão adequados e identificados.</a:t>
            </a:r>
          </a:p>
          <a:p xmlns:a="http://schemas.openxmlformats.org/drawingml/2006/main">
            <a:r>
              <a:t/>
            </a:r>
          </a:p>
          <a:p xmlns:a="http://schemas.openxmlformats.org/drawingml/2006/main">
            <a:r>
              <a:t>Referências:</a:t>
            </a:r>
          </a:p>
          <a:p xmlns:a="http://schemas.openxmlformats.org/drawingml/2006/main">
            <a:r>
              <a:t>https://arxiv.org/abs/2508.02936</a:t>
            </a:r>
          </a:p>
          <a:p xmlns:a="http://schemas.openxmlformats.org/drawingml/2006/main">
            <a:r>
              <a:t>https://doi.org/10.1029/2025GL120043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significa geração aumentada por recuperação. Ele amplia o contexto com documentos escolhidos por um mecanismo de busca; não garante que o trecho seja atual ou correto. Agentes podem propor chamadas de ferramentas e usar resultados em um ciclo. Explicar que um agente não é apenas um prompt longo: ele tem interfaces, estados, regras e avaliação das ações. As três configurações podem se combinar conforme a tarefa.</a:t>
            </a:r>
          </a:p>
          <a:p xmlns:a="http://schemas.openxmlformats.org/drawingml/2006/main">
            <a:r>
              <a:t/>
            </a:r>
          </a:p>
          <a:p xmlns:a="http://schemas.openxmlformats.org/drawingml/2006/main">
            <a:r>
              <a:t>Referências:</a:t>
            </a:r>
          </a:p>
          <a:p xmlns:a="http://schemas.openxmlformats.org/drawingml/2006/main">
            <a:r>
              <a:t>https://arxiv.org/abs/2005.11401</a:t>
            </a:r>
          </a:p>
          <a:p xmlns:a="http://schemas.openxmlformats.org/drawingml/2006/main">
            <a:r>
              <a:t>https://arxiv.org/abs/2508.02936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Um índice pode conter manuais, metadados de estações e relatórios. Primeiro a busca recupera trechos, depois o LLM redige a resposta. Pedir que os alunos pensem na diferença entre unidade de um campo e referência vertical de uma cota. O documento recuperado deve sustentar a conclusão e estar associado à estação/período. Se houver conflito entre versões, o fluxo deve mostrar o conflito. RAG reduz dependência da memória paramétrica, mas a busca e a interpretação ainda podem errar.</a:t>
            </a:r>
          </a:p>
          <a:p xmlns:a="http://schemas.openxmlformats.org/drawingml/2006/main">
            <a:r>
              <a:t/>
            </a:r>
          </a:p>
          <a:p xmlns:a="http://schemas.openxmlformats.org/drawingml/2006/main">
            <a:r>
              <a:t>Referências:</a:t>
            </a:r>
          </a:p>
          <a:p xmlns:a="http://schemas.openxmlformats.org/drawingml/2006/main">
            <a:r>
              <a:t>https://arxiv.org/abs/2005.11401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Fluxo proposto para a aula. Exemplo: o LLM sugere parâmetros dentro de limites, a ferramenta roda um simulador, outra função calcula métricas, e o retorno sustenta a próxima decisão. A interface deve declarar argumentos, unidades, limites e formato da resposta. O ciclo precisa de critérios de parada e avaliação externa. Uma melhoria no conjunto de calibração não prova desempenho em validação. A ferramenta executa o cálculo e o simulador, enquanto o LLM organiza o uso dos resultados.</a:t>
            </a:r>
          </a:p>
          <a:p xmlns:a="http://schemas.openxmlformats.org/drawingml/2006/main">
            <a:r>
              <a:t/>
            </a:r>
          </a:p>
          <a:p xmlns:a="http://schemas.openxmlformats.org/drawingml/2006/main">
            <a:r>
              <a:t>Referências:</a:t>
            </a:r>
          </a:p>
          <a:p xmlns:a="http://schemas.openxmlformats.org/drawingml/2006/main">
            <a:r>
              <a:t>https://arxiv.org/abs/2508.02936</a:t>
            </a:r>
          </a:p>
          <a:p xmlns:a="http://schemas.openxmlformats.org/drawingml/2006/main">
            <a:r>
              <a:t>https://doi.org/10.1029/2025GL120043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vazões são médias de três intervalos de uma hora e foram escolhidas para a conta, não produzidas por um modelo real. O volume usa a soma das médias vezes 3.600 segundos, totalizando 162.000 m³. Essa discretização não é uma integração trapezoidal de valores instantâneos. O LLM pode redigir a síntese a partir do resultado validado da ferramenta, mantendo horizonte e unidades. Não converter esse exemplo em uma probabilidade de cheia sem uma distribuição ou método probabilístico.</a:t>
            </a:r>
          </a:p>
          <a:p xmlns:a="http://schemas.openxmlformats.org/drawingml/2006/main">
            <a:r>
              <a:t/>
            </a:r>
          </a:p>
          <a:p xmlns:a="http://schemas.openxmlformats.org/drawingml/2006/main">
            <a:r>
              <a:t>Referências:</a:t>
            </a:r>
          </a:p>
          <a:p xmlns:a="http://schemas.openxmlformats.org/drawingml/2006/main">
            <a:r>
              <a:t>https://arxiv.org/abs/2508.02936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instrução é um exemplo de escopo e critérios de rastreabilidade, não uma garantia de correção. O fluxo também precisa validar esquema, tipos e unidades antes da geração. Um JSON estruturado facilita a conferência automática de números. Pedir que os alunos acrescentem os requisitos de sua aplicação, como identificação da estação, versão do modelo e tratamento de falhas. Alertas operacionais exigem critérios definidos pelo responsável pelo sistema.</a:t>
            </a:r>
          </a:p>
          <a:p xmlns:a="http://schemas.openxmlformats.org/drawingml/2006/main">
            <a:r>
              <a:t/>
            </a:r>
          </a:p>
          <a:p xmlns:a="http://schemas.openxmlformats.org/drawingml/2006/main">
            <a:r>
              <a:t>Referências:</a:t>
            </a:r>
          </a:p>
          <a:p xmlns:a="http://schemas.openxmlformats.org/drawingml/2006/main">
            <a:r>
              <a:t>https://arxiv.org/abs/2005.11401</a:t>
            </a:r>
          </a:p>
          <a:p xmlns:a="http://schemas.openxmlformats.org/drawingml/2006/main">
            <a:r>
              <a:t>https://arxiv.org/abs/2508.02936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AQUAH, apresentado como artigo de workshop e preprint, descreve um fluxo que parte de linguagem natural para preparar dados, executar modelagem e produzir documentação. O trabalho indica que calibração e validação adicionais são necessárias para uso operacional. Zhu et al. publicam uma avaliação de agentes de calibração em Geophysical Research Letters, com resultados distintos entre LLMs e comparação com otimizadores. Esses estudos sustentam aplicações como apoio e orquestração, sem estabelecer superioridade universal. Evitar comparar custos ou iterações sem controlar o orçamento experimental.</a:t>
            </a:r>
          </a:p>
          <a:p xmlns:a="http://schemas.openxmlformats.org/drawingml/2006/main">
            <a:r>
              <a:t/>
            </a:r>
          </a:p>
          <a:p xmlns:a="http://schemas.openxmlformats.org/drawingml/2006/main">
            <a:r>
              <a:t>Referências:</a:t>
            </a:r>
          </a:p>
          <a:p xmlns:a="http://schemas.openxmlformats.org/drawingml/2006/main">
            <a:r>
              <a:t>https://arxiv.org/abs/2508.02936</a:t>
            </a:r>
          </a:p>
          <a:p xmlns:a="http://schemas.openxmlformats.org/drawingml/2006/main">
            <a:r>
              <a:t>https://doi.org/10.1029/2025GL120043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Piada com confiança sem evidência. Relacionar ao volume da atividade anterior: o número é verificável porque o cálculo e os intervalos foram declarados. Pedir exemplos de afirmações que deveriam exigir fonte, como datum de estação ou limite de uso de um modelo. Manter o humor ligado à checagem, sem sugerir que todo LLM sempre erra.</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Um projeto pode ter um bom texto e uma previsão ruim, ou o inverso. Avaliar separadamente recuperação, interpretação, chamadas de ferramentas, resultados numéricos e redação. Para um agente de calibração, comparar modelos com o mesmo orçamento de simulações e um teste independente. Para previsão, usar métricas adequadas e eventos separados. Para boletins, checar se os números coincidem com a entrada validada e se a descrição de incerteza corresponde ao método usado.</a:t>
            </a:r>
          </a:p>
          <a:p xmlns:a="http://schemas.openxmlformats.org/drawingml/2006/main">
            <a:r>
              <a:t/>
            </a:r>
          </a:p>
          <a:p xmlns:a="http://schemas.openxmlformats.org/drawingml/2006/main">
            <a:r>
              <a:t>Referências:</a:t>
            </a:r>
          </a:p>
          <a:p xmlns:a="http://schemas.openxmlformats.org/drawingml/2006/main">
            <a:r>
              <a:t>https://arxiv.org/abs/2508.02936</a:t>
            </a:r>
          </a:p>
          <a:p xmlns:a="http://schemas.openxmlformats.org/drawingml/2006/main">
            <a:r>
              <a:t>https://doi.org/10.1029/2025GL120043</a:t>
            </a:r>
          </a:p>
          <a:p xmlns:a="http://schemas.openxmlformats.org/drawingml/2006/main">
            <a:r>
              <a:t>https://arxiv.org/abs/2005.11401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Conectar à aula anterior de incerteza: uma fala confiante não estima incerteza epistêmica nem cobertura de um intervalo de previsão. A margem deve vir do procedimento numérico declarado, como um ensemble avaliado e calibrado. Intervalo do estado médio e intervalo de uma observação futura têm sentidos distintos. Quando um componente LLM não tem informação suficiente, a redação deve mostrar a lacuna. Para a turma, perguntar de onde viria uma alegação de 90% de chance de cheia.</a:t>
            </a:r>
          </a:p>
          <a:p xmlns:a="http://schemas.openxmlformats.org/drawingml/2006/main">
            <a:r>
              <a:t/>
            </a:r>
          </a:p>
          <a:p xmlns:a="http://schemas.openxmlformats.org/drawingml/2006/main">
            <a:r>
              <a:t>Referências:</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Fluxo proposto, não uma aplicação executada. A física pode entrar como equações de uma PINN, componente de um modelo híbrido, restrição de arquitetura ou diagnóstico externo. Selecionar a alternativa conforme a pergunta e os estados disponíveis. A XAI investiga a previsão do modelo escolhido. O LLM recebe resultados estruturados e documentos para ajudar a produzir um boletim verificável. Não acrescentar todas as ferramentas quando uma abordagem simples atende ao problema.</a:t>
            </a:r>
          </a:p>
          <a:p xmlns:a="http://schemas.openxmlformats.org/drawingml/2006/main">
            <a:r>
              <a:t/>
            </a:r>
          </a:p>
          <a:p xmlns:a="http://schemas.openxmlformats.org/drawingml/2006/main">
            <a:r>
              <a:t>Referências:</a:t>
            </a:r>
          </a:p>
          <a:p xmlns:a="http://schemas.openxmlformats.org/drawingml/2006/main">
            <a:r>
              <a:t>https://keras.io/api/layers/convolution_layers/convolution1d/</a:t>
            </a:r>
          </a:p>
          <a:p xmlns:a="http://schemas.openxmlformats.org/drawingml/2006/main">
            <a:r>
              <a:t>https://arxiv.org/abs/1711.10561</a:t>
            </a:r>
          </a:p>
          <a:p xmlns:a="http://schemas.openxmlformats.org/drawingml/2006/main">
            <a:r>
              <a:t>https://arxiv.org/abs/2005.11401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Explicabilidade pode acompanhar as tarefas numéricas da tabela. Não escolher algoritmo apenas pela sigla. Para chuva em mapas, incluir comparação com persistência e deslocamento de campos quando apropriado. Para vazão, comparar com persistência e um modelo conceitual ou estatístico de referência. Para parâmetros, verificar identificabilidade e solução de referência. Para documentos, uma busca convencional pode ser suficiente. A tabela apresenta possibilidades e não recomendações universais.</a:t>
            </a:r>
          </a:p>
          <a:p xmlns:a="http://schemas.openxmlformats.org/drawingml/2006/main">
            <a:r>
              <a:t/>
            </a:r>
          </a:p>
          <a:p xmlns:a="http://schemas.openxmlformats.org/drawingml/2006/main">
            <a:r>
              <a:t>Referências:</a:t>
            </a:r>
          </a:p>
          <a:p xmlns:a="http://schemas.openxmlformats.org/drawingml/2006/main">
            <a:r>
              <a:t>https://arxiv.org/abs/1506.04214</a:t>
            </a:r>
          </a:p>
          <a:p xmlns:a="http://schemas.openxmlformats.org/drawingml/2006/main">
            <a:r>
              <a:t>https://arxiv.org/abs/1711.10561</a:t>
            </a:r>
          </a:p>
          <a:p xmlns:a="http://schemas.openxmlformats.org/drawingml/2006/main">
            <a:r>
              <a:t>https://arxiv.org/abs/2508.02936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previsão temporal, separar períodos pela data do alvo e reproduzir disponibilidade de entrada. Para imagens, separar eventos ou locais e evitar recortes relacionados nos dois conjuntos. Guardar o teste para a decisão final. Escolher indicadores coerentes com a tarefa: erro de vazão, tempo de pico, volume, IoU/F1 de mapas, ou erro do estado físico. Modelos de maior complexidade precisam demonstrar ganho no problema avaliado e nas condições de uso.</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15–20 minutos, incluindo apresentação curta. Gabarito orientador: grupo 1, mapas e séries disponíveis, CNN temporal/espacial, Q em horizonte fixo e teste em período/evento novo. Grupo 2, imagens alinhadas e máscaras, segmentação U-Net, IoU/F1 por evento e teste geográfico. Grupo 3, cargas/fluxos/contornos, PINN ou inversão convencional, K e identifiabilidade. Grupo 4, JSON de previsão e documentos, RAG e ferramentas, boletim com correspondência entre fonte e afirmação. Aceitar métodos simples quando justificados.</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5 minutos. Respostas: 1) Precisa de tarefa e leitura treinadas. 2) Descreve atribuição da previsão; inferência causal exige hipóteses e desenho próprios. 3) Verificar dados, condições, equação, cobertura do domínio e solução fora do treino. 4) A incerteza de Q exige método numérico e avaliação próprios. 5) Baseline coerente, mesmo orçamento de ajuste e teste independente, com indicador ligado à tarefa. Pedir explicações, além de respostas sim/não.</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Retomar o caso de previsão com uma hora de antecedência. Pedir que a turma coloque cada ferramenta no fluxo e explique por que a usaria. A conclusão da aula deve ser a capacidade de justificar dados, saídas e testes. Avaliar uma aplicação depende do erro numérico, da coerência física, da disponibilidade de entrada e da confiabilidade do fluxo inteiro, e não apenas da arquitetura escolhida.</a:t>
            </a:r>
          </a:p>
          <a:p xmlns:a="http://schemas.openxmlformats.org/drawingml/2006/main">
            <a:r>
              <a:t/>
            </a:r>
          </a:p>
          <a:p xmlns:a="http://schemas.openxmlformats.org/drawingml/2006/main">
            <a:r>
              <a:t>Referências: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Referências para consulta e preparação da aula. Shi et al., Convolutional LSTM Network: A Machine Learning Approach for Precipitation Nowcasting. Ronneberger et al., U-Net: Convolutional Networks for Biomedical Image Segmentation. Lundberg e Lee, A Unified Approach to Interpreting Model Predictions. Sundararajan et al., Axiomatic Attribution for Deep Networks. Selvaraju et al., Grad-CAM: Visual Explanations from Deep Networks via Gradient-based Localization. Yang e Chui, Modeling and interpreting hydrological responses of sustainable urban drainage systems with explainable machine learning methods.</a:t>
            </a:r>
          </a:p>
          <a:p xmlns:a="http://schemas.openxmlformats.org/drawingml/2006/main">
            <a:r>
              <a:t/>
            </a:r>
          </a:p>
          <a:p xmlns:a="http://schemas.openxmlformats.org/drawingml/2006/main">
            <a:r>
              <a:t>Referências:</a:t>
            </a:r>
          </a:p>
          <a:p xmlns:a="http://schemas.openxmlformats.org/drawingml/2006/main">
            <a:r>
              <a:t>https://keras.io/api/layers/convolution_layers/convolution1d/</a:t>
            </a:r>
          </a:p>
          <a:p xmlns:a="http://schemas.openxmlformats.org/drawingml/2006/main">
            <a:r>
              <a:t>https://keras.io/api/layers/convolution_layers/convolution2d/</a:t>
            </a:r>
          </a:p>
          <a:p xmlns:a="http://schemas.openxmlformats.org/drawingml/2006/main">
            <a:r>
              <a:t>https://arxiv.org/abs/1506.04214</a:t>
            </a:r>
          </a:p>
          <a:p xmlns:a="http://schemas.openxmlformats.org/drawingml/2006/main">
            <a:r>
              <a:t>https://arxiv.org/abs/1505.04597</a:t>
            </a:r>
          </a:p>
          <a:p xmlns:a="http://schemas.openxmlformats.org/drawingml/2006/main">
            <a:r>
              <a:t>https://papers.nips.cc/paper/7062-a-unified-approach-to-interpreting-model-predictions</a:t>
            </a:r>
          </a:p>
          <a:p xmlns:a="http://schemas.openxmlformats.org/drawingml/2006/main">
            <a:r>
              <a:t>https://proceedings.mlr.press/v70/sundararajan17a.html</a:t>
            </a:r>
          </a:p>
          <a:p xmlns:a="http://schemas.openxmlformats.org/drawingml/2006/main">
            <a:r>
              <a:t>https://arxiv.org/abs/1610.02391</a:t>
            </a:r>
          </a:p>
          <a:p xmlns:a="http://schemas.openxmlformats.org/drawingml/2006/main">
            <a:r>
              <a:t>https://hess.copernicus.org/articles/25/5839/2021/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Raissi et al., Physics-informed neural networks: A deep learning framework for solving forward and inverse problems involving nonlinear partial differential equations, JCP 378, 686–707, 2019. Preprint de fundamentos também listado. Tartakovsky et al., Physics-Informed Deep Neural Networks for Learning Parameters and Constitutive Relationships in Subsurface Flow Problems. Wang et al., Understanding and Mitigating Gradient Flow Pathologies in Physics-Informed Neural Networks. Vaswani et al., Attention Is All You Need. Lewis et al., Retrieval-Augmented Generation for Knowledge-Intensive NLP Tasks. Yan et al., AQUAH: Automatic Quantification and Unified Agent in Hydrology, artigo de workshop ICCV SEA 2025. Zhu et al., Large Language Models as Calibration Agents in Hydrological Modeling: Feasibility and Limitations.</a:t>
            </a:r>
          </a:p>
          <a:p xmlns:a="http://schemas.openxmlformats.org/drawingml/2006/main">
            <a:r>
              <a:t/>
            </a:r>
          </a:p>
          <a:p xmlns:a="http://schemas.openxmlformats.org/drawingml/2006/main">
            <a:r>
              <a:t>Referências:</a:t>
            </a:r>
          </a:p>
          <a:p xmlns:a="http://schemas.openxmlformats.org/drawingml/2006/main">
            <a:r>
              <a:t>https://doi.org/10.1016/j.jcp.2018.10.045</a:t>
            </a:r>
          </a:p>
          <a:p xmlns:a="http://schemas.openxmlformats.org/drawingml/2006/main">
            <a:r>
              <a:t>https://arxiv.org/abs/1711.10561</a:t>
            </a:r>
          </a:p>
          <a:p xmlns:a="http://schemas.openxmlformats.org/drawingml/2006/main">
            <a:r>
              <a:t>https://doi.org/10.1029/2019WR026731</a:t>
            </a:r>
          </a:p>
          <a:p xmlns:a="http://schemas.openxmlformats.org/drawingml/2006/main">
            <a:r>
              <a:t>https://doi.org/10.1137/20M1318043</a:t>
            </a:r>
          </a:p>
          <a:p xmlns:a="http://schemas.openxmlformats.org/drawingml/2006/main">
            <a:r>
              <a:t>https://arxiv.org/abs/1706.03762</a:t>
            </a:r>
          </a:p>
          <a:p xmlns:a="http://schemas.openxmlformats.org/drawingml/2006/main">
            <a:r>
              <a:t>https://arxiv.org/abs/2005.11401</a:t>
            </a:r>
          </a:p>
          <a:p xmlns:a="http://schemas.openxmlformats.org/drawingml/2006/main">
            <a:r>
              <a:t>https://arxiv.org/abs/2508.02936</a:t>
            </a:r>
          </a:p>
          <a:p xmlns:a="http://schemas.openxmlformats.org/drawingml/2006/main">
            <a:r>
              <a:t>https://doi.org/10.1029/2025GL120043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Percorra os volumes da esquerda para a direita. As pilhas representam canais e mapas de características. A imagem original trata de dígitos e usa subsampling. Para vazão, adaptar a entrada e a camada final à regressão. Não tratar as dimensões desta figura como uma arquitetura hidrológica já treinada.</a:t>
            </a:r>
          </a:p>
          <a:p xmlns:a="http://schemas.openxmlformats.org/drawingml/2006/main">
            <a:r>
              <a:t/>
            </a:r>
          </a:p>
          <a:p xmlns:a="http://schemas.openxmlformats.org/drawingml/2006/main">
            <a:r>
              <a:t>Fontes da figura e do conteúdo:</a:t>
            </a:r>
          </a:p>
          <a:p xmlns:a="http://schemas.openxmlformats.org/drawingml/2006/main">
            <a:r>
              <a:t>https://docs.pytorch.org/tutorials/beginner/blitz/neural_networks_tutorial.html</a:t>
            </a:r>
          </a:p>
          <a:p xmlns:a="http://schemas.openxmlformats.org/drawingml/2006/main">
            <a:r>
              <a:t>https://docs.pytorch.org/tutorials/_images/mnist.png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Mostre a mesma imagem atravessando as camadas. Cada faixa exibe exemplos de mapas internos. Diferencie mapa de ativação de mapa de explicação. Relacione os padrões espaciais a campos de chuva.</a:t>
            </a:r>
          </a:p>
          <a:p xmlns:a="http://schemas.openxmlformats.org/drawingml/2006/main">
            <a:r>
              <a:t/>
            </a:r>
          </a:p>
          <a:p xmlns:a="http://schemas.openxmlformats.org/drawingml/2006/main">
            <a:r>
              <a:t>Fontes da figura e do conteúdo:</a:t>
            </a:r>
          </a:p>
          <a:p xmlns:a="http://schemas.openxmlformats.org/drawingml/2006/main">
            <a:r>
              <a:t>https://cs231n.github.io/convolutional-networks/</a:t>
            </a:r>
          </a:p>
          <a:p xmlns:a="http://schemas.openxmlformats.org/drawingml/2006/main">
            <a:r>
              <a:t>https://cs231n.github.io/assets/cnn/convnet.jpeg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Peça aos alunos que encontrem os quatro máximos: 6, 8, 3 e 4. A redução atua em cada canal. Discuta a perda de detalhes espaciais.</a:t>
            </a:r>
          </a:p>
          <a:p xmlns:a="http://schemas.openxmlformats.org/drawingml/2006/main">
            <a:r>
              <a:t/>
            </a:r>
          </a:p>
          <a:p xmlns:a="http://schemas.openxmlformats.org/drawingml/2006/main">
            <a:r>
              <a:t>Fontes da figura e do conteúdo:</a:t>
            </a:r>
          </a:p>
          <a:p xmlns:a="http://schemas.openxmlformats.org/drawingml/2006/main">
            <a:r>
              <a:t>https://cs231n.github.io/convolutional-networks/</a:t>
            </a:r>
          </a:p>
          <a:p xmlns:a="http://schemas.openxmlformats.org/drawingml/2006/main">
            <a:r>
              <a:t>https://cs231n.github.io/assets/cnn/maxpool.jpeg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Siga o caminho em U. As setas cinza representam cópia e recorte, vermelhas max pooling, verdes up-convolution. A figura original usa convoluções sem padding, por isso a saída tem tamanho diferente da entrada. A aplicação a inundação requer imagens, rótulos e validação próprios.</a:t>
            </a:r>
          </a:p>
          <a:p xmlns:a="http://schemas.openxmlformats.org/drawingml/2006/main">
            <a:r>
              <a:t/>
            </a:r>
          </a:p>
          <a:p xmlns:a="http://schemas.openxmlformats.org/drawingml/2006/main">
            <a:r>
              <a:t>Fontes da figura e do conteúdo:</a:t>
            </a:r>
          </a:p>
          <a:p xmlns:a="http://schemas.openxmlformats.org/drawingml/2006/main">
            <a:r>
              <a:t>https://lmbweb.informatik.uni-freiburg.de/people/ronneber/u-net/</a:t>
            </a:r>
          </a:p>
          <a:p xmlns:a="http://schemas.openxmlformats.org/drawingml/2006/main">
            <a:r>
              <a:t>https://arxiv.org/abs/1505.04597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a imagem aérea com a máscara da mesma cena. A figura apresenta rótulos anotados, não previsões geradas nesta aula. Ciano indica água, vermelho edifício inundado, verde gramínea e azul árvores. O treino usa imagem e máscara; a inferência estima as classes. Avaliar IoU por classe e eventos independentes. Licença do conjunto: CDLA permissiva. DOI: 10.1109/ACCESS.2021.3090981.</a:t>
            </a:r>
          </a:p>
          <a:p xmlns:a="http://schemas.openxmlformats.org/drawingml/2006/main">
            <a:r>
              <a:t/>
            </a:r>
          </a:p>
          <a:p xmlns:a="http://schemas.openxmlformats.org/drawingml/2006/main">
            <a:r>
              <a:t>Fontes da figura e do conteúdo:</a:t>
            </a:r>
          </a:p>
          <a:p xmlns:a="http://schemas.openxmlformats.org/drawingml/2006/main">
            <a:r>
              <a:t>https://github.com/BinaLab/FloodNet-Supervised_v1.0</a:t>
            </a:r>
          </a:p>
          <a:p xmlns:a="http://schemas.openxmlformats.org/drawingml/2006/main">
            <a:r>
              <a:t>https://raw.githubusercontent.com/BinaLab/FloodNet-Supervised_v1.0/main/FloodNet-Sample.jpg</a:t>
            </a:r>
          </a:p>
          <a:p xmlns:a="http://schemas.openxmlformats.org/drawingml/2006/main">
            <a:r>
              <a:t>https://doi.org/10.1109/ACCESS.2021.3090981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Aponte a imagem de entrada, CNN, mapas de características, alvo e retorno do gradiente. Setas pretas mostram ativações e azuis mostram gradientes. O Grad-CAM pondera os mapas convolucionais e aplica ReLU, destacando apoio positivo à saída escolhida. Guided Grad-CAM é uma etapa adicional. Para hidrologia, selecionar uma saída diferenciável e uma camada convolucional. O mapa é grosseiro e não demonstra causalidade.</a:t>
            </a:r>
          </a:p>
          <a:p xmlns:a="http://schemas.openxmlformats.org/drawingml/2006/main">
            <a:r>
              <a:t/>
            </a:r>
          </a:p>
          <a:p xmlns:a="http://schemas.openxmlformats.org/drawingml/2006/main">
            <a:r>
              <a:t>Fontes da figura e do conteúdo:</a:t>
            </a:r>
          </a:p>
          <a:p xmlns:a="http://schemas.openxmlformats.org/drawingml/2006/main">
            <a:r>
              <a:t>https://openaccess.thecvf.com/content_iccv_2017/html/Selvaraju_Grad-CAM_Visual_Explanations_ICCV_2017_paper.html</a:t>
            </a:r>
          </a:p>
          <a:p xmlns:a="http://schemas.openxmlformats.org/drawingml/2006/main">
            <a:r>
              <a:t>https://openaccess.thecvf.com/content_ICCV_2017/papers/Selvaraju_Grad-CAM_Visual_Explanations_ICCV_2017_paper.pdf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09f463607842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98e761ff5e43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bde50d4693448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eb66d5f50743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adabf8100d549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a66d6a6f7744f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0ce33994e95430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98b4fa2f2e74f5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6907ff7fa9e4c2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048e65d370d468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f893d5c8d114c60" /></Relationships>
</file>

<file path=ppt/slideLayouts/slideLayout1.xml><?xml version="1.0" encoding="utf-8"?>
<p:sldLayout xmlns:p="http://schemas.openxmlformats.org/presentationml/2006/main" type="title" preserve="1">
  <p:cSld name="Slide de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B11BB454-8679-D779-91CD-901E65671285}"/>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Clique para editar o título Mestre</a:t>
            </a:r>
            <a:endParaRPr/>
          </a:p>
        </p:txBody>
      </p:sp>
      <p:sp>
        <p:nvSpPr>
          <p:cNvPr id="3" name="Subtítulo 2">
            <a:extLst xmlns:a="http://schemas.openxmlformats.org/drawingml/2006/main">
              <a:ext uri="{FF2B5EF4-FFF2-40B4-BE49-F238E27FC236}">
                <a16:creationId xmlns:a16="http://schemas.microsoft.com/office/drawing/2014/main" id="{00A0B855-82A6-73F3-ADAE-C145294CF551}"/>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Clique para editar o estilo do subtítulo Mestre</a:t>
            </a:r>
            <a:endParaRPr/>
          </a:p>
        </p:txBody>
      </p:sp>
      <p:sp>
        <p:nvSpPr>
          <p:cNvPr id="4" name="Espaço Reservado para Data 3">
            <a:extLst xmlns:a="http://schemas.openxmlformats.org/drawingml/2006/main">
              <a:ext uri="{FF2B5EF4-FFF2-40B4-BE49-F238E27FC236}">
                <a16:creationId xmlns:a16="http://schemas.microsoft.com/office/drawing/2014/main" id="{20558CA8-42E6-5BD9-D627-A3789914B2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5" name="Espaço Reservado para Rodapé 4">
            <a:extLst xmlns:a="http://schemas.openxmlformats.org/drawingml/2006/main">
              <a:ext uri="{FF2B5EF4-FFF2-40B4-BE49-F238E27FC236}">
                <a16:creationId xmlns:a16="http://schemas.microsoft.com/office/drawing/2014/main" id="{C09D1132-49C2-9933-73CE-0C476DDA01E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Espaço Reservado para Número de Slide 5">
            <a:extLst xmlns:a="http://schemas.openxmlformats.org/drawingml/2006/main">
              <a:ext uri="{FF2B5EF4-FFF2-40B4-BE49-F238E27FC236}">
                <a16:creationId xmlns:a16="http://schemas.microsoft.com/office/drawing/2014/main" id="{DC7B3DBD-80A4-9994-908D-07D68CC94D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2.xml><?xml version="1.0" encoding="utf-8"?>
<p:sldLayout xmlns:p="http://schemas.openxmlformats.org/presentationml/2006/main" type="obj" preserve="1">
  <p:cSld name="Título e Conteúd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FA0E026-F824-9DB1-FE69-7D3514C6233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Espaço Reservado para Conteúdo 2">
            <a:extLst xmlns:a="http://schemas.openxmlformats.org/drawingml/2006/main">
              <a:ext uri="{FF2B5EF4-FFF2-40B4-BE49-F238E27FC236}">
                <a16:creationId xmlns:a16="http://schemas.microsoft.com/office/drawing/2014/main" id="{EC3B507B-5DAE-5152-E1AD-EE68A64B5EF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Espaço Reservado para Data 3">
            <a:extLst xmlns:a="http://schemas.openxmlformats.org/drawingml/2006/main">
              <a:ext uri="{FF2B5EF4-FFF2-40B4-BE49-F238E27FC236}">
                <a16:creationId xmlns:a16="http://schemas.microsoft.com/office/drawing/2014/main" id="{14B70DB5-447D-DB44-9AF1-C0BAACC9A6A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5" name="Espaço Reservado para Rodapé 4">
            <a:extLst xmlns:a="http://schemas.openxmlformats.org/drawingml/2006/main">
              <a:ext uri="{FF2B5EF4-FFF2-40B4-BE49-F238E27FC236}">
                <a16:creationId xmlns:a16="http://schemas.microsoft.com/office/drawing/2014/main" id="{8E9A6542-33C6-4E8A-955A-FFF9456B91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Espaço Reservado para Número de Slide 5">
            <a:extLst xmlns:a="http://schemas.openxmlformats.org/drawingml/2006/main">
              <a:ext uri="{FF2B5EF4-FFF2-40B4-BE49-F238E27FC236}">
                <a16:creationId xmlns:a16="http://schemas.microsoft.com/office/drawing/2014/main" id="{97DEB9CC-0C72-DEF6-E0FD-F769BDB2AF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3.xml><?xml version="1.0" encoding="utf-8"?>
<p:sldLayout xmlns:p="http://schemas.openxmlformats.org/presentationml/2006/main" type="secHead" preserve="1">
  <p:cSld name="Cabeçalho da Seçã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95D848F-D36E-1918-5D9C-23455336D3B1}"/>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Clique para editar o título Mestre</a:t>
            </a:r>
            <a:endParaRPr/>
          </a:p>
        </p:txBody>
      </p:sp>
      <p:sp>
        <p:nvSpPr>
          <p:cNvPr id="3" name="Espaço Reservado para Texto 2">
            <a:extLst xmlns:a="http://schemas.openxmlformats.org/drawingml/2006/main">
              <a:ext uri="{FF2B5EF4-FFF2-40B4-BE49-F238E27FC236}">
                <a16:creationId xmlns:a16="http://schemas.microsoft.com/office/drawing/2014/main" id="{E36679D2-71E9-3160-A846-5ADD7544C200}"/>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Clique para editar os estilos de texto Mestres</a:t>
            </a:r>
          </a:p>
        </p:txBody>
      </p:sp>
      <p:sp>
        <p:nvSpPr>
          <p:cNvPr id="4" name="Espaço Reservado para Data 3">
            <a:extLst xmlns:a="http://schemas.openxmlformats.org/drawingml/2006/main">
              <a:ext uri="{FF2B5EF4-FFF2-40B4-BE49-F238E27FC236}">
                <a16:creationId xmlns:a16="http://schemas.microsoft.com/office/drawing/2014/main" id="{5537D26F-9630-40B2-0B39-EEF280B28F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5" name="Espaço Reservado para Rodapé 4">
            <a:extLst xmlns:a="http://schemas.openxmlformats.org/drawingml/2006/main">
              <a:ext uri="{FF2B5EF4-FFF2-40B4-BE49-F238E27FC236}">
                <a16:creationId xmlns:a16="http://schemas.microsoft.com/office/drawing/2014/main" id="{413F4993-24E1-9D36-0A74-207423F413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Espaço Reservado para Número de Slide 5">
            <a:extLst xmlns:a="http://schemas.openxmlformats.org/drawingml/2006/main">
              <a:ext uri="{FF2B5EF4-FFF2-40B4-BE49-F238E27FC236}">
                <a16:creationId xmlns:a16="http://schemas.microsoft.com/office/drawing/2014/main" id="{C195F4AE-DC88-EE3B-B261-373A24D74D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4.xml><?xml version="1.0" encoding="utf-8"?>
<p:sldLayout xmlns:p="http://schemas.openxmlformats.org/presentationml/2006/main" type="twoObj" preserve="1">
  <p:cSld name="Duas Partes de Conteúd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0ECB9B22-BE19-D53D-6BFE-7EE67D4BCF7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Espaço Reservado para Conteúdo 2">
            <a:extLst xmlns:a="http://schemas.openxmlformats.org/drawingml/2006/main">
              <a:ext uri="{FF2B5EF4-FFF2-40B4-BE49-F238E27FC236}">
                <a16:creationId xmlns:a16="http://schemas.microsoft.com/office/drawing/2014/main" id="{7F52B350-C854-D597-1369-1251896D2E6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Espaço Reservado para Conteúdo 3">
            <a:extLst xmlns:a="http://schemas.openxmlformats.org/drawingml/2006/main">
              <a:ext uri="{FF2B5EF4-FFF2-40B4-BE49-F238E27FC236}">
                <a16:creationId xmlns:a16="http://schemas.microsoft.com/office/drawing/2014/main" id="{F89E7523-364F-92D4-B857-4BE49AE299DB}"/>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5" name="Espaço Reservado para Data 4">
            <a:extLst xmlns:a="http://schemas.openxmlformats.org/drawingml/2006/main">
              <a:ext uri="{FF2B5EF4-FFF2-40B4-BE49-F238E27FC236}">
                <a16:creationId xmlns:a16="http://schemas.microsoft.com/office/drawing/2014/main" id="{1CF1DC5B-BDD2-F986-8102-B2DB2F7E6A8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6" name="Espaço Reservado para Rodapé 5">
            <a:extLst xmlns:a="http://schemas.openxmlformats.org/drawingml/2006/main">
              <a:ext uri="{FF2B5EF4-FFF2-40B4-BE49-F238E27FC236}">
                <a16:creationId xmlns:a16="http://schemas.microsoft.com/office/drawing/2014/main" id="{D0DE4E83-F323-43DB-E264-DAF50F3BC69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Espaço Reservado para Número de Slide 6">
            <a:extLst xmlns:a="http://schemas.openxmlformats.org/drawingml/2006/main">
              <a:ext uri="{FF2B5EF4-FFF2-40B4-BE49-F238E27FC236}">
                <a16:creationId xmlns:a16="http://schemas.microsoft.com/office/drawing/2014/main" id="{0DADBB9A-EC0E-B450-3B25-7247EB2659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5.xml><?xml version="1.0" encoding="utf-8"?>
<p:sldLayout xmlns:p="http://schemas.openxmlformats.org/presentationml/2006/main" type="twoTxTwoObj" preserve="1">
  <p:cSld name="Comparaçã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837B58BD-5541-A732-72E6-D8AC31C873B6}"/>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Espaço Reservado para Texto 2">
            <a:extLst xmlns:a="http://schemas.openxmlformats.org/drawingml/2006/main">
              <a:ext uri="{FF2B5EF4-FFF2-40B4-BE49-F238E27FC236}">
                <a16:creationId xmlns:a16="http://schemas.microsoft.com/office/drawing/2014/main" id="{753C9DEB-CBF7-5347-F1E9-1F132805E988}"/>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Clique para editar os estilos de texto Mestres</a:t>
            </a:r>
          </a:p>
        </p:txBody>
      </p:sp>
      <p:sp>
        <p:nvSpPr>
          <p:cNvPr id="4" name="Espaço Reservado para Conteúdo 3">
            <a:extLst xmlns:a="http://schemas.openxmlformats.org/drawingml/2006/main">
              <a:ext uri="{FF2B5EF4-FFF2-40B4-BE49-F238E27FC236}">
                <a16:creationId xmlns:a16="http://schemas.microsoft.com/office/drawing/2014/main" id="{D8F4E0D4-0CC5-938D-5CD7-10F9CD06A6D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5" name="Espaço Reservado para Texto 4">
            <a:extLst xmlns:a="http://schemas.openxmlformats.org/drawingml/2006/main">
              <a:ext uri="{FF2B5EF4-FFF2-40B4-BE49-F238E27FC236}">
                <a16:creationId xmlns:a16="http://schemas.microsoft.com/office/drawing/2014/main" id="{C1F902CE-1195-FB85-7320-3FD03B83F65A}"/>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Clique para editar os estilos de texto Mestres</a:t>
            </a:r>
          </a:p>
        </p:txBody>
      </p:sp>
      <p:sp>
        <p:nvSpPr>
          <p:cNvPr id="6" name="Espaço Reservado para Conteúdo 5">
            <a:extLst xmlns:a="http://schemas.openxmlformats.org/drawingml/2006/main">
              <a:ext uri="{FF2B5EF4-FFF2-40B4-BE49-F238E27FC236}">
                <a16:creationId xmlns:a16="http://schemas.microsoft.com/office/drawing/2014/main" id="{E503EAA7-461E-E2A3-2CFC-3973368F53E2}"/>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7" name="Espaço Reservado para Data 6">
            <a:extLst xmlns:a="http://schemas.openxmlformats.org/drawingml/2006/main">
              <a:ext uri="{FF2B5EF4-FFF2-40B4-BE49-F238E27FC236}">
                <a16:creationId xmlns:a16="http://schemas.microsoft.com/office/drawing/2014/main" id="{74063CC9-A056-14E6-E6BF-737C16A0E9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8" name="Espaço Reservado para Rodapé 7">
            <a:extLst xmlns:a="http://schemas.openxmlformats.org/drawingml/2006/main">
              <a:ext uri="{FF2B5EF4-FFF2-40B4-BE49-F238E27FC236}">
                <a16:creationId xmlns:a16="http://schemas.microsoft.com/office/drawing/2014/main" id="{B85B70EF-9748-A8DF-3DDF-22F7845980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Espaço Reservado para Número de Slide 8">
            <a:extLst xmlns:a="http://schemas.openxmlformats.org/drawingml/2006/main">
              <a:ext uri="{FF2B5EF4-FFF2-40B4-BE49-F238E27FC236}">
                <a16:creationId xmlns:a16="http://schemas.microsoft.com/office/drawing/2014/main" id="{D96794A7-C9A0-350B-BBA7-F66657F5EB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6.xml><?xml version="1.0" encoding="utf-8"?>
<p:sldLayout xmlns:p="http://schemas.openxmlformats.org/presentationml/2006/main" type="titleOnly" preserve="1">
  <p:cSld name="Somente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9A235169-EBAF-2969-78DC-BD432CA630E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Espaço Reservado para Data 2">
            <a:extLst xmlns:a="http://schemas.openxmlformats.org/drawingml/2006/main">
              <a:ext uri="{FF2B5EF4-FFF2-40B4-BE49-F238E27FC236}">
                <a16:creationId xmlns:a16="http://schemas.microsoft.com/office/drawing/2014/main" id="{E9B3E13C-6B25-EF21-F69D-8A5414F3FC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4" name="Espaço Reservado para Rodapé 3">
            <a:extLst xmlns:a="http://schemas.openxmlformats.org/drawingml/2006/main">
              <a:ext uri="{FF2B5EF4-FFF2-40B4-BE49-F238E27FC236}">
                <a16:creationId xmlns:a16="http://schemas.microsoft.com/office/drawing/2014/main" id="{51F925A9-9B8D-DAF3-BAD5-7892B3D1EA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ço Reservado para Número de Slide 4">
            <a:extLst xmlns:a="http://schemas.openxmlformats.org/drawingml/2006/main">
              <a:ext uri="{FF2B5EF4-FFF2-40B4-BE49-F238E27FC236}">
                <a16:creationId xmlns:a16="http://schemas.microsoft.com/office/drawing/2014/main" id="{FE20F86F-47CC-667E-85F1-096ACBD0E30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7.xml><?xml version="1.0" encoding="utf-8"?>
<p:sldLayout xmlns:p="http://schemas.openxmlformats.org/presentationml/2006/main" type="blank" preserve="1">
  <p:cSld name="Em Branco">
    <p:spTree>
      <p:nvGrpSpPr>
        <p:cNvPr id="1" name=""/>
        <p:cNvGrpSpPr/>
        <p:nvPr/>
      </p:nvGrpSpPr>
      <p:grpSpPr>
        <a:xfrm xmlns:a="http://schemas.openxmlformats.org/drawingml/2006/main"/>
      </p:grpSpPr>
      <p:sp>
        <p:nvSpPr>
          <p:cNvPr id="2" name="Espaço Reservado para Data 1">
            <a:extLst xmlns:a="http://schemas.openxmlformats.org/drawingml/2006/main">
              <a:ext uri="{FF2B5EF4-FFF2-40B4-BE49-F238E27FC236}">
                <a16:creationId xmlns:a16="http://schemas.microsoft.com/office/drawing/2014/main" id="{53E002A8-D20C-06ED-45F5-08417C2D62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3" name="Espaço Reservado para Rodapé 2">
            <a:extLst xmlns:a="http://schemas.openxmlformats.org/drawingml/2006/main">
              <a:ext uri="{FF2B5EF4-FFF2-40B4-BE49-F238E27FC236}">
                <a16:creationId xmlns:a16="http://schemas.microsoft.com/office/drawing/2014/main" id="{D5DEE1B6-CC94-A030-BEEC-7CCABF5AF8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Espaço Reservado para Número de Slide 3">
            <a:extLst xmlns:a="http://schemas.openxmlformats.org/drawingml/2006/main">
              <a:ext uri="{FF2B5EF4-FFF2-40B4-BE49-F238E27FC236}">
                <a16:creationId xmlns:a16="http://schemas.microsoft.com/office/drawing/2014/main" id="{B3FEDB54-2E2A-FEC7-9ECE-88957B0DDF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8.xml><?xml version="1.0" encoding="utf-8"?>
<p:sldLayout xmlns:p="http://schemas.openxmlformats.org/presentationml/2006/main" type="objTx" preserve="1">
  <p:cSld name="Conteúdo com Legenda">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C18163C-452A-E993-953A-BD4216890297}"/>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Clique para editar o título Mestre</a:t>
            </a:r>
            <a:endParaRPr/>
          </a:p>
        </p:txBody>
      </p:sp>
      <p:sp>
        <p:nvSpPr>
          <p:cNvPr id="3" name="Espaço Reservado para Conteúdo 2">
            <a:extLst xmlns:a="http://schemas.openxmlformats.org/drawingml/2006/main">
              <a:ext uri="{FF2B5EF4-FFF2-40B4-BE49-F238E27FC236}">
                <a16:creationId xmlns:a16="http://schemas.microsoft.com/office/drawing/2014/main" id="{05B76F12-7527-69D0-8C96-25FB246DBA02}"/>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Espaço Reservado para Texto 3">
            <a:extLst xmlns:a="http://schemas.openxmlformats.org/drawingml/2006/main">
              <a:ext uri="{FF2B5EF4-FFF2-40B4-BE49-F238E27FC236}">
                <a16:creationId xmlns:a16="http://schemas.microsoft.com/office/drawing/2014/main" id="{901A367E-080A-7768-8B36-FF18F750E3CF}"/>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Clique para editar os estilos de texto Mestres</a:t>
            </a:r>
          </a:p>
        </p:txBody>
      </p:sp>
      <p:sp>
        <p:nvSpPr>
          <p:cNvPr id="5" name="Espaço Reservado para Data 4">
            <a:extLst xmlns:a="http://schemas.openxmlformats.org/drawingml/2006/main">
              <a:ext uri="{FF2B5EF4-FFF2-40B4-BE49-F238E27FC236}">
                <a16:creationId xmlns:a16="http://schemas.microsoft.com/office/drawing/2014/main" id="{DD46E5A0-2775-2458-F8CA-8618054BE5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6" name="Espaço Reservado para Rodapé 5">
            <a:extLst xmlns:a="http://schemas.openxmlformats.org/drawingml/2006/main">
              <a:ext uri="{FF2B5EF4-FFF2-40B4-BE49-F238E27FC236}">
                <a16:creationId xmlns:a16="http://schemas.microsoft.com/office/drawing/2014/main" id="{7E011452-E5BC-9116-D5C9-62CE8EA3E9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Espaço Reservado para Número de Slide 6">
            <a:extLst xmlns:a="http://schemas.openxmlformats.org/drawingml/2006/main">
              <a:ext uri="{FF2B5EF4-FFF2-40B4-BE49-F238E27FC236}">
                <a16:creationId xmlns:a16="http://schemas.microsoft.com/office/drawing/2014/main" id="{1FAA2280-2F9B-CD21-76FE-9B687CC4F1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9.xml><?xml version="1.0" encoding="utf-8"?>
<p:sldLayout xmlns:p="http://schemas.openxmlformats.org/presentationml/2006/main" type="picTx" preserve="1">
  <p:cSld name="Imagem com Legenda">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5A584B22-0037-D779-B31E-0CBD5D9590A5}"/>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Clique para editar o título Mestre</a:t>
            </a:r>
            <a:endParaRPr/>
          </a:p>
        </p:txBody>
      </p:sp>
      <p:sp>
        <p:nvSpPr>
          <p:cNvPr id="3" name="Espaço Reservado para Imagem 2">
            <a:extLst xmlns:a="http://schemas.openxmlformats.org/drawingml/2006/main">
              <a:ext uri="{FF2B5EF4-FFF2-40B4-BE49-F238E27FC236}">
                <a16:creationId xmlns:a16="http://schemas.microsoft.com/office/drawing/2014/main" id="{63D9A5A8-522F-7442-423C-FF960A2172B0}"/>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Espaço Reservado para Texto 3">
            <a:extLst xmlns:a="http://schemas.openxmlformats.org/drawingml/2006/main">
              <a:ext uri="{FF2B5EF4-FFF2-40B4-BE49-F238E27FC236}">
                <a16:creationId xmlns:a16="http://schemas.microsoft.com/office/drawing/2014/main" id="{2CF14AF1-770E-87EA-708A-C58DFCD1690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Clique para editar os estilos de texto Mestres</a:t>
            </a:r>
          </a:p>
        </p:txBody>
      </p:sp>
      <p:sp>
        <p:nvSpPr>
          <p:cNvPr id="5" name="Espaço Reservado para Data 4">
            <a:extLst xmlns:a="http://schemas.openxmlformats.org/drawingml/2006/main">
              <a:ext uri="{FF2B5EF4-FFF2-40B4-BE49-F238E27FC236}">
                <a16:creationId xmlns:a16="http://schemas.microsoft.com/office/drawing/2014/main" id="{56FB4D3B-09A8-A617-C314-9B55A788B5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6" name="Espaço Reservado para Rodapé 5">
            <a:extLst xmlns:a="http://schemas.openxmlformats.org/drawingml/2006/main">
              <a:ext uri="{FF2B5EF4-FFF2-40B4-BE49-F238E27FC236}">
                <a16:creationId xmlns:a16="http://schemas.microsoft.com/office/drawing/2014/main" id="{7AA8C1D2-73FA-FB37-E0C4-450AB6B88E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Espaço Reservado para Número de Slide 6">
            <a:extLst xmlns:a="http://schemas.openxmlformats.org/drawingml/2006/main">
              <a:ext uri="{FF2B5EF4-FFF2-40B4-BE49-F238E27FC236}">
                <a16:creationId xmlns:a16="http://schemas.microsoft.com/office/drawing/2014/main" id="{4F0F63AE-5C5C-7FB9-D135-73B43C1CD4E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10.xml><?xml version="1.0" encoding="utf-8"?>
<p:sldLayout xmlns:p="http://schemas.openxmlformats.org/presentationml/2006/main" type="vertTx" preserve="1">
  <p:cSld name="Título e Texto Vertical">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53D6BE3-10E2-6CD8-0769-71190CE3F27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Espaço Reservado para Texto Vertical 2">
            <a:extLst xmlns:a="http://schemas.openxmlformats.org/drawingml/2006/main">
              <a:ext uri="{FF2B5EF4-FFF2-40B4-BE49-F238E27FC236}">
                <a16:creationId xmlns:a16="http://schemas.microsoft.com/office/drawing/2014/main" id="{3DA5C966-7F5A-6880-8665-CEE849BC291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Espaço Reservado para Data 3">
            <a:extLst xmlns:a="http://schemas.openxmlformats.org/drawingml/2006/main">
              <a:ext uri="{FF2B5EF4-FFF2-40B4-BE49-F238E27FC236}">
                <a16:creationId xmlns:a16="http://schemas.microsoft.com/office/drawing/2014/main" id="{52E76C36-04BE-58DF-EF8D-5A7F366F4B9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5" name="Espaço Reservado para Rodapé 4">
            <a:extLst xmlns:a="http://schemas.openxmlformats.org/drawingml/2006/main">
              <a:ext uri="{FF2B5EF4-FFF2-40B4-BE49-F238E27FC236}">
                <a16:creationId xmlns:a16="http://schemas.microsoft.com/office/drawing/2014/main" id="{AB0FC24D-5B3A-704C-DFDF-8E866088A7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Espaço Reservado para Número de Slide 5">
            <a:extLst xmlns:a="http://schemas.openxmlformats.org/drawingml/2006/main">
              <a:ext uri="{FF2B5EF4-FFF2-40B4-BE49-F238E27FC236}">
                <a16:creationId xmlns:a16="http://schemas.microsoft.com/office/drawing/2014/main" id="{A18A054C-500B-9D07-AD5D-40EC067468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11.xml><?xml version="1.0" encoding="utf-8"?>
<p:sldLayout xmlns:p="http://schemas.openxmlformats.org/presentationml/2006/main" type="vertTitleAndTx" preserve="1">
  <p:cSld name="Texto e Título Vertical">
    <p:spTree>
      <p:nvGrpSpPr>
        <p:cNvPr id="1" name=""/>
        <p:cNvGrpSpPr/>
        <p:nvPr/>
      </p:nvGrpSpPr>
      <p:grpSpPr>
        <a:xfrm xmlns:a="http://schemas.openxmlformats.org/drawingml/2006/main"/>
      </p:grpSpPr>
      <p:sp>
        <p:nvSpPr>
          <p:cNvPr id="2" name="Título Vertical 1">
            <a:extLst xmlns:a="http://schemas.openxmlformats.org/drawingml/2006/main">
              <a:ext uri="{FF2B5EF4-FFF2-40B4-BE49-F238E27FC236}">
                <a16:creationId xmlns:a16="http://schemas.microsoft.com/office/drawing/2014/main" id="{B6D4F47A-3228-1470-F934-DD8291D7D8C5}"/>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Clique para editar o título Mestre</a:t>
            </a:r>
            <a:endParaRPr/>
          </a:p>
        </p:txBody>
      </p:sp>
      <p:sp>
        <p:nvSpPr>
          <p:cNvPr id="3" name="Espaço Reservado para Texto Vertical 2">
            <a:extLst xmlns:a="http://schemas.openxmlformats.org/drawingml/2006/main">
              <a:ext uri="{FF2B5EF4-FFF2-40B4-BE49-F238E27FC236}">
                <a16:creationId xmlns:a16="http://schemas.microsoft.com/office/drawing/2014/main" id="{15A5D2FF-F483-A3D2-DB8D-50C574FAE04C}"/>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Espaço Reservado para Data 3">
            <a:extLst xmlns:a="http://schemas.openxmlformats.org/drawingml/2006/main">
              <a:ext uri="{FF2B5EF4-FFF2-40B4-BE49-F238E27FC236}">
                <a16:creationId xmlns:a16="http://schemas.microsoft.com/office/drawing/2014/main" id="{B9970E35-3EDF-6C25-6972-B74A1B64AB4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5" name="Espaço Reservado para Rodapé 4">
            <a:extLst xmlns:a="http://schemas.openxmlformats.org/drawingml/2006/main">
              <a:ext uri="{FF2B5EF4-FFF2-40B4-BE49-F238E27FC236}">
                <a16:creationId xmlns:a16="http://schemas.microsoft.com/office/drawing/2014/main" id="{F4EFB325-6C23-AB9E-812A-C96962039F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Espaço Reservado para Número de Slide 5">
            <a:extLst xmlns:a="http://schemas.openxmlformats.org/drawingml/2006/main">
              <a:ext uri="{FF2B5EF4-FFF2-40B4-BE49-F238E27FC236}">
                <a16:creationId xmlns:a16="http://schemas.microsoft.com/office/drawing/2014/main" id="{73F99347-9D35-5119-B481-C2D0DE24CC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5f6d33d18b487f" /><Relationship Type="http://schemas.openxmlformats.org/officeDocument/2006/relationships/slideLayout" Target="/ppt/slideLayouts/slideLayout1.xml" Id="Re5fefda6328446b2" /><Relationship Type="http://schemas.openxmlformats.org/officeDocument/2006/relationships/slideLayout" Target="/ppt/slideLayouts/slideLayout2.xml" Id="Rb953288b632842d0" /><Relationship Type="http://schemas.openxmlformats.org/officeDocument/2006/relationships/slideLayout" Target="/ppt/slideLayouts/slideLayout3.xml" Id="R4198d81aa9dd4cc9" /><Relationship Type="http://schemas.openxmlformats.org/officeDocument/2006/relationships/slideLayout" Target="/ppt/slideLayouts/slideLayout4.xml" Id="Rf755555981ed4a18" /><Relationship Type="http://schemas.openxmlformats.org/officeDocument/2006/relationships/slideLayout" Target="/ppt/slideLayouts/slideLayout5.xml" Id="Rca46bdb4e404450c" /><Relationship Type="http://schemas.openxmlformats.org/officeDocument/2006/relationships/slideLayout" Target="/ppt/slideLayouts/slideLayout6.xml" Id="R2dc35ac82caa4d1e" /><Relationship Type="http://schemas.openxmlformats.org/officeDocument/2006/relationships/slideLayout" Target="/ppt/slideLayouts/slideLayout7.xml" Id="R33e378889ab1404a" /><Relationship Type="http://schemas.openxmlformats.org/officeDocument/2006/relationships/slideLayout" Target="/ppt/slideLayouts/slideLayout8.xml" Id="Re8e262f042f74b31" /><Relationship Type="http://schemas.openxmlformats.org/officeDocument/2006/relationships/slideLayout" Target="/ppt/slideLayouts/slideLayout9.xml" Id="Rc6bf463ff3074c56" /><Relationship Type="http://schemas.openxmlformats.org/officeDocument/2006/relationships/slideLayout" Target="/ppt/slideLayouts/slideLayout10.xml" Id="Rfc001ea0310c4561" /><Relationship Type="http://schemas.openxmlformats.org/officeDocument/2006/relationships/slideLayout" Target="/ppt/slideLayouts/slideLayout11.xml" Id="Rbf711760f002405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Espaço Reservado para Título 1">
            <a:extLst xmlns:a="http://schemas.openxmlformats.org/drawingml/2006/main">
              <a:ext uri="{FF2B5EF4-FFF2-40B4-BE49-F238E27FC236}">
                <a16:creationId xmlns:a16="http://schemas.microsoft.com/office/drawing/2014/main" id="{D2D640A0-A006-56DE-BB11-892018C9016B}"/>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Clique para editar o título Mestre</a:t>
            </a:r>
            <a:endParaRPr/>
          </a:p>
        </p:txBody>
      </p:sp>
      <p:sp>
        <p:nvSpPr>
          <p:cNvPr id="3" name="Espaço Reservado para Texto 2">
            <a:extLst xmlns:a="http://schemas.openxmlformats.org/drawingml/2006/main">
              <a:ext uri="{FF2B5EF4-FFF2-40B4-BE49-F238E27FC236}">
                <a16:creationId xmlns:a16="http://schemas.microsoft.com/office/drawing/2014/main" id="{5D37E2E5-7A2E-EB81-A941-9FB8B7603C39}"/>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Espaço Reservado para Data 3">
            <a:extLst xmlns:a="http://schemas.openxmlformats.org/drawingml/2006/main">
              <a:ext uri="{FF2B5EF4-FFF2-40B4-BE49-F238E27FC236}">
                <a16:creationId xmlns:a16="http://schemas.microsoft.com/office/drawing/2014/main" id="{35E9C82A-E612-2AFA-6FF2-370208C7C51D}"/>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0F98861F-14F1-4638-96F3-2EC3397B8A64}" type="datetimeFigureOut">
              <a:t>10/1/2026</a:t>
            </a:fld>
            <a:endParaRPr/>
          </a:p>
        </p:txBody>
      </p:sp>
      <p:sp>
        <p:nvSpPr>
          <p:cNvPr id="5" name="Espaço Reservado para Rodapé 4">
            <a:extLst xmlns:a="http://schemas.openxmlformats.org/drawingml/2006/main">
              <a:ext uri="{FF2B5EF4-FFF2-40B4-BE49-F238E27FC236}">
                <a16:creationId xmlns:a16="http://schemas.microsoft.com/office/drawing/2014/main" id="{2D627157-860F-B582-10C9-905A776EC2DA}"/>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Espaço Reservado para Número de Slide 5">
            <a:extLst xmlns:a="http://schemas.openxmlformats.org/drawingml/2006/main">
              <a:ext uri="{FF2B5EF4-FFF2-40B4-BE49-F238E27FC236}">
                <a16:creationId xmlns:a16="http://schemas.microsoft.com/office/drawing/2014/main" id="{E68955E3-4119-E011-F308-641E09FF921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E9D46433-43F6-4FA7-8C7B-D8B9997CD431}"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fefda6328446b2"/>
    <p:sldLayoutId xmlns:r="http://schemas.openxmlformats.org/officeDocument/2006/relationships" id="2147483650" r:id="Rb953288b632842d0"/>
    <p:sldLayoutId xmlns:r="http://schemas.openxmlformats.org/officeDocument/2006/relationships" id="2147483651" r:id="R4198d81aa9dd4cc9"/>
    <p:sldLayoutId xmlns:r="http://schemas.openxmlformats.org/officeDocument/2006/relationships" id="2147483652" r:id="Rf755555981ed4a18"/>
    <p:sldLayoutId xmlns:r="http://schemas.openxmlformats.org/officeDocument/2006/relationships" id="2147483653" r:id="Rca46bdb4e404450c"/>
    <p:sldLayoutId xmlns:r="http://schemas.openxmlformats.org/officeDocument/2006/relationships" id="2147483654" r:id="R2dc35ac82caa4d1e"/>
    <p:sldLayoutId xmlns:r="http://schemas.openxmlformats.org/officeDocument/2006/relationships" id="2147483655" r:id="R33e378889ab1404a"/>
    <p:sldLayoutId xmlns:r="http://schemas.openxmlformats.org/officeDocument/2006/relationships" id="2147483656" r:id="Re8e262f042f74b31"/>
    <p:sldLayoutId xmlns:r="http://schemas.openxmlformats.org/officeDocument/2006/relationships" id="2147483657" r:id="Rc6bf463ff3074c56"/>
    <p:sldLayoutId xmlns:r="http://schemas.openxmlformats.org/officeDocument/2006/relationships" id="2147483658" r:id="Rfc001ea0310c4561"/>
    <p:sldLayoutId xmlns:r="http://schemas.openxmlformats.org/officeDocument/2006/relationships" id="2147483659" r:id="Rbf711760f002405c"/>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6e53b5de6d4c09" /><Relationship Type="http://schemas.openxmlformats.org/officeDocument/2006/relationships/image" Target="/ppt/media/image.png" Id="Rdbb950bc951c4266" /><Relationship Type="http://schemas.openxmlformats.org/officeDocument/2006/relationships/image" Target="/ppt/media/image2.png" Id="Rae739b2a51874cf5" /><Relationship Type="http://schemas.openxmlformats.org/officeDocument/2006/relationships/image" Target="/ppt/media/image3.png" Id="R11c3d3ed9d374364" /><Relationship Type="http://schemas.openxmlformats.org/officeDocument/2006/relationships/notesSlide" Target="/ppt/notesSlides/notesSlide1.xml" Id="Re117b7f847fc45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ab04ea94e7491d" /><Relationship Type="http://schemas.openxmlformats.org/officeDocument/2006/relationships/image" Target="/ppt/media/image2.png" Id="Rf2f3f22cdadb4bff" /><Relationship Type="http://schemas.openxmlformats.org/officeDocument/2006/relationships/notesSlide" Target="/ppt/notesSlides/notesSlide2.xml" Id="Rcb09d773d0c846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0a7242bd214670" /><Relationship Type="http://schemas.openxmlformats.org/officeDocument/2006/relationships/image" Target="/ppt/media/image2.png" Id="R407184a5e1604cda" /><Relationship Type="http://schemas.openxmlformats.org/officeDocument/2006/relationships/notesSlide" Target="/ppt/notesSlides/notesSlide3.xml" Id="R4ad59d1052bf45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e395cb9f8b147a4" /><Relationship Type="http://schemas.openxmlformats.org/officeDocument/2006/relationships/image" Target="/ppt/media/image2.png" Id="Raa1f2c30827e483d" /><Relationship Type="http://schemas.openxmlformats.org/officeDocument/2006/relationships/notesSlide" Target="/ppt/notesSlides/notesSlide4.xml" Id="R0e3ea5dd29294a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4013219b25b4014" /><Relationship Type="http://schemas.openxmlformats.org/officeDocument/2006/relationships/image" Target="/ppt/media/image2.png" Id="R058dcd4a80694e83" /><Relationship Type="http://schemas.openxmlformats.org/officeDocument/2006/relationships/notesSlide" Target="/ppt/notesSlides/notesSlide5.xml" Id="R7a94f012162448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8aaae383c6400e" /><Relationship Type="http://schemas.openxmlformats.org/officeDocument/2006/relationships/image" Target="/ppt/media/image2.png" Id="R902b1e666e524a3b" /><Relationship Type="http://schemas.openxmlformats.org/officeDocument/2006/relationships/notesSlide" Target="/ppt/notesSlides/notesSlide6.xml" Id="R74278dc8eb3347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1eeabdc9a148c9" /><Relationship Type="http://schemas.openxmlformats.org/officeDocument/2006/relationships/image" Target="/ppt/media/image2.png" Id="Rb560455df9ad428b" /><Relationship Type="http://schemas.openxmlformats.org/officeDocument/2006/relationships/notesSlide" Target="/ppt/notesSlides/notesSlide7.xml" Id="Rd5383eb9402d41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5d8aa99c5924557" /><Relationship Type="http://schemas.openxmlformats.org/officeDocument/2006/relationships/image" Target="/ppt/media/image2.png" Id="R6424c85023d04cf8" /><Relationship Type="http://schemas.openxmlformats.org/officeDocument/2006/relationships/notesSlide" Target="/ppt/notesSlides/notesSlide8.xml" Id="R9b20c1da57a442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9940e5b8a944eb" /><Relationship Type="http://schemas.openxmlformats.org/officeDocument/2006/relationships/image" Target="/ppt/media/image2.png" Id="R1c005ff3c1e4477d" /><Relationship Type="http://schemas.openxmlformats.org/officeDocument/2006/relationships/notesSlide" Target="/ppt/notesSlides/notesSlide9.xml" Id="R9e9e4db5a8e849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637b82e7e274b2b" /><Relationship Type="http://schemas.openxmlformats.org/officeDocument/2006/relationships/image" Target="/ppt/media/image2.png" Id="Rba8150a23ccd4c3b" /><Relationship Type="http://schemas.openxmlformats.org/officeDocument/2006/relationships/notesSlide" Target="/ppt/notesSlides/notesSlide10.xml" Id="R987ee68a4eb440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19d0746c8c4436d" /><Relationship Type="http://schemas.openxmlformats.org/officeDocument/2006/relationships/image" Target="/ppt/media/image2.png" Id="R58a4d07fcac84b53" /><Relationship Type="http://schemas.openxmlformats.org/officeDocument/2006/relationships/notesSlide" Target="/ppt/notesSlides/notesSlide11.xml" Id="R6e1540b4c9b543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fa4bd86506a4cd8" /><Relationship Type="http://schemas.openxmlformats.org/officeDocument/2006/relationships/image" Target="/ppt/media/image2.png" Id="R0d0980f79d704343" /><Relationship Type="http://schemas.openxmlformats.org/officeDocument/2006/relationships/notesSlide" Target="/ppt/notesSlides/notesSlide12.xml" Id="R3234ed333ad04e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7c137b26d704247" /><Relationship Type="http://schemas.openxmlformats.org/officeDocument/2006/relationships/image" Target="/ppt/media/image2.png" Id="Re8ea77091dea4418" /><Relationship Type="http://schemas.openxmlformats.org/officeDocument/2006/relationships/notesSlide" Target="/ppt/notesSlides/notesSlide13.xml" Id="Rda38dbc3cdcb42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f791cf378d04090" /><Relationship Type="http://schemas.openxmlformats.org/officeDocument/2006/relationships/image" Target="/ppt/media/image2.png" Id="R1c4feac1790f4d89" /><Relationship Type="http://schemas.openxmlformats.org/officeDocument/2006/relationships/notesSlide" Target="/ppt/notesSlides/notesSlide14.xml" Id="R02023f3a5e584e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1ec3921afdc4529" /><Relationship Type="http://schemas.openxmlformats.org/officeDocument/2006/relationships/image" Target="/ppt/media/image2.png" Id="R1dd31241aaef492a" /><Relationship Type="http://schemas.openxmlformats.org/officeDocument/2006/relationships/notesSlide" Target="/ppt/notesSlides/notesSlide15.xml" Id="R01e1b14ce03248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8049007d80c4bca" /><Relationship Type="http://schemas.openxmlformats.org/officeDocument/2006/relationships/image" Target="/ppt/media/image2.png" Id="R26182bcce77b4b4f" /><Relationship Type="http://schemas.openxmlformats.org/officeDocument/2006/relationships/notesSlide" Target="/ppt/notesSlides/notesSlide16.xml" Id="R232981cfe2364a1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7ebb8174a474ed0" /><Relationship Type="http://schemas.openxmlformats.org/officeDocument/2006/relationships/image" Target="/ppt/media/image2.png" Id="Rd35b0522b21e4bcb" /><Relationship Type="http://schemas.openxmlformats.org/officeDocument/2006/relationships/image" Target="/ppt/media/image4.png" Id="R140ce46edf834384" /><Relationship Type="http://schemas.openxmlformats.org/officeDocument/2006/relationships/notesSlide" Target="/ppt/notesSlides/notesSlide17.xml" Id="R589233a77bd445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64c68ecff02468e" /><Relationship Type="http://schemas.openxmlformats.org/officeDocument/2006/relationships/image" Target="/ppt/media/image2.png" Id="R887e8df8305d4774" /><Relationship Type="http://schemas.openxmlformats.org/officeDocument/2006/relationships/notesSlide" Target="/ppt/notesSlides/notesSlide18.xml" Id="R749b530c87d342f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702cbd3b43b48d3" /><Relationship Type="http://schemas.openxmlformats.org/officeDocument/2006/relationships/image" Target="/ppt/media/image2.png" Id="R4158768ad3494187" /><Relationship Type="http://schemas.openxmlformats.org/officeDocument/2006/relationships/notesSlide" Target="/ppt/notesSlides/notesSlide19.xml" Id="R99e48f39eafc416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bb440241a43419a" /><Relationship Type="http://schemas.openxmlformats.org/officeDocument/2006/relationships/image" Target="/ppt/media/image2.png" Id="Ra12625919f244bce" /><Relationship Type="http://schemas.openxmlformats.org/officeDocument/2006/relationships/notesSlide" Target="/ppt/notesSlides/notesSlide20.xml" Id="R0e37db316b67449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e28a52f48484364" /><Relationship Type="http://schemas.openxmlformats.org/officeDocument/2006/relationships/image" Target="/ppt/media/image2.png" Id="R5e36e711710c4547" /><Relationship Type="http://schemas.openxmlformats.org/officeDocument/2006/relationships/chart" Target="/ppt/slides/charts/chart1.xml" Id="R533d6363c64843f8" /><Relationship Type="http://schemas.openxmlformats.org/officeDocument/2006/relationships/notesSlide" Target="/ppt/notesSlides/notesSlide21.xml" Id="R0c8cadd92f2542f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d73c930da5b4367" /><Relationship Type="http://schemas.openxmlformats.org/officeDocument/2006/relationships/image" Target="/ppt/media/image2.png" Id="R92cac490dceb41f8" /><Relationship Type="http://schemas.openxmlformats.org/officeDocument/2006/relationships/chart" Target="/ppt/slides/charts/chart2.xml" Id="R650ca81fe18f43b5" /><Relationship Type="http://schemas.openxmlformats.org/officeDocument/2006/relationships/notesSlide" Target="/ppt/notesSlides/notesSlide22.xml" Id="Ra26a120fb07c43c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5b7f4d1d62f409e" /><Relationship Type="http://schemas.openxmlformats.org/officeDocument/2006/relationships/image" Target="/ppt/media/image2.png" Id="Ra818b6b40db848f5" /><Relationship Type="http://schemas.openxmlformats.org/officeDocument/2006/relationships/notesSlide" Target="/ppt/notesSlides/notesSlide23.xml" Id="Re233db38cfbe4da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dbe4c45240a452b" /><Relationship Type="http://schemas.openxmlformats.org/officeDocument/2006/relationships/image" Target="/ppt/media/image2.png" Id="R1a84db8c023c417e" /><Relationship Type="http://schemas.openxmlformats.org/officeDocument/2006/relationships/notesSlide" Target="/ppt/notesSlides/notesSlide24.xml" Id="R921c2214666049c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262b40372504a66" /><Relationship Type="http://schemas.openxmlformats.org/officeDocument/2006/relationships/image" Target="/ppt/media/image2.png" Id="R9ad45aaae4d94d21" /><Relationship Type="http://schemas.openxmlformats.org/officeDocument/2006/relationships/notesSlide" Target="/ppt/notesSlides/notesSlide25.xml" Id="R0a262c30a8ed48e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78067e12b7a42a4" /><Relationship Type="http://schemas.openxmlformats.org/officeDocument/2006/relationships/image" Target="/ppt/media/image2.png" Id="R0fb4d58de46440cd" /><Relationship Type="http://schemas.openxmlformats.org/officeDocument/2006/relationships/notesSlide" Target="/ppt/notesSlides/notesSlide26.xml" Id="R854ac544ba9d48a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2a9d331a3ff408f" /><Relationship Type="http://schemas.openxmlformats.org/officeDocument/2006/relationships/image" Target="/ppt/media/image2.png" Id="R43de1483435a49b5" /><Relationship Type="http://schemas.openxmlformats.org/officeDocument/2006/relationships/notesSlide" Target="/ppt/notesSlides/notesSlide27.xml" Id="Rb8bc089f0e1341d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119bf7dd4b1434e" /><Relationship Type="http://schemas.openxmlformats.org/officeDocument/2006/relationships/image" Target="/ppt/media/image2.png" Id="R5a503f7c0e0c4398" /><Relationship Type="http://schemas.openxmlformats.org/officeDocument/2006/relationships/notesSlide" Target="/ppt/notesSlides/notesSlide28.xml" Id="Raf7d061adb83484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62780f06d9f4750" /><Relationship Type="http://schemas.openxmlformats.org/officeDocument/2006/relationships/image" Target="/ppt/media/image2.png" Id="R767947a9f5df455b" /><Relationship Type="http://schemas.openxmlformats.org/officeDocument/2006/relationships/image" Target="/ppt/media/image5.png" Id="R0410e19aacf74c49" /><Relationship Type="http://schemas.openxmlformats.org/officeDocument/2006/relationships/notesSlide" Target="/ppt/notesSlides/notesSlide29.xml" Id="R3883005cb0cc462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ac2e0adb6e54b9d" /><Relationship Type="http://schemas.openxmlformats.org/officeDocument/2006/relationships/image" Target="/ppt/media/image2.png" Id="Rac22de37287c4269" /><Relationship Type="http://schemas.openxmlformats.org/officeDocument/2006/relationships/notesSlide" Target="/ppt/notesSlides/notesSlide30.xml" Id="R206122070c0449f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8c2badc91224927" /><Relationship Type="http://schemas.openxmlformats.org/officeDocument/2006/relationships/image" Target="/ppt/media/image2.png" Id="Re8915d9df51448c9" /><Relationship Type="http://schemas.openxmlformats.org/officeDocument/2006/relationships/notesSlide" Target="/ppt/notesSlides/notesSlide31.xml" Id="R01d03fe50a234db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7da0b5002534704" /><Relationship Type="http://schemas.openxmlformats.org/officeDocument/2006/relationships/image" Target="/ppt/media/image2.png" Id="Rb520df30c76e4921" /><Relationship Type="http://schemas.openxmlformats.org/officeDocument/2006/relationships/notesSlide" Target="/ppt/notesSlides/notesSlide32.xml" Id="R85f1c83638584dc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0f28306d01d4ee9" /><Relationship Type="http://schemas.openxmlformats.org/officeDocument/2006/relationships/image" Target="/ppt/media/image2.png" Id="R6470a5ce2b964fe0" /><Relationship Type="http://schemas.openxmlformats.org/officeDocument/2006/relationships/notesSlide" Target="/ppt/notesSlides/notesSlide33.xml" Id="Rd57e1d6bc18140f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31fdd3f01094378" /><Relationship Type="http://schemas.openxmlformats.org/officeDocument/2006/relationships/image" Target="/ppt/media/image2.png" Id="R3883f5b6d55442f1" /><Relationship Type="http://schemas.openxmlformats.org/officeDocument/2006/relationships/notesSlide" Target="/ppt/notesSlides/notesSlide34.xml" Id="R6ec27cb2baa8414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0b60792969443ad" /><Relationship Type="http://schemas.openxmlformats.org/officeDocument/2006/relationships/image" Target="/ppt/media/image2.png" Id="Raa521bcf96d74bb0" /><Relationship Type="http://schemas.openxmlformats.org/officeDocument/2006/relationships/notesSlide" Target="/ppt/notesSlides/notesSlide35.xml" Id="R9bbcff4b7e6d418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babb52e7b354f32" /><Relationship Type="http://schemas.openxmlformats.org/officeDocument/2006/relationships/image" Target="/ppt/media/image2.png" Id="R8ac66674f3b84cbf" /><Relationship Type="http://schemas.openxmlformats.org/officeDocument/2006/relationships/chart" Target="/ppt/slides/charts/chart3.xml" Id="R06d9c337be1b4dbc" /><Relationship Type="http://schemas.openxmlformats.org/officeDocument/2006/relationships/notesSlide" Target="/ppt/notesSlides/notesSlide36.xml" Id="R910cc64267ca452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42619675c414edf" /><Relationship Type="http://schemas.openxmlformats.org/officeDocument/2006/relationships/image" Target="/ppt/media/image2.png" Id="Ra9ecc88a975644e6" /><Relationship Type="http://schemas.openxmlformats.org/officeDocument/2006/relationships/notesSlide" Target="/ppt/notesSlides/notesSlide37.xml" Id="R486a9abb69984ed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f57bd1af5884f95" /><Relationship Type="http://schemas.openxmlformats.org/officeDocument/2006/relationships/image" Target="/ppt/media/image2.png" Id="Ra8da32cd104047f0" /><Relationship Type="http://schemas.openxmlformats.org/officeDocument/2006/relationships/notesSlide" Target="/ppt/notesSlides/notesSlide38.xml" Id="Rd21e5338e6aa427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1efb4d8a7974bb9" /><Relationship Type="http://schemas.openxmlformats.org/officeDocument/2006/relationships/image" Target="/ppt/media/image2.png" Id="Rb0b5b26ec10c432b" /><Relationship Type="http://schemas.openxmlformats.org/officeDocument/2006/relationships/notesSlide" Target="/ppt/notesSlides/notesSlide39.xml" Id="Rfc98f4f01d36412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8dc7747fc2c45ac" /><Relationship Type="http://schemas.openxmlformats.org/officeDocument/2006/relationships/image" Target="/ppt/media/image2.png" Id="R77230023a3984d39" /><Relationship Type="http://schemas.openxmlformats.org/officeDocument/2006/relationships/notesSlide" Target="/ppt/notesSlides/notesSlide40.xml" Id="R985ecea19b384f2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ee9fb971fee45e9" /><Relationship Type="http://schemas.openxmlformats.org/officeDocument/2006/relationships/image" Target="/ppt/media/image2.png" Id="R11a0500db6884d18" /><Relationship Type="http://schemas.openxmlformats.org/officeDocument/2006/relationships/notesSlide" Target="/ppt/notesSlides/notesSlide41.xml" Id="R707fc5dc4b7e4d3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d60a0ff3811414e" /><Relationship Type="http://schemas.openxmlformats.org/officeDocument/2006/relationships/image" Target="/ppt/media/image2.png" Id="R2106faeaa7d5463e" /><Relationship Type="http://schemas.openxmlformats.org/officeDocument/2006/relationships/image" Target="/ppt/media/image6.png" Id="Ra00ca9bd9a8e40f3" /><Relationship Type="http://schemas.openxmlformats.org/officeDocument/2006/relationships/notesSlide" Target="/ppt/notesSlides/notesSlide42.xml" Id="Rb217c05c6dce400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ed930fb37f34d38" /><Relationship Type="http://schemas.openxmlformats.org/officeDocument/2006/relationships/image" Target="/ppt/media/image2.png" Id="R148a81d568264ccc" /><Relationship Type="http://schemas.openxmlformats.org/officeDocument/2006/relationships/notesSlide" Target="/ppt/notesSlides/notesSlide43.xml" Id="Rc6232ef970dc4b1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666f316434834dc6" /><Relationship Type="http://schemas.openxmlformats.org/officeDocument/2006/relationships/image" Target="/ppt/media/image2.png" Id="Re8c4788f73a946fc" /><Relationship Type="http://schemas.openxmlformats.org/officeDocument/2006/relationships/notesSlide" Target="/ppt/notesSlides/notesSlide44.xml" Id="Ra309544397bb426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b5a9d52d11b4b2c" /><Relationship Type="http://schemas.openxmlformats.org/officeDocument/2006/relationships/image" Target="/ppt/media/image2.png" Id="Rd5572bc201de43f0" /><Relationship Type="http://schemas.openxmlformats.org/officeDocument/2006/relationships/notesSlide" Target="/ppt/notesSlides/notesSlide45.xml" Id="R70332f875e744f5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2e0f30833d64d5d" /><Relationship Type="http://schemas.openxmlformats.org/officeDocument/2006/relationships/image" Target="/ppt/media/image2.png" Id="R9893ef9ab3f04c8c" /><Relationship Type="http://schemas.openxmlformats.org/officeDocument/2006/relationships/notesSlide" Target="/ppt/notesSlides/notesSlide46.xml" Id="R36c52417c557416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b93efeab8814347" /><Relationship Type="http://schemas.openxmlformats.org/officeDocument/2006/relationships/image" Target="/ppt/media/image2.png" Id="R6d3b48628eef4ed2" /><Relationship Type="http://schemas.openxmlformats.org/officeDocument/2006/relationships/notesSlide" Target="/ppt/notesSlides/notesSlide47.xml" Id="R3a74d1100676441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2213bcf0d0344521" /><Relationship Type="http://schemas.openxmlformats.org/officeDocument/2006/relationships/image" Target="/ppt/media/image2.png" Id="Rc196ed5e8d944a65" /><Relationship Type="http://schemas.openxmlformats.org/officeDocument/2006/relationships/notesSlide" Target="/ppt/notesSlides/notesSlide48.xml" Id="R1e153971c5ef495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a02e62ab94d4b80" /><Relationship Type="http://schemas.openxmlformats.org/officeDocument/2006/relationships/image" Target="/ppt/media/image2.png" Id="R0bb772a1a1884f97" /><Relationship Type="http://schemas.openxmlformats.org/officeDocument/2006/relationships/notesSlide" Target="/ppt/notesSlides/notesSlide49.xml" Id="Rcb879ec83a7d4d8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9e94816a2c4749c2" /><Relationship Type="http://schemas.openxmlformats.org/officeDocument/2006/relationships/image" Target="/ppt/media/image2.png" Id="R4c9100d00aae46ea" /><Relationship Type="http://schemas.openxmlformats.org/officeDocument/2006/relationships/notesSlide" Target="/ppt/notesSlides/notesSlide50.xml" Id="R5bfc2d1fadcd441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447a51418dd4cfd" /><Relationship Type="http://schemas.openxmlformats.org/officeDocument/2006/relationships/image" Target="/ppt/media/image2.png" Id="Rd9561106ad884b6e" /><Relationship Type="http://schemas.openxmlformats.org/officeDocument/2006/relationships/notesSlide" Target="/ppt/notesSlides/notesSlide51.xml" Id="R42cdd4f212464b6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7d26d09bf542485f" /><Relationship Type="http://schemas.openxmlformats.org/officeDocument/2006/relationships/image" Target="/ppt/media/image2.png" Id="R7cc0eea7ff4440c6" /><Relationship Type="http://schemas.openxmlformats.org/officeDocument/2006/relationships/image" Target="/ppt/media/image7.png" Id="R6467b23f5faf4caa" /><Relationship Type="http://schemas.openxmlformats.org/officeDocument/2006/relationships/notesSlide" Target="/ppt/notesSlides/notesSlide52.xml" Id="Rda2f60786fb04d5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38bbefeba4042c5" /><Relationship Type="http://schemas.openxmlformats.org/officeDocument/2006/relationships/image" Target="/ppt/media/image2.png" Id="R70fbdb17d7844606" /><Relationship Type="http://schemas.openxmlformats.org/officeDocument/2006/relationships/notesSlide" Target="/ppt/notesSlides/notesSlide53.xml" Id="R12fd8a2645d44b4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5b5875b40f644ed" /><Relationship Type="http://schemas.openxmlformats.org/officeDocument/2006/relationships/image" Target="/ppt/media/image2.png" Id="R98ba9ac4ffb942b2" /><Relationship Type="http://schemas.openxmlformats.org/officeDocument/2006/relationships/notesSlide" Target="/ppt/notesSlides/notesSlide54.xml" Id="R9260e82c2a934c4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54217321b7246aa" /><Relationship Type="http://schemas.openxmlformats.org/officeDocument/2006/relationships/image" Target="/ppt/media/image2.png" Id="R3c4bf74562bb450b" /><Relationship Type="http://schemas.openxmlformats.org/officeDocument/2006/relationships/notesSlide" Target="/ppt/notesSlides/notesSlide55.xml" Id="Rfa70ff41b74e442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6a54672e45a491f" /><Relationship Type="http://schemas.openxmlformats.org/officeDocument/2006/relationships/image" Target="/ppt/media/image2.png" Id="Rdc82b16e6613460c" /><Relationship Type="http://schemas.openxmlformats.org/officeDocument/2006/relationships/notesSlide" Target="/ppt/notesSlides/notesSlide56.xml" Id="R39a6525acb30438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a885d1888d5b4e26" /><Relationship Type="http://schemas.openxmlformats.org/officeDocument/2006/relationships/image" Target="/ppt/media/image2.png" Id="R07a0198ef6bf4787" /><Relationship Type="http://schemas.openxmlformats.org/officeDocument/2006/relationships/notesSlide" Target="/ppt/notesSlides/notesSlide57.xml" Id="Rc3abc69d4a79453a"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97ca14fbae5f4107" /><Relationship Type="http://schemas.openxmlformats.org/officeDocument/2006/relationships/image" Target="/ppt/media/image2.png" Id="Rf7460c398d2f473a" /><Relationship Type="http://schemas.openxmlformats.org/officeDocument/2006/relationships/notesSlide" Target="/ppt/notesSlides/notesSlide58.xml" Id="R948851de14654c3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74f926e4443e4c93" /><Relationship Type="http://schemas.openxmlformats.org/officeDocument/2006/relationships/image" Target="/ppt/media/image2.png" Id="R78abae98b5b8449c" /><Relationship Type="http://schemas.openxmlformats.org/officeDocument/2006/relationships/notesSlide" Target="/ppt/notesSlides/notesSlide59.xml" Id="R4acae8349e874e7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62b9cb2d9a9646c2" /><Relationship Type="http://schemas.openxmlformats.org/officeDocument/2006/relationships/image" Target="/ppt/media/image2.png" Id="R0b4b23a14a4d4686" /><Relationship Type="http://schemas.openxmlformats.org/officeDocument/2006/relationships/notesSlide" Target="/ppt/notesSlides/notesSlide60.xml" Id="Rcecf8c7c82db45da"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9cffd5dd0467451f" /><Relationship Type="http://schemas.openxmlformats.org/officeDocument/2006/relationships/image" Target="/ppt/media/image2.png" Id="Rd5c43204bd5b4b6e" /><Relationship Type="http://schemas.openxmlformats.org/officeDocument/2006/relationships/notesSlide" Target="/ppt/notesSlides/notesSlide61.xml" Id="Rf13d44b2d8b94b9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c49ac8fcf177483b" /><Relationship Type="http://schemas.openxmlformats.org/officeDocument/2006/relationships/image" Target="/ppt/media/image2.png" Id="Rc55fe58925884187" /><Relationship Type="http://schemas.openxmlformats.org/officeDocument/2006/relationships/notesSlide" Target="/ppt/notesSlides/notesSlide62.xml" Id="R768747d329ce4407" /></Relationships>
</file>

<file path=ppt/slides/_rels/slide63.xml.rels><?xml version='1.0' encoding='UTF-8'?>
<Relationships xmlns="http://schemas.openxmlformats.org/package/2006/relationships"><Relationship Type="http://schemas.openxmlformats.org/officeDocument/2006/relationships/slideLayout" Target="/ppt/slideLayouts/slideLayout1.xml" Id="Rb8e7718a9c2145de"/><Relationship Type="http://schemas.openxmlformats.org/officeDocument/2006/relationships/image" Target="/ppt/media/image2.png" Id="R54fa4a0c52b94b48"/><Relationship Type="http://schemas.openxmlformats.org/officeDocument/2006/relationships/image" Target="/ppt/media/architecture-73f043cca3fc0e73db0ff40d.png" Id="R860f36812d614652"/><Relationship Type="http://schemas.openxmlformats.org/officeDocument/2006/relationships/notesSlide" Target="/ppt/notesSlides/notesSlide63.xml" Id="R8445a9ed1689427b"/></Relationships>
</file>

<file path=ppt/slides/_rels/slide64.xml.rels><?xml version='1.0' encoding='UTF-8'?>
<Relationships xmlns="http://schemas.openxmlformats.org/package/2006/relationships"><Relationship Type="http://schemas.openxmlformats.org/officeDocument/2006/relationships/slideLayout" Target="/ppt/slideLayouts/slideLayout1.xml" Id="Re802d4e99e334f82"/><Relationship Type="http://schemas.openxmlformats.org/officeDocument/2006/relationships/image" Target="/ppt/media/image2.png" Id="R3f0b51323d174c0f"/><Relationship Type="http://schemas.openxmlformats.org/officeDocument/2006/relationships/image" Target="/ppt/media/architecture-8c76f5c5170c839960cef254.jpeg" Id="R4bcad79707c84000"/><Relationship Type="http://schemas.openxmlformats.org/officeDocument/2006/relationships/notesSlide" Target="/ppt/notesSlides/notesSlide64.xml" Id="R756a01ef2d9f4d93"/></Relationships>
</file>

<file path=ppt/slides/_rels/slide65.xml.rels><?xml version='1.0' encoding='UTF-8'?>
<Relationships xmlns="http://schemas.openxmlformats.org/package/2006/relationships"><Relationship Type="http://schemas.openxmlformats.org/officeDocument/2006/relationships/slideLayout" Target="/ppt/slideLayouts/slideLayout1.xml" Id="R5ac0b07736e04827"/><Relationship Type="http://schemas.openxmlformats.org/officeDocument/2006/relationships/image" Target="/ppt/media/image2.png" Id="Redbef8212a6f4c37"/><Relationship Type="http://schemas.openxmlformats.org/officeDocument/2006/relationships/image" Target="/ppt/media/architecture-c4daaa454362a7fe0245745c.jpeg" Id="Rbaf18a9c0cb54cf5"/><Relationship Type="http://schemas.openxmlformats.org/officeDocument/2006/relationships/notesSlide" Target="/ppt/notesSlides/notesSlide65.xml" Id="R49942b0fe3cb4f8a"/></Relationships>
</file>

<file path=ppt/slides/_rels/slide66.xml.rels><?xml version='1.0' encoding='UTF-8'?>
<Relationships xmlns="http://schemas.openxmlformats.org/package/2006/relationships"><Relationship Type="http://schemas.openxmlformats.org/officeDocument/2006/relationships/slideLayout" Target="/ppt/slideLayouts/slideLayout1.xml" Id="R27376e357c294b44"/><Relationship Type="http://schemas.openxmlformats.org/officeDocument/2006/relationships/image" Target="/ppt/media/image2.png" Id="Rdc26a7aeb1f0492a"/><Relationship Type="http://schemas.openxmlformats.org/officeDocument/2006/relationships/image" Target="/ppt/media/architecture-9e44a742ea2bec2bbc656b73.png" Id="R63362bf67e5b452d"/><Relationship Type="http://schemas.openxmlformats.org/officeDocument/2006/relationships/notesSlide" Target="/ppt/notesSlides/notesSlide66.xml" Id="Rcff6337f21654e0e"/></Relationships>
</file>

<file path=ppt/slides/_rels/slide67.xml.rels><?xml version='1.0' encoding='UTF-8'?>
<Relationships xmlns="http://schemas.openxmlformats.org/package/2006/relationships"><Relationship Type="http://schemas.openxmlformats.org/officeDocument/2006/relationships/slideLayout" Target="/ppt/slideLayouts/slideLayout1.xml" Id="R9ba4bebf6ada4e3c"/><Relationship Type="http://schemas.openxmlformats.org/officeDocument/2006/relationships/image" Target="/ppt/media/image2.png" Id="R18beedb91b1048df"/><Relationship Type="http://schemas.openxmlformats.org/officeDocument/2006/relationships/image" Target="/ppt/media/architecture-13bbf1ffb3186c70e9cd47ad.jpeg" Id="Rff0c775a11a54367"/><Relationship Type="http://schemas.openxmlformats.org/officeDocument/2006/relationships/notesSlide" Target="/ppt/notesSlides/notesSlide67.xml" Id="R54f1be06b2574ac5"/></Relationships>
</file>

<file path=ppt/slides/_rels/slide68.xml.rels><?xml version='1.0' encoding='UTF-8'?>
<Relationships xmlns="http://schemas.openxmlformats.org/package/2006/relationships"><Relationship Type="http://schemas.openxmlformats.org/officeDocument/2006/relationships/slideLayout" Target="/ppt/slideLayouts/slideLayout1.xml" Id="R0f03d4f9ce454b89"/><Relationship Type="http://schemas.openxmlformats.org/officeDocument/2006/relationships/image" Target="/ppt/media/image2.png" Id="Re00c1ad6478b430c"/><Relationship Type="http://schemas.openxmlformats.org/officeDocument/2006/relationships/image" Target="/ppt/media/architecture-5432e894831f86cf58a22e6a.png" Id="R4658a271c46c44ec"/><Relationship Type="http://schemas.openxmlformats.org/officeDocument/2006/relationships/notesSlide" Target="/ppt/notesSlides/notesSlide68.xml" Id="Rd073f3aab3064d68"/></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Contribuição local</c:v>
          </c:tx>
          <c:spPr>
            <a:solidFill xmlns:a="http://schemas.openxmlformats.org/drawingml/2006/main">
              <a:srgbClr val="83DFFF"/>
            </a:solidFill>
            <a:ln xmlns:a="http://schemas.openxmlformats.org/drawingml/2006/main" w="28575">
              <a:solidFill>
                <a:srgbClr val="83DFFF"/>
              </a:solidFill>
            </a:ln>
          </c:spPr>
          <c:invertIfNegative val="0"/>
          <c:dPt>
            <c:idx val="0"/>
            <c:invertIfNegative val="0"/>
            <c:spPr>
              <a:solidFill xmlns:a="http://schemas.openxmlformats.org/drawingml/2006/main">
                <a:srgbClr val="83DFFF"/>
              </a:solidFill>
            </c:spPr>
          </c:dPt>
          <c:dPt>
            <c:idx val="1"/>
            <c:invertIfNegative val="0"/>
            <c:spPr>
              <a:solidFill xmlns:a="http://schemas.openxmlformats.org/drawingml/2006/main">
                <a:srgbClr val="83DFFF"/>
              </a:solidFill>
            </c:spPr>
          </c:dPt>
          <c:dPt>
            <c:idx val="2"/>
            <c:invertIfNegative val="0"/>
            <c:spPr>
              <a:solidFill xmlns:a="http://schemas.openxmlformats.org/drawingml/2006/main">
                <a:srgbClr val="FFAD62"/>
              </a:solidFill>
            </c:spPr>
          </c:dPt>
          <c:cat>
            <c:strRef>
              <c:f>'Chart Data'!$A$2:$A$4</c:f>
              <c:strCache>
                <c:ptCount val="3"/>
                <c:pt idx="0">
                  <c:v>Chuva</c:v>
                </c:pt>
                <c:pt idx="1">
                  <c:v>Solo</c:v>
                </c:pt>
                <c:pt idx="2">
                  <c:v>ETP</c:v>
                </c:pt>
              </c:strCache>
            </c:strRef>
          </c:cat>
          <c:val>
            <c:numRef>
              <c:f>'Chart Data'!$B$2:$B$4</c:f>
              <c:numCache>
                <c:formatCode>0.##</c:formatCode>
                <c:ptCount val="3"/>
                <c:pt idx="0">
                  <c:v>12</c:v>
                </c:pt>
                <c:pt idx="1">
                  <c:v>7</c:v>
                </c:pt>
                <c:pt idx="2">
                  <c:v>-4</c:v>
                </c:pt>
              </c:numCache>
            </c:numRef>
          </c:val>
        </c:ser>
        <c:dLbls>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catAx>
      <c:valAx>
        <c:axId val="48672768"/>
        <c:scaling>
          <c:orientation val="minMax"/>
          <c:max val="14"/>
          <c:min val="-6"/>
        </c:scaling>
        <c:delete val="0"/>
        <c:axPos val="l"/>
        <c:majorGridlines>
          <c:spPr>
            <a:ln xmlns:a="http://schemas.openxmlformats.org/drawingml/2006/main" w="9525">
              <a:solidFill>
                <a:srgbClr val="273A54"/>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SHAP (m³/s)</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
        <c:majorTickMark val="none"/>
        <c:minorTickMark val="none"/>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crossBetween val="between"/>
        <c:majorUnit val="4"/>
      </c:valAx>
      <c:spPr>
        <a:solidFill xmlns:a="http://schemas.openxmlformats.org/drawingml/2006/main">
          <a:srgbClr val="000F29"/>
        </a:solidFill>
        <a:ln xmlns:a="http://schemas.openxmlformats.org/drawingml/2006/main" w="0">
          <a:noFill/>
        </a:ln>
      </c:spPr>
    </c:plotArea>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Média absoluta</c:v>
          </c:tx>
          <c:spPr>
            <a:solidFill xmlns:a="http://schemas.openxmlformats.org/drawingml/2006/main">
              <a:srgbClr val="83DFFF"/>
            </a:solidFill>
            <a:ln xmlns:a="http://schemas.openxmlformats.org/drawingml/2006/main" w="28575">
              <a:solidFill>
                <a:srgbClr val="83DFFF"/>
              </a:solidFill>
            </a:ln>
          </c:spPr>
          <c:cat>
            <c:strRef>
              <c:f>'Chart Data'!$A$2:$A$5</c:f>
              <c:strCache>
                <c:ptCount val="4"/>
                <c:pt idx="0">
                  <c:v>P</c:v>
                </c:pt>
                <c:pt idx="1">
                  <c:v>Q anterior</c:v>
                </c:pt>
                <c:pt idx="2">
                  <c:v>ETP</c:v>
                </c:pt>
                <c:pt idx="3">
                  <c:v>T</c:v>
                </c:pt>
              </c:strCache>
            </c:strRef>
          </c:cat>
          <c:val>
            <c:numRef>
              <c:f>'Chart Data'!$B$2:$B$5</c:f>
              <c:numCache>
                <c:formatCode>0.##</c:formatCode>
                <c:ptCount val="4"/>
                <c:pt idx="0">
                  <c:v>10</c:v>
                </c:pt>
                <c:pt idx="1">
                  <c:v>6</c:v>
                </c:pt>
                <c:pt idx="2">
                  <c:v>2</c:v>
                </c:pt>
                <c:pt idx="3">
                  <c:v>1</c:v>
                </c:pt>
              </c:numCache>
            </c:numRef>
          </c:val>
        </c:ser>
        <c:dLbls>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catAx>
      <c:valAx>
        <c:axId val="48672768"/>
        <c:scaling>
          <c:orientation val="minMax"/>
          <c:max val="12"/>
          <c:min val="0"/>
        </c:scaling>
        <c:delete val="0"/>
        <c:axPos val="l"/>
        <c:majorGridlines>
          <c:spPr>
            <a:ln xmlns:a="http://schemas.openxmlformats.org/drawingml/2006/main" w="9525">
              <a:solidFill>
                <a:srgbClr val="273A54"/>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Média |SHAP| (m³/s)</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
        <c:majorTickMark val="none"/>
        <c:minorTickMark val="none"/>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crossBetween val="between"/>
        <c:majorUnit val="3"/>
      </c:valAx>
      <c:spPr>
        <a:solidFill xmlns:a="http://schemas.openxmlformats.org/drawingml/2006/main">
          <a:srgbClr val="000F29"/>
        </a:solidFill>
        <a:ln xmlns:a="http://schemas.openxmlformats.org/drawingml/2006/main" w="0">
          <a:noFill/>
        </a:ln>
      </c:spPr>
    </c:plotArea>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c:lang val="en-US"/>
  <c:chart>
    <c:plotArea>
      <c:scatterChart>
        <c:scatterStyle val="lineMarker"/>
        <c:ser>
          <c:idx val="0"/>
          <c:order val="0"/>
          <c:tx>
            <c:v>S = 100 exp(-0,2t)</c:v>
          </c:tx>
          <c:spPr>
            <a:solidFill xmlns:a="http://schemas.openxmlformats.org/drawingml/2006/main">
              <a:srgbClr val="83DFFF"/>
            </a:solidFill>
            <a:ln xmlns:a="http://schemas.openxmlformats.org/drawingml/2006/main" w="28575">
              <a:solidFill>
                <a:srgbClr val="83DFFF"/>
              </a:solidFill>
            </a:ln>
          </c:spPr>
          <c:marker>
            <c:symbol val="none"/>
            <c:size val="7"/>
          </c:marker>
          <c:xVal>
            <c:numRef>
              <c:f>'Chart Data'!$A$2:$A$42</c:f>
              <c:numCache>
                <c:formatCode>General</c:formatCode>
                <c:ptCount val="4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numCache>
            </c:numRef>
          </c:xVal>
          <c:yVal>
            <c:numRef>
              <c:f>'Chart Data'!$B$2:$B$42</c:f>
              <c:numCache>
                <c:formatCode>0.##</c:formatCode>
                <c:ptCount val="41"/>
                <c:pt idx="0">
                  <c:v>100</c:v>
                </c:pt>
                <c:pt idx="1">
                  <c:v>95.122942450071</c:v>
                </c:pt>
                <c:pt idx="2">
                  <c:v>90.483741803596</c:v>
                </c:pt>
                <c:pt idx="3">
                  <c:v>86.070797642506</c:v>
                </c:pt>
                <c:pt idx="4">
                  <c:v>81.873075307798</c:v>
                </c:pt>
                <c:pt idx="5">
                  <c:v>77.88007830714</c:v>
                </c:pt>
                <c:pt idx="6">
                  <c:v>74.081822068172</c:v>
                </c:pt>
                <c:pt idx="7">
                  <c:v>70.468808971871</c:v>
                </c:pt>
                <c:pt idx="8">
                  <c:v>67.032004603564</c:v>
                </c:pt>
                <c:pt idx="9">
                  <c:v>63.762815162177</c:v>
                </c:pt>
                <c:pt idx="10">
                  <c:v>60.653065971263</c:v>
                </c:pt>
                <c:pt idx="11">
                  <c:v>57.694981038049</c:v>
                </c:pt>
                <c:pt idx="12">
                  <c:v>54.881163609403</c:v>
                </c:pt>
                <c:pt idx="13">
                  <c:v>52.204577676102</c:v>
                </c:pt>
                <c:pt idx="14">
                  <c:v>49.658530379141</c:v>
                </c:pt>
                <c:pt idx="15">
                  <c:v>47.236655274101</c:v>
                </c:pt>
                <c:pt idx="16">
                  <c:v>44.932896411722</c:v>
                </c:pt>
                <c:pt idx="17">
                  <c:v>42.741493194873</c:v>
                </c:pt>
                <c:pt idx="18">
                  <c:v>40.65696597406</c:v>
                </c:pt>
                <c:pt idx="19">
                  <c:v>38.67410234545</c:v>
                </c:pt>
                <c:pt idx="20">
                  <c:v>36.787944117144</c:v>
                </c:pt>
                <c:pt idx="21">
                  <c:v>34.993774911116</c:v>
                </c:pt>
                <c:pt idx="22">
                  <c:v>33.287108369808</c:v>
                </c:pt>
                <c:pt idx="23">
                  <c:v>31.663676937905</c:v>
                </c:pt>
                <c:pt idx="24">
                  <c:v>30.11942119122</c:v>
                </c:pt>
                <c:pt idx="25">
                  <c:v>28.650479686019</c:v>
                </c:pt>
                <c:pt idx="26">
                  <c:v>27.253179303401</c:v>
                </c:pt>
                <c:pt idx="27">
                  <c:v>25.924026064589</c:v>
                </c:pt>
                <c:pt idx="28">
                  <c:v>24.659696394161</c:v>
                </c:pt>
                <c:pt idx="29">
                  <c:v>23.45702880938</c:v>
                </c:pt>
                <c:pt idx="30">
                  <c:v>22.313016014843</c:v>
                </c:pt>
                <c:pt idx="31">
                  <c:v>21.224797382674</c:v>
                </c:pt>
                <c:pt idx="32">
                  <c:v>20.189651799466</c:v>
                </c:pt>
                <c:pt idx="33">
                  <c:v>19.204990862075</c:v>
                </c:pt>
                <c:pt idx="34">
                  <c:v>18.268352405273</c:v>
                </c:pt>
                <c:pt idx="35">
                  <c:v>17.377394345045</c:v>
                </c:pt>
                <c:pt idx="36">
                  <c:v>16.529888822159</c:v>
                </c:pt>
                <c:pt idx="37">
                  <c:v>15.723716631363</c:v>
                </c:pt>
                <c:pt idx="38">
                  <c:v>14.956861922264</c:v>
                </c:pt>
                <c:pt idx="39">
                  <c:v>14.227407158651</c:v>
                </c:pt>
                <c:pt idx="40">
                  <c:v>13.533528323661</c:v>
                </c:pt>
              </c:numCache>
            </c:numRef>
          </c:yVal>
        </c:ser>
        <c:ser>
          <c:idx val="1"/>
          <c:order val="1"/>
          <c:tx>
            <c:v>Curva oscilante</c:v>
          </c:tx>
          <c:spPr>
            <a:solidFill xmlns:a="http://schemas.openxmlformats.org/drawingml/2006/main">
              <a:srgbClr val="FFAD62"/>
            </a:solidFill>
            <a:ln xmlns:a="http://schemas.openxmlformats.org/drawingml/2006/main" w="28575">
              <a:solidFill>
                <a:srgbClr val="FFAD62"/>
              </a:solidFill>
            </a:ln>
          </c:spPr>
          <c:marker>
            <c:symbol val="none"/>
            <c:size val="7"/>
          </c:marker>
          <c:xVal>
            <c:numRef>
              <c:f>'Chart Data'!$C$2:$C$42</c:f>
              <c:numCache>
                <c:formatCode>General</c:formatCode>
                <c:ptCount val="4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numCache>
            </c:numRef>
          </c:xVal>
          <c:yVal>
            <c:numRef>
              <c:f>'Chart Data'!$D$2:$D$42</c:f>
              <c:numCache>
                <c:formatCode>0.##</c:formatCode>
                <c:ptCount val="41"/>
                <c:pt idx="0">
                  <c:v>100</c:v>
                </c:pt>
                <c:pt idx="1">
                  <c:v>99.033804076077</c:v>
                </c:pt>
                <c:pt idx="2">
                  <c:v>98.20916666297</c:v>
                </c:pt>
                <c:pt idx="3">
                  <c:v>97.420560135994</c:v>
                </c:pt>
                <c:pt idx="4">
                  <c:v>96.56770661511</c:v>
                </c:pt>
                <c:pt idx="5">
                  <c:v>95.557747836804</c:v>
                </c:pt>
                <c:pt idx="6">
                  <c:v>94.307246927545</c:v>
                </c:pt>
                <c:pt idx="7">
                  <c:v>92.743972076581</c:v>
                </c:pt>
                <c:pt idx="8">
                  <c:v>90.808417510943</c:v>
                </c:pt>
                <c:pt idx="9">
                  <c:v>88.455023677056</c:v>
                </c:pt>
                <c:pt idx="10">
                  <c:v>85.653065971263</c:v>
                </c:pt>
                <c:pt idx="11">
                  <c:v>82.387189552927</c:v>
                </c:pt>
                <c:pt idx="12">
                  <c:v>78.657576516781</c:v>
                </c:pt>
                <c:pt idx="13">
                  <c:v>74.479740780811</c:v>
                </c:pt>
                <c:pt idx="14">
                  <c:v>69.883955238515</c:v>
                </c:pt>
                <c:pt idx="15">
                  <c:v>64.914324803765</c:v>
                </c:pt>
                <c:pt idx="16">
                  <c:v>59.627527719034</c:v>
                </c:pt>
                <c:pt idx="17">
                  <c:v>54.091255688361</c:v>
                </c:pt>
                <c:pt idx="18">
                  <c:v>48.382390833434</c:v>
                </c:pt>
                <c:pt idx="19">
                  <c:v>42.584963971456</c:v>
                </c:pt>
                <c:pt idx="20">
                  <c:v>36.787944117144</c:v>
                </c:pt>
                <c:pt idx="21">
                  <c:v>31.08291328511</c:v>
                </c:pt>
                <c:pt idx="22">
                  <c:v>25.561683510434</c:v>
                </c:pt>
                <c:pt idx="23">
                  <c:v>20.313914444417</c:v>
                </c:pt>
                <c:pt idx="24">
                  <c:v>15.424789883908</c:v>
                </c:pt>
                <c:pt idx="25">
                  <c:v>10.972810156355</c:v>
                </c:pt>
                <c:pt idx="26">
                  <c:v>7.0277544440276</c:v>
                </c:pt>
                <c:pt idx="27">
                  <c:v>3.64886295988</c:v>
                </c:pt>
                <c:pt idx="28">
                  <c:v>0.88328348678181</c:v>
                </c:pt>
                <c:pt idx="29">
                  <c:v>-1.2351797054987</c:v>
                </c:pt>
                <c:pt idx="30">
                  <c:v>-2.686983985157</c:v>
                </c:pt>
                <c:pt idx="31">
                  <c:v>-3.4674111322041</c:v>
                </c:pt>
                <c:pt idx="32">
                  <c:v>-3.5867611079133</c:v>
                </c:pt>
                <c:pt idx="33">
                  <c:v>-3.0701722426338</c:v>
                </c:pt>
                <c:pt idx="34">
                  <c:v>-1.9570724541002</c:v>
                </c:pt>
                <c:pt idx="35">
                  <c:v>-0.30027518461918</c:v>
                </c:pt>
                <c:pt idx="36">
                  <c:v>1.8352575148468</c:v>
                </c:pt>
                <c:pt idx="37">
                  <c:v>4.3739541378741</c:v>
                </c:pt>
                <c:pt idx="38">
                  <c:v>7.2314370628898</c:v>
                </c:pt>
                <c:pt idx="39">
                  <c:v>10.316545532646</c:v>
                </c:pt>
                <c:pt idx="40">
                  <c:v>13.533528323661</c:v>
                </c:pt>
              </c:numCache>
            </c:numRef>
          </c:yVal>
        </c:ser>
        <c:ser>
          <c:idx val="2"/>
          <c:order val="2"/>
          <c:tx>
            <c:v>Dados em 0, 5 e 10 d</c:v>
          </c:tx>
          <c:spPr>
            <a:solidFill xmlns:a="http://schemas.openxmlformats.org/drawingml/2006/main">
              <a:srgbClr val="FFFFFF"/>
            </a:solidFill>
            <a:ln xmlns:a="http://schemas.openxmlformats.org/drawingml/2006/main" w="0">
              <a:noFill/>
            </a:ln>
          </c:spPr>
          <c:marker>
            <c:symbol val="circle"/>
            <c:size val="7"/>
          </c:marker>
          <c:xVal>
            <c:numRef>
              <c:f>'Chart Data'!$E$2:$E$4</c:f>
              <c:numCache>
                <c:formatCode>General</c:formatCode>
                <c:ptCount val="3"/>
                <c:pt idx="0">
                  <c:v>0</c:v>
                </c:pt>
                <c:pt idx="1">
                  <c:v>5</c:v>
                </c:pt>
                <c:pt idx="2">
                  <c:v>10</c:v>
                </c:pt>
              </c:numCache>
            </c:numRef>
          </c:xVal>
          <c:yVal>
            <c:numRef>
              <c:f>'Chart Data'!$F$2:$F$4</c:f>
              <c:numCache>
                <c:formatCode>0.##</c:formatCode>
                <c:ptCount val="3"/>
                <c:pt idx="0">
                  <c:v>100</c:v>
                </c:pt>
                <c:pt idx="1">
                  <c:v>36.787944117144</c:v>
                </c:pt>
                <c:pt idx="2">
                  <c:v>13.533528323661</c:v>
                </c:pt>
              </c:numCache>
            </c:numRef>
          </c:yVal>
        </c:ser>
        <c:dLbls>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110"/>
          <c:min val="-10"/>
        </c:scaling>
        <c:delete val="0"/>
        <c:axPos val="l"/>
        <c:majorGridlines>
          <c:spPr>
            <a:ln xmlns:a="http://schemas.openxmlformats.org/drawingml/2006/main" w="9525">
              <a:solidFill>
                <a:srgbClr val="273A54"/>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S (mm)</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
        <c:majorTickMark val="none"/>
        <c:minorTickMark val="none"/>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majorUnit val="30"/>
      </c:valAx>
      <c:valAx>
        <c:axId val="48650112"/>
        <c:scaling>
          <c:orientation val="minMax"/>
          <c:max val="10.5"/>
          <c:min val="-0.25"/>
        </c:scaling>
        <c:delete val="0"/>
        <c:axPos val="b"/>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Tempo (dias)</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majorUnit val="2"/>
      </c:valAx>
      <c:spPr>
        <a:solidFill xmlns:a="http://schemas.openxmlformats.org/drawingml/2006/main">
          <a:srgbClr val="000F2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legend>
    <c:plotVisOnly val="1"/>
    <c:dispBlanksAs val="gap"/>
  </c:chart>
  <c:spPr>
    <a:solidFill xmlns:a="http://schemas.openxmlformats.org/drawingml/2006/main">
      <a:srgbClr val="000F29"/>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spTree>
      <p:nvGrpSpPr>
        <p:cNvPr id="1001" name=""/>
        <p:cNvGrpSpPr/>
        <p:nvPr/>
      </p:nvGrpSpPr>
      <p:grpSpPr>
        <a:xfrm xmlns:a="http://schemas.openxmlformats.org/drawingml/2006/main"/>
      </p:grpSpPr>
      <p:sp>
        <p:nvSpPr>
          <p:cNvPr id="1002" name="Retângulo 6">
            <a:extLst xmlns:a="http://schemas.openxmlformats.org/drawingml/2006/main">
              <a:ext uri="{FF2B5EF4-FFF2-40B4-BE49-F238E27FC236}">
                <a16:creationId xmlns:a16="http://schemas.microsoft.com/office/drawing/2014/main" id="{044CBE56-D027-5972-8E06-9BAFBA1D6F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03" name="Título 1">
            <a:extLst xmlns:a="http://schemas.openxmlformats.org/drawingml/2006/main">
              <a:ext uri="{FF2B5EF4-FFF2-40B4-BE49-F238E27FC236}">
                <a16:creationId xmlns:a16="http://schemas.microsoft.com/office/drawing/2014/main" id="{E9847F86-9F28-5B04-81C8-13923DC3337D}"/>
              </a:ext>
            </a:extLst>
          </p:cNvPr>
          <p:cNvSpPr>
            <a:spLocks xmlns:a="http://schemas.openxmlformats.org/drawingml/2006/main" noGrp="1"/>
          </p:cNvSpPr>
          <p:nvPr>
            <p:ph type="ctrTitle" idx="0"/>
          </p:nvPr>
        </p:nvSpPr>
        <p:spPr>
          <a:xfrm xmlns:a="http://schemas.openxmlformats.org/drawingml/2006/main">
            <a:off x="453700" y="1803493"/>
            <a:ext cx="6153926" cy="678363"/>
          </a:xfrm>
        </p:spPr>
        <p:txBody>
          <a:bodyPr xmlns:a="http://schemas.openxmlformats.org/drawingml/2006/main" lIns="0" tIns="0" rIns="0" bIns="0">
            <a:noAutofit/>
          </a:bodyPr>
          <a:lstStyle xmlns:a="http://schemas.openxmlformats.org/drawingml/2006/main"/>
          <a:p xmlns:a="http://schemas.openxmlformats.org/drawingml/2006/main">
            <a:pPr algn="l">
              <a:buNone/>
              <a:defRPr sz="4000" b="1">
                <a:solidFill>
                  <a:srgbClr val="FFFFFF"/>
                </a:solidFill>
                <a:latin typeface="JetBrains Mono ExtraBold"/>
                <a:ea typeface="JetBrains Mono ExtraBold"/>
                <a:cs typeface="JetBrains Mono ExtraBold"/>
              </a:defRPr>
            </a:pPr>
            <a:r>
              <a:rPr sz="4000" b="1">
                <a:solidFill>
                  <a:srgbClr val="FFFFFF"/>
                </a:solidFill>
                <a:latin typeface="JetBrains Mono ExtraBold"/>
                <a:ea typeface="JetBrains Mono ExtraBold"/>
                <a:cs typeface="JetBrains Mono ExtraBold"/>
              </a:rPr>
              <a:t>Hydro-UAI Course</a:t>
            </a:r>
          </a:p>
        </p:txBody>
      </p:sp>
      <p:sp>
        <p:nvSpPr>
          <p:cNvPr id="1004" name="Título 1">
            <a:extLst xmlns:a="http://schemas.openxmlformats.org/drawingml/2006/main">
              <a:ext uri="{FF2B5EF4-FFF2-40B4-BE49-F238E27FC236}">
                <a16:creationId xmlns:a16="http://schemas.microsoft.com/office/drawing/2014/main" id="{E73714B5-22FB-5813-AA86-0A76DFE9E59F}"/>
              </a:ext>
            </a:extLst>
          </p:cNvPr>
          <p:cNvSpPr>
            <a:spLocks xmlns:a="http://schemas.openxmlformats.org/drawingml/2006/main" noGrp="1"/>
          </p:cNvSpPr>
          <p:nvPr/>
        </p:nvSpPr>
        <p:spPr>
          <a:xfrm xmlns:a="http://schemas.openxmlformats.org/drawingml/2006/main">
            <a:off x="457200" y="2686050"/>
            <a:ext cx="6162675" cy="9525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83DFFF"/>
                </a:solidFill>
                <a:latin typeface="JetBrains Mono"/>
                <a:ea typeface="JetBrains Mono"/>
                <a:cs typeface="JetBrains Mono"/>
              </a:defRPr>
            </a:pPr>
            <a:r>
              <a:rPr sz="2400" b="1" i="1">
                <a:solidFill>
                  <a:srgbClr val="83DFFF"/>
                </a:solidFill>
                <a:latin typeface="JetBrains Mono"/>
                <a:ea typeface="JetBrains Mono"/>
                <a:cs typeface="JetBrains Mono"/>
              </a:rPr>
              <a:t>CNN, explicabilidade,</a:t>
            </a:r>
          </a:p>
          <a:p xmlns:a="http://schemas.openxmlformats.org/drawingml/2006/main">
            <a:pPr algn="l">
              <a:buNone/>
              <a:defRPr sz="2400" b="1" i="1">
                <a:solidFill>
                  <a:srgbClr val="83DFFF"/>
                </a:solidFill>
                <a:latin typeface="JetBrains Mono"/>
                <a:ea typeface="JetBrains Mono"/>
                <a:cs typeface="JetBrains Mono"/>
              </a:defRPr>
            </a:pPr>
            <a:r>
              <a:rPr sz="2400" b="1" i="1">
                <a:solidFill>
                  <a:srgbClr val="83DFFF"/>
                </a:solidFill>
                <a:latin typeface="JetBrains Mono"/>
                <a:ea typeface="JetBrains Mono"/>
                <a:cs typeface="JetBrains Mono"/>
              </a:rPr>
              <a:t>PINN e LLM</a:t>
            </a:r>
          </a:p>
        </p:txBody>
      </p:sp>
      <p:sp>
        <p:nvSpPr>
          <p:cNvPr id="1005" name="Conector reto 3">
            <a:extLst xmlns:a="http://schemas.openxmlformats.org/drawingml/2006/main">
              <a:ext uri="{FF2B5EF4-FFF2-40B4-BE49-F238E27FC236}">
                <a16:creationId xmlns:a16="http://schemas.microsoft.com/office/drawing/2014/main" id="{82B38ECD-0726-5123-B7BE-73EC6DC79223}"/>
              </a:ext>
            </a:extLst>
          </p:cNvPr>
          <p:cNvSpPr>
            <a:spLocks xmlns:a="http://schemas.openxmlformats.org/drawingml/2006/main" noGrp="1"/>
          </p:cNvSpPr>
          <p:nvPr/>
        </p:nvSpPr>
        <p:spPr>
          <a:xfrm xmlns:a="http://schemas.openxmlformats.org/drawingml/2006/main">
            <a:off x="7048500" y="0"/>
            <a:ext cx="0" cy="685800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06" name="Título 1">
            <a:extLst xmlns:a="http://schemas.openxmlformats.org/drawingml/2006/main">
              <a:ext uri="{FF2B5EF4-FFF2-40B4-BE49-F238E27FC236}">
                <a16:creationId xmlns:a16="http://schemas.microsoft.com/office/drawing/2014/main" id="{DF4E1F78-E311-5221-B008-F683638ECDC6}"/>
              </a:ext>
            </a:extLst>
          </p:cNvPr>
          <p:cNvSpPr>
            <a:spLocks xmlns:a="http://schemas.openxmlformats.org/drawingml/2006/main" noGrp="1"/>
          </p:cNvSpPr>
          <p:nvPr/>
        </p:nvSpPr>
        <p:spPr>
          <a:xfrm xmlns:a="http://schemas.openxmlformats.org/drawingml/2006/main">
            <a:off x="457200" y="4829175"/>
            <a:ext cx="6153150" cy="9525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buNone/>
              <a:defRPr sz="1425">
                <a:solidFill>
                  <a:srgbClr val="FFFFFF"/>
                </a:solidFill>
                <a:latin typeface="JetBrains Mono"/>
                <a:ea typeface="JetBrains Mono"/>
                <a:cs typeface="JetBrains Mono"/>
              </a:defRPr>
            </a:pPr>
            <a:r>
              <a:rPr sz="1425">
                <a:solidFill>
                  <a:srgbClr val="FFFFFF"/>
                </a:solidFill>
                <a:latin typeface="JetBrains Mono"/>
                <a:ea typeface="JetBrains Mono"/>
                <a:cs typeface="JetBrains Mono"/>
              </a:rPr>
              <a:t>André Ferreira Rodrigues</a:t>
            </a:r>
          </a:p>
          <a:p xmlns:a="http://schemas.openxmlformats.org/drawingml/2006/main">
            <a:pPr algn="l">
              <a:lnSpc>
                <a:spcPct val="150000"/>
              </a:lnSpc>
              <a:buNone/>
              <a:defRPr sz="1425">
                <a:solidFill>
                  <a:srgbClr val="FFFFFF"/>
                </a:solidFill>
                <a:latin typeface="JetBrains Mono"/>
                <a:ea typeface="JetBrains Mono"/>
                <a:cs typeface="JetBrains Mono"/>
              </a:defRPr>
            </a:pPr>
            <a:r>
              <a:rPr sz="1425">
                <a:solidFill>
                  <a:srgbClr val="FFFFFF"/>
                </a:solidFill>
                <a:latin typeface="JetBrains Mono"/>
                <a:ea typeface="JetBrains Mono"/>
                <a:cs typeface="JetBrains Mono"/>
              </a:rPr>
              <a:t>Bruno Melo Brentan</a:t>
            </a:r>
          </a:p>
          <a:p xmlns:a="http://schemas.openxmlformats.org/drawingml/2006/main">
            <a:pPr algn="l">
              <a:lnSpc>
                <a:spcPct val="150000"/>
              </a:lnSpc>
              <a:buNone/>
              <a:defRPr sz="1425">
                <a:solidFill>
                  <a:srgbClr val="FFFFFF"/>
                </a:solidFill>
                <a:latin typeface="JetBrains Mono"/>
                <a:ea typeface="JetBrains Mono"/>
                <a:cs typeface="JetBrains Mono"/>
              </a:defRPr>
            </a:pPr>
            <a:r>
              <a:rPr sz="1425">
                <a:solidFill>
                  <a:srgbClr val="FFFFFF"/>
                </a:solidFill>
                <a:latin typeface="JetBrains Mono"/>
                <a:ea typeface="JetBrains Mono"/>
                <a:cs typeface="JetBrains Mono"/>
              </a:rPr>
              <a:t>Rodrigo Perdigão Bezerra</a:t>
            </a:r>
          </a:p>
        </p:txBody>
      </p:sp>
      <p:sp>
        <p:nvSpPr>
          <p:cNvPr id="1007" name="Descrição da aula">
            <a:extLst xmlns:a="http://schemas.openxmlformats.org/drawingml/2006/main">
              <a:ext uri="{FF2B5EF4-FFF2-40B4-BE49-F238E27FC236}">
                <a16:creationId xmlns:a16="http://schemas.microsoft.com/office/drawing/2014/main" id="{1878D95B-63EF-5B11-A66E-0FCE01D0D71C}"/>
              </a:ext>
            </a:extLst>
          </p:cNvPr>
          <p:cNvSpPr>
            <a:spLocks xmlns:a="http://schemas.openxmlformats.org/drawingml/2006/main" noGrp="1"/>
          </p:cNvSpPr>
          <p:nvPr/>
        </p:nvSpPr>
        <p:spPr>
          <a:xfrm xmlns:a="http://schemas.openxmlformats.org/drawingml/2006/main">
            <a:off x="457200" y="3743325"/>
            <a:ext cx="617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Aplicações à modelagem e</a:t>
            </a:r>
          </a:p>
          <a:p xmlns:a="http://schemas.openxmlformats.org/drawingml/2006/main">
            <a:pPr algn="l">
              <a:buNone/>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à previsão hidrológica</a:t>
            </a:r>
          </a:p>
        </p:txBody>
      </p:sp>
      <p:sp>
        <p:nvSpPr>
          <p:cNvPr id="1008" name="Identificação">
            <a:extLst xmlns:a="http://schemas.openxmlformats.org/drawingml/2006/main">
              <a:ext uri="{FF2B5EF4-FFF2-40B4-BE49-F238E27FC236}">
                <a16:creationId xmlns:a16="http://schemas.microsoft.com/office/drawing/2014/main" id="{06D9197B-2C16-51ED-BB3C-5384FE01AF8E}"/>
              </a:ext>
            </a:extLst>
          </p:cNvPr>
          <p:cNvSpPr>
            <a:spLocks xmlns:a="http://schemas.openxmlformats.org/drawingml/2006/main" noGrp="1"/>
          </p:cNvSpPr>
          <p:nvPr/>
        </p:nvSpPr>
        <p:spPr>
          <a:xfrm xmlns:a="http://schemas.openxmlformats.org/drawingml/2006/main">
            <a:off x="457200" y="4371975"/>
            <a:ext cx="615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i="0">
                <a:solidFill>
                  <a:srgbClr val="91A4BD"/>
                </a:solidFill>
                <a:latin typeface="JetBrains Mono"/>
                <a:ea typeface="JetBrains Mono"/>
                <a:cs typeface="JetBrains Mono"/>
              </a:defRPr>
            </a:pPr>
            <a:r>
              <a:rPr sz="1275" b="0" i="0">
                <a:solidFill>
                  <a:srgbClr val="91A4BD"/>
                </a:solidFill>
                <a:latin typeface="JetBrains Mono"/>
                <a:ea typeface="JetBrains Mono"/>
                <a:cs typeface="JetBrains Mono"/>
              </a:rPr>
              <a:t>PADRÕES, FÍSICA E LINGUAGEM</a:t>
            </a:r>
          </a:p>
        </p:txBody>
      </p:sp>
      <p:pic>
        <p:nvPicPr>
          <p:cNvPr id="1009" name="Imagem 7"/>
          <p:cNvPicPr>
            <a:picLocks xmlns:a="http://schemas.openxmlformats.org/drawingml/2006/main" noChangeAspect="1"/>
          </p:cNvPicPr>
          <p:nvPr/>
        </p:nvPicPr>
        <p:blipFill>
          <a:blip xmlns:r="http://schemas.openxmlformats.org/officeDocument/2006/relationships" xmlns:a="http://schemas.openxmlformats.org/drawingml/2006/main" r:embed="Rdbb950bc951c4266"/>
          <a:stretch xmlns:a="http://schemas.openxmlformats.org/drawingml/2006/main">
            <a:fillRect l="0" t="0" r="0" b="0"/>
          </a:stretch>
        </p:blipFill>
        <p:spPr>
          <a:xfrm xmlns:a="http://schemas.openxmlformats.org/drawingml/2006/main">
            <a:off x="7061326" y="0"/>
            <a:ext cx="5143500" cy="6858000"/>
          </a:xfrm>
          <a:prstGeom xmlns:a="http://schemas.openxmlformats.org/drawingml/2006/main" prst="rect">
            <a:avLst/>
          </a:prstGeom>
        </p:spPr>
      </p:pic>
      <p:pic>
        <p:nvPicPr>
          <p:cNvPr id="1010" name="Imagem 13"/>
          <p:cNvPicPr>
            <a:picLocks xmlns:a="http://schemas.openxmlformats.org/drawingml/2006/main" noChangeAspect="1"/>
          </p:cNvPicPr>
          <p:nvPr/>
        </p:nvPicPr>
        <p:blipFill>
          <a:blip xmlns:r="http://schemas.openxmlformats.org/officeDocument/2006/relationships" xmlns:a="http://schemas.openxmlformats.org/drawingml/2006/main" r:embed="Rae739b2a51874cf5"/>
          <a:srcRect xmlns:a="http://schemas.openxmlformats.org/drawingml/2006/main" l="3570" t="0" r="8084" b="18195"/>
          <a:stretch xmlns:a="http://schemas.openxmlformats.org/drawingml/2006/main">
            <a:fillRect l="0" t="0" r="0" b="0"/>
          </a:stretch>
        </p:blipFill>
        <p:spPr>
          <a:xfrm xmlns:a="http://schemas.openxmlformats.org/drawingml/2006/main">
            <a:off x="447287" y="5924579"/>
            <a:ext cx="592780" cy="523392"/>
          </a:xfrm>
          <a:prstGeom xmlns:a="http://schemas.openxmlformats.org/drawingml/2006/main" prst="rect">
            <a:avLst/>
          </a:prstGeom>
        </p:spPr>
      </p:pic>
      <p:pic>
        <p:nvPicPr>
          <p:cNvPr id="1011" name="Imagem 15"/>
          <p:cNvPicPr>
            <a:picLocks xmlns:a="http://schemas.openxmlformats.org/drawingml/2006/main" noChangeAspect="1"/>
          </p:cNvPicPr>
          <p:nvPr/>
        </p:nvPicPr>
        <p:blipFill>
          <a:blip xmlns:r="http://schemas.openxmlformats.org/officeDocument/2006/relationships" xmlns:a="http://schemas.openxmlformats.org/drawingml/2006/main" r:embed="R11c3d3ed9d374364"/>
          <a:srcRect xmlns:a="http://schemas.openxmlformats.org/drawingml/2006/main" l="1924" t="7917" r="1239" b="5183"/>
          <a:stretch xmlns:a="http://schemas.openxmlformats.org/drawingml/2006/main">
            <a:fillRect l="0" t="0" r="0" b="0"/>
          </a:stretch>
        </p:blipFill>
        <p:spPr>
          <a:xfrm xmlns:a="http://schemas.openxmlformats.org/drawingml/2006/main">
            <a:off x="453700" y="410029"/>
            <a:ext cx="1080460" cy="374888"/>
          </a:xfrm>
          <a:prstGeom xmlns:a="http://schemas.openxmlformats.org/drawingml/2006/main" prst="rect">
            <a:avLst/>
          </a:prstGeom>
        </p:spPr>
      </p:pic>
    </p:spTree>
    <p:extLst>
      <p:ext uri="{BB962C8B-B14F-4D97-AF65-F5344CB8AC3E}">
        <p14:creationId xmlns:p14="http://schemas.microsoft.com/office/powerpoint/2010/main" val="3048522473"/>
      </p:ext>
    </p:extLst>
  </p:cSld>
</p:sld>
</file>

<file path=ppt/slides/slide2.xml><?xml version="1.0" encoding="utf-8"?>
<p:sld xmlns:p="http://schemas.openxmlformats.org/presentationml/2006/main">
  <p:cSld>
    <p:spTree>
      <p:nvGrpSpPr>
        <p:cNvPr id="2001" name=""/>
        <p:cNvGrpSpPr/>
        <p:nvPr/>
      </p:nvGrpSpPr>
      <p:grpSpPr>
        <a:xfrm xmlns:a="http://schemas.openxmlformats.org/drawingml/2006/main"/>
      </p:grpSpPr>
      <p:sp>
        <p:nvSpPr>
          <p:cNvPr id="2002" name="Retângulo 6">
            <a:extLst xmlns:a="http://schemas.openxmlformats.org/drawingml/2006/main">
              <a:ext uri="{FF2B5EF4-FFF2-40B4-BE49-F238E27FC236}">
                <a16:creationId xmlns:a16="http://schemas.microsoft.com/office/drawing/2014/main" id="{7515018C-D25B-570A-AA28-EFF9003041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03" name="Percurso da aula">
            <a:extLst xmlns:a="http://schemas.openxmlformats.org/drawingml/2006/main">
              <a:ext uri="{FF2B5EF4-FFF2-40B4-BE49-F238E27FC236}">
                <a16:creationId xmlns:a16="http://schemas.microsoft.com/office/drawing/2014/main" id="{5DA6B425-20B6-5BB7-B267-DDE7C7FB216D}"/>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Percurso da aula</a:t>
            </a:r>
          </a:p>
        </p:txBody>
      </p:sp>
      <p:sp>
        <p:nvSpPr>
          <p:cNvPr id="2004" name="01  CNN">
            <a:extLst xmlns:a="http://schemas.openxmlformats.org/drawingml/2006/main">
              <a:ext uri="{FF2B5EF4-FFF2-40B4-BE49-F238E27FC236}">
                <a16:creationId xmlns:a16="http://schemas.microsoft.com/office/drawing/2014/main" id="{8CE200A8-1DFF-509D-AEAD-AD281DA03335}"/>
              </a:ext>
            </a:extLst>
          </p:cNvPr>
          <p:cNvSpPr>
            <a:spLocks xmlns:a="http://schemas.openxmlformats.org/drawingml/2006/main" noGrp="1"/>
          </p:cNvSpPr>
          <p:nvPr/>
        </p:nvSpPr>
        <p:spPr>
          <a:xfrm xmlns:a="http://schemas.openxmlformats.org/drawingml/2006/main">
            <a:off x="457200" y="261937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01  CNN</a:t>
            </a:r>
          </a:p>
        </p:txBody>
      </p:sp>
      <p:sp>
        <p:nvSpPr>
          <p:cNvPr id="2005" name="Padrões em séries, imagens e mapas d">
            <a:extLst xmlns:a="http://schemas.openxmlformats.org/drawingml/2006/main">
              <a:ext uri="{FF2B5EF4-FFF2-40B4-BE49-F238E27FC236}">
                <a16:creationId xmlns:a16="http://schemas.microsoft.com/office/drawing/2014/main" id="{93B39F43-74C1-5F11-85E1-7ADF6BD08DDC}"/>
              </a:ext>
            </a:extLst>
          </p:cNvPr>
          <p:cNvSpPr>
            <a:spLocks xmlns:a="http://schemas.openxmlformats.org/drawingml/2006/main" noGrp="1"/>
          </p:cNvSpPr>
          <p:nvPr/>
        </p:nvSpPr>
        <p:spPr>
          <a:xfrm xmlns:a="http://schemas.openxmlformats.org/drawingml/2006/main">
            <a:off x="3886200" y="2619375"/>
            <a:ext cx="7848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Padrões em séries, imagens e mapas de chuva.</a:t>
            </a:r>
          </a:p>
        </p:txBody>
      </p:sp>
      <p:sp>
        <p:nvSpPr>
          <p:cNvPr id="2006" name="02  Explicabilidade">
            <a:extLst xmlns:a="http://schemas.openxmlformats.org/drawingml/2006/main">
              <a:ext uri="{FF2B5EF4-FFF2-40B4-BE49-F238E27FC236}">
                <a16:creationId xmlns:a16="http://schemas.microsoft.com/office/drawing/2014/main" id="{A4274D2B-6C3D-59F0-AD3F-83A6532B746E}"/>
              </a:ext>
            </a:extLst>
          </p:cNvPr>
          <p:cNvSpPr>
            <a:spLocks xmlns:a="http://schemas.openxmlformats.org/drawingml/2006/main" noGrp="1"/>
          </p:cNvSpPr>
          <p:nvPr/>
        </p:nvSpPr>
        <p:spPr>
          <a:xfrm xmlns:a="http://schemas.openxmlformats.org/drawingml/2006/main">
            <a:off x="457200" y="342900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02  Explicabilidade</a:t>
            </a:r>
          </a:p>
        </p:txBody>
      </p:sp>
      <p:sp>
        <p:nvSpPr>
          <p:cNvPr id="2007" name="Contribuições das entradas e investi">
            <a:extLst xmlns:a="http://schemas.openxmlformats.org/drawingml/2006/main">
              <a:ext uri="{FF2B5EF4-FFF2-40B4-BE49-F238E27FC236}">
                <a16:creationId xmlns:a16="http://schemas.microsoft.com/office/drawing/2014/main" id="{8D34DBA3-67AF-5725-A084-FAFF22A94930}"/>
              </a:ext>
            </a:extLst>
          </p:cNvPr>
          <p:cNvSpPr>
            <a:spLocks xmlns:a="http://schemas.openxmlformats.org/drawingml/2006/main" noGrp="1"/>
          </p:cNvSpPr>
          <p:nvPr/>
        </p:nvSpPr>
        <p:spPr>
          <a:xfrm xmlns:a="http://schemas.openxmlformats.org/drawingml/2006/main">
            <a:off x="3886200" y="3429000"/>
            <a:ext cx="7848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Contribuições das entradas e investigação de previsões.</a:t>
            </a:r>
          </a:p>
        </p:txBody>
      </p:sp>
      <p:sp>
        <p:nvSpPr>
          <p:cNvPr id="2008" name="03  PINN">
            <a:extLst xmlns:a="http://schemas.openxmlformats.org/drawingml/2006/main">
              <a:ext uri="{FF2B5EF4-FFF2-40B4-BE49-F238E27FC236}">
                <a16:creationId xmlns:a16="http://schemas.microsoft.com/office/drawing/2014/main" id="{B48DECF2-3AFF-55AF-B99B-512528F0F462}"/>
              </a:ext>
            </a:extLst>
          </p:cNvPr>
          <p:cNvSpPr>
            <a:spLocks xmlns:a="http://schemas.openxmlformats.org/drawingml/2006/main" noGrp="1"/>
          </p:cNvSpPr>
          <p:nvPr/>
        </p:nvSpPr>
        <p:spPr>
          <a:xfrm xmlns:a="http://schemas.openxmlformats.org/drawingml/2006/main">
            <a:off x="457200" y="423862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03  PINN</a:t>
            </a:r>
          </a:p>
        </p:txBody>
      </p:sp>
      <p:sp>
        <p:nvSpPr>
          <p:cNvPr id="2009" name="Equações físicas no treinamento e pr">
            <a:extLst xmlns:a="http://schemas.openxmlformats.org/drawingml/2006/main">
              <a:ext uri="{FF2B5EF4-FFF2-40B4-BE49-F238E27FC236}">
                <a16:creationId xmlns:a16="http://schemas.microsoft.com/office/drawing/2014/main" id="{06130937-BBDB-57ED-8661-D37EDD4B2FEA}"/>
              </a:ext>
            </a:extLst>
          </p:cNvPr>
          <p:cNvSpPr>
            <a:spLocks xmlns:a="http://schemas.openxmlformats.org/drawingml/2006/main" noGrp="1"/>
          </p:cNvSpPr>
          <p:nvPr/>
        </p:nvSpPr>
        <p:spPr>
          <a:xfrm xmlns:a="http://schemas.openxmlformats.org/drawingml/2006/main">
            <a:off x="3886200" y="4238625"/>
            <a:ext cx="7848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Equações físicas no treinamento e problemas inversos.</a:t>
            </a:r>
          </a:p>
        </p:txBody>
      </p:sp>
      <p:sp>
        <p:nvSpPr>
          <p:cNvPr id="2010" name="04  LLM">
            <a:extLst xmlns:a="http://schemas.openxmlformats.org/drawingml/2006/main">
              <a:ext uri="{FF2B5EF4-FFF2-40B4-BE49-F238E27FC236}">
                <a16:creationId xmlns:a16="http://schemas.microsoft.com/office/drawing/2014/main" id="{2EA2993B-257E-5F30-B8EE-D3EE2AEB5700}"/>
              </a:ext>
            </a:extLst>
          </p:cNvPr>
          <p:cNvSpPr>
            <a:spLocks xmlns:a="http://schemas.openxmlformats.org/drawingml/2006/main" noGrp="1"/>
          </p:cNvSpPr>
          <p:nvPr/>
        </p:nvSpPr>
        <p:spPr>
          <a:xfrm xmlns:a="http://schemas.openxmlformats.org/drawingml/2006/main">
            <a:off x="457200" y="504825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04  LLM</a:t>
            </a:r>
          </a:p>
        </p:txBody>
      </p:sp>
      <p:sp>
        <p:nvSpPr>
          <p:cNvPr id="2011" name="Documentos, ferramentas e comunicaçã">
            <a:extLst xmlns:a="http://schemas.openxmlformats.org/drawingml/2006/main">
              <a:ext uri="{FF2B5EF4-FFF2-40B4-BE49-F238E27FC236}">
                <a16:creationId xmlns:a16="http://schemas.microsoft.com/office/drawing/2014/main" id="{900DF4DD-22EB-53F4-B262-B97037027097}"/>
              </a:ext>
            </a:extLst>
          </p:cNvPr>
          <p:cNvSpPr>
            <a:spLocks xmlns:a="http://schemas.openxmlformats.org/drawingml/2006/main" noGrp="1"/>
          </p:cNvSpPr>
          <p:nvPr/>
        </p:nvSpPr>
        <p:spPr>
          <a:xfrm xmlns:a="http://schemas.openxmlformats.org/drawingml/2006/main">
            <a:off x="3886200" y="5048250"/>
            <a:ext cx="7848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Documentos, ferramentas e comunicação de resultados.</a:t>
            </a:r>
          </a:p>
        </p:txBody>
      </p:sp>
      <p:pic>
        <p:nvPicPr>
          <p:cNvPr id="2012" name="Imagem 13"/>
          <p:cNvPicPr>
            <a:picLocks xmlns:a="http://schemas.openxmlformats.org/drawingml/2006/main" noChangeAspect="1"/>
          </p:cNvPicPr>
          <p:nvPr/>
        </p:nvPicPr>
        <p:blipFill>
          <a:blip xmlns:r="http://schemas.openxmlformats.org/officeDocument/2006/relationships" xmlns:a="http://schemas.openxmlformats.org/drawingml/2006/main" r:embed="Rf2f3f22cdadb4bff"/>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2013" name="Hydro-UAI IA aplicada à hidrologia">
            <a:extLst xmlns:a="http://schemas.openxmlformats.org/drawingml/2006/main">
              <a:ext uri="{FF2B5EF4-FFF2-40B4-BE49-F238E27FC236}">
                <a16:creationId xmlns:a16="http://schemas.microsoft.com/office/drawing/2014/main" id="{2F56ADB1-FA90-5C3D-870B-05132D24F054}"/>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IA aplicada à hidrologia</a:t>
            </a:r>
          </a:p>
        </p:txBody>
      </p:sp>
      <p:sp>
        <p:nvSpPr>
          <p:cNvPr id="2014" name="Divisor Hydro-UAI">
            <a:extLst xmlns:a="http://schemas.openxmlformats.org/drawingml/2006/main">
              <a:ext uri="{FF2B5EF4-FFF2-40B4-BE49-F238E27FC236}">
                <a16:creationId xmlns:a16="http://schemas.microsoft.com/office/drawing/2014/main" id="{5F0DB46B-477B-5B85-AC0B-346D06912461}"/>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2015" name="Hydro-UAI Hydro-UAI Course">
            <a:extLst xmlns:a="http://schemas.openxmlformats.org/drawingml/2006/main">
              <a:ext uri="{FF2B5EF4-FFF2-40B4-BE49-F238E27FC236}">
                <a16:creationId xmlns:a16="http://schemas.microsoft.com/office/drawing/2014/main" id="{97421103-A2AB-5977-BB69-A20D0D744C00}"/>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2016" name="Hydro-UAI 02 / 62">
            <a:extLst xmlns:a="http://schemas.openxmlformats.org/drawingml/2006/main">
              <a:ext uri="{FF2B5EF4-FFF2-40B4-BE49-F238E27FC236}">
                <a16:creationId xmlns:a16="http://schemas.microsoft.com/office/drawing/2014/main" id="{62A824B2-B20F-5950-9E96-69E9F21BEC7E}"/>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02 / 68</a:t>
            </a:r>
          </a:p>
        </p:txBody>
      </p:sp>
    </p:spTree>
    <p:extLst>
      <p:ext uri="{BB962C8B-B14F-4D97-AF65-F5344CB8AC3E}">
        <p14:creationId xmlns:p14="http://schemas.microsoft.com/office/powerpoint/2010/main" val="3991283715"/>
      </p:ext>
    </p:extLst>
  </p:cSld>
</p:sld>
</file>

<file path=ppt/slides/slide3.xml><?xml version="1.0" encoding="utf-8"?>
<p:sld xmlns:p="http://schemas.openxmlformats.org/presentationml/2006/main">
  <p:cSld>
    <p:spTree>
      <p:nvGrpSpPr>
        <p:cNvPr id="3001" name=""/>
        <p:cNvGrpSpPr/>
        <p:nvPr/>
      </p:nvGrpSpPr>
      <p:grpSpPr>
        <a:xfrm xmlns:a="http://schemas.openxmlformats.org/drawingml/2006/main"/>
      </p:grpSpPr>
      <p:sp>
        <p:nvSpPr>
          <p:cNvPr id="3002" name="Retângulo 6">
            <a:extLst xmlns:a="http://schemas.openxmlformats.org/drawingml/2006/main">
              <a:ext uri="{FF2B5EF4-FFF2-40B4-BE49-F238E27FC236}">
                <a16:creationId xmlns:a16="http://schemas.microsoft.com/office/drawing/2014/main" id="{824CDA41-8C17-5E11-9199-EA898F13DF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03" name="Objetivos de aprendizagem">
            <a:extLst xmlns:a="http://schemas.openxmlformats.org/drawingml/2006/main">
              <a:ext uri="{FF2B5EF4-FFF2-40B4-BE49-F238E27FC236}">
                <a16:creationId xmlns:a16="http://schemas.microsoft.com/office/drawing/2014/main" id="{8FF5B210-FB12-5396-9315-35C22DE0BFD5}"/>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Objetivos de aprendizagem</a:t>
            </a:r>
          </a:p>
        </p:txBody>
      </p:sp>
      <p:sp>
        <p:nvSpPr>
          <p:cNvPr id="3004" name="Representar os dados">
            <a:extLst xmlns:a="http://schemas.openxmlformats.org/drawingml/2006/main">
              <a:ext uri="{FF2B5EF4-FFF2-40B4-BE49-F238E27FC236}">
                <a16:creationId xmlns:a16="http://schemas.microsoft.com/office/drawing/2014/main" id="{0BE22D64-FF70-57D9-AD59-EBE229156EB5}"/>
              </a:ext>
            </a:extLst>
          </p:cNvPr>
          <p:cNvSpPr>
            <a:spLocks xmlns:a="http://schemas.openxmlformats.org/drawingml/2006/main" noGrp="1"/>
          </p:cNvSpPr>
          <p:nvPr/>
        </p:nvSpPr>
        <p:spPr>
          <a:xfrm xmlns:a="http://schemas.openxmlformats.org/drawingml/2006/main">
            <a:off x="457200" y="261937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Representar os dados</a:t>
            </a:r>
          </a:p>
        </p:txBody>
      </p:sp>
      <p:sp>
        <p:nvSpPr>
          <p:cNvPr id="3005" name="Distinguir séries temporais, rasters">
            <a:extLst xmlns:a="http://schemas.openxmlformats.org/drawingml/2006/main">
              <a:ext uri="{FF2B5EF4-FFF2-40B4-BE49-F238E27FC236}">
                <a16:creationId xmlns:a16="http://schemas.microsoft.com/office/drawing/2014/main" id="{A7067357-CBBA-5B99-96E3-55D15F34E47A}"/>
              </a:ext>
            </a:extLst>
          </p:cNvPr>
          <p:cNvSpPr>
            <a:spLocks xmlns:a="http://schemas.openxmlformats.org/drawingml/2006/main" noGrp="1"/>
          </p:cNvSpPr>
          <p:nvPr/>
        </p:nvSpPr>
        <p:spPr>
          <a:xfrm xmlns:a="http://schemas.openxmlformats.org/drawingml/2006/main">
            <a:off x="3886200" y="2619375"/>
            <a:ext cx="7848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Distinguir séries temporais, rasters e coordenadas físicas.</a:t>
            </a:r>
          </a:p>
        </p:txBody>
      </p:sp>
      <p:sp>
        <p:nvSpPr>
          <p:cNvPr id="3006" name="Relacionar a saída">
            <a:extLst xmlns:a="http://schemas.openxmlformats.org/drawingml/2006/main">
              <a:ext uri="{FF2B5EF4-FFF2-40B4-BE49-F238E27FC236}">
                <a16:creationId xmlns:a16="http://schemas.microsoft.com/office/drawing/2014/main" id="{8EEF9C9F-3EDF-57BA-A8C3-5FA8B74A309E}"/>
              </a:ext>
            </a:extLst>
          </p:cNvPr>
          <p:cNvSpPr>
            <a:spLocks xmlns:a="http://schemas.openxmlformats.org/drawingml/2006/main" noGrp="1"/>
          </p:cNvSpPr>
          <p:nvPr/>
        </p:nvSpPr>
        <p:spPr>
          <a:xfrm xmlns:a="http://schemas.openxmlformats.org/drawingml/2006/main">
            <a:off x="457200" y="342900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Relacionar a saída</a:t>
            </a:r>
          </a:p>
        </p:txBody>
      </p:sp>
      <p:sp>
        <p:nvSpPr>
          <p:cNvPr id="3007" name="Separar vazão, chuva futura, máscara">
            <a:extLst xmlns:a="http://schemas.openxmlformats.org/drawingml/2006/main">
              <a:ext uri="{FF2B5EF4-FFF2-40B4-BE49-F238E27FC236}">
                <a16:creationId xmlns:a16="http://schemas.microsoft.com/office/drawing/2014/main" id="{DC442B0C-12AA-534B-9901-7D6A9CC6B722}"/>
              </a:ext>
            </a:extLst>
          </p:cNvPr>
          <p:cNvSpPr>
            <a:spLocks xmlns:a="http://schemas.openxmlformats.org/drawingml/2006/main" noGrp="1"/>
          </p:cNvSpPr>
          <p:nvPr/>
        </p:nvSpPr>
        <p:spPr>
          <a:xfrm xmlns:a="http://schemas.openxmlformats.org/drawingml/2006/main">
            <a:off x="3886200" y="3429000"/>
            <a:ext cx="7848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Separar vazão, chuva futura, máscara de inundação e texto.</a:t>
            </a:r>
          </a:p>
        </p:txBody>
      </p:sp>
      <p:sp>
        <p:nvSpPr>
          <p:cNvPr id="3008" name="Investigar um modelo">
            <a:extLst xmlns:a="http://schemas.openxmlformats.org/drawingml/2006/main">
              <a:ext uri="{FF2B5EF4-FFF2-40B4-BE49-F238E27FC236}">
                <a16:creationId xmlns:a16="http://schemas.microsoft.com/office/drawing/2014/main" id="{DE96411C-C452-5F2B-B07F-98424E534B1D}"/>
              </a:ext>
            </a:extLst>
          </p:cNvPr>
          <p:cNvSpPr>
            <a:spLocks xmlns:a="http://schemas.openxmlformats.org/drawingml/2006/main" noGrp="1"/>
          </p:cNvSpPr>
          <p:nvPr/>
        </p:nvSpPr>
        <p:spPr>
          <a:xfrm xmlns:a="http://schemas.openxmlformats.org/drawingml/2006/main">
            <a:off x="457200" y="423862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Investigar um modelo</a:t>
            </a:r>
          </a:p>
        </p:txBody>
      </p:sp>
      <p:sp>
        <p:nvSpPr>
          <p:cNvPr id="3009" name="Interpretar atribuições e verificar ">
            <a:extLst xmlns:a="http://schemas.openxmlformats.org/drawingml/2006/main">
              <a:ext uri="{FF2B5EF4-FFF2-40B4-BE49-F238E27FC236}">
                <a16:creationId xmlns:a16="http://schemas.microsoft.com/office/drawing/2014/main" id="{947085CB-D00B-527D-93A3-278B6302074B}"/>
              </a:ext>
            </a:extLst>
          </p:cNvPr>
          <p:cNvSpPr>
            <a:spLocks xmlns:a="http://schemas.openxmlformats.org/drawingml/2006/main" noGrp="1"/>
          </p:cNvSpPr>
          <p:nvPr/>
        </p:nvSpPr>
        <p:spPr>
          <a:xfrm xmlns:a="http://schemas.openxmlformats.org/drawingml/2006/main">
            <a:off x="3886200" y="4238625"/>
            <a:ext cx="7848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Interpretar atribuições e verificar coerência hidrológica.</a:t>
            </a:r>
          </a:p>
        </p:txBody>
      </p:sp>
      <p:sp>
        <p:nvSpPr>
          <p:cNvPr id="3010" name="Planejar uma aplicação">
            <a:extLst xmlns:a="http://schemas.openxmlformats.org/drawingml/2006/main">
              <a:ext uri="{FF2B5EF4-FFF2-40B4-BE49-F238E27FC236}">
                <a16:creationId xmlns:a16="http://schemas.microsoft.com/office/drawing/2014/main" id="{320324F8-9E8A-5458-B744-1929C19F39D6}"/>
              </a:ext>
            </a:extLst>
          </p:cNvPr>
          <p:cNvSpPr>
            <a:spLocks xmlns:a="http://schemas.openxmlformats.org/drawingml/2006/main" noGrp="1"/>
          </p:cNvSpPr>
          <p:nvPr/>
        </p:nvSpPr>
        <p:spPr>
          <a:xfrm xmlns:a="http://schemas.openxmlformats.org/drawingml/2006/main">
            <a:off x="457200" y="504825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Planejar uma aplicação</a:t>
            </a:r>
          </a:p>
        </p:txBody>
      </p:sp>
      <p:sp>
        <p:nvSpPr>
          <p:cNvPr id="3011" name="Definir dados, equações, validação e">
            <a:extLst xmlns:a="http://schemas.openxmlformats.org/drawingml/2006/main">
              <a:ext uri="{FF2B5EF4-FFF2-40B4-BE49-F238E27FC236}">
                <a16:creationId xmlns:a16="http://schemas.microsoft.com/office/drawing/2014/main" id="{E99B80C7-F69F-540F-833F-2F1CEAE5781D}"/>
              </a:ext>
            </a:extLst>
          </p:cNvPr>
          <p:cNvSpPr>
            <a:spLocks xmlns:a="http://schemas.openxmlformats.org/drawingml/2006/main" noGrp="1"/>
          </p:cNvSpPr>
          <p:nvPr/>
        </p:nvSpPr>
        <p:spPr>
          <a:xfrm xmlns:a="http://schemas.openxmlformats.org/drawingml/2006/main">
            <a:off x="3886200" y="5048250"/>
            <a:ext cx="7848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Definir dados, equações, validação e uma referência simples.</a:t>
            </a:r>
          </a:p>
        </p:txBody>
      </p:sp>
      <p:pic>
        <p:nvPicPr>
          <p:cNvPr id="3012" name="Imagem 13"/>
          <p:cNvPicPr>
            <a:picLocks xmlns:a="http://schemas.openxmlformats.org/drawingml/2006/main" noChangeAspect="1"/>
          </p:cNvPicPr>
          <p:nvPr/>
        </p:nvPicPr>
        <p:blipFill>
          <a:blip xmlns:r="http://schemas.openxmlformats.org/officeDocument/2006/relationships" xmlns:a="http://schemas.openxmlformats.org/drawingml/2006/main" r:embed="R407184a5e1604cda"/>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3013" name="Hydro-UAI IA aplicada à hidrologia">
            <a:extLst xmlns:a="http://schemas.openxmlformats.org/drawingml/2006/main">
              <a:ext uri="{FF2B5EF4-FFF2-40B4-BE49-F238E27FC236}">
                <a16:creationId xmlns:a16="http://schemas.microsoft.com/office/drawing/2014/main" id="{136E0037-CAB4-5072-B848-79E73D39AC69}"/>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IA aplicada à hidrologia</a:t>
            </a:r>
          </a:p>
        </p:txBody>
      </p:sp>
      <p:sp>
        <p:nvSpPr>
          <p:cNvPr id="3014" name="Divisor Hydro-UAI">
            <a:extLst xmlns:a="http://schemas.openxmlformats.org/drawingml/2006/main">
              <a:ext uri="{FF2B5EF4-FFF2-40B4-BE49-F238E27FC236}">
                <a16:creationId xmlns:a16="http://schemas.microsoft.com/office/drawing/2014/main" id="{EAF5490F-E5AA-56E8-A940-831D42898186}"/>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3015" name="Hydro-UAI Hydro-UAI Course">
            <a:extLst xmlns:a="http://schemas.openxmlformats.org/drawingml/2006/main">
              <a:ext uri="{FF2B5EF4-FFF2-40B4-BE49-F238E27FC236}">
                <a16:creationId xmlns:a16="http://schemas.microsoft.com/office/drawing/2014/main" id="{AA7E5244-6863-5511-B92B-C1E9CE8596CB}"/>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3016" name="Hydro-UAI 03 / 62">
            <a:extLst xmlns:a="http://schemas.openxmlformats.org/drawingml/2006/main">
              <a:ext uri="{FF2B5EF4-FFF2-40B4-BE49-F238E27FC236}">
                <a16:creationId xmlns:a16="http://schemas.microsoft.com/office/drawing/2014/main" id="{07698220-25E8-58B6-BE9A-D00A70A35317}"/>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03 / 68</a:t>
            </a:r>
          </a:p>
        </p:txBody>
      </p:sp>
    </p:spTree>
    <p:extLst>
      <p:ext uri="{BB962C8B-B14F-4D97-AF65-F5344CB8AC3E}">
        <p14:creationId xmlns:p14="http://schemas.microsoft.com/office/powerpoint/2010/main" val="3991283715"/>
      </p:ext>
    </p:extLst>
  </p:cSld>
</p:sld>
</file>

<file path=ppt/slides/slide4.xml><?xml version="1.0" encoding="utf-8"?>
<p:sld xmlns:p="http://schemas.openxmlformats.org/presentationml/2006/main">
  <p:cSld>
    <p:spTree>
      <p:nvGrpSpPr>
        <p:cNvPr id="4001" name=""/>
        <p:cNvGrpSpPr/>
        <p:nvPr/>
      </p:nvGrpSpPr>
      <p:grpSpPr>
        <a:xfrm xmlns:a="http://schemas.openxmlformats.org/drawingml/2006/main"/>
      </p:grpSpPr>
      <p:sp>
        <p:nvSpPr>
          <p:cNvPr id="4002" name="Retângulo 6">
            <a:extLst xmlns:a="http://schemas.openxmlformats.org/drawingml/2006/main">
              <a:ext uri="{FF2B5EF4-FFF2-40B4-BE49-F238E27FC236}">
                <a16:creationId xmlns:a16="http://schemas.microsoft.com/office/drawing/2014/main" id="{B112993A-CF4F-502C-8B08-E5ABB36874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03" name="Previsão de vazão com uma hora de an">
            <a:extLst xmlns:a="http://schemas.openxmlformats.org/drawingml/2006/main">
              <a:ext uri="{FF2B5EF4-FFF2-40B4-BE49-F238E27FC236}">
                <a16:creationId xmlns:a16="http://schemas.microsoft.com/office/drawing/2014/main" id="{37295DC8-DADC-51A0-A640-231C98C20EA1}"/>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Previsão de vazão com uma hora de antecedência</a:t>
            </a:r>
          </a:p>
        </p:txBody>
      </p:sp>
      <p:sp>
        <p:nvSpPr>
          <p:cNvPr id="4004" name="Dados disponíveis&#10;até o instante t">
            <a:extLst xmlns:a="http://schemas.openxmlformats.org/drawingml/2006/main">
              <a:ext uri="{FF2B5EF4-FFF2-40B4-BE49-F238E27FC236}">
                <a16:creationId xmlns:a16="http://schemas.microsoft.com/office/drawing/2014/main" id="{5318CE4E-9CF8-5E0E-BA3E-0599126C8901}"/>
              </a:ext>
            </a:extLst>
          </p:cNvPr>
          <p:cNvSpPr>
            <a:spLocks xmlns:a="http://schemas.openxmlformats.org/drawingml/2006/main" noGrp="1"/>
          </p:cNvSpPr>
          <p:nvPr/>
        </p:nvSpPr>
        <p:spPr>
          <a:xfrm xmlns:a="http://schemas.openxmlformats.org/drawingml/2006/main">
            <a:off x="457200" y="2905125"/>
            <a:ext cx="3000375" cy="102870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Dados disponíveis</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até o instante t</a:t>
            </a:r>
          </a:p>
        </p:txBody>
      </p:sp>
      <p:sp>
        <p:nvSpPr>
          <p:cNvPr id="4005" name="Modelo&#10;hidrológico">
            <a:extLst xmlns:a="http://schemas.openxmlformats.org/drawingml/2006/main">
              <a:ext uri="{FF2B5EF4-FFF2-40B4-BE49-F238E27FC236}">
                <a16:creationId xmlns:a16="http://schemas.microsoft.com/office/drawing/2014/main" id="{A9D8C02D-EDA3-5B49-9666-5C08C6694966}"/>
              </a:ext>
            </a:extLst>
          </p:cNvPr>
          <p:cNvSpPr>
            <a:spLocks xmlns:a="http://schemas.openxmlformats.org/drawingml/2006/main" noGrp="1"/>
          </p:cNvSpPr>
          <p:nvPr/>
        </p:nvSpPr>
        <p:spPr>
          <a:xfrm xmlns:a="http://schemas.openxmlformats.org/drawingml/2006/main">
            <a:off x="4400550" y="2905125"/>
            <a:ext cx="3000375" cy="1028700"/>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Modelo</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hidrológico</a:t>
            </a:r>
          </a:p>
        </p:txBody>
      </p:sp>
      <p:sp>
        <p:nvSpPr>
          <p:cNvPr id="4006" name="Q previsto&#10;em t + 1 h">
            <a:extLst xmlns:a="http://schemas.openxmlformats.org/drawingml/2006/main">
              <a:ext uri="{FF2B5EF4-FFF2-40B4-BE49-F238E27FC236}">
                <a16:creationId xmlns:a16="http://schemas.microsoft.com/office/drawing/2014/main" id="{5F452E9A-6C7F-527F-9A8A-10A0F0418B39}"/>
              </a:ext>
            </a:extLst>
          </p:cNvPr>
          <p:cNvSpPr>
            <a:spLocks xmlns:a="http://schemas.openxmlformats.org/drawingml/2006/main" noGrp="1"/>
          </p:cNvSpPr>
          <p:nvPr/>
        </p:nvSpPr>
        <p:spPr>
          <a:xfrm xmlns:a="http://schemas.openxmlformats.org/drawingml/2006/main">
            <a:off x="8362950" y="2905125"/>
            <a:ext cx="3000375" cy="1028700"/>
          </a:xfrm>
          <a:prstGeom xmlns:a="http://schemas.openxmlformats.org/drawingml/2006/main" prst="rect">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Q previsto</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em t + 1 h</a:t>
            </a:r>
          </a:p>
        </p:txBody>
      </p:sp>
      <p:cxnSp>
        <p:nvCxnSpPr>
          <p:cNvPr id="4007" name=""/>
          <p:cNvCxnSpPr>
            <a:stCxn xmlns:a="http://schemas.openxmlformats.org/drawingml/2006/main" id="4004" idx="3"/>
            <a:endCxn xmlns:a="http://schemas.openxmlformats.org/drawingml/2006/main" id="4005" idx="1"/>
          </p:cNvCxnSpPr>
          <p:nvPr/>
        </p:nvCxnSpPr>
        <p:spPr>
          <a:xfrm xmlns:a="http://schemas.openxmlformats.org/drawingml/2006/main">
            <a:off x="3457575" y="3419475"/>
            <a:ext cx="942975"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4008" name=""/>
          <p:cNvCxnSpPr>
            <a:stCxn xmlns:a="http://schemas.openxmlformats.org/drawingml/2006/main" id="4005" idx="3"/>
            <a:endCxn xmlns:a="http://schemas.openxmlformats.org/drawingml/2006/main" id="4006" idx="1"/>
          </p:cNvCxnSpPr>
          <p:nvPr/>
        </p:nvCxnSpPr>
        <p:spPr>
          <a:xfrm xmlns:a="http://schemas.openxmlformats.org/drawingml/2006/main">
            <a:off x="7400925" y="3419475"/>
            <a:ext cx="962025" cy="0"/>
          </a:xfrm>
          <a:prstGeom xmlns:a="http://schemas.openxmlformats.org/drawingml/2006/main" prst="straightConnector1">
            <a:avLst/>
          </a:prstGeom>
          <a:ln xmlns:a="http://schemas.openxmlformats.org/drawingml/2006/main" w="19050">
            <a:solidFill>
              <a:srgbClr val="71E7BD"/>
            </a:solidFill>
            <a:tailEnd type="triangle" w="sm" len="sm"/>
          </a:ln>
        </p:spPr>
      </p:cxnSp>
      <p:sp>
        <p:nvSpPr>
          <p:cNvPr id="4009" name="Entradas: chuva recente, mapas de ra">
            <a:extLst xmlns:a="http://schemas.openxmlformats.org/drawingml/2006/main">
              <a:ext uri="{FF2B5EF4-FFF2-40B4-BE49-F238E27FC236}">
                <a16:creationId xmlns:a16="http://schemas.microsoft.com/office/drawing/2014/main" id="{D2B0C48C-FD6D-501B-BB89-67B278B6B904}"/>
              </a:ext>
            </a:extLst>
          </p:cNvPr>
          <p:cNvSpPr>
            <a:spLocks xmlns:a="http://schemas.openxmlformats.org/drawingml/2006/main" noGrp="1"/>
          </p:cNvSpPr>
          <p:nvPr/>
        </p:nvSpPr>
        <p:spPr>
          <a:xfrm xmlns:a="http://schemas.openxmlformats.org/drawingml/2006/main">
            <a:off x="457200" y="4371975"/>
            <a:ext cx="11277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Entradas: chuva recente, mapas de radar, vazão e atributos da bacia.</a:t>
            </a:r>
          </a:p>
        </p:txBody>
      </p:sp>
      <p:sp>
        <p:nvSpPr>
          <p:cNvPr id="4010" name="A previsão meteorológica pode entrar">
            <a:extLst xmlns:a="http://schemas.openxmlformats.org/drawingml/2006/main">
              <a:ext uri="{FF2B5EF4-FFF2-40B4-BE49-F238E27FC236}">
                <a16:creationId xmlns:a16="http://schemas.microsoft.com/office/drawing/2014/main" id="{677E6C32-35A0-5AC5-9611-AEFB8F8E2635}"/>
              </a:ext>
            </a:extLst>
          </p:cNvPr>
          <p:cNvSpPr>
            <a:spLocks xmlns:a="http://schemas.openxmlformats.org/drawingml/2006/main" noGrp="1"/>
          </p:cNvSpPr>
          <p:nvPr/>
        </p:nvSpPr>
        <p:spPr>
          <a:xfrm xmlns:a="http://schemas.openxmlformats.org/drawingml/2006/main">
            <a:off x="457200" y="523875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A previsão meteorológica pode entrar se já existir em t.</a:t>
            </a:r>
          </a:p>
        </p:txBody>
      </p:sp>
      <p:pic>
        <p:nvPicPr>
          <p:cNvPr id="4011" name="Imagem 13"/>
          <p:cNvPicPr>
            <a:picLocks xmlns:a="http://schemas.openxmlformats.org/drawingml/2006/main" noChangeAspect="1"/>
          </p:cNvPicPr>
          <p:nvPr/>
        </p:nvPicPr>
        <p:blipFill>
          <a:blip xmlns:r="http://schemas.openxmlformats.org/officeDocument/2006/relationships" xmlns:a="http://schemas.openxmlformats.org/drawingml/2006/main" r:embed="Raa1f2c30827e483d"/>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4012" name="Hydro-UAI IA aplicada à hidrologia">
            <a:extLst xmlns:a="http://schemas.openxmlformats.org/drawingml/2006/main">
              <a:ext uri="{FF2B5EF4-FFF2-40B4-BE49-F238E27FC236}">
                <a16:creationId xmlns:a16="http://schemas.microsoft.com/office/drawing/2014/main" id="{1388A34E-B430-550B-A47C-6486CC5895E3}"/>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IA aplicada à hidrologia</a:t>
            </a:r>
          </a:p>
        </p:txBody>
      </p:sp>
      <p:sp>
        <p:nvSpPr>
          <p:cNvPr id="4013" name="Divisor Hydro-UAI">
            <a:extLst xmlns:a="http://schemas.openxmlformats.org/drawingml/2006/main">
              <a:ext uri="{FF2B5EF4-FFF2-40B4-BE49-F238E27FC236}">
                <a16:creationId xmlns:a16="http://schemas.microsoft.com/office/drawing/2014/main" id="{4E8D227F-B9E7-5E69-94E3-F5986A27B52C}"/>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4014" name="Hydro-UAI Hydro-UAI Course">
            <a:extLst xmlns:a="http://schemas.openxmlformats.org/drawingml/2006/main">
              <a:ext uri="{FF2B5EF4-FFF2-40B4-BE49-F238E27FC236}">
                <a16:creationId xmlns:a16="http://schemas.microsoft.com/office/drawing/2014/main" id="{98CB240C-9438-53BD-8C3C-44AD0E94B096}"/>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4015" name="Hydro-UAI 04 / 62">
            <a:extLst xmlns:a="http://schemas.openxmlformats.org/drawingml/2006/main">
              <a:ext uri="{FF2B5EF4-FFF2-40B4-BE49-F238E27FC236}">
                <a16:creationId xmlns:a16="http://schemas.microsoft.com/office/drawing/2014/main" id="{82BB3D87-A557-5E3A-996E-832CFD271420}"/>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04 / 68</a:t>
            </a:r>
          </a:p>
        </p:txBody>
      </p:sp>
    </p:spTree>
    <p:extLst>
      <p:ext uri="{BB962C8B-B14F-4D97-AF65-F5344CB8AC3E}">
        <p14:creationId xmlns:p14="http://schemas.microsoft.com/office/powerpoint/2010/main" val="3991283715"/>
      </p:ext>
    </p:extLst>
  </p:cSld>
</p:sld>
</file>

<file path=ppt/slides/slide5.xml><?xml version="1.0" encoding="utf-8"?>
<p:sld xmlns:p="http://schemas.openxmlformats.org/presentationml/2006/main">
  <p:cSld>
    <p:spTree>
      <p:nvGrpSpPr>
        <p:cNvPr id="5001" name=""/>
        <p:cNvGrpSpPr/>
        <p:nvPr/>
      </p:nvGrpSpPr>
      <p:grpSpPr>
        <a:xfrm xmlns:a="http://schemas.openxmlformats.org/drawingml/2006/main"/>
      </p:grpSpPr>
      <p:sp>
        <p:nvSpPr>
          <p:cNvPr id="5002" name="Retângulo 6">
            <a:extLst xmlns:a="http://schemas.openxmlformats.org/drawingml/2006/main">
              <a:ext uri="{FF2B5EF4-FFF2-40B4-BE49-F238E27FC236}">
                <a16:creationId xmlns:a16="http://schemas.microsoft.com/office/drawing/2014/main" id="{DF122D2F-7241-528A-84D8-A34CA194923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5003" name=""/>
          <p:cNvGraphicFramePr/>
          <p:nvPr/>
        </p:nvGraphicFramePr>
        <p:xfrm>
          <a:off xmlns:a="http://schemas.openxmlformats.org/drawingml/2006/main" x="457200" y="2600325"/>
          <a:ext xmlns:a="http://schemas.openxmlformats.org/drawingml/2006/main" cx="11277600" cy="3238500"/>
        </p:xfrm>
        <a:graphic xmlns:a="http://schemas.openxmlformats.org/drawingml/2006/main">
          <a:graphicData uri="http://schemas.openxmlformats.org/drawingml/2006/table">
            <a:tbl>
              <a:tblPr/>
              <a:tblGrid>
                <a:gridCol w="2333625"/>
                <a:gridCol w="3714750"/>
                <a:gridCol w="5229225"/>
              </a:tblGrid>
              <a:tr h="647700">
                <a:tc>
                  <a:txBody>
                    <a:bodyPr lIns="85725" tIns="57150" rIns="85725" bIns="57150">
                      <a:noAutofit/>
                    </a:bodyPr>
                    <a:lstStyle/>
                    <a:p>
                      <a:pPr algn="l">
                        <a:buNone/>
                      </a:pPr>
                      <a:r>
                        <a:rPr sz="1575" b="1">
                          <a:solidFill>
                            <a:srgbClr val="FFFFFF"/>
                          </a:solidFill>
                          <a:latin typeface="JetBrains Mono"/>
                          <a:ea typeface="JetBrains Mono"/>
                          <a:cs typeface="JetBrains Mono"/>
                        </a:rPr>
                        <a:t>Ferramenta</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Função</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Exemplo hidrológico</a:t>
                      </a:r>
                    </a:p>
                  </a:txBody>
                  <a:tcPr marL="91440" marR="91440" marT="45720" marB="45720" anchor="ctr">
                    <a:solidFill>
                      <a:srgbClr val="0053EB"/>
                    </a:solidFill>
                  </a:tcPr>
                </a:tc>
              </a:tr>
              <a:tr h="647700">
                <a:tc>
                  <a:txBody>
                    <a:bodyPr lIns="85725" tIns="57150" rIns="85725" bIns="57150">
                      <a:noAutofit/>
                    </a:bodyPr>
                    <a:lstStyle/>
                    <a:p>
                      <a:pPr algn="l">
                        <a:buNone/>
                      </a:pPr>
                      <a:r>
                        <a:rPr sz="1575" b="0">
                          <a:solidFill>
                            <a:srgbClr val="FFFFFF"/>
                          </a:solidFill>
                          <a:latin typeface="JetBrains Mono"/>
                          <a:ea typeface="JetBrains Mono"/>
                          <a:cs typeface="JetBrains Mono"/>
                        </a:rPr>
                        <a:t>CNN</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Extrai padrões locais.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Chuva distribuída, radar ou série de vazão.</a:t>
                      </a:r>
                    </a:p>
                  </a:txBody>
                  <a:tcPr marL="91440" marR="91440" marT="45720" marB="45720" anchor="ctr">
                    <a:solidFill>
                      <a:srgbClr val="000F29"/>
                    </a:solidFill>
                  </a:tcPr>
                </a:tc>
              </a:tr>
              <a:tr h="647700">
                <a:tc>
                  <a:txBody>
                    <a:bodyPr lIns="85725" tIns="57150" rIns="85725" bIns="57150">
                      <a:noAutofit/>
                    </a:bodyPr>
                    <a:lstStyle/>
                    <a:p>
                      <a:pPr algn="l">
                        <a:buNone/>
                      </a:pPr>
                      <a:r>
                        <a:rPr sz="1575" b="0">
                          <a:solidFill>
                            <a:srgbClr val="FFFFFF"/>
                          </a:solidFill>
                          <a:latin typeface="JetBrains Mono"/>
                          <a:ea typeface="JetBrains Mono"/>
                          <a:cs typeface="JetBrains Mono"/>
                        </a:rPr>
                        <a:t>Explicabilidade</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Investiga o comportamento do modelo.</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Contribuição da chuva recente para uma previsão.</a:t>
                      </a:r>
                    </a:p>
                  </a:txBody>
                  <a:tcPr marL="91440" marR="91440" marT="45720" marB="45720" anchor="ctr">
                    <a:solidFill>
                      <a:srgbClr val="000F29"/>
                    </a:solidFill>
                  </a:tcPr>
                </a:tc>
              </a:tr>
              <a:tr h="647700">
                <a:tc>
                  <a:txBody>
                    <a:bodyPr lIns="85725" tIns="57150" rIns="85725" bIns="57150">
                      <a:noAutofit/>
                    </a:bodyPr>
                    <a:lstStyle/>
                    <a:p>
                      <a:pPr algn="l">
                        <a:buNone/>
                      </a:pPr>
                      <a:r>
                        <a:rPr sz="1575" b="0">
                          <a:solidFill>
                            <a:srgbClr val="FFFFFF"/>
                          </a:solidFill>
                          <a:latin typeface="JetBrains Mono"/>
                          <a:ea typeface="JetBrains Mono"/>
                          <a:cs typeface="JetBrains Mono"/>
                        </a:rPr>
                        <a:t>PINN</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Treina com resíduos de equações.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Armazenamento, escoamento ou carga hidráulica.</a:t>
                      </a:r>
                    </a:p>
                  </a:txBody>
                  <a:tcPr marL="91440" marR="91440" marT="45720" marB="45720" anchor="ctr">
                    <a:solidFill>
                      <a:srgbClr val="000F29"/>
                    </a:solidFill>
                  </a:tcPr>
                </a:tc>
              </a:tr>
              <a:tr h="647700">
                <a:tc>
                  <a:txBody>
                    <a:bodyPr lIns="85725" tIns="57150" rIns="85725" bIns="57150">
                      <a:noAutofit/>
                    </a:bodyPr>
                    <a:lstStyle/>
                    <a:p>
                      <a:pPr algn="l">
                        <a:buNone/>
                      </a:pPr>
                      <a:r>
                        <a:rPr sz="1575" b="0">
                          <a:solidFill>
                            <a:srgbClr val="FFFFFF"/>
                          </a:solidFill>
                          <a:latin typeface="JetBrains Mono"/>
                          <a:ea typeface="JetBrains Mono"/>
                          <a:cs typeface="JetBrains Mono"/>
                        </a:rPr>
                        <a:t>LLM</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Trabalha com linguagem e ferramentas.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Configuração de modelos e boletins com fontes.</a:t>
                      </a:r>
                    </a:p>
                  </a:txBody>
                  <a:tcPr marL="91440" marR="91440" marT="45720" marB="45720" anchor="ctr">
                    <a:solidFill>
                      <a:srgbClr val="000F29"/>
                    </a:solidFill>
                  </a:tcPr>
                </a:tc>
              </a:tr>
            </a:tbl>
          </a:graphicData>
        </a:graphic>
      </p:graphicFrame>
      <p:sp>
        <p:nvSpPr>
          <p:cNvPr id="5004" name="O papel de cada ferramenta em um pro">
            <a:extLst xmlns:a="http://schemas.openxmlformats.org/drawingml/2006/main">
              <a:ext uri="{FF2B5EF4-FFF2-40B4-BE49-F238E27FC236}">
                <a16:creationId xmlns:a16="http://schemas.microsoft.com/office/drawing/2014/main" id="{C1AD9A5D-F597-5511-89DF-824DC392D7B1}"/>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O papel de cada ferramenta em um projeto</a:t>
            </a:r>
          </a:p>
        </p:txBody>
      </p:sp>
      <p:pic>
        <p:nvPicPr>
          <p:cNvPr id="5005" name="Imagem 13"/>
          <p:cNvPicPr>
            <a:picLocks xmlns:a="http://schemas.openxmlformats.org/drawingml/2006/main" noChangeAspect="1"/>
          </p:cNvPicPr>
          <p:nvPr/>
        </p:nvPicPr>
        <p:blipFill>
          <a:blip xmlns:r="http://schemas.openxmlformats.org/officeDocument/2006/relationships" xmlns:a="http://schemas.openxmlformats.org/drawingml/2006/main" r:embed="R058dcd4a80694e83"/>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5006" name="Hydro-UAI IA aplicada à hidrologia">
            <a:extLst xmlns:a="http://schemas.openxmlformats.org/drawingml/2006/main">
              <a:ext uri="{FF2B5EF4-FFF2-40B4-BE49-F238E27FC236}">
                <a16:creationId xmlns:a16="http://schemas.microsoft.com/office/drawing/2014/main" id="{CBCF863A-1ADA-5774-98B6-5556DEAE48B5}"/>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IA aplicada à hidrologia</a:t>
            </a:r>
          </a:p>
        </p:txBody>
      </p:sp>
      <p:sp>
        <p:nvSpPr>
          <p:cNvPr id="5007" name="Divisor Hydro-UAI">
            <a:extLst xmlns:a="http://schemas.openxmlformats.org/drawingml/2006/main">
              <a:ext uri="{FF2B5EF4-FFF2-40B4-BE49-F238E27FC236}">
                <a16:creationId xmlns:a16="http://schemas.microsoft.com/office/drawing/2014/main" id="{1F93CE73-8A4B-55BD-8812-C164559955AD}"/>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5008" name="Hydro-UAI Hydro-UAI Course">
            <a:extLst xmlns:a="http://schemas.openxmlformats.org/drawingml/2006/main">
              <a:ext uri="{FF2B5EF4-FFF2-40B4-BE49-F238E27FC236}">
                <a16:creationId xmlns:a16="http://schemas.microsoft.com/office/drawing/2014/main" id="{66787963-D74C-59BC-BD3A-78FF786A8A96}"/>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5009" name="Hydro-UAI 05 / 62">
            <a:extLst xmlns:a="http://schemas.openxmlformats.org/drawingml/2006/main">
              <a:ext uri="{FF2B5EF4-FFF2-40B4-BE49-F238E27FC236}">
                <a16:creationId xmlns:a16="http://schemas.microsoft.com/office/drawing/2014/main" id="{F676E295-66E3-568A-AF42-735DF78A1A2A}"/>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05 / 68</a:t>
            </a:r>
          </a:p>
        </p:txBody>
      </p:sp>
    </p:spTree>
    <p:extLst>
      <p:ext uri="{BB962C8B-B14F-4D97-AF65-F5344CB8AC3E}">
        <p14:creationId xmlns:p14="http://schemas.microsoft.com/office/powerpoint/2010/main" val="3991283715"/>
      </p:ext>
    </p:extLst>
  </p:cSld>
</p:sld>
</file>

<file path=ppt/slides/slide6.xml><?xml version="1.0" encoding="utf-8"?>
<p:sld xmlns:p="http://schemas.openxmlformats.org/presentationml/2006/main">
  <p:cSld>
    <p:spTree>
      <p:nvGrpSpPr>
        <p:cNvPr id="6001" name=""/>
        <p:cNvGrpSpPr/>
        <p:nvPr/>
      </p:nvGrpSpPr>
      <p:grpSpPr>
        <a:xfrm xmlns:a="http://schemas.openxmlformats.org/drawingml/2006/main"/>
      </p:grpSpPr>
      <p:sp>
        <p:nvSpPr>
          <p:cNvPr id="6002" name="Retângulo 6">
            <a:extLst xmlns:a="http://schemas.openxmlformats.org/drawingml/2006/main">
              <a:ext uri="{FF2B5EF4-FFF2-40B4-BE49-F238E27FC236}">
                <a16:creationId xmlns:a16="http://schemas.microsoft.com/office/drawing/2014/main" id="{30F9EC9D-6AE2-562D-B31F-B36D824E25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6003" name=""/>
          <p:cNvGraphicFramePr/>
          <p:nvPr/>
        </p:nvGraphicFramePr>
        <p:xfrm>
          <a:off xmlns:a="http://schemas.openxmlformats.org/drawingml/2006/main" x="762000" y="3000375"/>
          <a:ext xmlns:a="http://schemas.openxmlformats.org/drawingml/2006/main" cx="4000500" cy="2000250"/>
        </p:xfrm>
        <a:graphic xmlns:a="http://schemas.openxmlformats.org/drawingml/2006/main">
          <a:graphicData uri="http://schemas.openxmlformats.org/drawingml/2006/table">
            <a:tbl>
              <a:tblPr/>
              <a:tblGrid>
                <a:gridCol w="1333500"/>
                <a:gridCol w="1333500"/>
                <a:gridCol w="1333500"/>
              </a:tblGrid>
              <a:tr h="666750">
                <a:tc>
                  <a:txBody>
                    <a:bodyPr lIns="85725" tIns="57150" rIns="85725" bIns="57150">
                      <a:noAutofit/>
                    </a:bodyPr>
                    <a:lstStyle/>
                    <a:p>
                      <a:pPr algn="ctr">
                        <a:buNone/>
                      </a:pPr>
                      <a:r>
                        <a:rPr sz="1950" b="0">
                          <a:solidFill>
                            <a:srgbClr val="000F29"/>
                          </a:solidFill>
                          <a:latin typeface="JetBrains Mono"/>
                          <a:ea typeface="JetBrains Mono"/>
                          <a:cs typeface="JetBrains Mono"/>
                        </a:rPr>
                        <a:t>30</a:t>
                      </a:r>
                    </a:p>
                  </a:txBody>
                  <a:tcPr marL="91440" marR="91440" marT="45720" marB="45720" anchor="ctr">
                    <a:solidFill>
                      <a:srgbClr val="83DFFF"/>
                    </a:solidFill>
                  </a:tcPr>
                </a:tc>
                <a:tc>
                  <a:txBody>
                    <a:bodyPr lIns="85725" tIns="57150" rIns="85725" bIns="57150">
                      <a:noAutofit/>
                    </a:bodyPr>
                    <a:lstStyle/>
                    <a:p>
                      <a:pPr algn="ctr">
                        <a:buNone/>
                      </a:pPr>
                      <a:r>
                        <a:rPr sz="1950" b="0">
                          <a:solidFill>
                            <a:srgbClr val="000F29"/>
                          </a:solidFill>
                          <a:latin typeface="JetBrains Mono"/>
                          <a:ea typeface="JetBrains Mono"/>
                          <a:cs typeface="JetBrains Mono"/>
                        </a:rPr>
                        <a:t>30</a:t>
                      </a:r>
                    </a:p>
                  </a:txBody>
                  <a:tcPr marL="91440" marR="91440" marT="45720" marB="45720" anchor="ctr">
                    <a:solidFill>
                      <a:srgbClr val="83DFFF"/>
                    </a:solidFill>
                  </a:tcPr>
                </a:tc>
                <a:tc>
                  <a:txBody>
                    <a:bodyPr lIns="85725" tIns="57150" rIns="85725" bIns="57150">
                      <a:noAutofit/>
                    </a:bodyPr>
                    <a:lstStyle/>
                    <a:p>
                      <a:pPr algn="ctr">
                        <a:buNone/>
                      </a:pPr>
                      <a:r>
                        <a:rPr sz="1950" b="0">
                          <a:solidFill>
                            <a:srgbClr val="000F29"/>
                          </a:solidFill>
                          <a:latin typeface="JetBrains Mono"/>
                          <a:ea typeface="JetBrains Mono"/>
                          <a:cs typeface="JetBrains Mono"/>
                        </a:rPr>
                        <a:t>30</a:t>
                      </a:r>
                    </a:p>
                  </a:txBody>
                  <a:tcPr marL="91440" marR="91440" marT="45720" marB="45720" anchor="ctr">
                    <a:solidFill>
                      <a:srgbClr val="83DFFF"/>
                    </a:solidFill>
                  </a:tcPr>
                </a:tc>
              </a:tr>
              <a:tr h="666750">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r>
              <a:tr h="666750">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r>
            </a:tbl>
          </a:graphicData>
        </a:graphic>
      </p:graphicFrame>
      <p:graphicFrame>
        <p:nvGraphicFramePr>
          <p:cNvPr id="6004" name=""/>
          <p:cNvGraphicFramePr/>
          <p:nvPr/>
        </p:nvGraphicFramePr>
        <p:xfrm>
          <a:off xmlns:a="http://schemas.openxmlformats.org/drawingml/2006/main" x="6572250" y="3000375"/>
          <a:ext xmlns:a="http://schemas.openxmlformats.org/drawingml/2006/main" cx="4000500" cy="2000250"/>
        </p:xfrm>
        <a:graphic xmlns:a="http://schemas.openxmlformats.org/drawingml/2006/main">
          <a:graphicData uri="http://schemas.openxmlformats.org/drawingml/2006/table">
            <a:tbl>
              <a:tblPr/>
              <a:tblGrid>
                <a:gridCol w="1333500"/>
                <a:gridCol w="1333500"/>
                <a:gridCol w="1333500"/>
              </a:tblGrid>
              <a:tr h="666750">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r>
              <a:tr h="666750">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r>
              <a:tr h="666750">
                <a:tc>
                  <a:txBody>
                    <a:bodyPr lIns="85725" tIns="57150" rIns="85725" bIns="57150">
                      <a:noAutofit/>
                    </a:bodyPr>
                    <a:lstStyle/>
                    <a:p>
                      <a:pPr algn="ctr">
                        <a:buNone/>
                      </a:pPr>
                      <a:r>
                        <a:rPr sz="1950" b="0">
                          <a:solidFill>
                            <a:srgbClr val="000F29"/>
                          </a:solidFill>
                          <a:latin typeface="JetBrains Mono"/>
                          <a:ea typeface="JetBrains Mono"/>
                          <a:cs typeface="JetBrains Mono"/>
                        </a:rPr>
                        <a:t>30</a:t>
                      </a:r>
                    </a:p>
                  </a:txBody>
                  <a:tcPr marL="91440" marR="91440" marT="45720" marB="45720" anchor="ctr">
                    <a:solidFill>
                      <a:srgbClr val="83DFFF"/>
                    </a:solidFill>
                  </a:tcPr>
                </a:tc>
                <a:tc>
                  <a:txBody>
                    <a:bodyPr lIns="85725" tIns="57150" rIns="85725" bIns="57150">
                      <a:noAutofit/>
                    </a:bodyPr>
                    <a:lstStyle/>
                    <a:p>
                      <a:pPr algn="ctr">
                        <a:buNone/>
                      </a:pPr>
                      <a:r>
                        <a:rPr sz="1950" b="0">
                          <a:solidFill>
                            <a:srgbClr val="000F29"/>
                          </a:solidFill>
                          <a:latin typeface="JetBrains Mono"/>
                          <a:ea typeface="JetBrains Mono"/>
                          <a:cs typeface="JetBrains Mono"/>
                        </a:rPr>
                        <a:t>30</a:t>
                      </a:r>
                    </a:p>
                  </a:txBody>
                  <a:tcPr marL="91440" marR="91440" marT="45720" marB="45720" anchor="ctr">
                    <a:solidFill>
                      <a:srgbClr val="83DFFF"/>
                    </a:solidFill>
                  </a:tcPr>
                </a:tc>
                <a:tc>
                  <a:txBody>
                    <a:bodyPr lIns="85725" tIns="57150" rIns="85725" bIns="57150">
                      <a:noAutofit/>
                    </a:bodyPr>
                    <a:lstStyle/>
                    <a:p>
                      <a:pPr algn="ctr">
                        <a:buNone/>
                      </a:pPr>
                      <a:r>
                        <a:rPr sz="1950" b="0">
                          <a:solidFill>
                            <a:srgbClr val="000F29"/>
                          </a:solidFill>
                          <a:latin typeface="JetBrains Mono"/>
                          <a:ea typeface="JetBrains Mono"/>
                          <a:cs typeface="JetBrains Mono"/>
                        </a:rPr>
                        <a:t>30</a:t>
                      </a:r>
                    </a:p>
                  </a:txBody>
                  <a:tcPr marL="91440" marR="91440" marT="45720" marB="45720" anchor="ctr">
                    <a:solidFill>
                      <a:srgbClr val="83DFFF"/>
                    </a:solidFill>
                  </a:tcPr>
                </a:tc>
              </a:tr>
            </a:tbl>
          </a:graphicData>
        </a:graphic>
      </p:graphicFrame>
      <p:sp>
        <p:nvSpPr>
          <p:cNvPr id="6005" name="A mesma média de chuva pode esconder">
            <a:extLst xmlns:a="http://schemas.openxmlformats.org/drawingml/2006/main">
              <a:ext uri="{FF2B5EF4-FFF2-40B4-BE49-F238E27FC236}">
                <a16:creationId xmlns:a16="http://schemas.microsoft.com/office/drawing/2014/main" id="{29C3E177-5880-52FA-837F-184A0F437C6A}"/>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 mesma média de chuva pode esconder distribuições diferentes</a:t>
            </a:r>
          </a:p>
        </p:txBody>
      </p:sp>
      <p:sp>
        <p:nvSpPr>
          <p:cNvPr id="6006" name="Cenário A">
            <a:extLst xmlns:a="http://schemas.openxmlformats.org/drawingml/2006/main">
              <a:ext uri="{FF2B5EF4-FFF2-40B4-BE49-F238E27FC236}">
                <a16:creationId xmlns:a16="http://schemas.microsoft.com/office/drawing/2014/main" id="{56B37A5A-4D85-5EAC-BFFD-77C473A61A25}"/>
              </a:ext>
            </a:extLst>
          </p:cNvPr>
          <p:cNvSpPr>
            <a:spLocks xmlns:a="http://schemas.openxmlformats.org/drawingml/2006/main" noGrp="1"/>
          </p:cNvSpPr>
          <p:nvPr/>
        </p:nvSpPr>
        <p:spPr>
          <a:xfrm xmlns:a="http://schemas.openxmlformats.org/drawingml/2006/main">
            <a:off x="762000" y="25146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Cenário A</a:t>
            </a:r>
          </a:p>
        </p:txBody>
      </p:sp>
      <p:sp>
        <p:nvSpPr>
          <p:cNvPr id="6007" name="Cenário B">
            <a:extLst xmlns:a="http://schemas.openxmlformats.org/drawingml/2006/main">
              <a:ext uri="{FF2B5EF4-FFF2-40B4-BE49-F238E27FC236}">
                <a16:creationId xmlns:a16="http://schemas.microsoft.com/office/drawing/2014/main" id="{7B9DAEBF-8A98-5BF6-989D-7D7B97B6DD5C}"/>
              </a:ext>
            </a:extLst>
          </p:cNvPr>
          <p:cNvSpPr>
            <a:spLocks xmlns:a="http://schemas.openxmlformats.org/drawingml/2006/main" noGrp="1"/>
          </p:cNvSpPr>
          <p:nvPr/>
        </p:nvSpPr>
        <p:spPr>
          <a:xfrm xmlns:a="http://schemas.openxmlformats.org/drawingml/2006/main">
            <a:off x="6572250" y="25146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Cenário B</a:t>
            </a:r>
          </a:p>
        </p:txBody>
      </p:sp>
      <p:sp>
        <p:nvSpPr>
          <p:cNvPr id="6008" name="Média espacial: 10 mm/h em ambos.">
            <a:extLst xmlns:a="http://schemas.openxmlformats.org/drawingml/2006/main">
              <a:ext uri="{FF2B5EF4-FFF2-40B4-BE49-F238E27FC236}">
                <a16:creationId xmlns:a16="http://schemas.microsoft.com/office/drawing/2014/main" id="{0D645772-4B06-5096-B771-49B43CA147C4}"/>
              </a:ext>
            </a:extLst>
          </p:cNvPr>
          <p:cNvSpPr>
            <a:spLocks xmlns:a="http://schemas.openxmlformats.org/drawingml/2006/main" noGrp="1"/>
          </p:cNvSpPr>
          <p:nvPr/>
        </p:nvSpPr>
        <p:spPr>
          <a:xfrm xmlns:a="http://schemas.openxmlformats.org/drawingml/2006/main">
            <a:off x="457200" y="5372100"/>
            <a:ext cx="1127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71E7BD"/>
                </a:solidFill>
                <a:latin typeface="JetBrains Mono"/>
                <a:ea typeface="JetBrains Mono"/>
                <a:cs typeface="JetBrains Mono"/>
              </a:defRPr>
            </a:pPr>
            <a:r>
              <a:rPr sz="1875" b="1">
                <a:solidFill>
                  <a:srgbClr val="71E7BD"/>
                </a:solidFill>
                <a:latin typeface="JetBrains Mono"/>
                <a:ea typeface="JetBrains Mono"/>
                <a:cs typeface="JetBrains Mono"/>
              </a:rPr>
              <a:t>Média espacial: 10 mm/h em ambos.</a:t>
            </a:r>
          </a:p>
        </p:txBody>
      </p:sp>
      <p:sp>
        <p:nvSpPr>
          <p:cNvPr id="6009" name="Grades sintéticas. A posição da chuv">
            <a:extLst xmlns:a="http://schemas.openxmlformats.org/drawingml/2006/main">
              <a:ext uri="{FF2B5EF4-FFF2-40B4-BE49-F238E27FC236}">
                <a16:creationId xmlns:a16="http://schemas.microsoft.com/office/drawing/2014/main" id="{D9ED4715-01E9-5BA2-9267-0F9D06175F49}"/>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Grades sintéticas. A posição da chuva é o único elemento alterado neste exemplo.</a:t>
            </a:r>
          </a:p>
        </p:txBody>
      </p:sp>
      <p:pic>
        <p:nvPicPr>
          <p:cNvPr id="6010" name="Imagem 13"/>
          <p:cNvPicPr>
            <a:picLocks xmlns:a="http://schemas.openxmlformats.org/drawingml/2006/main" noChangeAspect="1"/>
          </p:cNvPicPr>
          <p:nvPr/>
        </p:nvPicPr>
        <p:blipFill>
          <a:blip xmlns:r="http://schemas.openxmlformats.org/officeDocument/2006/relationships" xmlns:a="http://schemas.openxmlformats.org/drawingml/2006/main" r:embed="R902b1e666e524a3b"/>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6011" name="Hydro-UAI Redes convolucionais">
            <a:extLst xmlns:a="http://schemas.openxmlformats.org/drawingml/2006/main">
              <a:ext uri="{FF2B5EF4-FFF2-40B4-BE49-F238E27FC236}">
                <a16:creationId xmlns:a16="http://schemas.microsoft.com/office/drawing/2014/main" id="{20D54B4A-B454-5CF9-8124-4F139565145F}"/>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6012" name="Divisor Hydro-UAI">
            <a:extLst xmlns:a="http://schemas.openxmlformats.org/drawingml/2006/main">
              <a:ext uri="{FF2B5EF4-FFF2-40B4-BE49-F238E27FC236}">
                <a16:creationId xmlns:a16="http://schemas.microsoft.com/office/drawing/2014/main" id="{2A7210A3-3150-564B-A4B3-8DCCDBE0E35E}"/>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6013" name="Hydro-UAI Hydro-UAI Course">
            <a:extLst xmlns:a="http://schemas.openxmlformats.org/drawingml/2006/main">
              <a:ext uri="{FF2B5EF4-FFF2-40B4-BE49-F238E27FC236}">
                <a16:creationId xmlns:a16="http://schemas.microsoft.com/office/drawing/2014/main" id="{2AA49515-ECDF-585E-868B-CF30E4BFD761}"/>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6014" name="Hydro-UAI 06 / 62">
            <a:extLst xmlns:a="http://schemas.openxmlformats.org/drawingml/2006/main">
              <a:ext uri="{FF2B5EF4-FFF2-40B4-BE49-F238E27FC236}">
                <a16:creationId xmlns:a16="http://schemas.microsoft.com/office/drawing/2014/main" id="{2D66C58E-EAE3-5194-8D79-9D2227EEEE60}"/>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06 / 68</a:t>
            </a:r>
          </a:p>
        </p:txBody>
      </p:sp>
    </p:spTree>
    <p:extLst>
      <p:ext uri="{BB962C8B-B14F-4D97-AF65-F5344CB8AC3E}">
        <p14:creationId xmlns:p14="http://schemas.microsoft.com/office/powerpoint/2010/main" val="3991283715"/>
      </p:ext>
    </p:extLst>
  </p:cSld>
</p:sld>
</file>

<file path=ppt/slides/slide7.xml><?xml version="1.0" encoding="utf-8"?>
<p:sld xmlns:p="http://schemas.openxmlformats.org/presentationml/2006/main">
  <p:cSld>
    <p:spTree>
      <p:nvGrpSpPr>
        <p:cNvPr id="7001" name=""/>
        <p:cNvGrpSpPr/>
        <p:nvPr/>
      </p:nvGrpSpPr>
      <p:grpSpPr>
        <a:xfrm xmlns:a="http://schemas.openxmlformats.org/drawingml/2006/main"/>
      </p:grpSpPr>
      <p:sp>
        <p:nvSpPr>
          <p:cNvPr id="7002" name="Retângulo 6">
            <a:extLst xmlns:a="http://schemas.openxmlformats.org/drawingml/2006/main">
              <a:ext uri="{FF2B5EF4-FFF2-40B4-BE49-F238E27FC236}">
                <a16:creationId xmlns:a16="http://schemas.microsoft.com/office/drawing/2014/main" id="{D76265DF-1601-5ACD-B216-27837EF8FBD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7003" name=""/>
          <p:cNvGraphicFramePr/>
          <p:nvPr/>
        </p:nvGraphicFramePr>
        <p:xfrm>
          <a:off xmlns:a="http://schemas.openxmlformats.org/drawingml/2006/main" x="457200" y="2714625"/>
          <a:ext xmlns:a="http://schemas.openxmlformats.org/drawingml/2006/main" cx="11277600" cy="2476500"/>
        </p:xfrm>
        <a:graphic xmlns:a="http://schemas.openxmlformats.org/drawingml/2006/main">
          <a:graphicData uri="http://schemas.openxmlformats.org/drawingml/2006/table">
            <a:tbl>
              <a:tblPr/>
              <a:tblGrid>
                <a:gridCol w="2857500"/>
                <a:gridCol w="4095750"/>
                <a:gridCol w="4324350"/>
              </a:tblGrid>
              <a:tr h="619125">
                <a:tc>
                  <a:txBody>
                    <a:bodyPr lIns="85725" tIns="57150" rIns="85725" bIns="57150">
                      <a:noAutofit/>
                    </a:bodyPr>
                    <a:lstStyle/>
                    <a:p>
                      <a:pPr algn="l">
                        <a:buNone/>
                      </a:pPr>
                      <a:r>
                        <a:rPr sz="1650" b="1">
                          <a:solidFill>
                            <a:srgbClr val="FFFFFF"/>
                          </a:solidFill>
                          <a:latin typeface="JetBrains Mono"/>
                          <a:ea typeface="JetBrains Mono"/>
                          <a:cs typeface="JetBrains Mono"/>
                        </a:rPr>
                        <a:t>Representação</a:t>
                      </a:r>
                    </a:p>
                  </a:txBody>
                  <a:tcPr marL="91440" marR="91440" marT="45720" marB="45720" anchor="ctr">
                    <a:solidFill>
                      <a:srgbClr val="0053EB"/>
                    </a:solidFill>
                  </a:tcPr>
                </a:tc>
                <a:tc>
                  <a:txBody>
                    <a:bodyPr lIns="85725" tIns="57150" rIns="85725" bIns="57150">
                      <a:noAutofit/>
                    </a:bodyPr>
                    <a:lstStyle/>
                    <a:p>
                      <a:pPr algn="l">
                        <a:buNone/>
                      </a:pPr>
                      <a:r>
                        <a:rPr sz="1650" b="1">
                          <a:solidFill>
                            <a:srgbClr val="FFFFFF"/>
                          </a:solidFill>
                          <a:latin typeface="JetBrains Mono"/>
                          <a:ea typeface="JetBrains Mono"/>
                          <a:cs typeface="JetBrains Mono"/>
                        </a:rPr>
                        <a:t>Formato de uma amostra</a:t>
                      </a:r>
                    </a:p>
                  </a:txBody>
                  <a:tcPr marL="91440" marR="91440" marT="45720" marB="45720" anchor="ctr">
                    <a:solidFill>
                      <a:srgbClr val="0053EB"/>
                    </a:solidFill>
                  </a:tcPr>
                </a:tc>
                <a:tc>
                  <a:txBody>
                    <a:bodyPr lIns="85725" tIns="57150" rIns="85725" bIns="57150">
                      <a:noAutofit/>
                    </a:bodyPr>
                    <a:lstStyle/>
                    <a:p>
                      <a:pPr algn="l">
                        <a:buNone/>
                      </a:pPr>
                      <a:r>
                        <a:rPr sz="1650" b="1">
                          <a:solidFill>
                            <a:srgbClr val="FFFFFF"/>
                          </a:solidFill>
                          <a:latin typeface="JetBrains Mono"/>
                          <a:ea typeface="JetBrains Mono"/>
                          <a:cs typeface="JetBrains Mono"/>
                        </a:rPr>
                        <a:t>Aplicação</a:t>
                      </a:r>
                    </a:p>
                  </a:txBody>
                  <a:tcPr marL="91440" marR="91440" marT="45720" marB="45720" anchor="ctr">
                    <a:solidFill>
                      <a:srgbClr val="0053EB"/>
                    </a:solidFill>
                  </a:tcPr>
                </a:tc>
              </a:tr>
              <a:tr h="619125">
                <a:tc>
                  <a:txBody>
                    <a:bodyPr lIns="85725" tIns="57150" rIns="85725" bIns="57150">
                      <a:noAutofit/>
                    </a:bodyPr>
                    <a:lstStyle/>
                    <a:p>
                      <a:pPr algn="l">
                        <a:buNone/>
                      </a:pPr>
                      <a:r>
                        <a:rPr sz="1650" b="0">
                          <a:solidFill>
                            <a:srgbClr val="FFFFFF"/>
                          </a:solidFill>
                          <a:latin typeface="JetBrains Mono"/>
                          <a:ea typeface="JetBrains Mono"/>
                          <a:cs typeface="JetBrains Mono"/>
                        </a:rPr>
                        <a:t>CNN 1D</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48 passos × 3 variáveis</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Padrões temporais em P, T e Q.</a:t>
                      </a:r>
                    </a:p>
                  </a:txBody>
                  <a:tcPr marL="91440" marR="91440" marT="45720" marB="45720" anchor="ctr">
                    <a:solidFill>
                      <a:srgbClr val="000F29"/>
                    </a:solidFill>
                  </a:tcPr>
                </a:tc>
              </a:tr>
              <a:tr h="619125">
                <a:tc>
                  <a:txBody>
                    <a:bodyPr lIns="85725" tIns="57150" rIns="85725" bIns="57150">
                      <a:noAutofit/>
                    </a:bodyPr>
                    <a:lstStyle/>
                    <a:p>
                      <a:pPr algn="l">
                        <a:buNone/>
                      </a:pPr>
                      <a:r>
                        <a:rPr sz="1650" b="0">
                          <a:solidFill>
                            <a:srgbClr val="FFFFFF"/>
                          </a:solidFill>
                          <a:latin typeface="JetBrains Mono"/>
                          <a:ea typeface="JetBrains Mono"/>
                          <a:cs typeface="JetBrains Mono"/>
                        </a:rPr>
                        <a:t>CNN 2D</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64 × 64 pixels × 4 canais</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Chuva, relevo e uso do solo.</a:t>
                      </a:r>
                    </a:p>
                  </a:txBody>
                  <a:tcPr marL="91440" marR="91440" marT="45720" marB="45720" anchor="ctr">
                    <a:solidFill>
                      <a:srgbClr val="000F29"/>
                    </a:solidFill>
                  </a:tcPr>
                </a:tc>
              </a:tr>
              <a:tr h="619125">
                <a:tc>
                  <a:txBody>
                    <a:bodyPr lIns="85725" tIns="57150" rIns="85725" bIns="57150">
                      <a:noAutofit/>
                    </a:bodyPr>
                    <a:lstStyle/>
                    <a:p>
                      <a:pPr algn="l">
                        <a:buNone/>
                      </a:pPr>
                      <a:r>
                        <a:rPr sz="1650" b="0">
                          <a:solidFill>
                            <a:srgbClr val="FFFFFF"/>
                          </a:solidFill>
                          <a:latin typeface="JetBrains Mono"/>
                          <a:ea typeface="JetBrains Mono"/>
                          <a:cs typeface="JetBrains Mono"/>
                        </a:rPr>
                        <a:t>Sequência de mapas</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12 × 64 × 64 × 2 canais</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Evolução de campos de chuva.</a:t>
                      </a:r>
                    </a:p>
                  </a:txBody>
                  <a:tcPr marL="91440" marR="91440" marT="45720" marB="45720" anchor="ctr">
                    <a:solidFill>
                      <a:srgbClr val="000F29"/>
                    </a:solidFill>
                  </a:tcPr>
                </a:tc>
              </a:tr>
            </a:tbl>
          </a:graphicData>
        </a:graphic>
      </p:graphicFrame>
      <p:sp>
        <p:nvSpPr>
          <p:cNvPr id="7004" name="CNN 1D, CNN 2D e sequências de mapas">
            <a:extLst xmlns:a="http://schemas.openxmlformats.org/drawingml/2006/main">
              <a:ext uri="{FF2B5EF4-FFF2-40B4-BE49-F238E27FC236}">
                <a16:creationId xmlns:a16="http://schemas.microsoft.com/office/drawing/2014/main" id="{487BF04D-4EA4-5FFA-85E8-047F52FB628B}"/>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CNN 1D, CNN 2D e sequências de mapas</a:t>
            </a:r>
          </a:p>
        </p:txBody>
      </p:sp>
      <p:sp>
        <p:nvSpPr>
          <p:cNvPr id="7005" name="Canais são variáveis alinhadas na me">
            <a:extLst xmlns:a="http://schemas.openxmlformats.org/drawingml/2006/main">
              <a:ext uri="{FF2B5EF4-FFF2-40B4-BE49-F238E27FC236}">
                <a16:creationId xmlns:a16="http://schemas.microsoft.com/office/drawing/2014/main" id="{831B827A-0210-5D1E-8745-D169317D651C}"/>
              </a:ext>
            </a:extLst>
          </p:cNvPr>
          <p:cNvSpPr>
            <a:spLocks xmlns:a="http://schemas.openxmlformats.org/drawingml/2006/main" noGrp="1"/>
          </p:cNvSpPr>
          <p:nvPr/>
        </p:nvSpPr>
        <p:spPr>
          <a:xfrm xmlns:a="http://schemas.openxmlformats.org/drawingml/2006/main">
            <a:off x="457200" y="5476875"/>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Canais são variáveis alinhadas na mesma grade ou sequência.</a:t>
            </a:r>
          </a:p>
        </p:txBody>
      </p:sp>
      <p:pic>
        <p:nvPicPr>
          <p:cNvPr id="7006" name="Imagem 13"/>
          <p:cNvPicPr>
            <a:picLocks xmlns:a="http://schemas.openxmlformats.org/drawingml/2006/main" noChangeAspect="1"/>
          </p:cNvPicPr>
          <p:nvPr/>
        </p:nvPicPr>
        <p:blipFill>
          <a:blip xmlns:r="http://schemas.openxmlformats.org/officeDocument/2006/relationships" xmlns:a="http://schemas.openxmlformats.org/drawingml/2006/main" r:embed="Rb560455df9ad428b"/>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7007" name="Hydro-UAI Redes convolucionais">
            <a:extLst xmlns:a="http://schemas.openxmlformats.org/drawingml/2006/main">
              <a:ext uri="{FF2B5EF4-FFF2-40B4-BE49-F238E27FC236}">
                <a16:creationId xmlns:a16="http://schemas.microsoft.com/office/drawing/2014/main" id="{4038CC07-BB6E-55EA-B8D7-F2F4FBA388E9}"/>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7008" name="Divisor Hydro-UAI">
            <a:extLst xmlns:a="http://schemas.openxmlformats.org/drawingml/2006/main">
              <a:ext uri="{FF2B5EF4-FFF2-40B4-BE49-F238E27FC236}">
                <a16:creationId xmlns:a16="http://schemas.microsoft.com/office/drawing/2014/main" id="{7B0A7B49-84BD-5EE7-96F3-14F63F36B5CF}"/>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7009" name="Hydro-UAI Hydro-UAI Course">
            <a:extLst xmlns:a="http://schemas.openxmlformats.org/drawingml/2006/main">
              <a:ext uri="{FF2B5EF4-FFF2-40B4-BE49-F238E27FC236}">
                <a16:creationId xmlns:a16="http://schemas.microsoft.com/office/drawing/2014/main" id="{CF6654F1-FB49-5D57-97F8-48E933298C7D}"/>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7010" name="Hydro-UAI 07 / 62">
            <a:extLst xmlns:a="http://schemas.openxmlformats.org/drawingml/2006/main">
              <a:ext uri="{FF2B5EF4-FFF2-40B4-BE49-F238E27FC236}">
                <a16:creationId xmlns:a16="http://schemas.microsoft.com/office/drawing/2014/main" id="{5BDF18BF-EE42-5CE8-836F-18BF20EDE3B8}"/>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07 / 68</a:t>
            </a:r>
          </a:p>
        </p:txBody>
      </p:sp>
    </p:spTree>
    <p:extLst>
      <p:ext uri="{BB962C8B-B14F-4D97-AF65-F5344CB8AC3E}">
        <p14:creationId xmlns:p14="http://schemas.microsoft.com/office/powerpoint/2010/main" val="3991283715"/>
      </p:ext>
    </p:extLst>
  </p:cSld>
</p:sld>
</file>

<file path=ppt/slides/slide8.xml><?xml version="1.0" encoding="utf-8"?>
<p:sld xmlns:p="http://schemas.openxmlformats.org/presentationml/2006/main">
  <p:cSld>
    <p:spTree>
      <p:nvGrpSpPr>
        <p:cNvPr id="8001" name=""/>
        <p:cNvGrpSpPr/>
        <p:nvPr/>
      </p:nvGrpSpPr>
      <p:grpSpPr>
        <a:xfrm xmlns:a="http://schemas.openxmlformats.org/drawingml/2006/main"/>
      </p:grpSpPr>
      <p:sp>
        <p:nvSpPr>
          <p:cNvPr id="8002" name="Retângulo 6">
            <a:extLst xmlns:a="http://schemas.openxmlformats.org/drawingml/2006/main">
              <a:ext uri="{FF2B5EF4-FFF2-40B4-BE49-F238E27FC236}">
                <a16:creationId xmlns:a16="http://schemas.microsoft.com/office/drawing/2014/main" id="{13DDD950-6821-5532-AD2E-70EC47BB5A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8003" name=""/>
          <p:cNvGraphicFramePr/>
          <p:nvPr/>
        </p:nvGraphicFramePr>
        <p:xfrm>
          <a:off xmlns:a="http://schemas.openxmlformats.org/drawingml/2006/main" x="457200" y="2981325"/>
          <a:ext xmlns:a="http://schemas.openxmlformats.org/drawingml/2006/main" cx="3048000" cy="2247900"/>
        </p:xfrm>
        <a:graphic xmlns:a="http://schemas.openxmlformats.org/drawingml/2006/main">
          <a:graphicData uri="http://schemas.openxmlformats.org/drawingml/2006/table">
            <a:tbl>
              <a:tblPr/>
              <a:tblGrid>
                <a:gridCol w="762000"/>
                <a:gridCol w="762000"/>
                <a:gridCol w="762000"/>
                <a:gridCol w="762000"/>
              </a:tblGrid>
              <a:tr h="561975">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1</a:t>
                      </a:r>
                    </a:p>
                  </a:txBody>
                  <a:tcPr marL="91440" marR="91440" marT="45720" marB="45720" anchor="ctr">
                    <a:solidFill>
                      <a:srgbClr val="163C6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1</a:t>
                      </a:r>
                    </a:p>
                  </a:txBody>
                  <a:tcPr marL="91440" marR="91440" marT="45720" marB="45720" anchor="ctr">
                    <a:solidFill>
                      <a:srgbClr val="163C69"/>
                    </a:solidFill>
                  </a:tcPr>
                </a:tc>
              </a:tr>
              <a:tr h="561975">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1</a:t>
                      </a:r>
                    </a:p>
                  </a:txBody>
                  <a:tcPr marL="91440" marR="91440" marT="45720" marB="45720" anchor="ctr">
                    <a:solidFill>
                      <a:srgbClr val="163C69"/>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1</a:t>
                      </a:r>
                    </a:p>
                  </a:txBody>
                  <a:tcPr marL="91440" marR="91440" marT="45720" marB="45720" anchor="ctr">
                    <a:solidFill>
                      <a:srgbClr val="163C69"/>
                    </a:solidFill>
                  </a:tcPr>
                </a:tc>
              </a:tr>
              <a:tr h="561975">
                <a:tc>
                  <a:txBody>
                    <a:bodyPr lIns="85725" tIns="57150" rIns="85725" bIns="57150">
                      <a:noAutofit/>
                    </a:bodyPr>
                    <a:lstStyle/>
                    <a:p>
                      <a:pPr algn="ctr">
                        <a:buNone/>
                      </a:pPr>
                      <a:r>
                        <a:rPr sz="1950" b="0">
                          <a:solidFill>
                            <a:srgbClr val="FFFFFF"/>
                          </a:solidFill>
                          <a:latin typeface="JetBrains Mono"/>
                          <a:ea typeface="JetBrains Mono"/>
                          <a:cs typeface="JetBrains Mono"/>
                        </a:rPr>
                        <a:t>2</a:t>
                      </a:r>
                    </a:p>
                  </a:txBody>
                  <a:tcPr marL="91440" marR="91440" marT="45720" marB="45720" anchor="ctr">
                    <a:solidFill>
                      <a:srgbClr val="0053EB"/>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2</a:t>
                      </a:r>
                    </a:p>
                  </a:txBody>
                  <a:tcPr marL="91440" marR="91440" marT="45720" marB="45720" anchor="ctr">
                    <a:solidFill>
                      <a:srgbClr val="0053EB"/>
                    </a:solidFill>
                  </a:tcPr>
                </a:tc>
                <a:tc>
                  <a:txBody>
                    <a:bodyPr lIns="85725" tIns="57150" rIns="85725" bIns="57150">
                      <a:noAutofit/>
                    </a:bodyPr>
                    <a:lstStyle/>
                    <a:p>
                      <a:pPr algn="ctr">
                        <a:buNone/>
                      </a:pPr>
                      <a:r>
                        <a:rPr sz="1950" b="1">
                          <a:solidFill>
                            <a:srgbClr val="000F29"/>
                          </a:solidFill>
                          <a:latin typeface="JetBrains Mono"/>
                          <a:ea typeface="JetBrains Mono"/>
                          <a:cs typeface="JetBrains Mono"/>
                        </a:rPr>
                        <a:t>4</a:t>
                      </a:r>
                    </a:p>
                  </a:txBody>
                  <a:tcPr marL="91440" marR="91440" marT="45720" marB="45720" anchor="ctr">
                    <a:solidFill>
                      <a:srgbClr val="FFAD62"/>
                    </a:solidFill>
                  </a:tcPr>
                </a:tc>
                <a:tc>
                  <a:txBody>
                    <a:bodyPr lIns="85725" tIns="57150" rIns="85725" bIns="57150">
                      <a:noAutofit/>
                    </a:bodyPr>
                    <a:lstStyle/>
                    <a:p>
                      <a:pPr algn="ctr">
                        <a:buNone/>
                      </a:pPr>
                      <a:r>
                        <a:rPr sz="1950" b="1">
                          <a:solidFill>
                            <a:srgbClr val="000F29"/>
                          </a:solidFill>
                          <a:latin typeface="JetBrains Mono"/>
                          <a:ea typeface="JetBrains Mono"/>
                          <a:cs typeface="JetBrains Mono"/>
                        </a:rPr>
                        <a:t>4</a:t>
                      </a:r>
                    </a:p>
                  </a:txBody>
                  <a:tcPr marL="91440" marR="91440" marT="45720" marB="45720" anchor="ctr">
                    <a:solidFill>
                      <a:srgbClr val="FFAD62"/>
                    </a:solidFill>
                  </a:tcPr>
                </a:tc>
              </a:tr>
              <a:tr h="561975">
                <a:tc>
                  <a:txBody>
                    <a:bodyPr lIns="85725" tIns="57150" rIns="85725" bIns="57150">
                      <a:noAutofit/>
                    </a:bodyPr>
                    <a:lstStyle/>
                    <a:p>
                      <a:pPr algn="ctr">
                        <a:buNone/>
                      </a:pPr>
                      <a:r>
                        <a:rPr sz="1950" b="0">
                          <a:solidFill>
                            <a:srgbClr val="FFFFFF"/>
                          </a:solidFill>
                          <a:latin typeface="JetBrains Mono"/>
                          <a:ea typeface="JetBrains Mono"/>
                          <a:cs typeface="JetBrains Mono"/>
                        </a:rPr>
                        <a:t>2</a:t>
                      </a:r>
                    </a:p>
                  </a:txBody>
                  <a:tcPr marL="91440" marR="91440" marT="45720" marB="45720" anchor="ctr">
                    <a:solidFill>
                      <a:srgbClr val="0053EB"/>
                    </a:solidFill>
                  </a:tcPr>
                </a:tc>
                <a:tc>
                  <a:txBody>
                    <a:bodyPr lIns="85725" tIns="57150" rIns="85725" bIns="57150">
                      <a:noAutofit/>
                    </a:bodyPr>
                    <a:lstStyle/>
                    <a:p>
                      <a:pPr algn="ctr">
                        <a:buNone/>
                      </a:pPr>
                      <a:r>
                        <a:rPr sz="1950" b="0">
                          <a:solidFill>
                            <a:srgbClr val="FFFFFF"/>
                          </a:solidFill>
                          <a:latin typeface="JetBrains Mono"/>
                          <a:ea typeface="JetBrains Mono"/>
                          <a:cs typeface="JetBrains Mono"/>
                        </a:rPr>
                        <a:t>2</a:t>
                      </a:r>
                    </a:p>
                  </a:txBody>
                  <a:tcPr marL="91440" marR="91440" marT="45720" marB="45720" anchor="ctr">
                    <a:solidFill>
                      <a:srgbClr val="0053EB"/>
                    </a:solidFill>
                  </a:tcPr>
                </a:tc>
                <a:tc>
                  <a:txBody>
                    <a:bodyPr lIns="85725" tIns="57150" rIns="85725" bIns="57150">
                      <a:noAutofit/>
                    </a:bodyPr>
                    <a:lstStyle/>
                    <a:p>
                      <a:pPr algn="ctr">
                        <a:buNone/>
                      </a:pPr>
                      <a:r>
                        <a:rPr sz="1950" b="1">
                          <a:solidFill>
                            <a:srgbClr val="000F29"/>
                          </a:solidFill>
                          <a:latin typeface="JetBrains Mono"/>
                          <a:ea typeface="JetBrains Mono"/>
                          <a:cs typeface="JetBrains Mono"/>
                        </a:rPr>
                        <a:t>4</a:t>
                      </a:r>
                    </a:p>
                  </a:txBody>
                  <a:tcPr marL="91440" marR="91440" marT="45720" marB="45720" anchor="ctr">
                    <a:solidFill>
                      <a:srgbClr val="FFAD62"/>
                    </a:solidFill>
                  </a:tcPr>
                </a:tc>
                <a:tc>
                  <a:txBody>
                    <a:bodyPr lIns="85725" tIns="57150" rIns="85725" bIns="57150">
                      <a:noAutofit/>
                    </a:bodyPr>
                    <a:lstStyle/>
                    <a:p>
                      <a:pPr algn="ctr">
                        <a:buNone/>
                      </a:pPr>
                      <a:r>
                        <a:rPr sz="1950" b="1">
                          <a:solidFill>
                            <a:srgbClr val="000F29"/>
                          </a:solidFill>
                          <a:latin typeface="JetBrains Mono"/>
                          <a:ea typeface="JetBrains Mono"/>
                          <a:cs typeface="JetBrains Mono"/>
                        </a:rPr>
                        <a:t>4</a:t>
                      </a:r>
                    </a:p>
                  </a:txBody>
                  <a:tcPr marL="91440" marR="91440" marT="45720" marB="45720" anchor="ctr">
                    <a:solidFill>
                      <a:srgbClr val="FFAD62"/>
                    </a:solidFill>
                  </a:tcPr>
                </a:tc>
              </a:tr>
            </a:tbl>
          </a:graphicData>
        </a:graphic>
      </p:graphicFrame>
      <p:graphicFrame>
        <p:nvGraphicFramePr>
          <p:cNvPr id="8004" name=""/>
          <p:cNvGraphicFramePr/>
          <p:nvPr/>
        </p:nvGraphicFramePr>
        <p:xfrm>
          <a:off xmlns:a="http://schemas.openxmlformats.org/drawingml/2006/main" x="4229100" y="3314700"/>
          <a:ext xmlns:a="http://schemas.openxmlformats.org/drawingml/2006/main" cx="2247900" cy="1447800"/>
        </p:xfrm>
        <a:graphic xmlns:a="http://schemas.openxmlformats.org/drawingml/2006/main">
          <a:graphicData uri="http://schemas.openxmlformats.org/drawingml/2006/table">
            <a:tbl>
              <a:tblPr/>
              <a:tblGrid>
                <a:gridCol w="1123950"/>
                <a:gridCol w="1123950"/>
              </a:tblGrid>
              <a:tr h="723900">
                <a:tc>
                  <a:txBody>
                    <a:bodyPr lIns="85725" tIns="57150" rIns="85725" bIns="57150">
                      <a:noAutofit/>
                    </a:bodyPr>
                    <a:lstStyle/>
                    <a:p>
                      <a:pPr algn="ctr">
                        <a:buNone/>
                      </a:pPr>
                      <a:r>
                        <a:rPr sz="1800" b="0">
                          <a:solidFill>
                            <a:srgbClr val="FFFFFF"/>
                          </a:solidFill>
                          <a:latin typeface="JetBrains Mono"/>
                          <a:ea typeface="JetBrains Mono"/>
                          <a:cs typeface="JetBrains Mono"/>
                        </a:rPr>
                        <a:t>0.25</a:t>
                      </a:r>
                    </a:p>
                  </a:txBody>
                  <a:tcPr marL="91440" marR="91440" marT="45720" marB="45720" anchor="ctr">
                    <a:solidFill>
                      <a:srgbClr val="000F29"/>
                    </a:solidFill>
                  </a:tcPr>
                </a:tc>
                <a:tc>
                  <a:txBody>
                    <a:bodyPr lIns="85725" tIns="57150" rIns="85725" bIns="57150">
                      <a:noAutofit/>
                    </a:bodyPr>
                    <a:lstStyle/>
                    <a:p>
                      <a:pPr algn="ctr">
                        <a:buNone/>
                      </a:pPr>
                      <a:r>
                        <a:rPr sz="1800" b="0">
                          <a:solidFill>
                            <a:srgbClr val="FFFFFF"/>
                          </a:solidFill>
                          <a:latin typeface="JetBrains Mono"/>
                          <a:ea typeface="JetBrains Mono"/>
                          <a:cs typeface="JetBrains Mono"/>
                        </a:rPr>
                        <a:t>0.25</a:t>
                      </a:r>
                    </a:p>
                  </a:txBody>
                  <a:tcPr marL="91440" marR="91440" marT="45720" marB="45720" anchor="ctr">
                    <a:solidFill>
                      <a:srgbClr val="000F29"/>
                    </a:solidFill>
                  </a:tcPr>
                </a:tc>
              </a:tr>
              <a:tr h="723900">
                <a:tc>
                  <a:txBody>
                    <a:bodyPr lIns="85725" tIns="57150" rIns="85725" bIns="57150">
                      <a:noAutofit/>
                    </a:bodyPr>
                    <a:lstStyle/>
                    <a:p>
                      <a:pPr algn="ctr">
                        <a:buNone/>
                      </a:pPr>
                      <a:r>
                        <a:rPr sz="1800" b="0">
                          <a:solidFill>
                            <a:srgbClr val="FFFFFF"/>
                          </a:solidFill>
                          <a:latin typeface="JetBrains Mono"/>
                          <a:ea typeface="JetBrains Mono"/>
                          <a:cs typeface="JetBrains Mono"/>
                        </a:rPr>
                        <a:t>0.25</a:t>
                      </a:r>
                    </a:p>
                  </a:txBody>
                  <a:tcPr marL="91440" marR="91440" marT="45720" marB="45720" anchor="ctr">
                    <a:solidFill>
                      <a:srgbClr val="000F29"/>
                    </a:solidFill>
                  </a:tcPr>
                </a:tc>
                <a:tc>
                  <a:txBody>
                    <a:bodyPr lIns="85725" tIns="57150" rIns="85725" bIns="57150">
                      <a:noAutofit/>
                    </a:bodyPr>
                    <a:lstStyle/>
                    <a:p>
                      <a:pPr algn="ctr">
                        <a:buNone/>
                      </a:pPr>
                      <a:r>
                        <a:rPr sz="1800" b="0">
                          <a:solidFill>
                            <a:srgbClr val="FFFFFF"/>
                          </a:solidFill>
                          <a:latin typeface="JetBrains Mono"/>
                          <a:ea typeface="JetBrains Mono"/>
                          <a:cs typeface="JetBrains Mono"/>
                        </a:rPr>
                        <a:t>0.25</a:t>
                      </a:r>
                    </a:p>
                  </a:txBody>
                  <a:tcPr marL="91440" marR="91440" marT="45720" marB="45720" anchor="ctr">
                    <a:solidFill>
                      <a:srgbClr val="000F29"/>
                    </a:solidFill>
                  </a:tcPr>
                </a:tc>
              </a:tr>
            </a:tbl>
          </a:graphicData>
        </a:graphic>
      </p:graphicFrame>
      <p:graphicFrame>
        <p:nvGraphicFramePr>
          <p:cNvPr id="8005" name=""/>
          <p:cNvGraphicFramePr/>
          <p:nvPr/>
        </p:nvGraphicFramePr>
        <p:xfrm>
          <a:off xmlns:a="http://schemas.openxmlformats.org/drawingml/2006/main" x="7791450" y="2981325"/>
          <a:ext xmlns:a="http://schemas.openxmlformats.org/drawingml/2006/main" cx="3371850" cy="2247900"/>
        </p:xfrm>
        <a:graphic xmlns:a="http://schemas.openxmlformats.org/drawingml/2006/main">
          <a:graphicData uri="http://schemas.openxmlformats.org/drawingml/2006/table">
            <a:tbl>
              <a:tblPr/>
              <a:tblGrid>
                <a:gridCol w="1123950"/>
                <a:gridCol w="1123950"/>
                <a:gridCol w="1123950"/>
              </a:tblGrid>
              <a:tr h="749300">
                <a:tc>
                  <a:txBody>
                    <a:bodyPr lIns="85725" tIns="57150" rIns="85725" bIns="57150">
                      <a:noAutofit/>
                    </a:bodyPr>
                    <a:lstStyle/>
                    <a:p>
                      <a:pPr algn="ctr">
                        <a:buNone/>
                      </a:pPr>
                      <a:r>
                        <a:rPr sz="1875"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875" b="0">
                          <a:solidFill>
                            <a:srgbClr val="FFFFFF"/>
                          </a:solidFill>
                          <a:latin typeface="JetBrains Mono"/>
                          <a:ea typeface="JetBrains Mono"/>
                          <a:cs typeface="JetBrains Mono"/>
                        </a:rPr>
                        <a:t>0.5</a:t>
                      </a:r>
                    </a:p>
                  </a:txBody>
                  <a:tcPr marL="91440" marR="91440" marT="45720" marB="45720" anchor="ctr">
                    <a:solidFill>
                      <a:srgbClr val="163C69"/>
                    </a:solidFill>
                  </a:tcPr>
                </a:tc>
                <a:tc>
                  <a:txBody>
                    <a:bodyPr lIns="85725" tIns="57150" rIns="85725" bIns="57150">
                      <a:noAutofit/>
                    </a:bodyPr>
                    <a:lstStyle/>
                    <a:p>
                      <a:pPr algn="ctr">
                        <a:buNone/>
                      </a:pPr>
                      <a:r>
                        <a:rPr sz="1875" b="0">
                          <a:solidFill>
                            <a:srgbClr val="FFFFFF"/>
                          </a:solidFill>
                          <a:latin typeface="JetBrains Mono"/>
                          <a:ea typeface="JetBrains Mono"/>
                          <a:cs typeface="JetBrains Mono"/>
                        </a:rPr>
                        <a:t>1</a:t>
                      </a:r>
                    </a:p>
                  </a:txBody>
                  <a:tcPr marL="91440" marR="91440" marT="45720" marB="45720" anchor="ctr">
                    <a:solidFill>
                      <a:srgbClr val="163C69"/>
                    </a:solidFill>
                  </a:tcPr>
                </a:tc>
              </a:tr>
              <a:tr h="749300">
                <a:tc>
                  <a:txBody>
                    <a:bodyPr lIns="85725" tIns="57150" rIns="85725" bIns="57150">
                      <a:noAutofit/>
                    </a:bodyPr>
                    <a:lstStyle/>
                    <a:p>
                      <a:pPr algn="ctr">
                        <a:buNone/>
                      </a:pPr>
                      <a:r>
                        <a:rPr sz="1875" b="0">
                          <a:solidFill>
                            <a:srgbClr val="FFFFFF"/>
                          </a:solidFill>
                          <a:latin typeface="JetBrains Mono"/>
                          <a:ea typeface="JetBrains Mono"/>
                          <a:cs typeface="JetBrains Mono"/>
                        </a:rPr>
                        <a:t>1</a:t>
                      </a:r>
                    </a:p>
                  </a:txBody>
                  <a:tcPr marL="91440" marR="91440" marT="45720" marB="45720" anchor="ctr">
                    <a:solidFill>
                      <a:srgbClr val="163C69"/>
                    </a:solidFill>
                  </a:tcPr>
                </a:tc>
                <a:tc>
                  <a:txBody>
                    <a:bodyPr lIns="85725" tIns="57150" rIns="85725" bIns="57150">
                      <a:noAutofit/>
                    </a:bodyPr>
                    <a:lstStyle/>
                    <a:p>
                      <a:pPr algn="ctr">
                        <a:buNone/>
                      </a:pPr>
                      <a:r>
                        <a:rPr sz="1875" b="0">
                          <a:solidFill>
                            <a:srgbClr val="FFFFFF"/>
                          </a:solidFill>
                          <a:latin typeface="JetBrains Mono"/>
                          <a:ea typeface="JetBrains Mono"/>
                          <a:cs typeface="JetBrains Mono"/>
                        </a:rPr>
                        <a:t>1.75</a:t>
                      </a:r>
                    </a:p>
                  </a:txBody>
                  <a:tcPr marL="91440" marR="91440" marT="45720" marB="45720" anchor="ctr">
                    <a:solidFill>
                      <a:srgbClr val="0053EB"/>
                    </a:solidFill>
                  </a:tcPr>
                </a:tc>
                <a:tc>
                  <a:txBody>
                    <a:bodyPr lIns="85725" tIns="57150" rIns="85725" bIns="57150">
                      <a:noAutofit/>
                    </a:bodyPr>
                    <a:lstStyle/>
                    <a:p>
                      <a:pPr algn="ctr">
                        <a:buNone/>
                      </a:pPr>
                      <a:r>
                        <a:rPr sz="1875" b="0">
                          <a:solidFill>
                            <a:srgbClr val="FFFFFF"/>
                          </a:solidFill>
                          <a:latin typeface="JetBrains Mono"/>
                          <a:ea typeface="JetBrains Mono"/>
                          <a:cs typeface="JetBrains Mono"/>
                        </a:rPr>
                        <a:t>2.5</a:t>
                      </a:r>
                    </a:p>
                  </a:txBody>
                  <a:tcPr marL="91440" marR="91440" marT="45720" marB="45720" anchor="ctr">
                    <a:solidFill>
                      <a:srgbClr val="0053EB"/>
                    </a:solidFill>
                  </a:tcPr>
                </a:tc>
              </a:tr>
              <a:tr h="749300">
                <a:tc>
                  <a:txBody>
                    <a:bodyPr lIns="85725" tIns="57150" rIns="85725" bIns="57150">
                      <a:noAutofit/>
                    </a:bodyPr>
                    <a:lstStyle/>
                    <a:p>
                      <a:pPr algn="ctr">
                        <a:buNone/>
                      </a:pPr>
                      <a:r>
                        <a:rPr sz="1875" b="0">
                          <a:solidFill>
                            <a:srgbClr val="FFFFFF"/>
                          </a:solidFill>
                          <a:latin typeface="JetBrains Mono"/>
                          <a:ea typeface="JetBrains Mono"/>
                          <a:cs typeface="JetBrains Mono"/>
                        </a:rPr>
                        <a:t>2</a:t>
                      </a:r>
                    </a:p>
                  </a:txBody>
                  <a:tcPr marL="91440" marR="91440" marT="45720" marB="45720" anchor="ctr">
                    <a:solidFill>
                      <a:srgbClr val="0053EB"/>
                    </a:solidFill>
                  </a:tcPr>
                </a:tc>
                <a:tc>
                  <a:txBody>
                    <a:bodyPr lIns="85725" tIns="57150" rIns="85725" bIns="57150">
                      <a:noAutofit/>
                    </a:bodyPr>
                    <a:lstStyle/>
                    <a:p>
                      <a:pPr algn="ctr">
                        <a:buNone/>
                      </a:pPr>
                      <a:r>
                        <a:rPr sz="1875" b="0">
                          <a:solidFill>
                            <a:srgbClr val="FFFFFF"/>
                          </a:solidFill>
                          <a:latin typeface="JetBrains Mono"/>
                          <a:ea typeface="JetBrains Mono"/>
                          <a:cs typeface="JetBrains Mono"/>
                        </a:rPr>
                        <a:t>3</a:t>
                      </a:r>
                    </a:p>
                  </a:txBody>
                  <a:tcPr marL="91440" marR="91440" marT="45720" marB="45720" anchor="ctr">
                    <a:solidFill>
                      <a:srgbClr val="0053EB"/>
                    </a:solidFill>
                  </a:tcPr>
                </a:tc>
                <a:tc>
                  <a:txBody>
                    <a:bodyPr lIns="85725" tIns="57150" rIns="85725" bIns="57150">
                      <a:noAutofit/>
                    </a:bodyPr>
                    <a:lstStyle/>
                    <a:p>
                      <a:pPr algn="ctr">
                        <a:buNone/>
                      </a:pPr>
                      <a:r>
                        <a:rPr sz="1875" b="0">
                          <a:solidFill>
                            <a:srgbClr val="000F29"/>
                          </a:solidFill>
                          <a:latin typeface="JetBrains Mono"/>
                          <a:ea typeface="JetBrains Mono"/>
                          <a:cs typeface="JetBrains Mono"/>
                        </a:rPr>
                        <a:t>4</a:t>
                      </a:r>
                    </a:p>
                  </a:txBody>
                  <a:tcPr marL="91440" marR="91440" marT="45720" marB="45720" anchor="ctr">
                    <a:solidFill>
                      <a:srgbClr val="83DFFF"/>
                    </a:solidFill>
                  </a:tcPr>
                </a:tc>
              </a:tr>
            </a:tbl>
          </a:graphicData>
        </a:graphic>
      </p:graphicFrame>
      <p:sp>
        <p:nvSpPr>
          <p:cNvPr id="8006" name="Convolução 2D: uma conta que cabe na">
            <a:extLst xmlns:a="http://schemas.openxmlformats.org/drawingml/2006/main">
              <a:ext uri="{FF2B5EF4-FFF2-40B4-BE49-F238E27FC236}">
                <a16:creationId xmlns:a16="http://schemas.microsoft.com/office/drawing/2014/main" id="{876C0341-0182-5BDF-8BB9-B3A07870B2D8}"/>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Convolução 2D: uma conta que cabe na mão</a:t>
            </a:r>
          </a:p>
        </p:txBody>
      </p:sp>
      <p:sp>
        <p:nvSpPr>
          <p:cNvPr id="8007" name="Entrada X (mm/h)">
            <a:extLst xmlns:a="http://schemas.openxmlformats.org/drawingml/2006/main">
              <a:ext uri="{FF2B5EF4-FFF2-40B4-BE49-F238E27FC236}">
                <a16:creationId xmlns:a16="http://schemas.microsoft.com/office/drawing/2014/main" id="{B4244FC8-A7DD-5F66-8F6D-3C77740B7B45}"/>
              </a:ext>
            </a:extLst>
          </p:cNvPr>
          <p:cNvSpPr>
            <a:spLocks xmlns:a="http://schemas.openxmlformats.org/drawingml/2006/main" noGrp="1"/>
          </p:cNvSpPr>
          <p:nvPr/>
        </p:nvSpPr>
        <p:spPr>
          <a:xfrm xmlns:a="http://schemas.openxmlformats.org/drawingml/2006/main">
            <a:off x="457200" y="2533650"/>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Entrada X (mm/h)</a:t>
            </a:r>
          </a:p>
        </p:txBody>
      </p:sp>
      <p:sp>
        <p:nvSpPr>
          <p:cNvPr id="8008" name="Filtro W">
            <a:extLst xmlns:a="http://schemas.openxmlformats.org/drawingml/2006/main">
              <a:ext uri="{FF2B5EF4-FFF2-40B4-BE49-F238E27FC236}">
                <a16:creationId xmlns:a16="http://schemas.microsoft.com/office/drawing/2014/main" id="{55681337-640A-55E4-9F6C-1246FF952C2E}"/>
              </a:ext>
            </a:extLst>
          </p:cNvPr>
          <p:cNvSpPr>
            <a:spLocks xmlns:a="http://schemas.openxmlformats.org/drawingml/2006/main" noGrp="1"/>
          </p:cNvSpPr>
          <p:nvPr/>
        </p:nvSpPr>
        <p:spPr>
          <a:xfrm xmlns:a="http://schemas.openxmlformats.org/drawingml/2006/main">
            <a:off x="4229100" y="25336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Filtro W</a:t>
            </a:r>
          </a:p>
        </p:txBody>
      </p:sp>
      <p:sp>
        <p:nvSpPr>
          <p:cNvPr id="8009" name="Saída (mm/h)">
            <a:extLst xmlns:a="http://schemas.openxmlformats.org/drawingml/2006/main">
              <a:ext uri="{FF2B5EF4-FFF2-40B4-BE49-F238E27FC236}">
                <a16:creationId xmlns:a16="http://schemas.microsoft.com/office/drawing/2014/main" id="{F1C0272D-B8F6-55B0-9346-694803EA8B5E}"/>
              </a:ext>
            </a:extLst>
          </p:cNvPr>
          <p:cNvSpPr>
            <a:spLocks xmlns:a="http://schemas.openxmlformats.org/drawingml/2006/main" noGrp="1"/>
          </p:cNvSpPr>
          <p:nvPr/>
        </p:nvSpPr>
        <p:spPr>
          <a:xfrm xmlns:a="http://schemas.openxmlformats.org/drawingml/2006/main">
            <a:off x="7791450" y="253365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Saída (mm/h)</a:t>
            </a:r>
          </a:p>
        </p:txBody>
      </p:sp>
      <p:sp>
        <p:nvSpPr>
          <p:cNvPr id="8010" name="Trecho destacado: 0,25 × (4 + 4 + 4 ">
            <a:extLst xmlns:a="http://schemas.openxmlformats.org/drawingml/2006/main">
              <a:ext uri="{FF2B5EF4-FFF2-40B4-BE49-F238E27FC236}">
                <a16:creationId xmlns:a16="http://schemas.microsoft.com/office/drawing/2014/main" id="{422EB231-70D1-5972-951A-E960CB3090A9}"/>
              </a:ext>
            </a:extLst>
          </p:cNvPr>
          <p:cNvSpPr>
            <a:spLocks xmlns:a="http://schemas.openxmlformats.org/drawingml/2006/main" noGrp="1"/>
          </p:cNvSpPr>
          <p:nvPr/>
        </p:nvSpPr>
        <p:spPr>
          <a:xfrm xmlns:a="http://schemas.openxmlformats.org/drawingml/2006/main">
            <a:off x="457200" y="55054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FFAD62"/>
                </a:solidFill>
                <a:latin typeface="JetBrains Mono"/>
                <a:ea typeface="JetBrains Mono"/>
                <a:cs typeface="JetBrains Mono"/>
              </a:defRPr>
            </a:pPr>
            <a:r>
              <a:rPr sz="1875" b="1">
                <a:solidFill>
                  <a:srgbClr val="FFAD62"/>
                </a:solidFill>
                <a:latin typeface="JetBrains Mono"/>
                <a:ea typeface="JetBrains Mono"/>
                <a:cs typeface="JetBrains Mono"/>
              </a:rPr>
              <a:t>Trecho destacado: 0,25 × (4 + 4 + 4 + 4) = 4</a:t>
            </a:r>
          </a:p>
        </p:txBody>
      </p:sp>
      <p:sp>
        <p:nvSpPr>
          <p:cNvPr id="8011" name="Filtro fixo para a explicação. Em um">
            <a:extLst xmlns:a="http://schemas.openxmlformats.org/drawingml/2006/main">
              <a:ext uri="{FF2B5EF4-FFF2-40B4-BE49-F238E27FC236}">
                <a16:creationId xmlns:a16="http://schemas.microsoft.com/office/drawing/2014/main" id="{D728F16B-48E1-5320-8FBD-0D0F12A34609}"/>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Filtro fixo para a explicação. Em uma CNN, os pesos são aprendidos.</a:t>
            </a:r>
          </a:p>
        </p:txBody>
      </p:sp>
      <p:pic>
        <p:nvPicPr>
          <p:cNvPr id="8012" name="Imagem 13"/>
          <p:cNvPicPr>
            <a:picLocks xmlns:a="http://schemas.openxmlformats.org/drawingml/2006/main" noChangeAspect="1"/>
          </p:cNvPicPr>
          <p:nvPr/>
        </p:nvPicPr>
        <p:blipFill>
          <a:blip xmlns:r="http://schemas.openxmlformats.org/officeDocument/2006/relationships" xmlns:a="http://schemas.openxmlformats.org/drawingml/2006/main" r:embed="R6424c85023d04cf8"/>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8013" name="Hydro-UAI Redes convolucionais">
            <a:extLst xmlns:a="http://schemas.openxmlformats.org/drawingml/2006/main">
              <a:ext uri="{FF2B5EF4-FFF2-40B4-BE49-F238E27FC236}">
                <a16:creationId xmlns:a16="http://schemas.microsoft.com/office/drawing/2014/main" id="{FBBB1A19-3A7B-5E39-AEF6-8B4108399673}"/>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8014" name="Divisor Hydro-UAI">
            <a:extLst xmlns:a="http://schemas.openxmlformats.org/drawingml/2006/main">
              <a:ext uri="{FF2B5EF4-FFF2-40B4-BE49-F238E27FC236}">
                <a16:creationId xmlns:a16="http://schemas.microsoft.com/office/drawing/2014/main" id="{3D2F93CA-A5CA-5234-A7DC-12B156332D33}"/>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8015" name="Hydro-UAI Hydro-UAI Course">
            <a:extLst xmlns:a="http://schemas.openxmlformats.org/drawingml/2006/main">
              <a:ext uri="{FF2B5EF4-FFF2-40B4-BE49-F238E27FC236}">
                <a16:creationId xmlns:a16="http://schemas.microsoft.com/office/drawing/2014/main" id="{41FD0211-0E82-53EB-8822-0EB23D382CDE}"/>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8016" name="Hydro-UAI 08 / 62">
            <a:extLst xmlns:a="http://schemas.openxmlformats.org/drawingml/2006/main">
              <a:ext uri="{FF2B5EF4-FFF2-40B4-BE49-F238E27FC236}">
                <a16:creationId xmlns:a16="http://schemas.microsoft.com/office/drawing/2014/main" id="{F6F2362F-7E8C-50FB-B537-0AFC5994E728}"/>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09 / 68</a:t>
            </a:r>
          </a:p>
        </p:txBody>
      </p:sp>
    </p:spTree>
    <p:extLst>
      <p:ext uri="{BB962C8B-B14F-4D97-AF65-F5344CB8AC3E}">
        <p14:creationId xmlns:p14="http://schemas.microsoft.com/office/powerpoint/2010/main" val="3991283715"/>
      </p:ext>
    </p:extLst>
  </p:cSld>
</p:sld>
</file>

<file path=ppt/slides/slide9.xml><?xml version="1.0" encoding="utf-8"?>
<p:sld xmlns:p="http://schemas.openxmlformats.org/presentationml/2006/main">
  <p:cSld>
    <p:spTree>
      <p:nvGrpSpPr>
        <p:cNvPr id="9001" name=""/>
        <p:cNvGrpSpPr/>
        <p:nvPr/>
      </p:nvGrpSpPr>
      <p:grpSpPr>
        <a:xfrm xmlns:a="http://schemas.openxmlformats.org/drawingml/2006/main"/>
      </p:grpSpPr>
      <p:sp>
        <p:nvSpPr>
          <p:cNvPr id="9002" name="Retângulo 6">
            <a:extLst xmlns:a="http://schemas.openxmlformats.org/drawingml/2006/main">
              <a:ext uri="{FF2B5EF4-FFF2-40B4-BE49-F238E27FC236}">
                <a16:creationId xmlns:a16="http://schemas.microsoft.com/office/drawing/2014/main" id="{2893CF82-61F7-5CA4-A41C-B9A7665399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9003" name=""/>
          <p:cNvGraphicFramePr/>
          <p:nvPr/>
        </p:nvGraphicFramePr>
        <p:xfrm>
          <a:off xmlns:a="http://schemas.openxmlformats.org/drawingml/2006/main" x="457200" y="3105150"/>
          <a:ext xmlns:a="http://schemas.openxmlformats.org/drawingml/2006/main" cx="2857500" cy="1600200"/>
        </p:xfrm>
        <a:graphic xmlns:a="http://schemas.openxmlformats.org/drawingml/2006/main">
          <a:graphicData uri="http://schemas.openxmlformats.org/drawingml/2006/table">
            <a:tbl>
              <a:tblPr/>
              <a:tblGrid>
                <a:gridCol w="1428750"/>
                <a:gridCol w="1428750"/>
              </a:tblGrid>
              <a:tr h="800100">
                <a:tc>
                  <a:txBody>
                    <a:bodyPr lIns="85725" tIns="57150" rIns="85725" bIns="57150">
                      <a:noAutofit/>
                    </a:bodyPr>
                    <a:lstStyle/>
                    <a:p>
                      <a:pPr algn="ctr">
                        <a:buNone/>
                      </a:pPr>
                      <a:r>
                        <a:rPr sz="1950" b="0">
                          <a:solidFill>
                            <a:srgbClr val="FFFFFF"/>
                          </a:solidFill>
                          <a:latin typeface="JetBrains Mono"/>
                          <a:ea typeface="JetBrains Mono"/>
                          <a:cs typeface="JetBrains Mono"/>
                        </a:rPr>
                        <a:t>2</a:t>
                      </a:r>
                    </a:p>
                  </a:txBody>
                  <a:tcPr marL="91440" marR="91440" marT="45720" marB="45720" anchor="ctr">
                    <a:solidFill>
                      <a:srgbClr val="0053EB"/>
                    </a:solidFill>
                  </a:tcPr>
                </a:tc>
                <a:tc>
                  <a:txBody>
                    <a:bodyPr lIns="85725" tIns="57150" rIns="85725" bIns="57150">
                      <a:noAutofit/>
                    </a:bodyPr>
                    <a:lstStyle/>
                    <a:p>
                      <a:pPr algn="ctr">
                        <a:buNone/>
                      </a:pPr>
                      <a:r>
                        <a:rPr sz="1950" b="0">
                          <a:solidFill>
                            <a:srgbClr val="000F29"/>
                          </a:solidFill>
                          <a:latin typeface="JetBrains Mono"/>
                          <a:ea typeface="JetBrains Mono"/>
                          <a:cs typeface="JetBrains Mono"/>
                        </a:rPr>
                        <a:t>4</a:t>
                      </a:r>
                    </a:p>
                  </a:txBody>
                  <a:tcPr marL="91440" marR="91440" marT="45720" marB="45720" anchor="ctr">
                    <a:solidFill>
                      <a:srgbClr val="83DFFF"/>
                    </a:solidFill>
                  </a:tcPr>
                </a:tc>
              </a:tr>
              <a:tr h="800100">
                <a:tc>
                  <a:txBody>
                    <a:bodyPr lIns="85725" tIns="57150" rIns="85725" bIns="57150">
                      <a:noAutofit/>
                    </a:bodyPr>
                    <a:lstStyle/>
                    <a:p>
                      <a:pPr algn="ctr">
                        <a:buNone/>
                      </a:pPr>
                      <a:r>
                        <a:rPr sz="1950" b="0">
                          <a:solidFill>
                            <a:srgbClr val="FFFFFF"/>
                          </a:solidFill>
                          <a:latin typeface="JetBrains Mono"/>
                          <a:ea typeface="JetBrains Mono"/>
                          <a:cs typeface="JetBrains Mono"/>
                        </a:rPr>
                        <a:t>2</a:t>
                      </a:r>
                    </a:p>
                  </a:txBody>
                  <a:tcPr marL="91440" marR="91440" marT="45720" marB="45720" anchor="ctr">
                    <a:solidFill>
                      <a:srgbClr val="0053EB"/>
                    </a:solidFill>
                  </a:tcPr>
                </a:tc>
                <a:tc>
                  <a:txBody>
                    <a:bodyPr lIns="85725" tIns="57150" rIns="85725" bIns="57150">
                      <a:noAutofit/>
                    </a:bodyPr>
                    <a:lstStyle/>
                    <a:p>
                      <a:pPr algn="ctr">
                        <a:buNone/>
                      </a:pPr>
                      <a:r>
                        <a:rPr sz="1950" b="0">
                          <a:solidFill>
                            <a:srgbClr val="000F29"/>
                          </a:solidFill>
                          <a:latin typeface="JetBrains Mono"/>
                          <a:ea typeface="JetBrains Mono"/>
                          <a:cs typeface="JetBrains Mono"/>
                        </a:rPr>
                        <a:t>4</a:t>
                      </a:r>
                    </a:p>
                  </a:txBody>
                  <a:tcPr marL="91440" marR="91440" marT="45720" marB="45720" anchor="ctr">
                    <a:solidFill>
                      <a:srgbClr val="83DFFF"/>
                    </a:solidFill>
                  </a:tcPr>
                </a:tc>
              </a:tr>
            </a:tbl>
          </a:graphicData>
        </a:graphic>
      </p:graphicFrame>
      <p:graphicFrame>
        <p:nvGraphicFramePr>
          <p:cNvPr id="9004" name=""/>
          <p:cNvGraphicFramePr/>
          <p:nvPr/>
        </p:nvGraphicFramePr>
        <p:xfrm>
          <a:off xmlns:a="http://schemas.openxmlformats.org/drawingml/2006/main" x="4171950" y="3000375"/>
          <a:ext xmlns:a="http://schemas.openxmlformats.org/drawingml/2006/main" cx="7562850" cy="2162175"/>
        </p:xfrm>
        <a:graphic xmlns:a="http://schemas.openxmlformats.org/drawingml/2006/main">
          <a:graphicData uri="http://schemas.openxmlformats.org/drawingml/2006/table">
            <a:tbl>
              <a:tblPr/>
              <a:tblGrid>
                <a:gridCol w="2619375"/>
                <a:gridCol w="3333750"/>
                <a:gridCol w="1609725"/>
              </a:tblGrid>
              <a:tr h="720725">
                <a:tc>
                  <a:txBody>
                    <a:bodyPr lIns="85725" tIns="57150" rIns="85725" bIns="57150">
                      <a:noAutofit/>
                    </a:bodyPr>
                    <a:lstStyle/>
                    <a:p>
                      <a:pPr algn="l">
                        <a:buNone/>
                      </a:pPr>
                      <a:r>
                        <a:rPr sz="1575" b="1">
                          <a:solidFill>
                            <a:srgbClr val="FFFFFF"/>
                          </a:solidFill>
                          <a:latin typeface="JetBrains Mono"/>
                          <a:ea typeface="JetBrains Mono"/>
                          <a:cs typeface="JetBrains Mono"/>
                        </a:rPr>
                        <a:t>Filtro</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Pesos</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Resposta</a:t>
                      </a:r>
                    </a:p>
                  </a:txBody>
                  <a:tcPr marL="91440" marR="91440" marT="45720" marB="45720" anchor="ctr">
                    <a:solidFill>
                      <a:srgbClr val="0053EB"/>
                    </a:solidFill>
                  </a:tcPr>
                </a:tc>
              </a:tr>
              <a:tr h="720725">
                <a:tc>
                  <a:txBody>
                    <a:bodyPr lIns="85725" tIns="57150" rIns="85725" bIns="57150">
                      <a:noAutofit/>
                    </a:bodyPr>
                    <a:lstStyle/>
                    <a:p>
                      <a:pPr algn="l">
                        <a:buNone/>
                      </a:pPr>
                      <a:r>
                        <a:rPr sz="1575" b="0">
                          <a:solidFill>
                            <a:srgbClr val="FFFFFF"/>
                          </a:solidFill>
                          <a:latin typeface="JetBrains Mono"/>
                          <a:ea typeface="JetBrains Mono"/>
                          <a:cs typeface="JetBrains Mono"/>
                        </a:rPr>
                        <a:t>Média local</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0,25 em cada posição</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3,0</a:t>
                      </a:r>
                    </a:p>
                  </a:txBody>
                  <a:tcPr marL="91440" marR="91440" marT="45720" marB="45720" anchor="ctr">
                    <a:solidFill>
                      <a:srgbClr val="000F29"/>
                    </a:solidFill>
                  </a:tcPr>
                </a:tc>
              </a:tr>
              <a:tr h="720725">
                <a:tc>
                  <a:txBody>
                    <a:bodyPr lIns="85725" tIns="57150" rIns="85725" bIns="57150">
                      <a:noAutofit/>
                    </a:bodyPr>
                    <a:lstStyle/>
                    <a:p>
                      <a:pPr algn="l">
                        <a:buNone/>
                      </a:pPr>
                      <a:r>
                        <a:rPr sz="1575" b="0">
                          <a:solidFill>
                            <a:srgbClr val="FFFFFF"/>
                          </a:solidFill>
                          <a:latin typeface="JetBrains Mono"/>
                          <a:ea typeface="JetBrains Mono"/>
                          <a:cs typeface="JetBrains Mono"/>
                        </a:rPr>
                        <a:t>Diferença entre colunas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[-1, 1] em cada linha</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4,0</a:t>
                      </a:r>
                    </a:p>
                  </a:txBody>
                  <a:tcPr marL="91440" marR="91440" marT="45720" marB="45720" anchor="ctr">
                    <a:solidFill>
                      <a:srgbClr val="000F29"/>
                    </a:solidFill>
                  </a:tcPr>
                </a:tc>
              </a:tr>
            </a:tbl>
          </a:graphicData>
        </a:graphic>
      </p:graphicFrame>
      <p:sp>
        <p:nvSpPr>
          <p:cNvPr id="9005" name="Filtros diferentes produzem resposta">
            <a:extLst xmlns:a="http://schemas.openxmlformats.org/drawingml/2006/main">
              <a:ext uri="{FF2B5EF4-FFF2-40B4-BE49-F238E27FC236}">
                <a16:creationId xmlns:a16="http://schemas.microsoft.com/office/drawing/2014/main" id="{701EC305-C449-5AAB-9D6B-EB88E84AC1EA}"/>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Filtros diferentes produzem respostas diferentes</a:t>
            </a:r>
          </a:p>
        </p:txBody>
      </p:sp>
      <p:sp>
        <p:nvSpPr>
          <p:cNvPr id="9006" name="Trecho de entrada">
            <a:extLst xmlns:a="http://schemas.openxmlformats.org/drawingml/2006/main">
              <a:ext uri="{FF2B5EF4-FFF2-40B4-BE49-F238E27FC236}">
                <a16:creationId xmlns:a16="http://schemas.microsoft.com/office/drawing/2014/main" id="{D08DBD6F-A861-56E4-A83D-4E65A208BB9E}"/>
              </a:ext>
            </a:extLst>
          </p:cNvPr>
          <p:cNvSpPr>
            <a:spLocks xmlns:a="http://schemas.openxmlformats.org/drawingml/2006/main" noGrp="1"/>
          </p:cNvSpPr>
          <p:nvPr/>
        </p:nvSpPr>
        <p:spPr>
          <a:xfrm xmlns:a="http://schemas.openxmlformats.org/drawingml/2006/main">
            <a:off x="457200" y="26003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Trecho de entrada</a:t>
            </a:r>
          </a:p>
        </p:txBody>
      </p:sp>
      <p:sp>
        <p:nvSpPr>
          <p:cNvPr id="9007" name="A resposta do filtro ainda precisa d">
            <a:extLst xmlns:a="http://schemas.openxmlformats.org/drawingml/2006/main">
              <a:ext uri="{FF2B5EF4-FFF2-40B4-BE49-F238E27FC236}">
                <a16:creationId xmlns:a16="http://schemas.microsoft.com/office/drawing/2014/main" id="{5CDCB42D-4F69-5B5D-B0F1-16C4B83DA22E}"/>
              </a:ext>
            </a:extLst>
          </p:cNvPr>
          <p:cNvSpPr>
            <a:spLocks xmlns:a="http://schemas.openxmlformats.org/drawingml/2006/main" noGrp="1"/>
          </p:cNvSpPr>
          <p:nvPr/>
        </p:nvSpPr>
        <p:spPr>
          <a:xfrm xmlns:a="http://schemas.openxmlformats.org/drawingml/2006/main">
            <a:off x="457200" y="550545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71E7BD"/>
                </a:solidFill>
                <a:latin typeface="JetBrains Mono"/>
                <a:ea typeface="JetBrains Mono"/>
                <a:cs typeface="JetBrains Mono"/>
              </a:defRPr>
            </a:pPr>
            <a:r>
              <a:rPr sz="1875" b="1">
                <a:solidFill>
                  <a:srgbClr val="71E7BD"/>
                </a:solidFill>
                <a:latin typeface="JetBrains Mono"/>
                <a:ea typeface="JetBrains Mono"/>
                <a:cs typeface="JetBrains Mono"/>
              </a:rPr>
              <a:t>A resposta do filtro ainda precisa de uma tarefa e uma saída.</a:t>
            </a:r>
          </a:p>
        </p:txBody>
      </p:sp>
      <p:pic>
        <p:nvPicPr>
          <p:cNvPr id="9008" name="Imagem 13"/>
          <p:cNvPicPr>
            <a:picLocks xmlns:a="http://schemas.openxmlformats.org/drawingml/2006/main" noChangeAspect="1"/>
          </p:cNvPicPr>
          <p:nvPr/>
        </p:nvPicPr>
        <p:blipFill>
          <a:blip xmlns:r="http://schemas.openxmlformats.org/officeDocument/2006/relationships" xmlns:a="http://schemas.openxmlformats.org/drawingml/2006/main" r:embed="R1c005ff3c1e4477d"/>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9009" name="Hydro-UAI Redes convolucionais">
            <a:extLst xmlns:a="http://schemas.openxmlformats.org/drawingml/2006/main">
              <a:ext uri="{FF2B5EF4-FFF2-40B4-BE49-F238E27FC236}">
                <a16:creationId xmlns:a16="http://schemas.microsoft.com/office/drawing/2014/main" id="{441390B3-19CB-5E51-899A-7D08D8E83C82}"/>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9010" name="Divisor Hydro-UAI">
            <a:extLst xmlns:a="http://schemas.openxmlformats.org/drawingml/2006/main">
              <a:ext uri="{FF2B5EF4-FFF2-40B4-BE49-F238E27FC236}">
                <a16:creationId xmlns:a16="http://schemas.microsoft.com/office/drawing/2014/main" id="{4435E5F6-9FFC-5419-B2FD-CA71FEE55D49}"/>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9011" name="Hydro-UAI Hydro-UAI Course">
            <a:extLst xmlns:a="http://schemas.openxmlformats.org/drawingml/2006/main">
              <a:ext uri="{FF2B5EF4-FFF2-40B4-BE49-F238E27FC236}">
                <a16:creationId xmlns:a16="http://schemas.microsoft.com/office/drawing/2014/main" id="{E216CBB9-CAB7-5C10-8453-2B4636764597}"/>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9012" name="Hydro-UAI 09 / 62">
            <a:extLst xmlns:a="http://schemas.openxmlformats.org/drawingml/2006/main">
              <a:ext uri="{FF2B5EF4-FFF2-40B4-BE49-F238E27FC236}">
                <a16:creationId xmlns:a16="http://schemas.microsoft.com/office/drawing/2014/main" id="{6D7991A5-EDCE-5DD0-9E93-3767FD455B5C}"/>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10 / 68</a:t>
            </a:r>
          </a:p>
        </p:txBody>
      </p:sp>
    </p:spTree>
    <p:extLst>
      <p:ext uri="{BB962C8B-B14F-4D97-AF65-F5344CB8AC3E}">
        <p14:creationId xmlns:p14="http://schemas.microsoft.com/office/powerpoint/2010/main" val="3991283715"/>
      </p:ext>
    </p:extLst>
  </p:cSld>
</p:sld>
</file>

<file path=ppt/slides/slide10.xml><?xml version="1.0" encoding="utf-8"?>
<p:sld xmlns:p="http://schemas.openxmlformats.org/presentationml/2006/main">
  <p:cSld>
    <p:spTree>
      <p:nvGrpSpPr>
        <p:cNvPr id="10001" name=""/>
        <p:cNvGrpSpPr/>
        <p:nvPr/>
      </p:nvGrpSpPr>
      <p:grpSpPr>
        <a:xfrm xmlns:a="http://schemas.openxmlformats.org/drawingml/2006/main"/>
      </p:grpSpPr>
      <p:sp>
        <p:nvSpPr>
          <p:cNvPr id="10002" name="Retângulo 6">
            <a:extLst xmlns:a="http://schemas.openxmlformats.org/drawingml/2006/main">
              <a:ext uri="{FF2B5EF4-FFF2-40B4-BE49-F238E27FC236}">
                <a16:creationId xmlns:a16="http://schemas.microsoft.com/office/drawing/2014/main" id="{545B2C8D-DEE0-50E7-BFF6-23C07C8392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10003" name=""/>
          <p:cNvGraphicFramePr/>
          <p:nvPr/>
        </p:nvGraphicFramePr>
        <p:xfrm>
          <a:off xmlns:a="http://schemas.openxmlformats.org/drawingml/2006/main" x="457200" y="3981450"/>
          <a:ext xmlns:a="http://schemas.openxmlformats.org/drawingml/2006/main" cx="11277600" cy="1590675"/>
        </p:xfrm>
        <a:graphic xmlns:a="http://schemas.openxmlformats.org/drawingml/2006/main">
          <a:graphicData uri="http://schemas.openxmlformats.org/drawingml/2006/table">
            <a:tbl>
              <a:tblPr/>
              <a:tblGrid>
                <a:gridCol w="2705100"/>
                <a:gridCol w="1714500"/>
                <a:gridCol w="1714500"/>
                <a:gridCol w="1714500"/>
                <a:gridCol w="1714500"/>
                <a:gridCol w="1714500"/>
              </a:tblGrid>
              <a:tr h="530225">
                <a:tc>
                  <a:txBody>
                    <a:bodyPr lIns="85725" tIns="57150" rIns="85725" bIns="57150">
                      <a:noAutofit/>
                    </a:bodyPr>
                    <a:lstStyle/>
                    <a:p>
                      <a:pPr algn="l">
                        <a:buNone/>
                      </a:pPr>
                      <a:r>
                        <a:rPr sz="1800" b="1">
                          <a:solidFill>
                            <a:srgbClr val="FFFFFF"/>
                          </a:solidFill>
                          <a:latin typeface="JetBrains Mono"/>
                          <a:ea typeface="JetBrains Mono"/>
                          <a:cs typeface="JetBrains Mono"/>
                        </a:rPr>
                        <a:t>Passo</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1</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2</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3</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4</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5</a:t>
                      </a:r>
                    </a:p>
                  </a:txBody>
                  <a:tcPr marL="91440" marR="91440" marT="45720" marB="45720" anchor="ctr">
                    <a:solidFill>
                      <a:srgbClr val="0053EB"/>
                    </a:solidFill>
                  </a:tcPr>
                </a:tc>
              </a:tr>
              <a:tr h="530225">
                <a:tc>
                  <a:txBody>
                    <a:bodyPr lIns="85725" tIns="57150" rIns="85725" bIns="57150">
                      <a:noAutofit/>
                    </a:bodyPr>
                    <a:lstStyle/>
                    <a:p>
                      <a:pPr algn="l">
                        <a:buNone/>
                      </a:pPr>
                      <a:r>
                        <a:rPr sz="1800" b="0">
                          <a:solidFill>
                            <a:srgbClr val="FFFFFF"/>
                          </a:solidFill>
                          <a:latin typeface="JetBrains Mono"/>
                          <a:ea typeface="JetBrains Mono"/>
                          <a:cs typeface="JetBrains Mono"/>
                        </a:rPr>
                        <a:t>Chuva</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2</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8</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4</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0</a:t>
                      </a:r>
                    </a:p>
                  </a:txBody>
                  <a:tcPr marL="91440" marR="91440" marT="45720" marB="45720" anchor="ctr">
                    <a:solidFill>
                      <a:srgbClr val="000F29"/>
                    </a:solidFill>
                  </a:tcPr>
                </a:tc>
              </a:tr>
              <a:tr h="530225">
                <a:tc>
                  <a:txBody>
                    <a:bodyPr lIns="85725" tIns="57150" rIns="85725" bIns="57150">
                      <a:noAutofit/>
                    </a:bodyPr>
                    <a:lstStyle/>
                    <a:p>
                      <a:pPr algn="l">
                        <a:buNone/>
                      </a:pPr>
                      <a:r>
                        <a:rPr sz="1800" b="0">
                          <a:solidFill>
                            <a:srgbClr val="FFFFFF"/>
                          </a:solidFill>
                          <a:latin typeface="JetBrains Mono"/>
                          <a:ea typeface="JetBrains Mono"/>
                          <a:cs typeface="JetBrains Mono"/>
                        </a:rPr>
                        <a:t>Resposta z</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1,0</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4,6</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4,8</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2,8</a:t>
                      </a:r>
                    </a:p>
                  </a:txBody>
                  <a:tcPr marL="91440" marR="91440" marT="45720" marB="45720" anchor="ctr">
                    <a:solidFill>
                      <a:srgbClr val="000F29"/>
                    </a:solidFill>
                  </a:tcPr>
                </a:tc>
              </a:tr>
            </a:tbl>
          </a:graphicData>
        </a:graphic>
      </p:graphicFrame>
      <p:sp>
        <p:nvSpPr>
          <p:cNvPr id="10004" name="CNN 1D: um filtro ao longo da chuva ">
            <a:extLst xmlns:a="http://schemas.openxmlformats.org/drawingml/2006/main">
              <a:ext uri="{FF2B5EF4-FFF2-40B4-BE49-F238E27FC236}">
                <a16:creationId xmlns:a16="http://schemas.microsoft.com/office/drawing/2014/main" id="{93884138-94EE-5759-8647-655E485EAC70}"/>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CNN 1D: um filtro ao longo da chuva recente</a:t>
            </a:r>
          </a:p>
        </p:txBody>
      </p:sp>
      <p:sp>
        <p:nvSpPr>
          <p:cNvPr id="10005" name="x = [0, 2, 8, 4, 0] mm por passo">
            <a:extLst xmlns:a="http://schemas.openxmlformats.org/drawingml/2006/main">
              <a:ext uri="{FF2B5EF4-FFF2-40B4-BE49-F238E27FC236}">
                <a16:creationId xmlns:a16="http://schemas.microsoft.com/office/drawing/2014/main" id="{81E3FA48-AFFB-5EA5-83A1-4A762E1C3871}"/>
              </a:ext>
            </a:extLst>
          </p:cNvPr>
          <p:cNvSpPr>
            <a:spLocks xmlns:a="http://schemas.openxmlformats.org/drawingml/2006/main" noGrp="1"/>
          </p:cNvSpPr>
          <p:nvPr/>
        </p:nvSpPr>
        <p:spPr>
          <a:xfrm xmlns:a="http://schemas.openxmlformats.org/drawingml/2006/main">
            <a:off x="457200" y="2571750"/>
            <a:ext cx="11277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83DFFF"/>
                </a:solidFill>
                <a:latin typeface="JetBrains Mono"/>
                <a:ea typeface="JetBrains Mono"/>
                <a:cs typeface="JetBrains Mono"/>
              </a:defRPr>
            </a:pPr>
            <a:r>
              <a:rPr sz="2025" b="1">
                <a:solidFill>
                  <a:srgbClr val="83DFFF"/>
                </a:solidFill>
                <a:latin typeface="JetBrains Mono"/>
                <a:ea typeface="JetBrains Mono"/>
                <a:cs typeface="JetBrains Mono"/>
              </a:rPr>
              <a:t>x = [0, 2, 8, 4, 0] mm por passo</a:t>
            </a:r>
          </a:p>
        </p:txBody>
      </p:sp>
      <p:sp>
        <p:nvSpPr>
          <p:cNvPr id="10006" name="zₜ = 0,2 xₜ₋₂ + 0,3 xₜ₋₁ + 0,5 xₜ">
            <a:extLst xmlns:a="http://schemas.openxmlformats.org/drawingml/2006/main">
              <a:ext uri="{FF2B5EF4-FFF2-40B4-BE49-F238E27FC236}">
                <a16:creationId xmlns:a16="http://schemas.microsoft.com/office/drawing/2014/main" id="{C1299AEA-A97F-5F3C-BB15-CE2966382FFF}"/>
              </a:ext>
            </a:extLst>
          </p:cNvPr>
          <p:cNvSpPr>
            <a:spLocks xmlns:a="http://schemas.openxmlformats.org/drawingml/2006/main" noGrp="1"/>
          </p:cNvSpPr>
          <p:nvPr/>
        </p:nvSpPr>
        <p:spPr>
          <a:xfrm xmlns:a="http://schemas.openxmlformats.org/drawingml/2006/main">
            <a:off x="457200" y="3162300"/>
            <a:ext cx="11277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FFFFFF"/>
                </a:solidFill>
                <a:latin typeface="JetBrains Mono"/>
                <a:ea typeface="JetBrains Mono"/>
                <a:cs typeface="JetBrains Mono"/>
              </a:defRPr>
            </a:pPr>
            <a:r>
              <a:rPr sz="2025" b="0">
                <a:solidFill>
                  <a:srgbClr val="FFFFFF"/>
                </a:solidFill>
                <a:latin typeface="JetBrains Mono"/>
                <a:ea typeface="JetBrains Mono"/>
                <a:cs typeface="JetBrains Mono"/>
              </a:rPr>
              <a:t>zₜ = 0,2 xₜ₋₂ + 0,3 xₜ₋₁ + 0,5 xₜ</a:t>
            </a:r>
          </a:p>
        </p:txBody>
      </p:sp>
      <p:sp>
        <p:nvSpPr>
          <p:cNvPr id="10007" name="Exemplo sintético com filtro fixo e ">
            <a:extLst xmlns:a="http://schemas.openxmlformats.org/drawingml/2006/main">
              <a:ext uri="{FF2B5EF4-FFF2-40B4-BE49-F238E27FC236}">
                <a16:creationId xmlns:a16="http://schemas.microsoft.com/office/drawing/2014/main" id="{2124033D-3C38-5C02-98B1-D39B29FF844B}"/>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Exemplo sintético com filtro fixo e padding causal à esquerda.</a:t>
            </a:r>
          </a:p>
        </p:txBody>
      </p:sp>
      <p:pic>
        <p:nvPicPr>
          <p:cNvPr id="10008" name="Imagem 13"/>
          <p:cNvPicPr>
            <a:picLocks xmlns:a="http://schemas.openxmlformats.org/drawingml/2006/main" noChangeAspect="1"/>
          </p:cNvPicPr>
          <p:nvPr/>
        </p:nvPicPr>
        <p:blipFill>
          <a:blip xmlns:r="http://schemas.openxmlformats.org/officeDocument/2006/relationships" xmlns:a="http://schemas.openxmlformats.org/drawingml/2006/main" r:embed="Rba8150a23ccd4c3b"/>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0009" name="Hydro-UAI Redes convolucionais">
            <a:extLst xmlns:a="http://schemas.openxmlformats.org/drawingml/2006/main">
              <a:ext uri="{FF2B5EF4-FFF2-40B4-BE49-F238E27FC236}">
                <a16:creationId xmlns:a16="http://schemas.microsoft.com/office/drawing/2014/main" id="{672308CE-673D-5AF0-99B9-B8AC08B731D5}"/>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10010" name="Divisor Hydro-UAI">
            <a:extLst xmlns:a="http://schemas.openxmlformats.org/drawingml/2006/main">
              <a:ext uri="{FF2B5EF4-FFF2-40B4-BE49-F238E27FC236}">
                <a16:creationId xmlns:a16="http://schemas.microsoft.com/office/drawing/2014/main" id="{167C7440-66D2-5DED-9047-12131E5003A6}"/>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10011" name="Hydro-UAI Hydro-UAI Course">
            <a:extLst xmlns:a="http://schemas.openxmlformats.org/drawingml/2006/main">
              <a:ext uri="{FF2B5EF4-FFF2-40B4-BE49-F238E27FC236}">
                <a16:creationId xmlns:a16="http://schemas.microsoft.com/office/drawing/2014/main" id="{BD840567-D43E-51DE-8786-4A1D23E5BA28}"/>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012" name="Hydro-UAI 10 / 62">
            <a:extLst xmlns:a="http://schemas.openxmlformats.org/drawingml/2006/main">
              <a:ext uri="{FF2B5EF4-FFF2-40B4-BE49-F238E27FC236}">
                <a16:creationId xmlns:a16="http://schemas.microsoft.com/office/drawing/2014/main" id="{80340AE7-1CF9-5C59-83B7-91D3591A4293}"/>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12 / 68</a:t>
            </a:r>
          </a:p>
        </p:txBody>
      </p:sp>
    </p:spTree>
    <p:extLst>
      <p:ext uri="{BB962C8B-B14F-4D97-AF65-F5344CB8AC3E}">
        <p14:creationId xmlns:p14="http://schemas.microsoft.com/office/powerpoint/2010/main" val="3991283715"/>
      </p:ext>
    </p:extLst>
  </p:cSld>
</p:sld>
</file>

<file path=ppt/slides/slide11.xml><?xml version="1.0" encoding="utf-8"?>
<p:sld xmlns:p="http://schemas.openxmlformats.org/presentationml/2006/main">
  <p:cSld>
    <p:spTree>
      <p:nvGrpSpPr>
        <p:cNvPr id="11001" name=""/>
        <p:cNvGrpSpPr/>
        <p:nvPr/>
      </p:nvGrpSpPr>
      <p:grpSpPr>
        <a:xfrm xmlns:a="http://schemas.openxmlformats.org/drawingml/2006/main"/>
      </p:grpSpPr>
      <p:sp>
        <p:nvSpPr>
          <p:cNvPr id="11002" name="Retângulo 6">
            <a:extLst xmlns:a="http://schemas.openxmlformats.org/drawingml/2006/main">
              <a:ext uri="{FF2B5EF4-FFF2-40B4-BE49-F238E27FC236}">
                <a16:creationId xmlns:a16="http://schemas.microsoft.com/office/drawing/2014/main" id="{366FAA00-BBAB-51C4-9C07-E68C7E6554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11003" name=""/>
          <p:cNvGraphicFramePr/>
          <p:nvPr/>
        </p:nvGraphicFramePr>
        <p:xfrm>
          <a:off xmlns:a="http://schemas.openxmlformats.org/drawingml/2006/main" x="457200" y="2724150"/>
          <a:ext xmlns:a="http://schemas.openxmlformats.org/drawingml/2006/main" cx="11277600" cy="2524125"/>
        </p:xfrm>
        <a:graphic xmlns:a="http://schemas.openxmlformats.org/drawingml/2006/main">
          <a:graphicData uri="http://schemas.openxmlformats.org/drawingml/2006/table">
            <a:tbl>
              <a:tblPr/>
              <a:tblGrid>
                <a:gridCol w="3143250"/>
                <a:gridCol w="1809750"/>
                <a:gridCol w="2571750"/>
                <a:gridCol w="3752850"/>
              </a:tblGrid>
              <a:tr h="631031">
                <a:tc>
                  <a:txBody>
                    <a:bodyPr lIns="85725" tIns="57150" rIns="85725" bIns="57150">
                      <a:noAutofit/>
                    </a:bodyPr>
                    <a:lstStyle/>
                    <a:p>
                      <a:pPr algn="l">
                        <a:buNone/>
                      </a:pPr>
                      <a:r>
                        <a:rPr sz="1800" b="1">
                          <a:solidFill>
                            <a:srgbClr val="FFFFFF"/>
                          </a:solidFill>
                          <a:latin typeface="JetBrains Mono"/>
                          <a:ea typeface="JetBrains Mono"/>
                          <a:cs typeface="JetBrains Mono"/>
                        </a:rPr>
                        <a:t>Camada</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Kernel</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Dilatação</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Campo receptivo</a:t>
                      </a:r>
                    </a:p>
                  </a:txBody>
                  <a:tcPr marL="91440" marR="91440" marT="45720" marB="45720" anchor="ctr">
                    <a:solidFill>
                      <a:srgbClr val="0053EB"/>
                    </a:solidFill>
                  </a:tcPr>
                </a:tc>
              </a:tr>
              <a:tr h="631031">
                <a:tc>
                  <a:txBody>
                    <a:bodyPr lIns="85725" tIns="57150" rIns="85725" bIns="57150">
                      <a:noAutofit/>
                    </a:bodyPr>
                    <a:lstStyle/>
                    <a:p>
                      <a:pPr algn="l">
                        <a:buNone/>
                      </a:pPr>
                      <a:r>
                        <a:rPr sz="1800" b="0">
                          <a:solidFill>
                            <a:srgbClr val="FFFFFF"/>
                          </a:solidFill>
                          <a:latin typeface="JetBrains Mono"/>
                          <a:ea typeface="JetBrains Mono"/>
                          <a:cs typeface="JetBrains Mono"/>
                        </a:rPr>
                        <a:t>1</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3</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1</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3 passos</a:t>
                      </a:r>
                    </a:p>
                  </a:txBody>
                  <a:tcPr marL="91440" marR="91440" marT="45720" marB="45720" anchor="ctr">
                    <a:solidFill>
                      <a:srgbClr val="000F29"/>
                    </a:solidFill>
                  </a:tcPr>
                </a:tc>
              </a:tr>
              <a:tr h="631031">
                <a:tc>
                  <a:txBody>
                    <a:bodyPr lIns="85725" tIns="57150" rIns="85725" bIns="57150">
                      <a:noAutofit/>
                    </a:bodyPr>
                    <a:lstStyle/>
                    <a:p>
                      <a:pPr algn="l">
                        <a:buNone/>
                      </a:pPr>
                      <a:r>
                        <a:rPr sz="1800" b="0">
                          <a:solidFill>
                            <a:srgbClr val="FFFFFF"/>
                          </a:solidFill>
                          <a:latin typeface="JetBrains Mono"/>
                          <a:ea typeface="JetBrains Mono"/>
                          <a:cs typeface="JetBrains Mono"/>
                        </a:rPr>
                        <a:t>2</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3</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2</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7 passos</a:t>
                      </a:r>
                    </a:p>
                  </a:txBody>
                  <a:tcPr marL="91440" marR="91440" marT="45720" marB="45720" anchor="ctr">
                    <a:solidFill>
                      <a:srgbClr val="000F29"/>
                    </a:solidFill>
                  </a:tcPr>
                </a:tc>
              </a:tr>
              <a:tr h="631031">
                <a:tc>
                  <a:txBody>
                    <a:bodyPr lIns="85725" tIns="57150" rIns="85725" bIns="57150">
                      <a:noAutofit/>
                    </a:bodyPr>
                    <a:lstStyle/>
                    <a:p>
                      <a:pPr algn="l">
                        <a:buNone/>
                      </a:pPr>
                      <a:r>
                        <a:rPr sz="1800" b="0">
                          <a:solidFill>
                            <a:srgbClr val="FFFFFF"/>
                          </a:solidFill>
                          <a:latin typeface="JetBrains Mono"/>
                          <a:ea typeface="JetBrains Mono"/>
                          <a:cs typeface="JetBrains Mono"/>
                        </a:rPr>
                        <a:t>3</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3</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4</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15 passos</a:t>
                      </a:r>
                    </a:p>
                  </a:txBody>
                  <a:tcPr marL="91440" marR="91440" marT="45720" marB="45720" anchor="ctr">
                    <a:solidFill>
                      <a:srgbClr val="000F29"/>
                    </a:solidFill>
                  </a:tcPr>
                </a:tc>
              </a:tr>
            </a:tbl>
          </a:graphicData>
        </a:graphic>
      </p:graphicFrame>
      <p:sp>
        <p:nvSpPr>
          <p:cNvPr id="11004" name="Campo receptivo: quanto histórico um">
            <a:extLst xmlns:a="http://schemas.openxmlformats.org/drawingml/2006/main">
              <a:ext uri="{FF2B5EF4-FFF2-40B4-BE49-F238E27FC236}">
                <a16:creationId xmlns:a16="http://schemas.microsoft.com/office/drawing/2014/main" id="{F164518C-CFEA-5B90-BC35-0913D53D43B0}"/>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Campo receptivo: quanto histórico uma característica usa</a:t>
            </a:r>
          </a:p>
        </p:txBody>
      </p:sp>
      <p:sp>
        <p:nvSpPr>
          <p:cNvPr id="11005" name="R = 1 + Σ (kₗ - 1) dₗ">
            <a:extLst xmlns:a="http://schemas.openxmlformats.org/drawingml/2006/main">
              <a:ext uri="{FF2B5EF4-FFF2-40B4-BE49-F238E27FC236}">
                <a16:creationId xmlns:a16="http://schemas.microsoft.com/office/drawing/2014/main" id="{292D1089-2AF8-5E1A-8FF2-A6144F358749}"/>
              </a:ext>
            </a:extLst>
          </p:cNvPr>
          <p:cNvSpPr>
            <a:spLocks xmlns:a="http://schemas.openxmlformats.org/drawingml/2006/main" noGrp="1"/>
          </p:cNvSpPr>
          <p:nvPr/>
        </p:nvSpPr>
        <p:spPr>
          <a:xfrm xmlns:a="http://schemas.openxmlformats.org/drawingml/2006/main">
            <a:off x="457200" y="54673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83DFFF"/>
                </a:solidFill>
                <a:latin typeface="JetBrains Mono"/>
                <a:ea typeface="JetBrains Mono"/>
                <a:cs typeface="JetBrains Mono"/>
              </a:defRPr>
            </a:pPr>
            <a:r>
              <a:rPr sz="2100" b="1">
                <a:solidFill>
                  <a:srgbClr val="83DFFF"/>
                </a:solidFill>
                <a:latin typeface="JetBrains Mono"/>
                <a:ea typeface="JetBrains Mono"/>
                <a:cs typeface="JetBrains Mono"/>
              </a:rPr>
              <a:t>R = 1 + Σ (kₗ - 1) dₗ</a:t>
            </a:r>
          </a:p>
        </p:txBody>
      </p:sp>
      <p:sp>
        <p:nvSpPr>
          <p:cNvPr id="11006" name="Passo das camadas = 1">
            <a:extLst xmlns:a="http://schemas.openxmlformats.org/drawingml/2006/main">
              <a:ext uri="{FF2B5EF4-FFF2-40B4-BE49-F238E27FC236}">
                <a16:creationId xmlns:a16="http://schemas.microsoft.com/office/drawing/2014/main" id="{F6B24D6B-805B-55B5-93DC-A41FDC705E81}"/>
              </a:ext>
            </a:extLst>
          </p:cNvPr>
          <p:cNvSpPr>
            <a:spLocks xmlns:a="http://schemas.openxmlformats.org/drawingml/2006/main" noGrp="1"/>
          </p:cNvSpPr>
          <p:nvPr/>
        </p:nvSpPr>
        <p:spPr>
          <a:xfrm xmlns:a="http://schemas.openxmlformats.org/drawingml/2006/main">
            <a:off x="7334250" y="5467350"/>
            <a:ext cx="4400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91A4BD"/>
                </a:solidFill>
                <a:latin typeface="JetBrains Mono"/>
                <a:ea typeface="JetBrains Mono"/>
                <a:cs typeface="JetBrains Mono"/>
              </a:defRPr>
            </a:pPr>
            <a:r>
              <a:rPr sz="1725" b="0">
                <a:solidFill>
                  <a:srgbClr val="91A4BD"/>
                </a:solidFill>
                <a:latin typeface="JetBrains Mono"/>
                <a:ea typeface="JetBrains Mono"/>
                <a:cs typeface="JetBrains Mono"/>
              </a:rPr>
              <a:t>Passo das camadas = 1</a:t>
            </a:r>
          </a:p>
        </p:txBody>
      </p:sp>
      <p:pic>
        <p:nvPicPr>
          <p:cNvPr id="11007" name="Imagem 13"/>
          <p:cNvPicPr>
            <a:picLocks xmlns:a="http://schemas.openxmlformats.org/drawingml/2006/main" noChangeAspect="1"/>
          </p:cNvPicPr>
          <p:nvPr/>
        </p:nvPicPr>
        <p:blipFill>
          <a:blip xmlns:r="http://schemas.openxmlformats.org/officeDocument/2006/relationships" xmlns:a="http://schemas.openxmlformats.org/drawingml/2006/main" r:embed="R58a4d07fcac84b53"/>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008" name="Hydro-UAI Redes convolucionais">
            <a:extLst xmlns:a="http://schemas.openxmlformats.org/drawingml/2006/main">
              <a:ext uri="{FF2B5EF4-FFF2-40B4-BE49-F238E27FC236}">
                <a16:creationId xmlns:a16="http://schemas.microsoft.com/office/drawing/2014/main" id="{C4F6F1BC-9049-5690-8334-2CD27BD96E50}"/>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11009" name="Divisor Hydro-UAI">
            <a:extLst xmlns:a="http://schemas.openxmlformats.org/drawingml/2006/main">
              <a:ext uri="{FF2B5EF4-FFF2-40B4-BE49-F238E27FC236}">
                <a16:creationId xmlns:a16="http://schemas.microsoft.com/office/drawing/2014/main" id="{62DEE210-C437-56CD-BA52-AE09E31A6DA9}"/>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11010" name="Hydro-UAI Hydro-UAI Course">
            <a:extLst xmlns:a="http://schemas.openxmlformats.org/drawingml/2006/main">
              <a:ext uri="{FF2B5EF4-FFF2-40B4-BE49-F238E27FC236}">
                <a16:creationId xmlns:a16="http://schemas.microsoft.com/office/drawing/2014/main" id="{B1734C89-B591-5C99-AD49-85C3A023C33C}"/>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1011" name="Hydro-UAI 11 / 62">
            <a:extLst xmlns:a="http://schemas.openxmlformats.org/drawingml/2006/main">
              <a:ext uri="{FF2B5EF4-FFF2-40B4-BE49-F238E27FC236}">
                <a16:creationId xmlns:a16="http://schemas.microsoft.com/office/drawing/2014/main" id="{9A94DF6D-C815-5253-AA2C-1188642F42F2}"/>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13 / 68</a:t>
            </a:r>
          </a:p>
        </p:txBody>
      </p:sp>
    </p:spTree>
    <p:extLst>
      <p:ext uri="{BB962C8B-B14F-4D97-AF65-F5344CB8AC3E}">
        <p14:creationId xmlns:p14="http://schemas.microsoft.com/office/powerpoint/2010/main" val="3991283715"/>
      </p:ext>
    </p:extLst>
  </p:cSld>
</p:sld>
</file>

<file path=ppt/slides/slide12.xml><?xml version="1.0" encoding="utf-8"?>
<p:sld xmlns:p="http://schemas.openxmlformats.org/presentationml/2006/main">
  <p:cSld>
    <p:spTree>
      <p:nvGrpSpPr>
        <p:cNvPr id="12001" name=""/>
        <p:cNvGrpSpPr/>
        <p:nvPr/>
      </p:nvGrpSpPr>
      <p:grpSpPr>
        <a:xfrm xmlns:a="http://schemas.openxmlformats.org/drawingml/2006/main"/>
      </p:grpSpPr>
      <p:sp>
        <p:nvSpPr>
          <p:cNvPr id="12002" name="Retângulo 6">
            <a:extLst xmlns:a="http://schemas.openxmlformats.org/drawingml/2006/main">
              <a:ext uri="{FF2B5EF4-FFF2-40B4-BE49-F238E27FC236}">
                <a16:creationId xmlns:a16="http://schemas.microsoft.com/office/drawing/2014/main" id="{04746348-7934-5A59-8323-FD95DE9CD1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003" name="Uma aplicação: mapas de chuva e prev">
            <a:extLst xmlns:a="http://schemas.openxmlformats.org/drawingml/2006/main">
              <a:ext uri="{FF2B5EF4-FFF2-40B4-BE49-F238E27FC236}">
                <a16:creationId xmlns:a16="http://schemas.microsoft.com/office/drawing/2014/main" id="{CB06F758-CBFA-5C5B-B4CF-2A8CF18E2773}"/>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Uma aplicação: mapas de chuva e previsão de vazão</a:t>
            </a:r>
          </a:p>
        </p:txBody>
      </p:sp>
      <p:sp>
        <p:nvSpPr>
          <p:cNvPr id="12004" name="Mapas por&#10;instante">
            <a:extLst xmlns:a="http://schemas.openxmlformats.org/drawingml/2006/main">
              <a:ext uri="{FF2B5EF4-FFF2-40B4-BE49-F238E27FC236}">
                <a16:creationId xmlns:a16="http://schemas.microsoft.com/office/drawing/2014/main" id="{E32FB056-B3EC-5FE5-B007-AE2B7D93FA56}"/>
              </a:ext>
            </a:extLst>
          </p:cNvPr>
          <p:cNvSpPr>
            <a:spLocks xmlns:a="http://schemas.openxmlformats.org/drawingml/2006/main" noGrp="1"/>
          </p:cNvSpPr>
          <p:nvPr/>
        </p:nvSpPr>
        <p:spPr>
          <a:xfrm xmlns:a="http://schemas.openxmlformats.org/drawingml/2006/main">
            <a:off x="457200" y="3181350"/>
            <a:ext cx="2190750" cy="97155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Mapas por</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instante</a:t>
            </a:r>
          </a:p>
        </p:txBody>
      </p:sp>
      <p:sp>
        <p:nvSpPr>
          <p:cNvPr id="12005" name="CNN 2D&#10;por mapa">
            <a:extLst xmlns:a="http://schemas.openxmlformats.org/drawingml/2006/main">
              <a:ext uri="{FF2B5EF4-FFF2-40B4-BE49-F238E27FC236}">
                <a16:creationId xmlns:a16="http://schemas.microsoft.com/office/drawing/2014/main" id="{8531CE61-2B2D-5E3D-B96D-1D8B6CE6FCE8}"/>
              </a:ext>
            </a:extLst>
          </p:cNvPr>
          <p:cNvSpPr>
            <a:spLocks xmlns:a="http://schemas.openxmlformats.org/drawingml/2006/main" noGrp="1"/>
          </p:cNvSpPr>
          <p:nvPr/>
        </p:nvSpPr>
        <p:spPr>
          <a:xfrm xmlns:a="http://schemas.openxmlformats.org/drawingml/2006/main">
            <a:off x="3495675" y="3181350"/>
            <a:ext cx="2190750" cy="97155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CNN 2D</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por mapa</a:t>
            </a:r>
          </a:p>
        </p:txBody>
      </p:sp>
      <p:sp>
        <p:nvSpPr>
          <p:cNvPr id="12006" name="LSTM sobre&#10;características">
            <a:extLst xmlns:a="http://schemas.openxmlformats.org/drawingml/2006/main">
              <a:ext uri="{FF2B5EF4-FFF2-40B4-BE49-F238E27FC236}">
                <a16:creationId xmlns:a16="http://schemas.microsoft.com/office/drawing/2014/main" id="{E4938F34-E15C-5AA2-ADA0-B0A5C07F5387}"/>
              </a:ext>
            </a:extLst>
          </p:cNvPr>
          <p:cNvSpPr>
            <a:spLocks xmlns:a="http://schemas.openxmlformats.org/drawingml/2006/main" noGrp="1"/>
          </p:cNvSpPr>
          <p:nvPr/>
        </p:nvSpPr>
        <p:spPr>
          <a:xfrm xmlns:a="http://schemas.openxmlformats.org/drawingml/2006/main">
            <a:off x="6553200" y="3181350"/>
            <a:ext cx="2190750" cy="971550"/>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LSTM sobre</a:t>
            </a:r>
          </a:p>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características</a:t>
            </a:r>
          </a:p>
        </p:txBody>
      </p:sp>
      <p:sp>
        <p:nvSpPr>
          <p:cNvPr id="12007" name="Leitura de&#10;Q(t + h)">
            <a:extLst xmlns:a="http://schemas.openxmlformats.org/drawingml/2006/main">
              <a:ext uri="{FF2B5EF4-FFF2-40B4-BE49-F238E27FC236}">
                <a16:creationId xmlns:a16="http://schemas.microsoft.com/office/drawing/2014/main" id="{4F8F2884-2EA2-53BF-A306-FBAA8A9DA69D}"/>
              </a:ext>
            </a:extLst>
          </p:cNvPr>
          <p:cNvSpPr>
            <a:spLocks xmlns:a="http://schemas.openxmlformats.org/drawingml/2006/main" noGrp="1"/>
          </p:cNvSpPr>
          <p:nvPr/>
        </p:nvSpPr>
        <p:spPr>
          <a:xfrm xmlns:a="http://schemas.openxmlformats.org/drawingml/2006/main">
            <a:off x="9572625" y="3181350"/>
            <a:ext cx="2162175" cy="971550"/>
          </a:xfrm>
          <a:prstGeom xmlns:a="http://schemas.openxmlformats.org/drawingml/2006/main" prst="rect">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Leitura de</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Q(t + h)</a:t>
            </a:r>
          </a:p>
        </p:txBody>
      </p:sp>
      <p:cxnSp>
        <p:nvCxnSpPr>
          <p:cNvPr id="12008" name=""/>
          <p:cNvCxnSpPr>
            <a:stCxn xmlns:a="http://schemas.openxmlformats.org/drawingml/2006/main" id="12004" idx="3"/>
            <a:endCxn xmlns:a="http://schemas.openxmlformats.org/drawingml/2006/main" id="12005" idx="1"/>
          </p:cNvCxnSpPr>
          <p:nvPr/>
        </p:nvCxnSpPr>
        <p:spPr>
          <a:xfrm xmlns:a="http://schemas.openxmlformats.org/drawingml/2006/main">
            <a:off x="2647950" y="3667125"/>
            <a:ext cx="847725"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12009" name=""/>
          <p:cNvCxnSpPr>
            <a:stCxn xmlns:a="http://schemas.openxmlformats.org/drawingml/2006/main" id="12005" idx="3"/>
            <a:endCxn xmlns:a="http://schemas.openxmlformats.org/drawingml/2006/main" id="12006" idx="1"/>
          </p:cNvCxnSpPr>
          <p:nvPr/>
        </p:nvCxnSpPr>
        <p:spPr>
          <a:xfrm xmlns:a="http://schemas.openxmlformats.org/drawingml/2006/main">
            <a:off x="5686425" y="3667125"/>
            <a:ext cx="866775"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12010" name=""/>
          <p:cNvCxnSpPr>
            <a:stCxn xmlns:a="http://schemas.openxmlformats.org/drawingml/2006/main" id="12006" idx="3"/>
            <a:endCxn xmlns:a="http://schemas.openxmlformats.org/drawingml/2006/main" id="12007" idx="1"/>
          </p:cNvCxnSpPr>
          <p:nvPr/>
        </p:nvCxnSpPr>
        <p:spPr>
          <a:xfrm xmlns:a="http://schemas.openxmlformats.org/drawingml/2006/main">
            <a:off x="8743950" y="3667125"/>
            <a:ext cx="828675" cy="0"/>
          </a:xfrm>
          <a:prstGeom xmlns:a="http://schemas.openxmlformats.org/drawingml/2006/main" prst="straightConnector1">
            <a:avLst/>
          </a:prstGeom>
          <a:ln xmlns:a="http://schemas.openxmlformats.org/drawingml/2006/main" w="19050">
            <a:solidFill>
              <a:srgbClr val="71E7BD"/>
            </a:solidFill>
            <a:tailEnd type="triangle" w="sm" len="sm"/>
          </a:ln>
        </p:spPr>
      </p:cxnSp>
      <p:sp>
        <p:nvSpPr>
          <p:cNvPr id="12011" name="CNN descreve o campo espacial. LSTM ">
            <a:extLst xmlns:a="http://schemas.openxmlformats.org/drawingml/2006/main">
              <a:ext uri="{FF2B5EF4-FFF2-40B4-BE49-F238E27FC236}">
                <a16:creationId xmlns:a16="http://schemas.microsoft.com/office/drawing/2014/main" id="{45C83F65-3891-5FFB-B240-0E9257FEA716}"/>
              </a:ext>
            </a:extLst>
          </p:cNvPr>
          <p:cNvSpPr>
            <a:spLocks xmlns:a="http://schemas.openxmlformats.org/drawingml/2006/main" noGrp="1"/>
          </p:cNvSpPr>
          <p:nvPr/>
        </p:nvSpPr>
        <p:spPr>
          <a:xfrm xmlns:a="http://schemas.openxmlformats.org/drawingml/2006/main">
            <a:off x="457200" y="4772025"/>
            <a:ext cx="11277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CNN descreve o campo espacial. LSTM acompanha sua evolução.</a:t>
            </a:r>
          </a:p>
        </p:txBody>
      </p:sp>
      <p:pic>
        <p:nvPicPr>
          <p:cNvPr id="12012" name="Imagem 13"/>
          <p:cNvPicPr>
            <a:picLocks xmlns:a="http://schemas.openxmlformats.org/drawingml/2006/main" noChangeAspect="1"/>
          </p:cNvPicPr>
          <p:nvPr/>
        </p:nvPicPr>
        <p:blipFill>
          <a:blip xmlns:r="http://schemas.openxmlformats.org/officeDocument/2006/relationships" xmlns:a="http://schemas.openxmlformats.org/drawingml/2006/main" r:embed="R0d0980f79d704343"/>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2013" name="Hydro-UAI Redes convolucionais">
            <a:extLst xmlns:a="http://schemas.openxmlformats.org/drawingml/2006/main">
              <a:ext uri="{FF2B5EF4-FFF2-40B4-BE49-F238E27FC236}">
                <a16:creationId xmlns:a16="http://schemas.microsoft.com/office/drawing/2014/main" id="{FCA59999-6F81-5DAD-A8B7-5D312ADE7592}"/>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12014" name="Divisor Hydro-UAI">
            <a:extLst xmlns:a="http://schemas.openxmlformats.org/drawingml/2006/main">
              <a:ext uri="{FF2B5EF4-FFF2-40B4-BE49-F238E27FC236}">
                <a16:creationId xmlns:a16="http://schemas.microsoft.com/office/drawing/2014/main" id="{0DF7BEAA-5333-5899-A13A-6E8052AA6362}"/>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12015" name="Hydro-UAI Hydro-UAI Course">
            <a:extLst xmlns:a="http://schemas.openxmlformats.org/drawingml/2006/main">
              <a:ext uri="{FF2B5EF4-FFF2-40B4-BE49-F238E27FC236}">
                <a16:creationId xmlns:a16="http://schemas.microsoft.com/office/drawing/2014/main" id="{033A8BAA-548C-534D-B2E4-5D3C96D4C9E8}"/>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2016" name="Hydro-UAI 12 / 62">
            <a:extLst xmlns:a="http://schemas.openxmlformats.org/drawingml/2006/main">
              <a:ext uri="{FF2B5EF4-FFF2-40B4-BE49-F238E27FC236}">
                <a16:creationId xmlns:a16="http://schemas.microsoft.com/office/drawing/2014/main" id="{1B093EB9-33C6-5FE1-9583-8BE93D551770}"/>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15 / 68</a:t>
            </a:r>
          </a:p>
        </p:txBody>
      </p:sp>
    </p:spTree>
    <p:extLst>
      <p:ext uri="{BB962C8B-B14F-4D97-AF65-F5344CB8AC3E}">
        <p14:creationId xmlns:p14="http://schemas.microsoft.com/office/powerpoint/2010/main" val="3991283715"/>
      </p:ext>
    </p:extLst>
  </p:cSld>
</p:sld>
</file>

<file path=ppt/slides/slide13.xml><?xml version="1.0" encoding="utf-8"?>
<p:sld xmlns:p="http://schemas.openxmlformats.org/presentationml/2006/main">
  <p:cSld>
    <p:spTree>
      <p:nvGrpSpPr>
        <p:cNvPr id="13001" name=""/>
        <p:cNvGrpSpPr/>
        <p:nvPr/>
      </p:nvGrpSpPr>
      <p:grpSpPr>
        <a:xfrm xmlns:a="http://schemas.openxmlformats.org/drawingml/2006/main"/>
      </p:grpSpPr>
      <p:sp>
        <p:nvSpPr>
          <p:cNvPr id="13002" name="Retângulo 6">
            <a:extLst xmlns:a="http://schemas.openxmlformats.org/drawingml/2006/main">
              <a:ext uri="{FF2B5EF4-FFF2-40B4-BE49-F238E27FC236}">
                <a16:creationId xmlns:a16="http://schemas.microsoft.com/office/drawing/2014/main" id="{9B8158A0-8557-5BDE-A826-801C48B824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003" name="ConvLSTM e previsão imediata de chuv">
            <a:extLst xmlns:a="http://schemas.openxmlformats.org/drawingml/2006/main">
              <a:ext uri="{FF2B5EF4-FFF2-40B4-BE49-F238E27FC236}">
                <a16:creationId xmlns:a16="http://schemas.microsoft.com/office/drawing/2014/main" id="{EE0E74FD-FE89-55DB-B34D-5717BDDAABFA}"/>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ConvLSTM e previsão imediata de chuva</a:t>
            </a:r>
          </a:p>
        </p:txBody>
      </p:sp>
      <p:sp>
        <p:nvSpPr>
          <p:cNvPr id="13004" name="Sequência de&#10;mapas de radar">
            <a:extLst xmlns:a="http://schemas.openxmlformats.org/drawingml/2006/main">
              <a:ext uri="{FF2B5EF4-FFF2-40B4-BE49-F238E27FC236}">
                <a16:creationId xmlns:a16="http://schemas.microsoft.com/office/drawing/2014/main" id="{4B22261E-75F0-513B-B432-A6CA12053907}"/>
              </a:ext>
            </a:extLst>
          </p:cNvPr>
          <p:cNvSpPr>
            <a:spLocks xmlns:a="http://schemas.openxmlformats.org/drawingml/2006/main" noGrp="1"/>
          </p:cNvSpPr>
          <p:nvPr/>
        </p:nvSpPr>
        <p:spPr>
          <a:xfrm xmlns:a="http://schemas.openxmlformats.org/drawingml/2006/main">
            <a:off x="457200" y="2876550"/>
            <a:ext cx="3124200" cy="99060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Sequência de</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mapas de radar</a:t>
            </a:r>
          </a:p>
        </p:txBody>
      </p:sp>
      <p:sp>
        <p:nvSpPr>
          <p:cNvPr id="13005" name="ConvLSTM">
            <a:extLst xmlns:a="http://schemas.openxmlformats.org/drawingml/2006/main">
              <a:ext uri="{FF2B5EF4-FFF2-40B4-BE49-F238E27FC236}">
                <a16:creationId xmlns:a16="http://schemas.microsoft.com/office/drawing/2014/main" id="{0C032455-42CE-5795-A100-E29A7F839922}"/>
              </a:ext>
            </a:extLst>
          </p:cNvPr>
          <p:cNvSpPr>
            <a:spLocks xmlns:a="http://schemas.openxmlformats.org/drawingml/2006/main" noGrp="1"/>
          </p:cNvSpPr>
          <p:nvPr/>
        </p:nvSpPr>
        <p:spPr>
          <a:xfrm xmlns:a="http://schemas.openxmlformats.org/drawingml/2006/main">
            <a:off x="4533900" y="2876550"/>
            <a:ext cx="3124200" cy="990600"/>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ConvLSTM</a:t>
            </a:r>
          </a:p>
        </p:txBody>
      </p:sp>
      <p:sp>
        <p:nvSpPr>
          <p:cNvPr id="13006" name="Mapas futuros&#10;de precipitação">
            <a:extLst xmlns:a="http://schemas.openxmlformats.org/drawingml/2006/main">
              <a:ext uri="{FF2B5EF4-FFF2-40B4-BE49-F238E27FC236}">
                <a16:creationId xmlns:a16="http://schemas.microsoft.com/office/drawing/2014/main" id="{4ADA2FCD-2B15-557D-842B-455216781EF1}"/>
              </a:ext>
            </a:extLst>
          </p:cNvPr>
          <p:cNvSpPr>
            <a:spLocks xmlns:a="http://schemas.openxmlformats.org/drawingml/2006/main" noGrp="1"/>
          </p:cNvSpPr>
          <p:nvPr/>
        </p:nvSpPr>
        <p:spPr>
          <a:xfrm xmlns:a="http://schemas.openxmlformats.org/drawingml/2006/main">
            <a:off x="8610600" y="2876550"/>
            <a:ext cx="3124200" cy="990600"/>
          </a:xfrm>
          <a:prstGeom xmlns:a="http://schemas.openxmlformats.org/drawingml/2006/main" prst="rect">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Mapas futuros</a:t>
            </a:r>
          </a:p>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de precipitação</a:t>
            </a:r>
          </a:p>
        </p:txBody>
      </p:sp>
      <p:cxnSp>
        <p:nvCxnSpPr>
          <p:cNvPr id="13007" name=""/>
          <p:cNvCxnSpPr>
            <a:stCxn xmlns:a="http://schemas.openxmlformats.org/drawingml/2006/main" id="13004" idx="3"/>
            <a:endCxn xmlns:a="http://schemas.openxmlformats.org/drawingml/2006/main" id="13005" idx="1"/>
          </p:cNvCxnSpPr>
          <p:nvPr/>
        </p:nvCxnSpPr>
        <p:spPr>
          <a:xfrm xmlns:a="http://schemas.openxmlformats.org/drawingml/2006/main">
            <a:off x="3581400" y="3371850"/>
            <a:ext cx="952500"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13008" name=""/>
          <p:cNvCxnSpPr>
            <a:stCxn xmlns:a="http://schemas.openxmlformats.org/drawingml/2006/main" id="13005" idx="3"/>
            <a:endCxn xmlns:a="http://schemas.openxmlformats.org/drawingml/2006/main" id="13006" idx="1"/>
          </p:cNvCxnSpPr>
          <p:nvPr/>
        </p:nvCxnSpPr>
        <p:spPr>
          <a:xfrm xmlns:a="http://schemas.openxmlformats.org/drawingml/2006/main">
            <a:off x="7658100" y="3371850"/>
            <a:ext cx="952500" cy="0"/>
          </a:xfrm>
          <a:prstGeom xmlns:a="http://schemas.openxmlformats.org/drawingml/2006/main" prst="straightConnector1">
            <a:avLst/>
          </a:prstGeom>
          <a:ln xmlns:a="http://schemas.openxmlformats.org/drawingml/2006/main" w="19050">
            <a:solidFill>
              <a:srgbClr val="71E7BD"/>
            </a:solidFill>
            <a:tailEnd type="triangle" w="sm" len="sm"/>
          </a:ln>
        </p:spPr>
      </p:cxnSp>
      <p:sp>
        <p:nvSpPr>
          <p:cNvPr id="13009" name="O estado mantém estrutura espacial a">
            <a:extLst xmlns:a="http://schemas.openxmlformats.org/drawingml/2006/main">
              <a:ext uri="{FF2B5EF4-FFF2-40B4-BE49-F238E27FC236}">
                <a16:creationId xmlns:a16="http://schemas.microsoft.com/office/drawing/2014/main" id="{2B6170D4-3FBF-5F2F-9F65-3082629F1B38}"/>
              </a:ext>
            </a:extLst>
          </p:cNvPr>
          <p:cNvSpPr>
            <a:spLocks xmlns:a="http://schemas.openxmlformats.org/drawingml/2006/main" noGrp="1"/>
          </p:cNvSpPr>
          <p:nvPr/>
        </p:nvSpPr>
        <p:spPr>
          <a:xfrm xmlns:a="http://schemas.openxmlformats.org/drawingml/2006/main">
            <a:off x="457200" y="4362450"/>
            <a:ext cx="11277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O estado mantém estrutura espacial ao longo do tempo.</a:t>
            </a:r>
          </a:p>
        </p:txBody>
      </p:sp>
      <p:sp>
        <p:nvSpPr>
          <p:cNvPr id="13010" name="A previsão de vazão exige um modelo ">
            <a:extLst xmlns:a="http://schemas.openxmlformats.org/drawingml/2006/main">
              <a:ext uri="{FF2B5EF4-FFF2-40B4-BE49-F238E27FC236}">
                <a16:creationId xmlns:a16="http://schemas.microsoft.com/office/drawing/2014/main" id="{481507DE-1EF1-5E16-B28E-9EF3993CD1C8}"/>
              </a:ext>
            </a:extLst>
          </p:cNvPr>
          <p:cNvSpPr>
            <a:spLocks xmlns:a="http://schemas.openxmlformats.org/drawingml/2006/main" noGrp="1"/>
          </p:cNvSpPr>
          <p:nvPr/>
        </p:nvSpPr>
        <p:spPr>
          <a:xfrm xmlns:a="http://schemas.openxmlformats.org/drawingml/2006/main">
            <a:off x="457200" y="5153025"/>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A previsão de vazão exige um modelo de resposta da bacia.</a:t>
            </a:r>
          </a:p>
        </p:txBody>
      </p:sp>
      <p:sp>
        <p:nvSpPr>
          <p:cNvPr id="13011" name="Shi et al. (2015): previsão de preci">
            <a:extLst xmlns:a="http://schemas.openxmlformats.org/drawingml/2006/main">
              <a:ext uri="{FF2B5EF4-FFF2-40B4-BE49-F238E27FC236}">
                <a16:creationId xmlns:a16="http://schemas.microsoft.com/office/drawing/2014/main" id="{053C6B4E-0E16-5047-A682-3DB431859F0E}"/>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Shi et al. (2015): previsão de precipitação. O alvo precisa ficar explícito.</a:t>
            </a:r>
          </a:p>
        </p:txBody>
      </p:sp>
      <p:pic>
        <p:nvPicPr>
          <p:cNvPr id="13012" name="Imagem 13"/>
          <p:cNvPicPr>
            <a:picLocks xmlns:a="http://schemas.openxmlformats.org/drawingml/2006/main" noChangeAspect="1"/>
          </p:cNvPicPr>
          <p:nvPr/>
        </p:nvPicPr>
        <p:blipFill>
          <a:blip xmlns:r="http://schemas.openxmlformats.org/officeDocument/2006/relationships" xmlns:a="http://schemas.openxmlformats.org/drawingml/2006/main" r:embed="Re8ea77091dea4418"/>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3013" name="Hydro-UAI Redes convolucionais">
            <a:extLst xmlns:a="http://schemas.openxmlformats.org/drawingml/2006/main">
              <a:ext uri="{FF2B5EF4-FFF2-40B4-BE49-F238E27FC236}">
                <a16:creationId xmlns:a16="http://schemas.microsoft.com/office/drawing/2014/main" id="{C125DF3A-A9C9-5B1E-8DD4-DE1209CA2045}"/>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13014" name="Divisor Hydro-UAI">
            <a:extLst xmlns:a="http://schemas.openxmlformats.org/drawingml/2006/main">
              <a:ext uri="{FF2B5EF4-FFF2-40B4-BE49-F238E27FC236}">
                <a16:creationId xmlns:a16="http://schemas.microsoft.com/office/drawing/2014/main" id="{D686826F-9037-586B-ABF2-DCB70A851CFF}"/>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13015" name="Hydro-UAI Hydro-UAI Course">
            <a:extLst xmlns:a="http://schemas.openxmlformats.org/drawingml/2006/main">
              <a:ext uri="{FF2B5EF4-FFF2-40B4-BE49-F238E27FC236}">
                <a16:creationId xmlns:a16="http://schemas.microsoft.com/office/drawing/2014/main" id="{44B8660A-5698-50CA-A4AC-BA06A56456A5}"/>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3016" name="Hydro-UAI 13 / 62">
            <a:extLst xmlns:a="http://schemas.openxmlformats.org/drawingml/2006/main">
              <a:ext uri="{FF2B5EF4-FFF2-40B4-BE49-F238E27FC236}">
                <a16:creationId xmlns:a16="http://schemas.microsoft.com/office/drawing/2014/main" id="{3116F928-288D-55E9-A57B-7E2CE3752856}"/>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16 / 68</a:t>
            </a:r>
          </a:p>
        </p:txBody>
      </p:sp>
    </p:spTree>
    <p:extLst>
      <p:ext uri="{BB962C8B-B14F-4D97-AF65-F5344CB8AC3E}">
        <p14:creationId xmlns:p14="http://schemas.microsoft.com/office/powerpoint/2010/main" val="3991283715"/>
      </p:ext>
    </p:extLst>
  </p:cSld>
</p:sld>
</file>

<file path=ppt/slides/slide14.xml><?xml version="1.0" encoding="utf-8"?>
<p:sld xmlns:p="http://schemas.openxmlformats.org/presentationml/2006/main">
  <p:cSld>
    <p:spTree>
      <p:nvGrpSpPr>
        <p:cNvPr id="140000" name=""/>
        <p:cNvGrpSpPr/>
        <p:nvPr/>
      </p:nvGrpSpPr>
      <p:grpSpPr>
        <a:xfrm xmlns:a="http://schemas.openxmlformats.org/drawingml/2006/main"/>
      </p:grpSpPr>
      <p:sp>
        <p:nvSpPr>
          <p:cNvPr id="140001" name="Retângulo 6">
            <a:extLst xmlns:a="http://schemas.openxmlformats.org/drawingml/2006/main">
              <a:ext uri="{FF2B5EF4-FFF2-40B4-BE49-F238E27FC236}">
                <a16:creationId xmlns:a16="http://schemas.microsoft.com/office/drawing/2014/main" id="{F565F9F9-6EE9-5B63-A9B4-47B41E80B03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0002" name="U-Net e mapas de inundação por pixel">
            <a:extLst xmlns:a="http://schemas.openxmlformats.org/drawingml/2006/main">
              <a:ext uri="{FF2B5EF4-FFF2-40B4-BE49-F238E27FC236}">
                <a16:creationId xmlns:a16="http://schemas.microsoft.com/office/drawing/2014/main" id="{DD870DA5-DF9C-52D5-9136-8D5C25564127}"/>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U-Net e mapas de inundação por pixel</a:t>
            </a:r>
          </a:p>
        </p:txBody>
      </p:sp>
      <p:sp>
        <p:nvSpPr>
          <p:cNvPr id="140003" name="Imagem&#10;SAR ou óptica">
            <a:extLst xmlns:a="http://schemas.openxmlformats.org/drawingml/2006/main">
              <a:ext uri="{FF2B5EF4-FFF2-40B4-BE49-F238E27FC236}">
                <a16:creationId xmlns:a16="http://schemas.microsoft.com/office/drawing/2014/main" id="{A705A97A-8430-5DA9-A371-207CFA1792CB}"/>
              </a:ext>
            </a:extLst>
          </p:cNvPr>
          <p:cNvSpPr>
            <a:spLocks xmlns:a="http://schemas.openxmlformats.org/drawingml/2006/main" noGrp="1"/>
          </p:cNvSpPr>
          <p:nvPr/>
        </p:nvSpPr>
        <p:spPr>
          <a:xfrm xmlns:a="http://schemas.openxmlformats.org/drawingml/2006/main">
            <a:off x="457200" y="2676525"/>
            <a:ext cx="2476500" cy="75247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Imagem</a:t>
            </a:r>
          </a:p>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SAR ou óptica</a:t>
            </a:r>
          </a:p>
        </p:txBody>
      </p:sp>
      <p:sp>
        <p:nvSpPr>
          <p:cNvPr id="140004" name="Encoder&#10;contexto">
            <a:extLst xmlns:a="http://schemas.openxmlformats.org/drawingml/2006/main">
              <a:ext uri="{FF2B5EF4-FFF2-40B4-BE49-F238E27FC236}">
                <a16:creationId xmlns:a16="http://schemas.microsoft.com/office/drawing/2014/main" id="{C60FD611-4F2C-5CD4-978E-FA6ECD5FE2D9}"/>
              </a:ext>
            </a:extLst>
          </p:cNvPr>
          <p:cNvSpPr>
            <a:spLocks xmlns:a="http://schemas.openxmlformats.org/drawingml/2006/main" noGrp="1"/>
          </p:cNvSpPr>
          <p:nvPr/>
        </p:nvSpPr>
        <p:spPr>
          <a:xfrm xmlns:a="http://schemas.openxmlformats.org/drawingml/2006/main">
            <a:off x="3905250" y="2676525"/>
            <a:ext cx="2476500" cy="75247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Encoder</a:t>
            </a:r>
          </a:p>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contexto</a:t>
            </a:r>
          </a:p>
        </p:txBody>
      </p:sp>
      <p:sp>
        <p:nvSpPr>
          <p:cNvPr id="140005" name="Decoder&#10;detalhe espacial">
            <a:extLst xmlns:a="http://schemas.openxmlformats.org/drawingml/2006/main">
              <a:ext uri="{FF2B5EF4-FFF2-40B4-BE49-F238E27FC236}">
                <a16:creationId xmlns:a16="http://schemas.microsoft.com/office/drawing/2014/main" id="{F767D205-E772-59B9-A804-1E2E8337AB6B}"/>
              </a:ext>
            </a:extLst>
          </p:cNvPr>
          <p:cNvSpPr>
            <a:spLocks xmlns:a="http://schemas.openxmlformats.org/drawingml/2006/main" noGrp="1"/>
          </p:cNvSpPr>
          <p:nvPr/>
        </p:nvSpPr>
        <p:spPr>
          <a:xfrm xmlns:a="http://schemas.openxmlformats.org/drawingml/2006/main">
            <a:off x="3905250" y="4343400"/>
            <a:ext cx="2476500" cy="752475"/>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Decoder</a:t>
            </a:r>
          </a:p>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detalhe espacial</a:t>
            </a:r>
          </a:p>
        </p:txBody>
      </p:sp>
      <p:sp>
        <p:nvSpPr>
          <p:cNvPr id="140006" name="Probabilidade&#10;por pixel">
            <a:extLst xmlns:a="http://schemas.openxmlformats.org/drawingml/2006/main">
              <a:ext uri="{FF2B5EF4-FFF2-40B4-BE49-F238E27FC236}">
                <a16:creationId xmlns:a16="http://schemas.microsoft.com/office/drawing/2014/main" id="{D9632DA8-319B-595B-AF47-FF7C499E5FB3}"/>
              </a:ext>
            </a:extLst>
          </p:cNvPr>
          <p:cNvSpPr>
            <a:spLocks xmlns:a="http://schemas.openxmlformats.org/drawingml/2006/main" noGrp="1"/>
          </p:cNvSpPr>
          <p:nvPr/>
        </p:nvSpPr>
        <p:spPr>
          <a:xfrm xmlns:a="http://schemas.openxmlformats.org/drawingml/2006/main">
            <a:off x="8286750" y="4343400"/>
            <a:ext cx="2857500" cy="752475"/>
          </a:xfrm>
          <a:prstGeom xmlns:a="http://schemas.openxmlformats.org/drawingml/2006/main" prst="rect">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Probabilidade</a:t>
            </a:r>
          </a:p>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por pixel</a:t>
            </a:r>
          </a:p>
        </p:txBody>
      </p:sp>
      <p:cxnSp>
        <p:nvCxnSpPr>
          <p:cNvPr id="140007" name=""/>
          <p:cNvCxnSpPr>
            <a:stCxn xmlns:a="http://schemas.openxmlformats.org/drawingml/2006/main" id="140003" idx="3"/>
            <a:endCxn xmlns:a="http://schemas.openxmlformats.org/drawingml/2006/main" id="140004" idx="1"/>
          </p:cNvCxnSpPr>
          <p:nvPr/>
        </p:nvCxnSpPr>
        <p:spPr>
          <a:xfrm xmlns:a="http://schemas.openxmlformats.org/drawingml/2006/main">
            <a:off x="2933700" y="3052763"/>
            <a:ext cx="971550"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140008" name=""/>
          <p:cNvCxnSpPr>
            <a:stCxn xmlns:a="http://schemas.openxmlformats.org/drawingml/2006/main" id="140005" idx="3"/>
            <a:endCxn xmlns:a="http://schemas.openxmlformats.org/drawingml/2006/main" id="140006" idx="1"/>
          </p:cNvCxnSpPr>
          <p:nvPr/>
        </p:nvCxnSpPr>
        <p:spPr>
          <a:xfrm xmlns:a="http://schemas.openxmlformats.org/drawingml/2006/main">
            <a:off x="6381750" y="4719638"/>
            <a:ext cx="1905000" cy="0"/>
          </a:xfrm>
          <a:prstGeom xmlns:a="http://schemas.openxmlformats.org/drawingml/2006/main" prst="straightConnector1">
            <a:avLst/>
          </a:prstGeom>
          <a:ln xmlns:a="http://schemas.openxmlformats.org/drawingml/2006/main" w="19050">
            <a:solidFill>
              <a:srgbClr val="71E7BD"/>
            </a:solidFill>
            <a:tailEnd type="triangle" w="sm" len="sm"/>
          </a:ln>
        </p:spPr>
      </p:cxnSp>
      <p:sp>
        <p:nvSpPr>
          <p:cNvPr id="140009" name="Características&#10;em alta resolução">
            <a:extLst xmlns:a="http://schemas.openxmlformats.org/drawingml/2006/main">
              <a:ext uri="{FF2B5EF4-FFF2-40B4-BE49-F238E27FC236}">
                <a16:creationId xmlns:a16="http://schemas.microsoft.com/office/drawing/2014/main" id="{FDA8413C-52E0-5593-9AAA-E220816177D6}"/>
              </a:ext>
            </a:extLst>
          </p:cNvPr>
          <p:cNvSpPr>
            <a:spLocks xmlns:a="http://schemas.openxmlformats.org/drawingml/2006/main" noGrp="1"/>
          </p:cNvSpPr>
          <p:nvPr/>
        </p:nvSpPr>
        <p:spPr>
          <a:xfrm xmlns:a="http://schemas.openxmlformats.org/drawingml/2006/main">
            <a:off x="8286750" y="2676525"/>
            <a:ext cx="2857500" cy="75247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500" b="1">
                <a:solidFill>
                  <a:srgbClr val="FFFFFF"/>
                </a:solidFill>
                <a:latin typeface="JetBrains Mono"/>
                <a:ea typeface="JetBrains Mono"/>
                <a:cs typeface="JetBrains Mono"/>
              </a:defRPr>
            </a:pPr>
            <a:r>
              <a:rPr sz="1500" b="1">
                <a:solidFill>
                  <a:srgbClr val="FFFFFF"/>
                </a:solidFill>
                <a:latin typeface="JetBrains Mono"/>
                <a:ea typeface="JetBrains Mono"/>
                <a:cs typeface="JetBrains Mono"/>
              </a:rPr>
              <a:t>Conexões de salto</a:t>
            </a:r>
          </a:p>
          <a:p xmlns:a="http://schemas.openxmlformats.org/drawingml/2006/main">
            <a:pPr algn="ctr">
              <a:buNone/>
              <a:defRPr sz="1500" b="1">
                <a:solidFill>
                  <a:srgbClr val="FFFFFF"/>
                </a:solidFill>
                <a:latin typeface="JetBrains Mono"/>
                <a:ea typeface="JetBrains Mono"/>
                <a:cs typeface="JetBrains Mono"/>
              </a:defRPr>
            </a:pPr>
            <a:r>
              <a:rPr sz="1500" b="1">
                <a:solidFill>
                  <a:srgbClr val="FFFFFF"/>
                </a:solidFill>
                <a:latin typeface="JetBrains Mono"/>
                <a:ea typeface="JetBrains Mono"/>
                <a:cs typeface="JetBrains Mono"/>
              </a:rPr>
              <a:t>(detalhes espaciais)</a:t>
            </a:r>
          </a:p>
        </p:txBody>
      </p:sp>
      <p:cxnSp>
        <p:nvCxnSpPr>
          <p:cNvPr id="140010" name=""/>
          <p:cNvCxnSpPr>
            <a:stCxn xmlns:a="http://schemas.openxmlformats.org/drawingml/2006/main" id="140004" idx="3"/>
            <a:endCxn xmlns:a="http://schemas.openxmlformats.org/drawingml/2006/main" id="140009" idx="1"/>
          </p:cNvCxnSpPr>
          <p:nvPr/>
        </p:nvCxnSpPr>
        <p:spPr>
          <a:xfrm xmlns:a="http://schemas.openxmlformats.org/drawingml/2006/main">
            <a:off x="6381750" y="3052763"/>
            <a:ext cx="1905000" cy="0"/>
          </a:xfrm>
          <a:prstGeom xmlns:a="http://schemas.openxmlformats.org/drawingml/2006/main" prst="straightConnector1">
            <a:avLst/>
          </a:prstGeom>
          <a:ln xmlns:a="http://schemas.openxmlformats.org/drawingml/2006/main" w="19050">
            <a:solidFill>
              <a:srgbClr val="83DFFF"/>
            </a:solidFill>
            <a:tailEnd type="triangle" w="sm" len="sm"/>
          </a:ln>
        </p:spPr>
      </p:cxnSp>
      <p:sp>
        <p:nvSpPr>
          <p:cNvPr id="140011" name="Conexões entre encoder e decoder rec">
            <a:extLst xmlns:a="http://schemas.openxmlformats.org/drawingml/2006/main">
              <a:ext uri="{FF2B5EF4-FFF2-40B4-BE49-F238E27FC236}">
                <a16:creationId xmlns:a16="http://schemas.microsoft.com/office/drawing/2014/main" id="{9B60953B-269A-58A6-883F-E15F61269371}"/>
              </a:ext>
            </a:extLst>
          </p:cNvPr>
          <p:cNvSpPr>
            <a:spLocks xmlns:a="http://schemas.openxmlformats.org/drawingml/2006/main" noGrp="1"/>
          </p:cNvSpPr>
          <p:nvPr/>
        </p:nvSpPr>
        <p:spPr>
          <a:xfrm xmlns:a="http://schemas.openxmlformats.org/drawingml/2006/main">
            <a:off x="457200" y="551497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Conexões de salto levam detalhes do encoder ao decoder.</a:t>
            </a:r>
          </a:p>
        </p:txBody>
      </p:sp>
      <p:sp>
        <p:nvSpPr>
          <p:cNvPr id="140012" name="Aplicação didática da arquitetura. M">
            <a:extLst xmlns:a="http://schemas.openxmlformats.org/drawingml/2006/main">
              <a:ext uri="{FF2B5EF4-FFF2-40B4-BE49-F238E27FC236}">
                <a16:creationId xmlns:a16="http://schemas.microsoft.com/office/drawing/2014/main" id="{B85D5CC4-BBEA-5463-ADB6-46F28DC3D069}"/>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Aplicação didática da arquitetura. Máscara de inundação é uma saída espacial.</a:t>
            </a:r>
          </a:p>
        </p:txBody>
      </p:sp>
      <p:pic>
        <p:nvPicPr>
          <p:cNvPr id="140013" name="Imagem 13"/>
          <p:cNvPicPr>
            <a:picLocks xmlns:a="http://schemas.openxmlformats.org/drawingml/2006/main" noChangeAspect="1"/>
          </p:cNvPicPr>
          <p:nvPr/>
        </p:nvPicPr>
        <p:blipFill>
          <a:blip xmlns:r="http://schemas.openxmlformats.org/officeDocument/2006/relationships" xmlns:a="http://schemas.openxmlformats.org/drawingml/2006/main" r:embed="R1c4feac1790f4d89"/>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40014" name="Hydro-UAI Redes convolucionais">
            <a:extLst xmlns:a="http://schemas.openxmlformats.org/drawingml/2006/main">
              <a:ext uri="{FF2B5EF4-FFF2-40B4-BE49-F238E27FC236}">
                <a16:creationId xmlns:a16="http://schemas.microsoft.com/office/drawing/2014/main" id="{923910B6-82FA-50B2-8517-D6156C18A794}"/>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140015" name="Divisor Hydro-UAI">
            <a:extLst xmlns:a="http://schemas.openxmlformats.org/drawingml/2006/main">
              <a:ext uri="{FF2B5EF4-FFF2-40B4-BE49-F238E27FC236}">
                <a16:creationId xmlns:a16="http://schemas.microsoft.com/office/drawing/2014/main" id="{5375B767-DC59-516A-BD39-ED06B5E8AA36}"/>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140016" name="Hydro-UAI Hydro-UAI Course">
            <a:extLst xmlns:a="http://schemas.openxmlformats.org/drawingml/2006/main">
              <a:ext uri="{FF2B5EF4-FFF2-40B4-BE49-F238E27FC236}">
                <a16:creationId xmlns:a16="http://schemas.microsoft.com/office/drawing/2014/main" id="{F6B88CBC-9572-5BC1-B293-76EE25150CFC}"/>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40017" name="Hydro-UAI 14 / 62">
            <a:extLst xmlns:a="http://schemas.openxmlformats.org/drawingml/2006/main">
              <a:ext uri="{FF2B5EF4-FFF2-40B4-BE49-F238E27FC236}">
                <a16:creationId xmlns:a16="http://schemas.microsoft.com/office/drawing/2014/main" id="{A9421A04-C261-586C-9B0B-8B1705AC1848}"/>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17 / 68</a:t>
            </a:r>
          </a:p>
        </p:txBody>
      </p:sp>
      <p:cxnSp>
        <p:nvCxnSpPr>
          <p:cNvPr id="140018" name=""/>
          <p:cNvCxnSpPr>
            <a:stCxn xmlns:a="http://schemas.openxmlformats.org/drawingml/2006/main" id="140004" idx="2"/>
            <a:endCxn xmlns:a="http://schemas.openxmlformats.org/drawingml/2006/main" id="140005" idx="0"/>
          </p:cNvCxnSpPr>
          <p:nvPr/>
        </p:nvCxnSpPr>
        <p:spPr>
          <a:xfrm xmlns:a="http://schemas.openxmlformats.org/drawingml/2006/main">
            <a:off x="5143500" y="3429000"/>
            <a:ext cx="0" cy="914400"/>
          </a:xfrm>
          <a:prstGeom xmlns:a="http://schemas.openxmlformats.org/drawingml/2006/main" prst="straightConnector1">
            <a:avLst/>
          </a:prstGeom>
          <a:ln xmlns:a="http://schemas.openxmlformats.org/drawingml/2006/main" w="19050">
            <a:solidFill>
              <a:srgbClr val="FFAD62"/>
            </a:solidFill>
            <a:tailEnd type="triangle" w="sm" len="sm"/>
          </a:ln>
        </p:spPr>
      </p:cxnSp>
      <p:cxnSp>
        <p:nvCxnSpPr>
          <p:cNvPr id="140019" name=""/>
          <p:cNvCxnSpPr>
            <a:stCxn xmlns:a="http://schemas.openxmlformats.org/drawingml/2006/main" id="140009" idx="2"/>
            <a:endCxn xmlns:a="http://schemas.openxmlformats.org/drawingml/2006/main" id="140005" idx="0"/>
          </p:cNvCxnSpPr>
          <p:nvPr/>
        </p:nvCxnSpPr>
        <p:spPr>
          <a:xfrm xmlns:a="http://schemas.openxmlformats.org/drawingml/2006/main" flipH="1">
            <a:off x="5143500" y="3429000"/>
            <a:ext cx="4572000" cy="914400"/>
          </a:xfrm>
          <a:prstGeom xmlns:a="http://schemas.openxmlformats.org/drawingml/2006/main" prst="straightConnector1">
            <a:avLst/>
          </a:prstGeom>
          <a:ln xmlns:a="http://schemas.openxmlformats.org/drawingml/2006/main" w="19050">
            <a:solidFill>
              <a:srgbClr val="83DFFF"/>
            </a:solidFill>
            <a:tailEnd type="triangle" w="sm" len="sm"/>
          </a:ln>
        </p:spPr>
      </p:cxnSp>
    </p:spTree>
    <p:extLst>
      <p:ext uri="{BB962C8B-B14F-4D97-AF65-F5344CB8AC3E}">
        <p14:creationId xmlns:p14="http://schemas.microsoft.com/office/powerpoint/2010/main" val="3991283715"/>
      </p:ext>
    </p:extLst>
  </p:cSld>
</p:sld>
</file>

<file path=ppt/slides/slide15.xml><?xml version="1.0" encoding="utf-8"?>
<p:sld xmlns:p="http://schemas.openxmlformats.org/presentationml/2006/main">
  <p:cSld>
    <p:spTree>
      <p:nvGrpSpPr>
        <p:cNvPr id="15001" name=""/>
        <p:cNvGrpSpPr/>
        <p:nvPr/>
      </p:nvGrpSpPr>
      <p:grpSpPr>
        <a:xfrm xmlns:a="http://schemas.openxmlformats.org/drawingml/2006/main"/>
      </p:grpSpPr>
      <p:sp>
        <p:nvSpPr>
          <p:cNvPr id="15002" name="Retângulo 6">
            <a:extLst xmlns:a="http://schemas.openxmlformats.org/drawingml/2006/main">
              <a:ext uri="{FF2B5EF4-FFF2-40B4-BE49-F238E27FC236}">
                <a16:creationId xmlns:a16="http://schemas.microsoft.com/office/drawing/2014/main" id="{BC739500-E8CC-510F-B6AE-4668D49785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003" name="CNN 1D mínima em Keras">
            <a:extLst xmlns:a="http://schemas.openxmlformats.org/drawingml/2006/main">
              <a:ext uri="{FF2B5EF4-FFF2-40B4-BE49-F238E27FC236}">
                <a16:creationId xmlns:a16="http://schemas.microsoft.com/office/drawing/2014/main" id="{E85D8AEB-C354-5773-84FA-AFF35900772C}"/>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CNN 1D mínima em Keras</a:t>
            </a:r>
          </a:p>
        </p:txBody>
      </p:sp>
      <p:sp>
        <p:nvSpPr>
          <p:cNvPr id="15004" name="import keras&#10;from keras import layer">
            <a:extLst xmlns:a="http://schemas.openxmlformats.org/drawingml/2006/main">
              <a:ext uri="{FF2B5EF4-FFF2-40B4-BE49-F238E27FC236}">
                <a16:creationId xmlns:a16="http://schemas.microsoft.com/office/drawing/2014/main" id="{D5BC00D3-AEC6-5C47-8DB8-9BD6B457C72A}"/>
              </a:ext>
            </a:extLst>
          </p:cNvPr>
          <p:cNvSpPr>
            <a:spLocks xmlns:a="http://schemas.openxmlformats.org/drawingml/2006/main" noGrp="1"/>
          </p:cNvSpPr>
          <p:nvPr/>
        </p:nvSpPr>
        <p:spPr>
          <a:xfrm xmlns:a="http://schemas.openxmlformats.org/drawingml/2006/main">
            <a:off x="457200" y="2495550"/>
            <a:ext cx="7572375"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FFFFFF"/>
                </a:solidFill>
                <a:latin typeface="JetBrains Mono"/>
                <a:ea typeface="JetBrains Mono"/>
                <a:cs typeface="JetBrains Mono"/>
              </a:defRPr>
            </a:pPr>
            <a:r>
              <a:rPr sz="1575" b="0">
                <a:solidFill>
                  <a:srgbClr val="FFFFFF"/>
                </a:solidFill>
                <a:latin typeface="JetBrains Mono"/>
                <a:ea typeface="JetBrains Mono"/>
                <a:cs typeface="JetBrains Mono"/>
              </a:rPr>
              <a:t>import keras</a:t>
            </a:r>
          </a:p>
          <a:p xmlns:a="http://schemas.openxmlformats.org/drawingml/2006/main">
            <a:pPr algn="l">
              <a:buNone/>
              <a:defRPr sz="1575" b="0">
                <a:solidFill>
                  <a:srgbClr val="FFFFFF"/>
                </a:solidFill>
                <a:latin typeface="JetBrains Mono"/>
                <a:ea typeface="JetBrains Mono"/>
                <a:cs typeface="JetBrains Mono"/>
              </a:defRPr>
            </a:pPr>
            <a:r>
              <a:rPr sz="1575" b="0">
                <a:solidFill>
                  <a:srgbClr val="FFFFFF"/>
                </a:solidFill>
                <a:latin typeface="JetBrains Mono"/>
                <a:ea typeface="JetBrains Mono"/>
                <a:cs typeface="JetBrains Mono"/>
              </a:rPr>
              <a:t>from keras import layers</a:t>
            </a:r>
          </a:p>
          <a:p xmlns:a="http://schemas.openxmlformats.org/drawingml/2006/main">
            <a:r>
              <a:t/>
            </a:r>
          </a:p>
          <a:p xmlns:a="http://schemas.openxmlformats.org/drawingml/2006/main">
            <a:pPr algn="l">
              <a:buNone/>
              <a:defRPr sz="1575" b="0">
                <a:solidFill>
                  <a:srgbClr val="FFFFFF"/>
                </a:solidFill>
                <a:latin typeface="JetBrains Mono"/>
                <a:ea typeface="JetBrains Mono"/>
                <a:cs typeface="JetBrains Mono"/>
              </a:defRPr>
            </a:pPr>
            <a:r>
              <a:rPr sz="1575" b="0">
                <a:solidFill>
                  <a:srgbClr val="FFFFFF"/>
                </a:solidFill>
                <a:latin typeface="JetBrains Mono"/>
                <a:ea typeface="JetBrains Mono"/>
                <a:cs typeface="JetBrains Mono"/>
              </a:rPr>
              <a:t>modelo = keras.Sequential([</a:t>
            </a:r>
          </a:p>
          <a:p xmlns:a="http://schemas.openxmlformats.org/drawingml/2006/main">
            <a:pPr algn="l">
              <a:buNone/>
              <a:defRPr sz="1575" b="0">
                <a:solidFill>
                  <a:srgbClr val="FFFFFF"/>
                </a:solidFill>
                <a:latin typeface="JetBrains Mono"/>
                <a:ea typeface="JetBrains Mono"/>
                <a:cs typeface="JetBrains Mono"/>
              </a:defRPr>
            </a:pPr>
            <a:r>
              <a:rPr sz="1575" b="0">
                <a:solidFill>
                  <a:srgbClr val="FFFFFF"/>
                </a:solidFill>
                <a:latin typeface="JetBrains Mono"/>
                <a:ea typeface="JetBrains Mono"/>
                <a:cs typeface="JetBrains Mono"/>
              </a:rPr>
              <a:t>    keras.Input(shape=(48, 3)),</a:t>
            </a:r>
          </a:p>
          <a:p xmlns:a="http://schemas.openxmlformats.org/drawingml/2006/main">
            <a:pPr algn="l">
              <a:buNone/>
              <a:defRPr sz="1575" b="0">
                <a:solidFill>
                  <a:srgbClr val="FFFFFF"/>
                </a:solidFill>
                <a:latin typeface="JetBrains Mono"/>
                <a:ea typeface="JetBrains Mono"/>
                <a:cs typeface="JetBrains Mono"/>
              </a:defRPr>
            </a:pPr>
            <a:r>
              <a:rPr sz="1575" b="0">
                <a:solidFill>
                  <a:srgbClr val="FFFFFF"/>
                </a:solidFill>
                <a:latin typeface="JetBrains Mono"/>
                <a:ea typeface="JetBrains Mono"/>
                <a:cs typeface="JetBrains Mono"/>
              </a:rPr>
              <a:t>    layers.Conv1D(16, 3, padding="causal",</a:t>
            </a:r>
          </a:p>
          <a:p xmlns:a="http://schemas.openxmlformats.org/drawingml/2006/main">
            <a:pPr algn="l">
              <a:buNone/>
              <a:defRPr sz="1575" b="0">
                <a:solidFill>
                  <a:srgbClr val="FFFFFF"/>
                </a:solidFill>
                <a:latin typeface="JetBrains Mono"/>
                <a:ea typeface="JetBrains Mono"/>
                <a:cs typeface="JetBrains Mono"/>
              </a:defRPr>
            </a:pPr>
            <a:r>
              <a:rPr sz="1575" b="0">
                <a:solidFill>
                  <a:srgbClr val="FFFFFF"/>
                </a:solidFill>
                <a:latin typeface="JetBrains Mono"/>
                <a:ea typeface="JetBrains Mono"/>
                <a:cs typeface="JetBrains Mono"/>
              </a:rPr>
              <a:t>                  activation="relu"),</a:t>
            </a:r>
          </a:p>
          <a:p xmlns:a="http://schemas.openxmlformats.org/drawingml/2006/main">
            <a:pPr algn="l">
              <a:buNone/>
              <a:defRPr sz="1575" b="0">
                <a:solidFill>
                  <a:srgbClr val="FFFFFF"/>
                </a:solidFill>
                <a:latin typeface="JetBrains Mono"/>
                <a:ea typeface="JetBrains Mono"/>
                <a:cs typeface="JetBrains Mono"/>
              </a:defRPr>
            </a:pPr>
            <a:r>
              <a:rPr sz="1575" b="0">
                <a:solidFill>
                  <a:srgbClr val="FFFFFF"/>
                </a:solidFill>
                <a:latin typeface="JetBrains Mono"/>
                <a:ea typeface="JetBrains Mono"/>
                <a:cs typeface="JetBrains Mono"/>
              </a:rPr>
              <a:t>    layers.Conv1D(16, 3, dilation_rate=2,</a:t>
            </a:r>
          </a:p>
          <a:p xmlns:a="http://schemas.openxmlformats.org/drawingml/2006/main">
            <a:pPr algn="l">
              <a:buNone/>
              <a:defRPr sz="1575" b="0">
                <a:solidFill>
                  <a:srgbClr val="FFFFFF"/>
                </a:solidFill>
                <a:latin typeface="JetBrains Mono"/>
                <a:ea typeface="JetBrains Mono"/>
                <a:cs typeface="JetBrains Mono"/>
              </a:defRPr>
            </a:pPr>
            <a:r>
              <a:rPr sz="1575" b="0">
                <a:solidFill>
                  <a:srgbClr val="FFFFFF"/>
                </a:solidFill>
                <a:latin typeface="JetBrains Mono"/>
                <a:ea typeface="JetBrains Mono"/>
                <a:cs typeface="JetBrains Mono"/>
              </a:rPr>
              <a:t>                  padding="causal", activation="relu"),</a:t>
            </a:r>
          </a:p>
          <a:p xmlns:a="http://schemas.openxmlformats.org/drawingml/2006/main">
            <a:pPr algn="l">
              <a:buNone/>
              <a:defRPr sz="1575" b="0">
                <a:solidFill>
                  <a:srgbClr val="FFFFFF"/>
                </a:solidFill>
                <a:latin typeface="JetBrains Mono"/>
                <a:ea typeface="JetBrains Mono"/>
                <a:cs typeface="JetBrains Mono"/>
              </a:defRPr>
            </a:pPr>
            <a:r>
              <a:rPr sz="1575" b="0">
                <a:solidFill>
                  <a:srgbClr val="FFFFFF"/>
                </a:solidFill>
                <a:latin typeface="JetBrains Mono"/>
                <a:ea typeface="JetBrains Mono"/>
                <a:cs typeface="JetBrains Mono"/>
              </a:rPr>
              <a:t>    layers.Flatten(),</a:t>
            </a:r>
          </a:p>
          <a:p xmlns:a="http://schemas.openxmlformats.org/drawingml/2006/main">
            <a:pPr algn="l">
              <a:buNone/>
              <a:defRPr sz="1575" b="0">
                <a:solidFill>
                  <a:srgbClr val="FFFFFF"/>
                </a:solidFill>
                <a:latin typeface="JetBrains Mono"/>
                <a:ea typeface="JetBrains Mono"/>
                <a:cs typeface="JetBrains Mono"/>
              </a:defRPr>
            </a:pPr>
            <a:r>
              <a:rPr sz="1575" b="0">
                <a:solidFill>
                  <a:srgbClr val="FFFFFF"/>
                </a:solidFill>
                <a:latin typeface="JetBrains Mono"/>
                <a:ea typeface="JetBrains Mono"/>
                <a:cs typeface="JetBrains Mono"/>
              </a:rPr>
              <a:t>    layers.Dense(1)</a:t>
            </a:r>
          </a:p>
          <a:p xmlns:a="http://schemas.openxmlformats.org/drawingml/2006/main">
            <a:pPr algn="l">
              <a:buNone/>
              <a:defRPr sz="1575" b="0">
                <a:solidFill>
                  <a:srgbClr val="FFFFFF"/>
                </a:solidFill>
                <a:latin typeface="JetBrains Mono"/>
                <a:ea typeface="JetBrains Mono"/>
                <a:cs typeface="JetBrains Mono"/>
              </a:defRPr>
            </a:pPr>
            <a:r>
              <a:rPr sz="1575" b="0">
                <a:solidFill>
                  <a:srgbClr val="FFFFFF"/>
                </a:solidFill>
                <a:latin typeface="JetBrains Mono"/>
                <a:ea typeface="JetBrains Mono"/>
                <a:cs typeface="JetBrains Mono"/>
              </a:rPr>
              <a:t>])</a:t>
            </a:r>
          </a:p>
        </p:txBody>
      </p:sp>
      <p:sp>
        <p:nvSpPr>
          <p:cNvPr id="15005" name="Entrada&#10;(lote, 48, 3)&#10;&#10;Saída&#10;(lote, ">
            <a:extLst xmlns:a="http://schemas.openxmlformats.org/drawingml/2006/main">
              <a:ext uri="{FF2B5EF4-FFF2-40B4-BE49-F238E27FC236}">
                <a16:creationId xmlns:a16="http://schemas.microsoft.com/office/drawing/2014/main" id="{244E39B4-0786-5988-92CB-E1E0DB4B34E8}"/>
              </a:ext>
            </a:extLst>
          </p:cNvPr>
          <p:cNvSpPr>
            <a:spLocks xmlns:a="http://schemas.openxmlformats.org/drawingml/2006/main" noGrp="1"/>
          </p:cNvSpPr>
          <p:nvPr/>
        </p:nvSpPr>
        <p:spPr>
          <a:xfrm xmlns:a="http://schemas.openxmlformats.org/drawingml/2006/main">
            <a:off x="8524875" y="2800350"/>
            <a:ext cx="3209925"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Entrada</a:t>
            </a:r>
          </a:p>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(lote, 48, 3)</a:t>
            </a:r>
          </a:p>
          <a:p xmlns:a="http://schemas.openxmlformats.org/drawingml/2006/main">
            <a:r>
              <a:t/>
            </a:r>
          </a:p>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Saída</a:t>
            </a:r>
          </a:p>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(lote, 1)</a:t>
            </a:r>
          </a:p>
        </p:txBody>
      </p:sp>
      <p:sp>
        <p:nvSpPr>
          <p:cNvPr id="15006" name="Leitura usa todas&#10;as posições.">
            <a:extLst xmlns:a="http://schemas.openxmlformats.org/drawingml/2006/main">
              <a:ext uri="{FF2B5EF4-FFF2-40B4-BE49-F238E27FC236}">
                <a16:creationId xmlns:a16="http://schemas.microsoft.com/office/drawing/2014/main" id="{846372EE-ADFB-5D98-A636-DEBF775BED2A}"/>
              </a:ext>
            </a:extLst>
          </p:cNvPr>
          <p:cNvSpPr>
            <a:spLocks xmlns:a="http://schemas.openxmlformats.org/drawingml/2006/main" noGrp="1"/>
          </p:cNvSpPr>
          <p:nvPr/>
        </p:nvSpPr>
        <p:spPr>
          <a:xfrm xmlns:a="http://schemas.openxmlformats.org/drawingml/2006/main">
            <a:off x="8524875" y="5038725"/>
            <a:ext cx="320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FFFFFF"/>
                </a:solidFill>
                <a:latin typeface="JetBrains Mono"/>
                <a:ea typeface="JetBrains Mono"/>
                <a:cs typeface="JetBrains Mono"/>
              </a:defRPr>
            </a:pPr>
            <a:r>
              <a:rPr sz="1650" b="0">
                <a:solidFill>
                  <a:srgbClr val="FFFFFF"/>
                </a:solidFill>
                <a:latin typeface="JetBrains Mono"/>
                <a:ea typeface="JetBrains Mono"/>
                <a:cs typeface="JetBrains Mono"/>
              </a:rPr>
              <a:t>Leitura usa todas</a:t>
            </a:r>
          </a:p>
          <a:p xmlns:a="http://schemas.openxmlformats.org/drawingml/2006/main">
            <a:pPr algn="l">
              <a:buNone/>
              <a:defRPr sz="1650" b="0">
                <a:solidFill>
                  <a:srgbClr val="FFFFFF"/>
                </a:solidFill>
                <a:latin typeface="JetBrains Mono"/>
                <a:ea typeface="JetBrains Mono"/>
                <a:cs typeface="JetBrains Mono"/>
              </a:defRPr>
            </a:pPr>
            <a:r>
              <a:rPr sz="1650" b="0">
                <a:solidFill>
                  <a:srgbClr val="FFFFFF"/>
                </a:solidFill>
                <a:latin typeface="JetBrains Mono"/>
                <a:ea typeface="JetBrains Mono"/>
                <a:cs typeface="JetBrains Mono"/>
              </a:rPr>
              <a:t>as posições.</a:t>
            </a:r>
          </a:p>
        </p:txBody>
      </p:sp>
      <p:pic>
        <p:nvPicPr>
          <p:cNvPr id="15007" name="Imagem 13"/>
          <p:cNvPicPr>
            <a:picLocks xmlns:a="http://schemas.openxmlformats.org/drawingml/2006/main" noChangeAspect="1"/>
          </p:cNvPicPr>
          <p:nvPr/>
        </p:nvPicPr>
        <p:blipFill>
          <a:blip xmlns:r="http://schemas.openxmlformats.org/officeDocument/2006/relationships" xmlns:a="http://schemas.openxmlformats.org/drawingml/2006/main" r:embed="R1dd31241aaef492a"/>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5008" name="Hydro-UAI Redes convolucionais">
            <a:extLst xmlns:a="http://schemas.openxmlformats.org/drawingml/2006/main">
              <a:ext uri="{FF2B5EF4-FFF2-40B4-BE49-F238E27FC236}">
                <a16:creationId xmlns:a16="http://schemas.microsoft.com/office/drawing/2014/main" id="{F9C707CE-6323-5F6A-9AFA-BE650217BCCF}"/>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15009" name="Divisor Hydro-UAI">
            <a:extLst xmlns:a="http://schemas.openxmlformats.org/drawingml/2006/main">
              <a:ext uri="{FF2B5EF4-FFF2-40B4-BE49-F238E27FC236}">
                <a16:creationId xmlns:a16="http://schemas.microsoft.com/office/drawing/2014/main" id="{B9D36B29-D6C9-5334-82FB-4A0B02774FCF}"/>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15010" name="Hydro-UAI Hydro-UAI Course">
            <a:extLst xmlns:a="http://schemas.openxmlformats.org/drawingml/2006/main">
              <a:ext uri="{FF2B5EF4-FFF2-40B4-BE49-F238E27FC236}">
                <a16:creationId xmlns:a16="http://schemas.microsoft.com/office/drawing/2014/main" id="{F6376B64-67F9-59EB-8F75-51C20DA48CEA}"/>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5011" name="Hydro-UAI 15 / 62">
            <a:extLst xmlns:a="http://schemas.openxmlformats.org/drawingml/2006/main">
              <a:ext uri="{FF2B5EF4-FFF2-40B4-BE49-F238E27FC236}">
                <a16:creationId xmlns:a16="http://schemas.microsoft.com/office/drawing/2014/main" id="{8627C566-8C2D-5391-AB3A-A0881B556E07}"/>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20 / 68</a:t>
            </a:r>
          </a:p>
        </p:txBody>
      </p:sp>
    </p:spTree>
    <p:extLst>
      <p:ext uri="{BB962C8B-B14F-4D97-AF65-F5344CB8AC3E}">
        <p14:creationId xmlns:p14="http://schemas.microsoft.com/office/powerpoint/2010/main" val="3991283715"/>
      </p:ext>
    </p:extLst>
  </p:cSld>
</p:sld>
</file>

<file path=ppt/slides/slide16.xml><?xml version="1.0" encoding="utf-8"?>
<p:sld xmlns:p="http://schemas.openxmlformats.org/presentationml/2006/main">
  <p:cSld>
    <p:spTree>
      <p:nvGrpSpPr>
        <p:cNvPr id="16001" name=""/>
        <p:cNvGrpSpPr/>
        <p:nvPr/>
      </p:nvGrpSpPr>
      <p:grpSpPr>
        <a:xfrm xmlns:a="http://schemas.openxmlformats.org/drawingml/2006/main"/>
      </p:grpSpPr>
      <p:sp>
        <p:nvSpPr>
          <p:cNvPr id="16002" name="Retângulo 6">
            <a:extLst xmlns:a="http://schemas.openxmlformats.org/drawingml/2006/main">
              <a:ext uri="{FF2B5EF4-FFF2-40B4-BE49-F238E27FC236}">
                <a16:creationId xmlns:a16="http://schemas.microsoft.com/office/drawing/2014/main" id="{49856485-1DA6-5642-9B90-E29706E2C98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16003" name=""/>
          <p:cNvGraphicFramePr/>
          <p:nvPr/>
        </p:nvGraphicFramePr>
        <p:xfrm>
          <a:off xmlns:a="http://schemas.openxmlformats.org/drawingml/2006/main" x="457200" y="2609850"/>
          <a:ext xmlns:a="http://schemas.openxmlformats.org/drawingml/2006/main" cx="11277600" cy="3152775"/>
        </p:xfrm>
        <a:graphic xmlns:a="http://schemas.openxmlformats.org/drawingml/2006/main">
          <a:graphicData uri="http://schemas.openxmlformats.org/drawingml/2006/table">
            <a:tbl>
              <a:tblPr/>
              <a:tblGrid>
                <a:gridCol w="3876675"/>
                <a:gridCol w="7400925"/>
              </a:tblGrid>
              <a:tr h="630555">
                <a:tc>
                  <a:txBody>
                    <a:bodyPr lIns="85725" tIns="57150" rIns="85725" bIns="57150">
                      <a:noAutofit/>
                    </a:bodyPr>
                    <a:lstStyle/>
                    <a:p>
                      <a:pPr algn="l">
                        <a:buNone/>
                      </a:pPr>
                      <a:r>
                        <a:rPr sz="1725" b="1">
                          <a:solidFill>
                            <a:srgbClr val="FFFFFF"/>
                          </a:solidFill>
                          <a:latin typeface="JetBrains Mono"/>
                          <a:ea typeface="JetBrains Mono"/>
                          <a:cs typeface="JetBrains Mono"/>
                        </a:rPr>
                        <a:t>Questão</a:t>
                      </a:r>
                    </a:p>
                  </a:txBody>
                  <a:tcPr marL="91440" marR="91440" marT="45720" marB="45720" anchor="ctr">
                    <a:solidFill>
                      <a:srgbClr val="0053EB"/>
                    </a:solidFill>
                  </a:tcPr>
                </a:tc>
                <a:tc>
                  <a:txBody>
                    <a:bodyPr lIns="85725" tIns="57150" rIns="85725" bIns="57150">
                      <a:noAutofit/>
                    </a:bodyPr>
                    <a:lstStyle/>
                    <a:p>
                      <a:pPr algn="l">
                        <a:buNone/>
                      </a:pPr>
                      <a:r>
                        <a:rPr sz="1725" b="1">
                          <a:solidFill>
                            <a:srgbClr val="FFFFFF"/>
                          </a:solidFill>
                          <a:latin typeface="JetBrains Mono"/>
                          <a:ea typeface="JetBrains Mono"/>
                          <a:cs typeface="JetBrains Mono"/>
                        </a:rPr>
                        <a:t>Comparação ou teste</a:t>
                      </a:r>
                    </a:p>
                  </a:txBody>
                  <a:tcPr marL="91440" marR="91440" marT="45720" marB="45720" anchor="ctr">
                    <a:solidFill>
                      <a:srgbClr val="0053EB"/>
                    </a:solidFill>
                  </a:tcPr>
                </a:tc>
              </a:tr>
              <a:tr h="630555">
                <a:tc>
                  <a:txBody>
                    <a:bodyPr lIns="85725" tIns="57150" rIns="85725" bIns="57150">
                      <a:noAutofit/>
                    </a:bodyPr>
                    <a:lstStyle/>
                    <a:p>
                      <a:pPr algn="l">
                        <a:buNone/>
                      </a:pPr>
                      <a:r>
                        <a:rPr sz="1725" b="0">
                          <a:solidFill>
                            <a:srgbClr val="FFFFFF"/>
                          </a:solidFill>
                          <a:latin typeface="JetBrains Mono"/>
                          <a:ea typeface="JetBrains Mono"/>
                          <a:cs typeface="JetBrains Mono"/>
                        </a:rPr>
                        <a:t>O espaço ajuda?</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CNN com mapas versus chuva média na bacia.</a:t>
                      </a:r>
                    </a:p>
                  </a:txBody>
                  <a:tcPr marL="91440" marR="91440" marT="45720" marB="45720" anchor="ctr">
                    <a:solidFill>
                      <a:srgbClr val="000F29"/>
                    </a:solidFill>
                  </a:tcPr>
                </a:tc>
              </a:tr>
              <a:tr h="630555">
                <a:tc>
                  <a:txBody>
                    <a:bodyPr lIns="85725" tIns="57150" rIns="85725" bIns="57150">
                      <a:noAutofit/>
                    </a:bodyPr>
                    <a:lstStyle/>
                    <a:p>
                      <a:pPr algn="l">
                        <a:buNone/>
                      </a:pPr>
                      <a:r>
                        <a:rPr sz="1725" b="0">
                          <a:solidFill>
                            <a:srgbClr val="FFFFFF"/>
                          </a:solidFill>
                          <a:latin typeface="JetBrains Mono"/>
                          <a:ea typeface="JetBrains Mono"/>
                          <a:cs typeface="JetBrains Mono"/>
                        </a:rPr>
                        <a:t>O modelo transfere?</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Bacias ou regiões fora do treinamento.</a:t>
                      </a:r>
                    </a:p>
                  </a:txBody>
                  <a:tcPr marL="91440" marR="91440" marT="45720" marB="45720" anchor="ctr">
                    <a:solidFill>
                      <a:srgbClr val="000F29"/>
                    </a:solidFill>
                  </a:tcPr>
                </a:tc>
              </a:tr>
              <a:tr h="630555">
                <a:tc>
                  <a:txBody>
                    <a:bodyPr lIns="85725" tIns="57150" rIns="85725" bIns="57150">
                      <a:noAutofit/>
                    </a:bodyPr>
                    <a:lstStyle/>
                    <a:p>
                      <a:pPr algn="l">
                        <a:buNone/>
                      </a:pPr>
                      <a:r>
                        <a:rPr sz="1725" b="0">
                          <a:solidFill>
                            <a:srgbClr val="FFFFFF"/>
                          </a:solidFill>
                          <a:latin typeface="JetBrains Mono"/>
                          <a:ea typeface="JetBrains Mono"/>
                          <a:cs typeface="JetBrains Mono"/>
                        </a:rPr>
                        <a:t>O evento é independente?</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Separação por evento e por período.</a:t>
                      </a:r>
                    </a:p>
                  </a:txBody>
                  <a:tcPr marL="91440" marR="91440" marT="45720" marB="45720" anchor="ctr">
                    <a:solidFill>
                      <a:srgbClr val="000F29"/>
                    </a:solidFill>
                  </a:tcPr>
                </a:tc>
              </a:tr>
              <a:tr h="630555">
                <a:tc>
                  <a:txBody>
                    <a:bodyPr lIns="85725" tIns="57150" rIns="85725" bIns="57150">
                      <a:noAutofit/>
                    </a:bodyPr>
                    <a:lstStyle/>
                    <a:p>
                      <a:pPr algn="l">
                        <a:buNone/>
                      </a:pPr>
                      <a:r>
                        <a:rPr sz="1725" b="0">
                          <a:solidFill>
                            <a:srgbClr val="FFFFFF"/>
                          </a:solidFill>
                          <a:latin typeface="JetBrains Mono"/>
                          <a:ea typeface="JetBrains Mono"/>
                          <a:cs typeface="JetBrains Mono"/>
                        </a:rPr>
                        <a:t>A previsão funciona em operação?</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Dados com a mesma latência e disponibilidade.</a:t>
                      </a:r>
                    </a:p>
                  </a:txBody>
                  <a:tcPr marL="91440" marR="91440" marT="45720" marB="45720" anchor="ctr">
                    <a:solidFill>
                      <a:srgbClr val="000F29"/>
                    </a:solidFill>
                  </a:tcPr>
                </a:tc>
              </a:tr>
            </a:tbl>
          </a:graphicData>
        </a:graphic>
      </p:graphicFrame>
      <p:sp>
        <p:nvSpPr>
          <p:cNvPr id="16004" name="Validação de uma aplicação com CNN">
            <a:extLst xmlns:a="http://schemas.openxmlformats.org/drawingml/2006/main">
              <a:ext uri="{FF2B5EF4-FFF2-40B4-BE49-F238E27FC236}">
                <a16:creationId xmlns:a16="http://schemas.microsoft.com/office/drawing/2014/main" id="{8D5CCF17-795F-5DE2-9E68-A2660AF19522}"/>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Validação de uma aplicação com CNN</a:t>
            </a:r>
          </a:p>
        </p:txBody>
      </p:sp>
      <p:pic>
        <p:nvPicPr>
          <p:cNvPr id="16005" name="Imagem 13"/>
          <p:cNvPicPr>
            <a:picLocks xmlns:a="http://schemas.openxmlformats.org/drawingml/2006/main" noChangeAspect="1"/>
          </p:cNvPicPr>
          <p:nvPr/>
        </p:nvPicPr>
        <p:blipFill>
          <a:blip xmlns:r="http://schemas.openxmlformats.org/officeDocument/2006/relationships" xmlns:a="http://schemas.openxmlformats.org/drawingml/2006/main" r:embed="R26182bcce77b4b4f"/>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6006" name="Hydro-UAI Redes convolucionais">
            <a:extLst xmlns:a="http://schemas.openxmlformats.org/drawingml/2006/main">
              <a:ext uri="{FF2B5EF4-FFF2-40B4-BE49-F238E27FC236}">
                <a16:creationId xmlns:a16="http://schemas.microsoft.com/office/drawing/2014/main" id="{2944EE36-CE1F-5BFC-82E2-783E4E24FB1A}"/>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16007" name="Divisor Hydro-UAI">
            <a:extLst xmlns:a="http://schemas.openxmlformats.org/drawingml/2006/main">
              <a:ext uri="{FF2B5EF4-FFF2-40B4-BE49-F238E27FC236}">
                <a16:creationId xmlns:a16="http://schemas.microsoft.com/office/drawing/2014/main" id="{2CDAD7F0-28FA-5FBD-A536-36B61BEA0F05}"/>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16008" name="Hydro-UAI Hydro-UAI Course">
            <a:extLst xmlns:a="http://schemas.openxmlformats.org/drawingml/2006/main">
              <a:ext uri="{FF2B5EF4-FFF2-40B4-BE49-F238E27FC236}">
                <a16:creationId xmlns:a16="http://schemas.microsoft.com/office/drawing/2014/main" id="{14E77D2A-3E21-5F08-86B5-254BBA3D83FE}"/>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6009" name="Hydro-UAI 16 / 62">
            <a:extLst xmlns:a="http://schemas.openxmlformats.org/drawingml/2006/main">
              <a:ext uri="{FF2B5EF4-FFF2-40B4-BE49-F238E27FC236}">
                <a16:creationId xmlns:a16="http://schemas.microsoft.com/office/drawing/2014/main" id="{B854D03C-3CEC-5DF2-92CB-5A6129332032}"/>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21 / 68</a:t>
            </a:r>
          </a:p>
        </p:txBody>
      </p:sp>
    </p:spTree>
    <p:extLst>
      <p:ext uri="{BB962C8B-B14F-4D97-AF65-F5344CB8AC3E}">
        <p14:creationId xmlns:p14="http://schemas.microsoft.com/office/powerpoint/2010/main" val="3991283715"/>
      </p:ext>
    </p:extLst>
  </p:cSld>
</p:sld>
</file>

<file path=ppt/slides/slide17.xml><?xml version="1.0" encoding="utf-8"?>
<p:sld xmlns:p="http://schemas.openxmlformats.org/presentationml/2006/main">
  <p:cSld>
    <p:spTree>
      <p:nvGrpSpPr>
        <p:cNvPr id="17001" name=""/>
        <p:cNvGrpSpPr/>
        <p:nvPr/>
      </p:nvGrpSpPr>
      <p:grpSpPr>
        <a:xfrm xmlns:a="http://schemas.openxmlformats.org/drawingml/2006/main"/>
      </p:grpSpPr>
      <p:sp>
        <p:nvSpPr>
          <p:cNvPr id="17002" name="Retângulo 6">
            <a:extLst xmlns:a="http://schemas.openxmlformats.org/drawingml/2006/main">
              <a:ext uri="{FF2B5EF4-FFF2-40B4-BE49-F238E27FC236}">
                <a16:creationId xmlns:a16="http://schemas.microsoft.com/office/drawing/2014/main" id="{FAB19855-59E6-5555-B6C4-5E92A90624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003" name="A CNN encontrou um padrão. E agora?">
            <a:extLst xmlns:a="http://schemas.openxmlformats.org/drawingml/2006/main">
              <a:ext uri="{FF2B5EF4-FFF2-40B4-BE49-F238E27FC236}">
                <a16:creationId xmlns:a16="http://schemas.microsoft.com/office/drawing/2014/main" id="{01115C64-1BAD-582D-AA7B-4E41B666ADF0}"/>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 CNN encontrou um padrão. E agora?</a:t>
            </a:r>
          </a:p>
        </p:txBody>
      </p:sp>
      <p:sp>
        <p:nvSpPr>
          <p:cNvPr id="17004" name="CNN: “Encontrei um padrão!”">
            <a:extLst xmlns:a="http://schemas.openxmlformats.org/drawingml/2006/main">
              <a:ext uri="{FF2B5EF4-FFF2-40B4-BE49-F238E27FC236}">
                <a16:creationId xmlns:a16="http://schemas.microsoft.com/office/drawing/2014/main" id="{E1FDFF6F-DB0C-5FDA-A4C2-3297F19D3FDD}"/>
              </a:ext>
            </a:extLst>
          </p:cNvPr>
          <p:cNvSpPr>
            <a:spLocks xmlns:a="http://schemas.openxmlformats.org/drawingml/2006/main" noGrp="1"/>
          </p:cNvSpPr>
          <p:nvPr/>
        </p:nvSpPr>
        <p:spPr>
          <a:xfrm xmlns:a="http://schemas.openxmlformats.org/drawingml/2006/main">
            <a:off x="457200" y="2647950"/>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83DFFF"/>
                </a:solidFill>
                <a:latin typeface="JetBrains Mono"/>
                <a:ea typeface="JetBrains Mono"/>
                <a:cs typeface="JetBrains Mono"/>
              </a:defRPr>
            </a:pPr>
            <a:r>
              <a:rPr sz="2175" b="1">
                <a:solidFill>
                  <a:srgbClr val="83DFFF"/>
                </a:solidFill>
                <a:latin typeface="JetBrains Mono"/>
                <a:ea typeface="JetBrains Mono"/>
                <a:cs typeface="JetBrains Mono"/>
              </a:rPr>
              <a:t>CNN: “Encontrei um padrão!”</a:t>
            </a:r>
          </a:p>
        </p:txBody>
      </p:sp>
      <p:sp>
        <p:nvSpPr>
          <p:cNvPr id="17005" name="Hidrólogo: “Funciona&#10;em outra bacia?">
            <a:extLst xmlns:a="http://schemas.openxmlformats.org/drawingml/2006/main">
              <a:ext uri="{FF2B5EF4-FFF2-40B4-BE49-F238E27FC236}">
                <a16:creationId xmlns:a16="http://schemas.microsoft.com/office/drawing/2014/main" id="{30E965EB-DFC3-5F4F-9D9E-9A47C1A33E41}"/>
              </a:ext>
            </a:extLst>
          </p:cNvPr>
          <p:cNvSpPr>
            <a:spLocks xmlns:a="http://schemas.openxmlformats.org/drawingml/2006/main" noGrp="1"/>
          </p:cNvSpPr>
          <p:nvPr/>
        </p:nvSpPr>
        <p:spPr>
          <a:xfrm xmlns:a="http://schemas.openxmlformats.org/drawingml/2006/main">
            <a:off x="457200" y="3933825"/>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FFAD62"/>
                </a:solidFill>
                <a:latin typeface="JetBrains Mono"/>
                <a:ea typeface="JetBrains Mono"/>
                <a:cs typeface="JetBrains Mono"/>
              </a:defRPr>
            </a:pPr>
            <a:r>
              <a:rPr sz="2475" b="1">
                <a:solidFill>
                  <a:srgbClr val="FFAD62"/>
                </a:solidFill>
                <a:latin typeface="JetBrains Mono"/>
                <a:ea typeface="JetBrains Mono"/>
                <a:cs typeface="JetBrains Mono"/>
              </a:rPr>
              <a:t>Hidrólogo: “Funciona</a:t>
            </a:r>
          </a:p>
          <a:p xmlns:a="http://schemas.openxmlformats.org/drawingml/2006/main">
            <a:pPr algn="l">
              <a:buNone/>
              <a:defRPr sz="2475" b="1">
                <a:solidFill>
                  <a:srgbClr val="FFAD62"/>
                </a:solidFill>
                <a:latin typeface="JetBrains Mono"/>
                <a:ea typeface="JetBrains Mono"/>
                <a:cs typeface="JetBrains Mono"/>
              </a:defRPr>
            </a:pPr>
            <a:r>
              <a:rPr sz="2475" b="1">
                <a:solidFill>
                  <a:srgbClr val="FFAD62"/>
                </a:solidFill>
                <a:latin typeface="JetBrains Mono"/>
                <a:ea typeface="JetBrains Mono"/>
                <a:cs typeface="JetBrains Mono"/>
              </a:rPr>
              <a:t>em outra bacia?”</a:t>
            </a:r>
          </a:p>
        </p:txBody>
      </p:sp>
      <p:sp>
        <p:nvSpPr>
          <p:cNvPr id="17006" name="Teste em novos períodos, eventos e l">
            <a:extLst xmlns:a="http://schemas.openxmlformats.org/drawingml/2006/main">
              <a:ext uri="{FF2B5EF4-FFF2-40B4-BE49-F238E27FC236}">
                <a16:creationId xmlns:a16="http://schemas.microsoft.com/office/drawing/2014/main" id="{3D3A10D0-683C-5552-9E7C-8D4B75A3398D}"/>
              </a:ext>
            </a:extLst>
          </p:cNvPr>
          <p:cNvSpPr>
            <a:spLocks xmlns:a="http://schemas.openxmlformats.org/drawingml/2006/main" noGrp="1"/>
          </p:cNvSpPr>
          <p:nvPr/>
        </p:nvSpPr>
        <p:spPr>
          <a:xfrm xmlns:a="http://schemas.openxmlformats.org/drawingml/2006/main">
            <a:off x="457200" y="5219700"/>
            <a:ext cx="676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FFFFFF"/>
                </a:solidFill>
                <a:latin typeface="JetBrains Mono"/>
                <a:ea typeface="JetBrains Mono"/>
                <a:cs typeface="JetBrains Mono"/>
              </a:defRPr>
            </a:pPr>
            <a:r>
              <a:rPr sz="1650" b="0">
                <a:solidFill>
                  <a:srgbClr val="FFFFFF"/>
                </a:solidFill>
                <a:latin typeface="JetBrains Mono"/>
                <a:ea typeface="JetBrains Mono"/>
                <a:cs typeface="JetBrains Mono"/>
              </a:rPr>
              <a:t>Teste em novos períodos, eventos e locais antes de concluir.</a:t>
            </a:r>
          </a:p>
        </p:txBody>
      </p:sp>
      <p:pic>
        <p:nvPicPr>
          <p:cNvPr id="17007" name="Imagem 13"/>
          <p:cNvPicPr>
            <a:picLocks xmlns:a="http://schemas.openxmlformats.org/drawingml/2006/main" noChangeAspect="1"/>
          </p:cNvPicPr>
          <p:nvPr/>
        </p:nvPicPr>
        <p:blipFill>
          <a:blip xmlns:r="http://schemas.openxmlformats.org/officeDocument/2006/relationships" xmlns:a="http://schemas.openxmlformats.org/drawingml/2006/main" r:embed="Rd35b0522b21e4bcb"/>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pic>
        <p:nvPicPr>
          <p:cNvPr id="17008" name=""/>
          <p:cNvPicPr>
            <a:picLocks xmlns:a="http://schemas.openxmlformats.org/drawingml/2006/main" noChangeAspect="1"/>
          </p:cNvPicPr>
          <p:nvPr/>
        </p:nvPicPr>
        <p:blipFill>
          <a:blip xmlns:r="http://schemas.openxmlformats.org/officeDocument/2006/relationships" xmlns:a="http://schemas.openxmlformats.org/drawingml/2006/main" r:embed="R140ce46edf834384"/>
          <a:stretch xmlns:a="http://schemas.openxmlformats.org/drawingml/2006/main"/>
        </p:blipFill>
        <p:spPr>
          <a:xfrm xmlns:a="http://schemas.openxmlformats.org/drawingml/2006/main">
            <a:off x="7886700" y="2381250"/>
            <a:ext cx="3543300" cy="3543300"/>
          </a:xfrm>
          <a:prstGeom xmlns:a="http://schemas.openxmlformats.org/drawingml/2006/main" prst="rect">
            <a:avLst/>
          </a:prstGeom>
        </p:spPr>
      </p:pic>
      <p:sp>
        <p:nvSpPr>
          <p:cNvPr id="17009" name="Hydro-UAI Redes convolucionais">
            <a:extLst xmlns:a="http://schemas.openxmlformats.org/drawingml/2006/main">
              <a:ext uri="{FF2B5EF4-FFF2-40B4-BE49-F238E27FC236}">
                <a16:creationId xmlns:a16="http://schemas.microsoft.com/office/drawing/2014/main" id="{7103E4D2-67D6-5199-8E49-694C6CB35933}"/>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17010" name="Divisor Hydro-UAI">
            <a:extLst xmlns:a="http://schemas.openxmlformats.org/drawingml/2006/main">
              <a:ext uri="{FF2B5EF4-FFF2-40B4-BE49-F238E27FC236}">
                <a16:creationId xmlns:a16="http://schemas.microsoft.com/office/drawing/2014/main" id="{2B469A9F-BC51-5057-8B73-C2AB7F0907D1}"/>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17011" name="Hydro-UAI Hydro-UAI Course">
            <a:extLst xmlns:a="http://schemas.openxmlformats.org/drawingml/2006/main">
              <a:ext uri="{FF2B5EF4-FFF2-40B4-BE49-F238E27FC236}">
                <a16:creationId xmlns:a16="http://schemas.microsoft.com/office/drawing/2014/main" id="{BCA1B32C-0A1C-5D26-BAFF-A1E26E0A9285}"/>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7012" name="Hydro-UAI 17 / 62">
            <a:extLst xmlns:a="http://schemas.openxmlformats.org/drawingml/2006/main">
              <a:ext uri="{FF2B5EF4-FFF2-40B4-BE49-F238E27FC236}">
                <a16:creationId xmlns:a16="http://schemas.microsoft.com/office/drawing/2014/main" id="{1D04B5D4-2D25-5C1F-BCBC-044ACE5E4080}"/>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22 / 68</a:t>
            </a:r>
          </a:p>
        </p:txBody>
      </p:sp>
    </p:spTree>
    <p:extLst>
      <p:ext uri="{BB962C8B-B14F-4D97-AF65-F5344CB8AC3E}">
        <p14:creationId xmlns:p14="http://schemas.microsoft.com/office/powerpoint/2010/main" val="3991283715"/>
      </p:ext>
    </p:extLst>
  </p:cSld>
</p:sld>
</file>

<file path=ppt/slides/slide18.xml><?xml version="1.0" encoding="utf-8"?>
<p:sld xmlns:p="http://schemas.openxmlformats.org/presentationml/2006/main">
  <p:cSld>
    <p:spTree>
      <p:nvGrpSpPr>
        <p:cNvPr id="18001" name=""/>
        <p:cNvGrpSpPr/>
        <p:nvPr/>
      </p:nvGrpSpPr>
      <p:grpSpPr>
        <a:xfrm xmlns:a="http://schemas.openxmlformats.org/drawingml/2006/main"/>
      </p:grpSpPr>
      <p:sp>
        <p:nvSpPr>
          <p:cNvPr id="18002" name="Retângulo 6">
            <a:extLst xmlns:a="http://schemas.openxmlformats.org/drawingml/2006/main">
              <a:ext uri="{FF2B5EF4-FFF2-40B4-BE49-F238E27FC236}">
                <a16:creationId xmlns:a16="http://schemas.microsoft.com/office/drawing/2014/main" id="{08593225-4D03-5CB9-9140-8C85F107C7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18003" name=""/>
          <p:cNvGraphicFramePr/>
          <p:nvPr/>
        </p:nvGraphicFramePr>
        <p:xfrm>
          <a:off xmlns:a="http://schemas.openxmlformats.org/drawingml/2006/main" x="457200" y="3009900"/>
          <a:ext xmlns:a="http://schemas.openxmlformats.org/drawingml/2006/main" cx="3048000" cy="2000250"/>
        </p:xfrm>
        <a:graphic xmlns:a="http://schemas.openxmlformats.org/drawingml/2006/main">
          <a:graphicData uri="http://schemas.openxmlformats.org/drawingml/2006/table">
            <a:tbl>
              <a:tblPr/>
              <a:tblGrid>
                <a:gridCol w="1524000"/>
                <a:gridCol w="1524000"/>
              </a:tblGrid>
              <a:tr h="1000125">
                <a:tc>
                  <a:txBody>
                    <a:bodyPr lIns="85725" tIns="57150" rIns="85725" bIns="57150">
                      <a:noAutofit/>
                    </a:bodyPr>
                    <a:lstStyle/>
                    <a:p>
                      <a:pPr algn="ctr">
                        <a:buNone/>
                      </a:pPr>
                      <a:r>
                        <a:rPr sz="225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2250" b="0">
                          <a:solidFill>
                            <a:srgbClr val="FFFFFF"/>
                          </a:solidFill>
                          <a:latin typeface="JetBrains Mono"/>
                          <a:ea typeface="JetBrains Mono"/>
                          <a:cs typeface="JetBrains Mono"/>
                        </a:rPr>
                        <a:t>2</a:t>
                      </a:r>
                    </a:p>
                  </a:txBody>
                  <a:tcPr marL="91440" marR="91440" marT="45720" marB="45720" anchor="ctr">
                    <a:solidFill>
                      <a:srgbClr val="163C69"/>
                    </a:solidFill>
                  </a:tcPr>
                </a:tc>
              </a:tr>
              <a:tr h="1000125">
                <a:tc>
                  <a:txBody>
                    <a:bodyPr lIns="85725" tIns="57150" rIns="85725" bIns="57150">
                      <a:noAutofit/>
                    </a:bodyPr>
                    <a:lstStyle/>
                    <a:p>
                      <a:pPr algn="ctr">
                        <a:buNone/>
                      </a:pPr>
                      <a:r>
                        <a:rPr sz="2250" b="0">
                          <a:solidFill>
                            <a:srgbClr val="FFFFFF"/>
                          </a:solidFill>
                          <a:latin typeface="JetBrains Mono"/>
                          <a:ea typeface="JetBrains Mono"/>
                          <a:cs typeface="JetBrains Mono"/>
                        </a:rPr>
                        <a:t>6</a:t>
                      </a:r>
                    </a:p>
                  </a:txBody>
                  <a:tcPr marL="91440" marR="91440" marT="45720" marB="45720" anchor="ctr">
                    <a:solidFill>
                      <a:srgbClr val="0053EB"/>
                    </a:solidFill>
                  </a:tcPr>
                </a:tc>
                <a:tc>
                  <a:txBody>
                    <a:bodyPr lIns="85725" tIns="57150" rIns="85725" bIns="57150">
                      <a:noAutofit/>
                    </a:bodyPr>
                    <a:lstStyle/>
                    <a:p>
                      <a:pPr algn="ctr">
                        <a:buNone/>
                      </a:pPr>
                      <a:r>
                        <a:rPr sz="2250" b="0">
                          <a:solidFill>
                            <a:srgbClr val="000F29"/>
                          </a:solidFill>
                          <a:latin typeface="JetBrains Mono"/>
                          <a:ea typeface="JetBrains Mono"/>
                          <a:cs typeface="JetBrains Mono"/>
                        </a:rPr>
                        <a:t>8</a:t>
                      </a:r>
                    </a:p>
                  </a:txBody>
                  <a:tcPr marL="91440" marR="91440" marT="45720" marB="45720" anchor="ctr">
                    <a:solidFill>
                      <a:srgbClr val="83DFFF"/>
                    </a:solidFill>
                  </a:tcPr>
                </a:tc>
              </a:tr>
            </a:tbl>
          </a:graphicData>
        </a:graphic>
      </p:graphicFrame>
      <p:sp>
        <p:nvSpPr>
          <p:cNvPr id="18004" name="Atividade: uma resposta de filtro">
            <a:extLst xmlns:a="http://schemas.openxmlformats.org/drawingml/2006/main">
              <a:ext uri="{FF2B5EF4-FFF2-40B4-BE49-F238E27FC236}">
                <a16:creationId xmlns:a16="http://schemas.microsoft.com/office/drawing/2014/main" id="{E23FE086-B6A6-505D-BB3A-76204AE12308}"/>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Atividade: uma resposta de filtro</a:t>
            </a:r>
          </a:p>
        </p:txBody>
      </p:sp>
      <p:sp>
        <p:nvSpPr>
          <p:cNvPr id="18005" name="Filtro: quatro pesos iguais a 0,25.">
            <a:extLst xmlns:a="http://schemas.openxmlformats.org/drawingml/2006/main">
              <a:ext uri="{FF2B5EF4-FFF2-40B4-BE49-F238E27FC236}">
                <a16:creationId xmlns:a16="http://schemas.microsoft.com/office/drawing/2014/main" id="{197B5E92-76C0-5AE9-86F6-15CB6EEA1927}"/>
              </a:ext>
            </a:extLst>
          </p:cNvPr>
          <p:cNvSpPr>
            <a:spLocks xmlns:a="http://schemas.openxmlformats.org/drawingml/2006/main" noGrp="1"/>
          </p:cNvSpPr>
          <p:nvPr/>
        </p:nvSpPr>
        <p:spPr>
          <a:xfrm xmlns:a="http://schemas.openxmlformats.org/drawingml/2006/main">
            <a:off x="4191000" y="2667000"/>
            <a:ext cx="7543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83DFFF"/>
                </a:solidFill>
                <a:latin typeface="JetBrains Mono"/>
                <a:ea typeface="JetBrains Mono"/>
                <a:cs typeface="JetBrains Mono"/>
              </a:defRPr>
            </a:pPr>
            <a:r>
              <a:rPr sz="2025" b="1">
                <a:solidFill>
                  <a:srgbClr val="83DFFF"/>
                </a:solidFill>
                <a:latin typeface="JetBrains Mono"/>
                <a:ea typeface="JetBrains Mono"/>
                <a:cs typeface="JetBrains Mono"/>
              </a:rPr>
              <a:t>Filtro: quatro pesos iguais a 0,25.</a:t>
            </a:r>
          </a:p>
        </p:txBody>
      </p:sp>
      <p:sp>
        <p:nvSpPr>
          <p:cNvPr id="18006" name="1. Qual é a resposta para este trech">
            <a:extLst xmlns:a="http://schemas.openxmlformats.org/drawingml/2006/main">
              <a:ext uri="{FF2B5EF4-FFF2-40B4-BE49-F238E27FC236}">
                <a16:creationId xmlns:a16="http://schemas.microsoft.com/office/drawing/2014/main" id="{B97109DE-CCD9-5944-92D7-841BBFC13EC4}"/>
              </a:ext>
            </a:extLst>
          </p:cNvPr>
          <p:cNvSpPr>
            <a:spLocks xmlns:a="http://schemas.openxmlformats.org/drawingml/2006/main" noGrp="1"/>
          </p:cNvSpPr>
          <p:nvPr/>
        </p:nvSpPr>
        <p:spPr>
          <a:xfrm xmlns:a="http://schemas.openxmlformats.org/drawingml/2006/main">
            <a:off x="4191000" y="3457575"/>
            <a:ext cx="754380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1. Qual é a resposta para este trecho?</a:t>
            </a:r>
          </a:p>
          <a:p xmlns:a="http://schemas.openxmlformats.org/drawingml/2006/main">
            <a:r>
              <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2. Essa resposta já é uma previsão de vazão?</a:t>
            </a:r>
          </a:p>
          <a:p xmlns:a="http://schemas.openxmlformats.org/drawingml/2006/main">
            <a:r>
              <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3. O que o treinamento altera?</a:t>
            </a:r>
          </a:p>
        </p:txBody>
      </p:sp>
      <p:pic>
        <p:nvPicPr>
          <p:cNvPr id="18007" name="Imagem 13"/>
          <p:cNvPicPr>
            <a:picLocks xmlns:a="http://schemas.openxmlformats.org/drawingml/2006/main" noChangeAspect="1"/>
          </p:cNvPicPr>
          <p:nvPr/>
        </p:nvPicPr>
        <p:blipFill>
          <a:blip xmlns:r="http://schemas.openxmlformats.org/officeDocument/2006/relationships" xmlns:a="http://schemas.openxmlformats.org/drawingml/2006/main" r:embed="R887e8df8305d4774"/>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8008" name="Hydro-UAI Redes convolucionais">
            <a:extLst xmlns:a="http://schemas.openxmlformats.org/drawingml/2006/main">
              <a:ext uri="{FF2B5EF4-FFF2-40B4-BE49-F238E27FC236}">
                <a16:creationId xmlns:a16="http://schemas.microsoft.com/office/drawing/2014/main" id="{93E029DB-A2FF-5830-9BD5-10489036C645}"/>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18009" name="Divisor Hydro-UAI">
            <a:extLst xmlns:a="http://schemas.openxmlformats.org/drawingml/2006/main">
              <a:ext uri="{FF2B5EF4-FFF2-40B4-BE49-F238E27FC236}">
                <a16:creationId xmlns:a16="http://schemas.microsoft.com/office/drawing/2014/main" id="{EE699D70-09D6-5903-89A4-164C46A63049}"/>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18010" name="Hydro-UAI Hydro-UAI Course">
            <a:extLst xmlns:a="http://schemas.openxmlformats.org/drawingml/2006/main">
              <a:ext uri="{FF2B5EF4-FFF2-40B4-BE49-F238E27FC236}">
                <a16:creationId xmlns:a16="http://schemas.microsoft.com/office/drawing/2014/main" id="{87130EFD-B657-5BE2-AF87-8BB7253B73BC}"/>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8011" name="Hydro-UAI 18 / 62">
            <a:extLst xmlns:a="http://schemas.openxmlformats.org/drawingml/2006/main">
              <a:ext uri="{FF2B5EF4-FFF2-40B4-BE49-F238E27FC236}">
                <a16:creationId xmlns:a16="http://schemas.microsoft.com/office/drawing/2014/main" id="{7EA1AD2E-B931-544D-BCAB-3DD1DC435358}"/>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23 / 68</a:t>
            </a:r>
          </a:p>
        </p:txBody>
      </p:sp>
    </p:spTree>
    <p:extLst>
      <p:ext uri="{BB962C8B-B14F-4D97-AF65-F5344CB8AC3E}">
        <p14:creationId xmlns:p14="http://schemas.microsoft.com/office/powerpoint/2010/main" val="3991283715"/>
      </p:ext>
    </p:extLst>
  </p:cSld>
</p:sld>
</file>

<file path=ppt/slides/slide19.xml><?xml version="1.0" encoding="utf-8"?>
<p:sld xmlns:p="http://schemas.openxmlformats.org/presentationml/2006/main">
  <p:cSld>
    <p:spTree>
      <p:nvGrpSpPr>
        <p:cNvPr id="19001" name=""/>
        <p:cNvGrpSpPr/>
        <p:nvPr/>
      </p:nvGrpSpPr>
      <p:grpSpPr>
        <a:xfrm xmlns:a="http://schemas.openxmlformats.org/drawingml/2006/main"/>
      </p:grpSpPr>
      <p:sp>
        <p:nvSpPr>
          <p:cNvPr id="19002" name="Retângulo 6">
            <a:extLst xmlns:a="http://schemas.openxmlformats.org/drawingml/2006/main">
              <a:ext uri="{FF2B5EF4-FFF2-40B4-BE49-F238E27FC236}">
                <a16:creationId xmlns:a16="http://schemas.microsoft.com/office/drawing/2014/main" id="{949010A1-4482-50E0-A81A-ACACC3140F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003" name="Previsão, explicação e inferência ca">
            <a:extLst xmlns:a="http://schemas.openxmlformats.org/drawingml/2006/main">
              <a:ext uri="{FF2B5EF4-FFF2-40B4-BE49-F238E27FC236}">
                <a16:creationId xmlns:a16="http://schemas.microsoft.com/office/drawing/2014/main" id="{065C5226-1E36-5628-AAB3-0D183363FD8B}"/>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Previsão, explicação e inferência causal</a:t>
            </a:r>
          </a:p>
        </p:txBody>
      </p:sp>
      <p:sp>
        <p:nvSpPr>
          <p:cNvPr id="19004" name="Previsão">
            <a:extLst xmlns:a="http://schemas.openxmlformats.org/drawingml/2006/main">
              <a:ext uri="{FF2B5EF4-FFF2-40B4-BE49-F238E27FC236}">
                <a16:creationId xmlns:a16="http://schemas.microsoft.com/office/drawing/2014/main" id="{88C269A4-3A46-5AEE-8E7C-DC0CACA58836}"/>
              </a:ext>
            </a:extLst>
          </p:cNvPr>
          <p:cNvSpPr>
            <a:spLocks xmlns:a="http://schemas.openxmlformats.org/drawingml/2006/main" noGrp="1"/>
          </p:cNvSpPr>
          <p:nvPr/>
        </p:nvSpPr>
        <p:spPr>
          <a:xfrm xmlns:a="http://schemas.openxmlformats.org/drawingml/2006/main">
            <a:off x="457200" y="2619375"/>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Previsão</a:t>
            </a:r>
          </a:p>
        </p:txBody>
      </p:sp>
      <p:sp>
        <p:nvSpPr>
          <p:cNvPr id="19005" name="Qual vazão o modelo estima para este">
            <a:extLst xmlns:a="http://schemas.openxmlformats.org/drawingml/2006/main">
              <a:ext uri="{FF2B5EF4-FFF2-40B4-BE49-F238E27FC236}">
                <a16:creationId xmlns:a16="http://schemas.microsoft.com/office/drawing/2014/main" id="{E9BE7FC6-3CDB-5953-AC7E-6CDFC8146466}"/>
              </a:ext>
            </a:extLst>
          </p:cNvPr>
          <p:cNvSpPr>
            <a:spLocks xmlns:a="http://schemas.openxmlformats.org/drawingml/2006/main" noGrp="1"/>
          </p:cNvSpPr>
          <p:nvPr/>
        </p:nvSpPr>
        <p:spPr>
          <a:xfrm xmlns:a="http://schemas.openxmlformats.org/drawingml/2006/main">
            <a:off x="3695700" y="2619375"/>
            <a:ext cx="8039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Qual vazão o modelo estima para este instante?</a:t>
            </a:r>
          </a:p>
        </p:txBody>
      </p:sp>
      <p:sp>
        <p:nvSpPr>
          <p:cNvPr id="19006" name="Explicação">
            <a:extLst xmlns:a="http://schemas.openxmlformats.org/drawingml/2006/main">
              <a:ext uri="{FF2B5EF4-FFF2-40B4-BE49-F238E27FC236}">
                <a16:creationId xmlns:a16="http://schemas.microsoft.com/office/drawing/2014/main" id="{1ADA9383-8456-5AC2-BB32-308718E7B174}"/>
              </a:ext>
            </a:extLst>
          </p:cNvPr>
          <p:cNvSpPr>
            <a:spLocks xmlns:a="http://schemas.openxmlformats.org/drawingml/2006/main" noGrp="1"/>
          </p:cNvSpPr>
          <p:nvPr/>
        </p:nvSpPr>
        <p:spPr>
          <a:xfrm xmlns:a="http://schemas.openxmlformats.org/drawingml/2006/main">
            <a:off x="457200" y="3714750"/>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Explicação</a:t>
            </a:r>
          </a:p>
        </p:txBody>
      </p:sp>
      <p:sp>
        <p:nvSpPr>
          <p:cNvPr id="19007" name="Quais entradas sustentam essa estima">
            <a:extLst xmlns:a="http://schemas.openxmlformats.org/drawingml/2006/main">
              <a:ext uri="{FF2B5EF4-FFF2-40B4-BE49-F238E27FC236}">
                <a16:creationId xmlns:a16="http://schemas.microsoft.com/office/drawing/2014/main" id="{E4705A96-1618-5155-9302-D64C884788BA}"/>
              </a:ext>
            </a:extLst>
          </p:cNvPr>
          <p:cNvSpPr>
            <a:spLocks xmlns:a="http://schemas.openxmlformats.org/drawingml/2006/main" noGrp="1"/>
          </p:cNvSpPr>
          <p:nvPr/>
        </p:nvSpPr>
        <p:spPr>
          <a:xfrm xmlns:a="http://schemas.openxmlformats.org/drawingml/2006/main">
            <a:off x="3695700" y="3714750"/>
            <a:ext cx="8039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Quais entradas sustentam essa estimativa do modelo?</a:t>
            </a:r>
          </a:p>
        </p:txBody>
      </p:sp>
      <p:sp>
        <p:nvSpPr>
          <p:cNvPr id="19008" name="Inferência causal">
            <a:extLst xmlns:a="http://schemas.openxmlformats.org/drawingml/2006/main">
              <a:ext uri="{FF2B5EF4-FFF2-40B4-BE49-F238E27FC236}">
                <a16:creationId xmlns:a16="http://schemas.microsoft.com/office/drawing/2014/main" id="{79F3521B-E57B-5D30-A150-D96C1EF3E1AE}"/>
              </a:ext>
            </a:extLst>
          </p:cNvPr>
          <p:cNvSpPr>
            <a:spLocks xmlns:a="http://schemas.openxmlformats.org/drawingml/2006/main" noGrp="1"/>
          </p:cNvSpPr>
          <p:nvPr/>
        </p:nvSpPr>
        <p:spPr>
          <a:xfrm xmlns:a="http://schemas.openxmlformats.org/drawingml/2006/main">
            <a:off x="457200" y="4810125"/>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Inferência causal</a:t>
            </a:r>
          </a:p>
        </p:txBody>
      </p:sp>
      <p:sp>
        <p:nvSpPr>
          <p:cNvPr id="19009" name="Como a vazão mudaria sob uma interve">
            <a:extLst xmlns:a="http://schemas.openxmlformats.org/drawingml/2006/main">
              <a:ext uri="{FF2B5EF4-FFF2-40B4-BE49-F238E27FC236}">
                <a16:creationId xmlns:a16="http://schemas.microsoft.com/office/drawing/2014/main" id="{8ADCF990-5810-5F88-A225-271FF6032882}"/>
              </a:ext>
            </a:extLst>
          </p:cNvPr>
          <p:cNvSpPr>
            <a:spLocks xmlns:a="http://schemas.openxmlformats.org/drawingml/2006/main" noGrp="1"/>
          </p:cNvSpPr>
          <p:nvPr/>
        </p:nvSpPr>
        <p:spPr>
          <a:xfrm xmlns:a="http://schemas.openxmlformats.org/drawingml/2006/main">
            <a:off x="3695700" y="4810125"/>
            <a:ext cx="8039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Como a vazão mudaria sob uma intervenção definida?</a:t>
            </a:r>
          </a:p>
        </p:txBody>
      </p:sp>
      <p:pic>
        <p:nvPicPr>
          <p:cNvPr id="19010" name="Imagem 13"/>
          <p:cNvPicPr>
            <a:picLocks xmlns:a="http://schemas.openxmlformats.org/drawingml/2006/main" noChangeAspect="1"/>
          </p:cNvPicPr>
          <p:nvPr/>
        </p:nvPicPr>
        <p:blipFill>
          <a:blip xmlns:r="http://schemas.openxmlformats.org/officeDocument/2006/relationships" xmlns:a="http://schemas.openxmlformats.org/drawingml/2006/main" r:embed="R4158768ad3494187"/>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9011" name="Hydro-UAI Explicabilidade">
            <a:extLst xmlns:a="http://schemas.openxmlformats.org/drawingml/2006/main">
              <a:ext uri="{FF2B5EF4-FFF2-40B4-BE49-F238E27FC236}">
                <a16:creationId xmlns:a16="http://schemas.microsoft.com/office/drawing/2014/main" id="{35111DB1-EF32-539C-A105-4B0FC7244146}"/>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Explicabilidade</a:t>
            </a:r>
          </a:p>
        </p:txBody>
      </p:sp>
      <p:sp>
        <p:nvSpPr>
          <p:cNvPr id="19012" name="Divisor Hydro-UAI">
            <a:extLst xmlns:a="http://schemas.openxmlformats.org/drawingml/2006/main">
              <a:ext uri="{FF2B5EF4-FFF2-40B4-BE49-F238E27FC236}">
                <a16:creationId xmlns:a16="http://schemas.microsoft.com/office/drawing/2014/main" id="{D8C0AE5E-97E7-5456-A97B-EA4A987A8299}"/>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19013" name="Hydro-UAI Hydro-UAI Course">
            <a:extLst xmlns:a="http://schemas.openxmlformats.org/drawingml/2006/main">
              <a:ext uri="{FF2B5EF4-FFF2-40B4-BE49-F238E27FC236}">
                <a16:creationId xmlns:a16="http://schemas.microsoft.com/office/drawing/2014/main" id="{9F11235C-4A05-5AEF-8541-276C9CF718E0}"/>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9014" name="Hydro-UAI 19 / 62">
            <a:extLst xmlns:a="http://schemas.openxmlformats.org/drawingml/2006/main">
              <a:ext uri="{FF2B5EF4-FFF2-40B4-BE49-F238E27FC236}">
                <a16:creationId xmlns:a16="http://schemas.microsoft.com/office/drawing/2014/main" id="{DEE2B76B-ACA1-5383-9481-C5DE41F1D230}"/>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24 / 68</a:t>
            </a:r>
          </a:p>
        </p:txBody>
      </p:sp>
    </p:spTree>
    <p:extLst>
      <p:ext uri="{BB962C8B-B14F-4D97-AF65-F5344CB8AC3E}">
        <p14:creationId xmlns:p14="http://schemas.microsoft.com/office/powerpoint/2010/main" val="3991283715"/>
      </p:ext>
    </p:extLst>
  </p:cSld>
</p:sld>
</file>

<file path=ppt/slides/slide20.xml><?xml version="1.0" encoding="utf-8"?>
<p:sld xmlns:p="http://schemas.openxmlformats.org/presentationml/2006/main">
  <p:cSld>
    <p:spTree>
      <p:nvGrpSpPr>
        <p:cNvPr id="20001" name=""/>
        <p:cNvGrpSpPr/>
        <p:nvPr/>
      </p:nvGrpSpPr>
      <p:grpSpPr>
        <a:xfrm xmlns:a="http://schemas.openxmlformats.org/drawingml/2006/main"/>
      </p:grpSpPr>
      <p:sp>
        <p:nvSpPr>
          <p:cNvPr id="20002" name="Retângulo 6">
            <a:extLst xmlns:a="http://schemas.openxmlformats.org/drawingml/2006/main">
              <a:ext uri="{FF2B5EF4-FFF2-40B4-BE49-F238E27FC236}">
                <a16:creationId xmlns:a16="http://schemas.microsoft.com/office/drawing/2014/main" id="{372C5415-1167-57B9-9820-D9C9C69DC9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20003" name=""/>
          <p:cNvGraphicFramePr/>
          <p:nvPr/>
        </p:nvGraphicFramePr>
        <p:xfrm>
          <a:off xmlns:a="http://schemas.openxmlformats.org/drawingml/2006/main" x="457200" y="2895600"/>
          <a:ext xmlns:a="http://schemas.openxmlformats.org/drawingml/2006/main" cx="11277600" cy="2371725"/>
        </p:xfrm>
        <a:graphic xmlns:a="http://schemas.openxmlformats.org/drawingml/2006/main">
          <a:graphicData uri="http://schemas.openxmlformats.org/drawingml/2006/table">
            <a:tbl>
              <a:tblPr/>
              <a:tblGrid>
                <a:gridCol w="2381250"/>
                <a:gridCol w="4381500"/>
                <a:gridCol w="4514850"/>
              </a:tblGrid>
              <a:tr h="790575">
                <a:tc>
                  <a:txBody>
                    <a:bodyPr lIns="85725" tIns="57150" rIns="85725" bIns="57150">
                      <a:noAutofit/>
                    </a:bodyPr>
                    <a:lstStyle/>
                    <a:p>
                      <a:pPr algn="l">
                        <a:buNone/>
                      </a:pPr>
                      <a:r>
                        <a:rPr sz="1650" b="1">
                          <a:solidFill>
                            <a:srgbClr val="FFFFFF"/>
                          </a:solidFill>
                          <a:latin typeface="JetBrains Mono"/>
                          <a:ea typeface="JetBrains Mono"/>
                          <a:cs typeface="JetBrains Mono"/>
                        </a:rPr>
                        <a:t>Escala</a:t>
                      </a:r>
                    </a:p>
                  </a:txBody>
                  <a:tcPr marL="91440" marR="91440" marT="45720" marB="45720" anchor="ctr">
                    <a:solidFill>
                      <a:srgbClr val="0053EB"/>
                    </a:solidFill>
                  </a:tcPr>
                </a:tc>
                <a:tc>
                  <a:txBody>
                    <a:bodyPr lIns="85725" tIns="57150" rIns="85725" bIns="57150">
                      <a:noAutofit/>
                    </a:bodyPr>
                    <a:lstStyle/>
                    <a:p>
                      <a:pPr algn="l">
                        <a:buNone/>
                      </a:pPr>
                      <a:r>
                        <a:rPr sz="1650" b="1">
                          <a:solidFill>
                            <a:srgbClr val="FFFFFF"/>
                          </a:solidFill>
                          <a:latin typeface="JetBrains Mono"/>
                          <a:ea typeface="JetBrains Mono"/>
                          <a:cs typeface="JetBrains Mono"/>
                        </a:rPr>
                        <a:t>Pergunta</a:t>
                      </a:r>
                    </a:p>
                  </a:txBody>
                  <a:tcPr marL="91440" marR="91440" marT="45720" marB="45720" anchor="ctr">
                    <a:solidFill>
                      <a:srgbClr val="0053EB"/>
                    </a:solidFill>
                  </a:tcPr>
                </a:tc>
                <a:tc>
                  <a:txBody>
                    <a:bodyPr lIns="85725" tIns="57150" rIns="85725" bIns="57150">
                      <a:noAutofit/>
                    </a:bodyPr>
                    <a:lstStyle/>
                    <a:p>
                      <a:pPr algn="l">
                        <a:buNone/>
                      </a:pPr>
                      <a:r>
                        <a:rPr sz="1650" b="1">
                          <a:solidFill>
                            <a:srgbClr val="FFFFFF"/>
                          </a:solidFill>
                          <a:latin typeface="JetBrains Mono"/>
                          <a:ea typeface="JetBrains Mono"/>
                          <a:cs typeface="JetBrains Mono"/>
                        </a:rPr>
                        <a:t>Resultado típico</a:t>
                      </a:r>
                    </a:p>
                  </a:txBody>
                  <a:tcPr marL="91440" marR="91440" marT="45720" marB="45720" anchor="ctr">
                    <a:solidFill>
                      <a:srgbClr val="0053EB"/>
                    </a:solidFill>
                  </a:tcPr>
                </a:tc>
              </a:tr>
              <a:tr h="790575">
                <a:tc>
                  <a:txBody>
                    <a:bodyPr lIns="85725" tIns="57150" rIns="85725" bIns="57150">
                      <a:noAutofit/>
                    </a:bodyPr>
                    <a:lstStyle/>
                    <a:p>
                      <a:pPr algn="l">
                        <a:buNone/>
                      </a:pPr>
                      <a:r>
                        <a:rPr sz="1650" b="0">
                          <a:solidFill>
                            <a:srgbClr val="FFFFFF"/>
                          </a:solidFill>
                          <a:latin typeface="JetBrains Mono"/>
                          <a:ea typeface="JetBrains Mono"/>
                          <a:cs typeface="JetBrains Mono"/>
                        </a:rPr>
                        <a:t>Local</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Por que Q previsto é alto hoje?</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Contribuição de cada entrada para uma previsão.</a:t>
                      </a:r>
                    </a:p>
                  </a:txBody>
                  <a:tcPr marL="91440" marR="91440" marT="45720" marB="45720" anchor="ctr">
                    <a:solidFill>
                      <a:srgbClr val="000F29"/>
                    </a:solidFill>
                  </a:tcPr>
                </a:tc>
              </a:tr>
              <a:tr h="790575">
                <a:tc>
                  <a:txBody>
                    <a:bodyPr lIns="85725" tIns="57150" rIns="85725" bIns="57150">
                      <a:noAutofit/>
                    </a:bodyPr>
                    <a:lstStyle/>
                    <a:p>
                      <a:pPr algn="l">
                        <a:buNone/>
                      </a:pPr>
                      <a:r>
                        <a:rPr sz="1650" b="0">
                          <a:solidFill>
                            <a:srgbClr val="FFFFFF"/>
                          </a:solidFill>
                          <a:latin typeface="JetBrains Mono"/>
                          <a:ea typeface="JetBrains Mono"/>
                          <a:cs typeface="JetBrains Mono"/>
                        </a:rPr>
                        <a:t>Global</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O que o modelo usa no conjunto?</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Distribuição de atribuições e importância agregada.</a:t>
                      </a:r>
                    </a:p>
                  </a:txBody>
                  <a:tcPr marL="91440" marR="91440" marT="45720" marB="45720" anchor="ctr">
                    <a:solidFill>
                      <a:srgbClr val="000F29"/>
                    </a:solidFill>
                  </a:tcPr>
                </a:tc>
              </a:tr>
            </a:tbl>
          </a:graphicData>
        </a:graphic>
      </p:graphicFrame>
      <p:sp>
        <p:nvSpPr>
          <p:cNvPr id="20004" name="Explicação local e análise global">
            <a:extLst xmlns:a="http://schemas.openxmlformats.org/drawingml/2006/main">
              <a:ext uri="{FF2B5EF4-FFF2-40B4-BE49-F238E27FC236}">
                <a16:creationId xmlns:a16="http://schemas.microsoft.com/office/drawing/2014/main" id="{B3D8FD06-9390-5C58-8469-9F6AECD888C8}"/>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Explicação local e análise global</a:t>
            </a:r>
          </a:p>
        </p:txBody>
      </p:sp>
      <p:sp>
        <p:nvSpPr>
          <p:cNvPr id="20005" name="A importância global pode esconder c">
            <a:extLst xmlns:a="http://schemas.openxmlformats.org/drawingml/2006/main">
              <a:ext uri="{FF2B5EF4-FFF2-40B4-BE49-F238E27FC236}">
                <a16:creationId xmlns:a16="http://schemas.microsoft.com/office/drawing/2014/main" id="{2D4A5071-5626-54C4-A3FE-492295A940D0}"/>
              </a:ext>
            </a:extLst>
          </p:cNvPr>
          <p:cNvSpPr>
            <a:spLocks xmlns:a="http://schemas.openxmlformats.org/drawingml/2006/main" noGrp="1"/>
          </p:cNvSpPr>
          <p:nvPr/>
        </p:nvSpPr>
        <p:spPr>
          <a:xfrm xmlns:a="http://schemas.openxmlformats.org/drawingml/2006/main">
            <a:off x="457200" y="5476875"/>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A importância global pode esconder comportamentos de cheia e estiagem.</a:t>
            </a:r>
          </a:p>
        </p:txBody>
      </p:sp>
      <p:pic>
        <p:nvPicPr>
          <p:cNvPr id="20006" name="Imagem 13"/>
          <p:cNvPicPr>
            <a:picLocks xmlns:a="http://schemas.openxmlformats.org/drawingml/2006/main" noChangeAspect="1"/>
          </p:cNvPicPr>
          <p:nvPr/>
        </p:nvPicPr>
        <p:blipFill>
          <a:blip xmlns:r="http://schemas.openxmlformats.org/officeDocument/2006/relationships" xmlns:a="http://schemas.openxmlformats.org/drawingml/2006/main" r:embed="Ra12625919f244bce"/>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20007" name="Hydro-UAI Explicabilidade">
            <a:extLst xmlns:a="http://schemas.openxmlformats.org/drawingml/2006/main">
              <a:ext uri="{FF2B5EF4-FFF2-40B4-BE49-F238E27FC236}">
                <a16:creationId xmlns:a16="http://schemas.microsoft.com/office/drawing/2014/main" id="{4D92C824-6B92-5451-838C-7C7BFD4AA79D}"/>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Explicabilidade</a:t>
            </a:r>
          </a:p>
        </p:txBody>
      </p:sp>
      <p:sp>
        <p:nvSpPr>
          <p:cNvPr id="20008" name="Divisor Hydro-UAI">
            <a:extLst xmlns:a="http://schemas.openxmlformats.org/drawingml/2006/main">
              <a:ext uri="{FF2B5EF4-FFF2-40B4-BE49-F238E27FC236}">
                <a16:creationId xmlns:a16="http://schemas.microsoft.com/office/drawing/2014/main" id="{C9D7A25B-36E5-5686-8B43-12EA640B4FDA}"/>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20009" name="Hydro-UAI Hydro-UAI Course">
            <a:extLst xmlns:a="http://schemas.openxmlformats.org/drawingml/2006/main">
              <a:ext uri="{FF2B5EF4-FFF2-40B4-BE49-F238E27FC236}">
                <a16:creationId xmlns:a16="http://schemas.microsoft.com/office/drawing/2014/main" id="{36BCA147-FCF7-59D4-BF87-599C4F20D948}"/>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20010" name="Hydro-UAI 20 / 62">
            <a:extLst xmlns:a="http://schemas.openxmlformats.org/drawingml/2006/main">
              <a:ext uri="{FF2B5EF4-FFF2-40B4-BE49-F238E27FC236}">
                <a16:creationId xmlns:a16="http://schemas.microsoft.com/office/drawing/2014/main" id="{A62E437D-B0C1-5FF3-A9E4-88EDF1A37302}"/>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25 / 68</a:t>
            </a:r>
          </a:p>
        </p:txBody>
      </p:sp>
    </p:spTree>
    <p:extLst>
      <p:ext uri="{BB962C8B-B14F-4D97-AF65-F5344CB8AC3E}">
        <p14:creationId xmlns:p14="http://schemas.microsoft.com/office/powerpoint/2010/main" val="3991283715"/>
      </p:ext>
    </p:extLst>
  </p:cSld>
</p:sld>
</file>

<file path=ppt/slides/slide21.xml><?xml version="1.0" encoding="utf-8"?>
<p:sld xmlns:p="http://schemas.openxmlformats.org/presentationml/2006/main">
  <p:cSld>
    <p:spTree>
      <p:nvGrpSpPr>
        <p:cNvPr id="21001" name=""/>
        <p:cNvGrpSpPr/>
        <p:nvPr/>
      </p:nvGrpSpPr>
      <p:grpSpPr>
        <a:xfrm xmlns:a="http://schemas.openxmlformats.org/drawingml/2006/main"/>
      </p:grpSpPr>
      <p:sp>
        <p:nvSpPr>
          <p:cNvPr id="21002" name="Retângulo 6">
            <a:extLst xmlns:a="http://schemas.openxmlformats.org/drawingml/2006/main">
              <a:ext uri="{FF2B5EF4-FFF2-40B4-BE49-F238E27FC236}">
                <a16:creationId xmlns:a16="http://schemas.microsoft.com/office/drawing/2014/main" id="{F2EC27D6-CEB1-5C10-BD2C-3DB7C740A2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21003" name="Chart"/>
          <p:cNvGraphicFramePr/>
          <p:nvPr/>
        </p:nvGraphicFramePr>
        <p:xfrm>
          <a:off xmlns:a="http://schemas.openxmlformats.org/drawingml/2006/main" x="457200" y="3209925"/>
          <a:ext xmlns:a="http://schemas.openxmlformats.org/drawingml/2006/main" cx="7267575" cy="2505075"/>
        </p:xfrm>
        <a:graphic xmlns:a="http://schemas.openxmlformats.org/drawingml/2006/main">
          <a:graphicData uri="http://schemas.openxmlformats.org/drawingml/2006/chart">
            <c:chart xmlns:r="http://schemas.openxmlformats.org/officeDocument/2006/relationships" xmlns:c="http://schemas.openxmlformats.org/drawingml/2006/chart" r:id="R533d6363c64843f8"/>
          </a:graphicData>
        </a:graphic>
      </p:graphicFrame>
      <p:sp>
        <p:nvSpPr>
          <p:cNvPr id="21004" name="SHAP: decomposição de uma previsão d">
            <a:extLst xmlns:a="http://schemas.openxmlformats.org/drawingml/2006/main">
              <a:ext uri="{FF2B5EF4-FFF2-40B4-BE49-F238E27FC236}">
                <a16:creationId xmlns:a16="http://schemas.microsoft.com/office/drawing/2014/main" id="{E5417BBC-C2D9-56EB-9498-3D8D0B217815}"/>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SHAP: decomposição de uma previsão de vazão</a:t>
            </a:r>
          </a:p>
        </p:txBody>
      </p:sp>
      <p:sp>
        <p:nvSpPr>
          <p:cNvPr id="21005" name="Q̂ = 15 + 12 + 7 - 4 = 30 m³/s">
            <a:extLst xmlns:a="http://schemas.openxmlformats.org/drawingml/2006/main">
              <a:ext uri="{FF2B5EF4-FFF2-40B4-BE49-F238E27FC236}">
                <a16:creationId xmlns:a16="http://schemas.microsoft.com/office/drawing/2014/main" id="{DD1F1424-9B59-5BAC-90BB-E6D0641CA449}"/>
              </a:ext>
            </a:extLst>
          </p:cNvPr>
          <p:cNvSpPr>
            <a:spLocks xmlns:a="http://schemas.openxmlformats.org/drawingml/2006/main" noGrp="1"/>
          </p:cNvSpPr>
          <p:nvPr/>
        </p:nvSpPr>
        <p:spPr>
          <a:xfrm xmlns:a="http://schemas.openxmlformats.org/drawingml/2006/main">
            <a:off x="457200" y="25050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71E7BD"/>
                </a:solidFill>
                <a:latin typeface="JetBrains Mono"/>
                <a:ea typeface="JetBrains Mono"/>
                <a:cs typeface="JetBrains Mono"/>
              </a:defRPr>
            </a:pPr>
            <a:r>
              <a:rPr sz="2175" b="1">
                <a:solidFill>
                  <a:srgbClr val="71E7BD"/>
                </a:solidFill>
                <a:latin typeface="JetBrains Mono"/>
                <a:ea typeface="JetBrains Mono"/>
                <a:cs typeface="JetBrains Mono"/>
              </a:rPr>
              <a:t>Q̂ = 15 + 12 + 7 - 4 = 30 m³/s</a:t>
            </a:r>
          </a:p>
        </p:txBody>
      </p:sp>
      <p:sp>
        <p:nvSpPr>
          <p:cNvPr id="21006" name="Referência: 15 m³/s&#10;&#10;Positivo aument">
            <a:extLst xmlns:a="http://schemas.openxmlformats.org/drawingml/2006/main">
              <a:ext uri="{FF2B5EF4-FFF2-40B4-BE49-F238E27FC236}">
                <a16:creationId xmlns:a16="http://schemas.microsoft.com/office/drawing/2014/main" id="{A2A0BF4B-AE0D-5807-B151-33611B6EFEBE}"/>
              </a:ext>
            </a:extLst>
          </p:cNvPr>
          <p:cNvSpPr>
            <a:spLocks xmlns:a="http://schemas.openxmlformats.org/drawingml/2006/main" noGrp="1"/>
          </p:cNvSpPr>
          <p:nvPr/>
        </p:nvSpPr>
        <p:spPr>
          <a:xfrm xmlns:a="http://schemas.openxmlformats.org/drawingml/2006/main">
            <a:off x="8210550" y="3381375"/>
            <a:ext cx="35242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FFFFFF"/>
                </a:solidFill>
                <a:latin typeface="JetBrains Mono"/>
                <a:ea typeface="JetBrains Mono"/>
                <a:cs typeface="JetBrains Mono"/>
              </a:defRPr>
            </a:pPr>
            <a:r>
              <a:rPr sz="1725" b="0">
                <a:solidFill>
                  <a:srgbClr val="FFFFFF"/>
                </a:solidFill>
                <a:latin typeface="JetBrains Mono"/>
                <a:ea typeface="JetBrains Mono"/>
                <a:cs typeface="JetBrains Mono"/>
              </a:rPr>
              <a:t>Referência: 15 m³/s</a:t>
            </a:r>
          </a:p>
          <a:p xmlns:a="http://schemas.openxmlformats.org/drawingml/2006/main">
            <a:r>
              <a:t/>
            </a:r>
          </a:p>
          <a:p xmlns:a="http://schemas.openxmlformats.org/drawingml/2006/main">
            <a:pPr algn="l">
              <a:buNone/>
              <a:defRPr sz="1725" b="0">
                <a:solidFill>
                  <a:srgbClr val="FFFFFF"/>
                </a:solidFill>
                <a:latin typeface="JetBrains Mono"/>
                <a:ea typeface="JetBrains Mono"/>
                <a:cs typeface="JetBrains Mono"/>
              </a:defRPr>
            </a:pPr>
            <a:r>
              <a:rPr sz="1725" b="0">
                <a:solidFill>
                  <a:srgbClr val="FFFFFF"/>
                </a:solidFill>
                <a:latin typeface="JetBrains Mono"/>
                <a:ea typeface="JetBrains Mono"/>
                <a:cs typeface="JetBrains Mono"/>
              </a:rPr>
              <a:t>Positivo aumenta a saída.</a:t>
            </a:r>
          </a:p>
          <a:p xmlns:a="http://schemas.openxmlformats.org/drawingml/2006/main">
            <a:pPr algn="l">
              <a:buNone/>
              <a:defRPr sz="1725" b="0">
                <a:solidFill>
                  <a:srgbClr val="FFFFFF"/>
                </a:solidFill>
                <a:latin typeface="JetBrains Mono"/>
                <a:ea typeface="JetBrains Mono"/>
                <a:cs typeface="JetBrains Mono"/>
              </a:defRPr>
            </a:pPr>
            <a:r>
              <a:rPr sz="1725" b="0">
                <a:solidFill>
                  <a:srgbClr val="FFFFFF"/>
                </a:solidFill>
                <a:latin typeface="JetBrains Mono"/>
                <a:ea typeface="JetBrains Mono"/>
                <a:cs typeface="JetBrains Mono"/>
              </a:rPr>
              <a:t>Negativo reduz a saída.</a:t>
            </a:r>
          </a:p>
        </p:txBody>
      </p:sp>
      <p:sp>
        <p:nvSpPr>
          <p:cNvPr id="21007" name="Atribuições sintéticas na escala da ">
            <a:extLst xmlns:a="http://schemas.openxmlformats.org/drawingml/2006/main">
              <a:ext uri="{FF2B5EF4-FFF2-40B4-BE49-F238E27FC236}">
                <a16:creationId xmlns:a16="http://schemas.microsoft.com/office/drawing/2014/main" id="{64821F46-8DAD-5D33-A32D-CF6C4F2B6D02}"/>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Atribuições sintéticas na escala da vazão. Nenhum modelo foi treinado para este exemplo.</a:t>
            </a:r>
          </a:p>
        </p:txBody>
      </p:sp>
      <p:pic>
        <p:nvPicPr>
          <p:cNvPr id="21008" name="Imagem 13"/>
          <p:cNvPicPr>
            <a:picLocks xmlns:a="http://schemas.openxmlformats.org/drawingml/2006/main" noChangeAspect="1"/>
          </p:cNvPicPr>
          <p:nvPr/>
        </p:nvPicPr>
        <p:blipFill>
          <a:blip xmlns:r="http://schemas.openxmlformats.org/officeDocument/2006/relationships" xmlns:a="http://schemas.openxmlformats.org/drawingml/2006/main" r:embed="R5e36e711710c4547"/>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21009" name="Hydro-UAI Explicabilidade">
            <a:extLst xmlns:a="http://schemas.openxmlformats.org/drawingml/2006/main">
              <a:ext uri="{FF2B5EF4-FFF2-40B4-BE49-F238E27FC236}">
                <a16:creationId xmlns:a16="http://schemas.microsoft.com/office/drawing/2014/main" id="{E28386A5-8561-50F5-B623-5AD2CE17C4B6}"/>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Explicabilidade</a:t>
            </a:r>
          </a:p>
        </p:txBody>
      </p:sp>
      <p:sp>
        <p:nvSpPr>
          <p:cNvPr id="21010" name="Divisor Hydro-UAI">
            <a:extLst xmlns:a="http://schemas.openxmlformats.org/drawingml/2006/main">
              <a:ext uri="{FF2B5EF4-FFF2-40B4-BE49-F238E27FC236}">
                <a16:creationId xmlns:a16="http://schemas.microsoft.com/office/drawing/2014/main" id="{868DDAEE-0F0E-54DE-9087-0E372F229001}"/>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21011" name="Hydro-UAI Hydro-UAI Course">
            <a:extLst xmlns:a="http://schemas.openxmlformats.org/drawingml/2006/main">
              <a:ext uri="{FF2B5EF4-FFF2-40B4-BE49-F238E27FC236}">
                <a16:creationId xmlns:a16="http://schemas.microsoft.com/office/drawing/2014/main" id="{3D4F3853-2966-5F21-87F7-2FCA0A18B5DD}"/>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21012" name="Hydro-UAI 21 / 62">
            <a:extLst xmlns:a="http://schemas.openxmlformats.org/drawingml/2006/main">
              <a:ext uri="{FF2B5EF4-FFF2-40B4-BE49-F238E27FC236}">
                <a16:creationId xmlns:a16="http://schemas.microsoft.com/office/drawing/2014/main" id="{09734EF9-85CF-5521-84A6-8519F4053B6C}"/>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26 / 68</a:t>
            </a:r>
          </a:p>
        </p:txBody>
      </p:sp>
    </p:spTree>
    <p:extLst>
      <p:ext uri="{BB962C8B-B14F-4D97-AF65-F5344CB8AC3E}">
        <p14:creationId xmlns:p14="http://schemas.microsoft.com/office/powerpoint/2010/main" val="3991283715"/>
      </p:ext>
    </p:extLst>
  </p:cSld>
</p:sld>
</file>

<file path=ppt/slides/slide22.xml><?xml version="1.0" encoding="utf-8"?>
<p:sld xmlns:p="http://schemas.openxmlformats.org/presentationml/2006/main">
  <p:cSld>
    <p:spTree>
      <p:nvGrpSpPr>
        <p:cNvPr id="22001" name=""/>
        <p:cNvGrpSpPr/>
        <p:nvPr/>
      </p:nvGrpSpPr>
      <p:grpSpPr>
        <a:xfrm xmlns:a="http://schemas.openxmlformats.org/drawingml/2006/main"/>
      </p:grpSpPr>
      <p:sp>
        <p:nvSpPr>
          <p:cNvPr id="22002" name="Retângulo 6">
            <a:extLst xmlns:a="http://schemas.openxmlformats.org/drawingml/2006/main">
              <a:ext uri="{FF2B5EF4-FFF2-40B4-BE49-F238E27FC236}">
                <a16:creationId xmlns:a16="http://schemas.microsoft.com/office/drawing/2014/main" id="{E9B0B286-D177-5220-B690-34589C0CD2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22003" name="Chart"/>
          <p:cNvGraphicFramePr/>
          <p:nvPr/>
        </p:nvGraphicFramePr>
        <p:xfrm>
          <a:off xmlns:a="http://schemas.openxmlformats.org/drawingml/2006/main" x="457200" y="2733675"/>
          <a:ext xmlns:a="http://schemas.openxmlformats.org/drawingml/2006/main" cx="7305675" cy="2914650"/>
        </p:xfrm>
        <a:graphic xmlns:a="http://schemas.openxmlformats.org/drawingml/2006/main">
          <a:graphicData uri="http://schemas.openxmlformats.org/drawingml/2006/chart">
            <c:chart xmlns:r="http://schemas.openxmlformats.org/officeDocument/2006/relationships" xmlns:c="http://schemas.openxmlformats.org/drawingml/2006/chart" r:id="R650ca81fe18f43b5"/>
          </a:graphicData>
        </a:graphic>
      </p:graphicFrame>
      <p:sp>
        <p:nvSpPr>
          <p:cNvPr id="22004" name="SHAP global: tamanho médio das contr">
            <a:extLst xmlns:a="http://schemas.openxmlformats.org/drawingml/2006/main">
              <a:ext uri="{FF2B5EF4-FFF2-40B4-BE49-F238E27FC236}">
                <a16:creationId xmlns:a16="http://schemas.microsoft.com/office/drawing/2014/main" id="{EB2EA80C-C109-52EF-B3CE-8C114C5F7FA1}"/>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SHAP global: tamanho médio das contribuições</a:t>
            </a:r>
          </a:p>
        </p:txBody>
      </p:sp>
      <p:sp>
        <p:nvSpPr>
          <p:cNvPr id="22005" name="A média absoluta&#10;resume magnitude.&#10;&#10;">
            <a:extLst xmlns:a="http://schemas.openxmlformats.org/drawingml/2006/main">
              <a:ext uri="{FF2B5EF4-FFF2-40B4-BE49-F238E27FC236}">
                <a16:creationId xmlns:a16="http://schemas.microsoft.com/office/drawing/2014/main" id="{477266A8-FFAF-5E05-B8F2-581B2D467A70}"/>
              </a:ext>
            </a:extLst>
          </p:cNvPr>
          <p:cNvSpPr>
            <a:spLocks xmlns:a="http://schemas.openxmlformats.org/drawingml/2006/main" noGrp="1"/>
          </p:cNvSpPr>
          <p:nvPr/>
        </p:nvSpPr>
        <p:spPr>
          <a:xfrm xmlns:a="http://schemas.openxmlformats.org/drawingml/2006/main">
            <a:off x="8286750" y="3095625"/>
            <a:ext cx="34480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A média absoluta</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resume magnitude.</a:t>
            </a:r>
          </a:p>
          <a:p xmlns:a="http://schemas.openxmlformats.org/drawingml/2006/main">
            <a:r>
              <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O sinal e o contexto</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ficam fora desse resumo.</a:t>
            </a:r>
          </a:p>
        </p:txBody>
      </p:sp>
      <p:sp>
        <p:nvSpPr>
          <p:cNvPr id="22006" name="Importâncias sintéticas. A comparaçã">
            <a:extLst xmlns:a="http://schemas.openxmlformats.org/drawingml/2006/main">
              <a:ext uri="{FF2B5EF4-FFF2-40B4-BE49-F238E27FC236}">
                <a16:creationId xmlns:a16="http://schemas.microsoft.com/office/drawing/2014/main" id="{5CD9248D-FC92-547D-90A5-9C4818C991E4}"/>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Importâncias sintéticas. A comparação exige a mesma saída e o mesmo conjunto de avaliação.</a:t>
            </a:r>
          </a:p>
        </p:txBody>
      </p:sp>
      <p:pic>
        <p:nvPicPr>
          <p:cNvPr id="22007" name="Imagem 13"/>
          <p:cNvPicPr>
            <a:picLocks xmlns:a="http://schemas.openxmlformats.org/drawingml/2006/main" noChangeAspect="1"/>
          </p:cNvPicPr>
          <p:nvPr/>
        </p:nvPicPr>
        <p:blipFill>
          <a:blip xmlns:r="http://schemas.openxmlformats.org/officeDocument/2006/relationships" xmlns:a="http://schemas.openxmlformats.org/drawingml/2006/main" r:embed="R92cac490dceb41f8"/>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22008" name="Hydro-UAI Explicabilidade">
            <a:extLst xmlns:a="http://schemas.openxmlformats.org/drawingml/2006/main">
              <a:ext uri="{FF2B5EF4-FFF2-40B4-BE49-F238E27FC236}">
                <a16:creationId xmlns:a16="http://schemas.microsoft.com/office/drawing/2014/main" id="{0686D59D-04F3-559E-8C19-78430373C339}"/>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Explicabilidade</a:t>
            </a:r>
          </a:p>
        </p:txBody>
      </p:sp>
      <p:sp>
        <p:nvSpPr>
          <p:cNvPr id="22009" name="Divisor Hydro-UAI">
            <a:extLst xmlns:a="http://schemas.openxmlformats.org/drawingml/2006/main">
              <a:ext uri="{FF2B5EF4-FFF2-40B4-BE49-F238E27FC236}">
                <a16:creationId xmlns:a16="http://schemas.microsoft.com/office/drawing/2014/main" id="{134F03A9-13D4-57B1-AE58-554521487069}"/>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22010" name="Hydro-UAI Hydro-UAI Course">
            <a:extLst xmlns:a="http://schemas.openxmlformats.org/drawingml/2006/main">
              <a:ext uri="{FF2B5EF4-FFF2-40B4-BE49-F238E27FC236}">
                <a16:creationId xmlns:a16="http://schemas.microsoft.com/office/drawing/2014/main" id="{8C2A7D54-CA27-58DE-A766-EEFD8BE9B6F6}"/>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22011" name="Hydro-UAI 22 / 62">
            <a:extLst xmlns:a="http://schemas.openxmlformats.org/drawingml/2006/main">
              <a:ext uri="{FF2B5EF4-FFF2-40B4-BE49-F238E27FC236}">
                <a16:creationId xmlns:a16="http://schemas.microsoft.com/office/drawing/2014/main" id="{3840E8AE-58CF-5DD1-923E-4471896E4653}"/>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27 / 68</a:t>
            </a:r>
          </a:p>
        </p:txBody>
      </p:sp>
    </p:spTree>
    <p:extLst>
      <p:ext uri="{BB962C8B-B14F-4D97-AF65-F5344CB8AC3E}">
        <p14:creationId xmlns:p14="http://schemas.microsoft.com/office/powerpoint/2010/main" val="3991283715"/>
      </p:ext>
    </p:extLst>
  </p:cSld>
</p:sld>
</file>

<file path=ppt/slides/slide23.xml><?xml version="1.0" encoding="utf-8"?>
<p:sld xmlns:p="http://schemas.openxmlformats.org/presentationml/2006/main">
  <p:cSld>
    <p:spTree>
      <p:nvGrpSpPr>
        <p:cNvPr id="23001" name=""/>
        <p:cNvGrpSpPr/>
        <p:nvPr/>
      </p:nvGrpSpPr>
      <p:grpSpPr>
        <a:xfrm xmlns:a="http://schemas.openxmlformats.org/drawingml/2006/main"/>
      </p:grpSpPr>
      <p:sp>
        <p:nvSpPr>
          <p:cNvPr id="23002" name="Retângulo 6">
            <a:extLst xmlns:a="http://schemas.openxmlformats.org/drawingml/2006/main">
              <a:ext uri="{FF2B5EF4-FFF2-40B4-BE49-F238E27FC236}">
                <a16:creationId xmlns:a16="http://schemas.microsoft.com/office/drawing/2014/main" id="{C7F4B329-BE5D-56E3-9E99-CDB29B96656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23003" name=""/>
          <p:cNvGraphicFramePr/>
          <p:nvPr/>
        </p:nvGraphicFramePr>
        <p:xfrm>
          <a:off xmlns:a="http://schemas.openxmlformats.org/drawingml/2006/main" x="457200" y="3562350"/>
          <a:ext xmlns:a="http://schemas.openxmlformats.org/drawingml/2006/main" cx="11277600" cy="2181225"/>
        </p:xfrm>
        <a:graphic xmlns:a="http://schemas.openxmlformats.org/drawingml/2006/main">
          <a:graphicData uri="http://schemas.openxmlformats.org/drawingml/2006/table">
            <a:tbl>
              <a:tblPr/>
              <a:tblGrid>
                <a:gridCol w="5019675"/>
                <a:gridCol w="6257925"/>
              </a:tblGrid>
              <a:tr h="545306">
                <a:tc>
                  <a:txBody>
                    <a:bodyPr lIns="85725" tIns="57150" rIns="85725" bIns="57150">
                      <a:noAutofit/>
                    </a:bodyPr>
                    <a:lstStyle/>
                    <a:p>
                      <a:pPr algn="l">
                        <a:buNone/>
                      </a:pPr>
                      <a:r>
                        <a:rPr sz="1800" b="1">
                          <a:solidFill>
                            <a:srgbClr val="FFFFFF"/>
                          </a:solidFill>
                          <a:latin typeface="JetBrains Mono"/>
                          <a:ea typeface="JetBrains Mono"/>
                          <a:cs typeface="JetBrains Mono"/>
                        </a:rPr>
                        <a:t>Exemplo linear</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Valor</a:t>
                      </a:r>
                    </a:p>
                  </a:txBody>
                  <a:tcPr marL="91440" marR="91440" marT="45720" marB="45720" anchor="ctr">
                    <a:solidFill>
                      <a:srgbClr val="0053EB"/>
                    </a:solidFill>
                  </a:tcPr>
                </a:tc>
              </a:tr>
              <a:tr h="545306">
                <a:tc>
                  <a:txBody>
                    <a:bodyPr lIns="85725" tIns="57150" rIns="85725" bIns="57150">
                      <a:noAutofit/>
                    </a:bodyPr>
                    <a:lstStyle/>
                    <a:p>
                      <a:pPr algn="l">
                        <a:buNone/>
                      </a:pPr>
                      <a:r>
                        <a:rPr sz="1800" b="0">
                          <a:solidFill>
                            <a:srgbClr val="FFFFFF"/>
                          </a:solidFill>
                          <a:latin typeface="JetBrains Mono"/>
                          <a:ea typeface="JetBrains Mono"/>
                          <a:cs typeface="JetBrains Mono"/>
                        </a:rPr>
                        <a:t>F(x) = 10 + 2x₁ + x₂</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x′ = [0, 0],  x = [4, 3]</a:t>
                      </a:r>
                    </a:p>
                  </a:txBody>
                  <a:tcPr marL="91440" marR="91440" marT="45720" marB="45720" anchor="ctr">
                    <a:solidFill>
                      <a:srgbClr val="000F29"/>
                    </a:solidFill>
                  </a:tcPr>
                </a:tc>
              </a:tr>
              <a:tr h="545306">
                <a:tc>
                  <a:txBody>
                    <a:bodyPr lIns="85725" tIns="57150" rIns="85725" bIns="57150">
                      <a:noAutofit/>
                    </a:bodyPr>
                    <a:lstStyle/>
                    <a:p>
                      <a:pPr algn="l">
                        <a:buNone/>
                      </a:pPr>
                      <a:r>
                        <a:rPr sz="1800" b="0">
                          <a:solidFill>
                            <a:srgbClr val="FFFFFF"/>
                          </a:solidFill>
                          <a:latin typeface="JetBrains Mono"/>
                          <a:ea typeface="JetBrains Mono"/>
                          <a:cs typeface="JetBrains Mono"/>
                        </a:rPr>
                        <a:t>Contribuições IG</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[8, 3]</a:t>
                      </a:r>
                    </a:p>
                  </a:txBody>
                  <a:tcPr marL="91440" marR="91440" marT="45720" marB="45720" anchor="ctr">
                    <a:solidFill>
                      <a:srgbClr val="000F29"/>
                    </a:solidFill>
                  </a:tcPr>
                </a:tc>
              </a:tr>
              <a:tr h="545306">
                <a:tc>
                  <a:txBody>
                    <a:bodyPr lIns="85725" tIns="57150" rIns="85725" bIns="57150">
                      <a:noAutofit/>
                    </a:bodyPr>
                    <a:lstStyle/>
                    <a:p>
                      <a:pPr algn="l">
                        <a:buNone/>
                      </a:pPr>
                      <a:r>
                        <a:rPr sz="1800" b="0">
                          <a:solidFill>
                            <a:srgbClr val="FFFFFF"/>
                          </a:solidFill>
                          <a:latin typeface="JetBrains Mono"/>
                          <a:ea typeface="JetBrains Mono"/>
                          <a:cs typeface="JetBrains Mono"/>
                        </a:rPr>
                        <a:t>Reconstrução</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10 + 8 + 3 = 21</a:t>
                      </a:r>
                    </a:p>
                  </a:txBody>
                  <a:tcPr marL="91440" marR="91440" marT="45720" marB="45720" anchor="ctr">
                    <a:solidFill>
                      <a:srgbClr val="000F29"/>
                    </a:solidFill>
                  </a:tcPr>
                </a:tc>
              </a:tr>
            </a:tbl>
          </a:graphicData>
        </a:graphic>
      </p:graphicFrame>
      <p:sp>
        <p:nvSpPr>
          <p:cNvPr id="23004" name="Integrated Gradients e uma referênci">
            <a:extLst xmlns:a="http://schemas.openxmlformats.org/drawingml/2006/main">
              <a:ext uri="{FF2B5EF4-FFF2-40B4-BE49-F238E27FC236}">
                <a16:creationId xmlns:a16="http://schemas.microsoft.com/office/drawing/2014/main" id="{C98BE231-7C0F-5E42-B997-83B548328378}"/>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Integrated Gradients e uma referência de entrada</a:t>
            </a:r>
          </a:p>
        </p:txBody>
      </p:sp>
      <p:sp>
        <p:nvSpPr>
          <p:cNvPr id="23005" name="IGⱼ = (xⱼ - x′ⱼ) ∫₀¹ ∂F(x′ + α(x - x">
            <a:extLst xmlns:a="http://schemas.openxmlformats.org/drawingml/2006/main">
              <a:ext uri="{FF2B5EF4-FFF2-40B4-BE49-F238E27FC236}">
                <a16:creationId xmlns:a16="http://schemas.microsoft.com/office/drawing/2014/main" id="{F964319F-3E2B-5802-B8B2-0A9587C74B79}"/>
              </a:ext>
            </a:extLst>
          </p:cNvPr>
          <p:cNvSpPr>
            <a:spLocks xmlns:a="http://schemas.openxmlformats.org/drawingml/2006/main" noGrp="1"/>
          </p:cNvSpPr>
          <p:nvPr/>
        </p:nvSpPr>
        <p:spPr>
          <a:xfrm xmlns:a="http://schemas.openxmlformats.org/drawingml/2006/main">
            <a:off x="457200" y="2524125"/>
            <a:ext cx="11277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IGⱼ = (xⱼ - x′ⱼ) ∫₀¹ ∂F(x′ + α(x - x′))/∂xⱼ dα</a:t>
            </a:r>
          </a:p>
        </p:txBody>
      </p:sp>
      <p:pic>
        <p:nvPicPr>
          <p:cNvPr id="23006" name="Imagem 13"/>
          <p:cNvPicPr>
            <a:picLocks xmlns:a="http://schemas.openxmlformats.org/drawingml/2006/main" noChangeAspect="1"/>
          </p:cNvPicPr>
          <p:nvPr/>
        </p:nvPicPr>
        <p:blipFill>
          <a:blip xmlns:r="http://schemas.openxmlformats.org/officeDocument/2006/relationships" xmlns:a="http://schemas.openxmlformats.org/drawingml/2006/main" r:embed="Ra818b6b40db848f5"/>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23007" name="Hydro-UAI Explicabilidade">
            <a:extLst xmlns:a="http://schemas.openxmlformats.org/drawingml/2006/main">
              <a:ext uri="{FF2B5EF4-FFF2-40B4-BE49-F238E27FC236}">
                <a16:creationId xmlns:a16="http://schemas.microsoft.com/office/drawing/2014/main" id="{0FF0C832-6FDA-5FD2-9EC4-FCA9027ED071}"/>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Explicabilidade</a:t>
            </a:r>
          </a:p>
        </p:txBody>
      </p:sp>
      <p:sp>
        <p:nvSpPr>
          <p:cNvPr id="23008" name="Divisor Hydro-UAI">
            <a:extLst xmlns:a="http://schemas.openxmlformats.org/drawingml/2006/main">
              <a:ext uri="{FF2B5EF4-FFF2-40B4-BE49-F238E27FC236}">
                <a16:creationId xmlns:a16="http://schemas.microsoft.com/office/drawing/2014/main" id="{A54B4D45-E596-5D95-A3BC-3DC859C652DF}"/>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23009" name="Hydro-UAI Hydro-UAI Course">
            <a:extLst xmlns:a="http://schemas.openxmlformats.org/drawingml/2006/main">
              <a:ext uri="{FF2B5EF4-FFF2-40B4-BE49-F238E27FC236}">
                <a16:creationId xmlns:a16="http://schemas.microsoft.com/office/drawing/2014/main" id="{B3BD6133-C2D9-58CF-A805-E06348A13FBC}"/>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23010" name="Hydro-UAI 23 / 62">
            <a:extLst xmlns:a="http://schemas.openxmlformats.org/drawingml/2006/main">
              <a:ext uri="{FF2B5EF4-FFF2-40B4-BE49-F238E27FC236}">
                <a16:creationId xmlns:a16="http://schemas.microsoft.com/office/drawing/2014/main" id="{60333240-C93A-5073-9A40-B49EE7735665}"/>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28 / 68</a:t>
            </a:r>
          </a:p>
        </p:txBody>
      </p:sp>
    </p:spTree>
    <p:extLst>
      <p:ext uri="{BB962C8B-B14F-4D97-AF65-F5344CB8AC3E}">
        <p14:creationId xmlns:p14="http://schemas.microsoft.com/office/powerpoint/2010/main" val="3991283715"/>
      </p:ext>
    </p:extLst>
  </p:cSld>
</p:sld>
</file>

<file path=ppt/slides/slide24.xml><?xml version="1.0" encoding="utf-8"?>
<p:sld xmlns:p="http://schemas.openxmlformats.org/presentationml/2006/main">
  <p:cSld>
    <p:spTree>
      <p:nvGrpSpPr>
        <p:cNvPr id="24001" name=""/>
        <p:cNvGrpSpPr/>
        <p:nvPr/>
      </p:nvGrpSpPr>
      <p:grpSpPr>
        <a:xfrm xmlns:a="http://schemas.openxmlformats.org/drawingml/2006/main"/>
      </p:grpSpPr>
      <p:sp>
        <p:nvSpPr>
          <p:cNvPr id="24002" name="Retângulo 6">
            <a:extLst xmlns:a="http://schemas.openxmlformats.org/drawingml/2006/main">
              <a:ext uri="{FF2B5EF4-FFF2-40B4-BE49-F238E27FC236}">
                <a16:creationId xmlns:a16="http://schemas.microsoft.com/office/drawing/2014/main" id="{89F97C8A-B7B3-5148-8B44-E717F1945A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24003" name=""/>
          <p:cNvGraphicFramePr/>
          <p:nvPr/>
        </p:nvGraphicFramePr>
        <p:xfrm>
          <a:off xmlns:a="http://schemas.openxmlformats.org/drawingml/2006/main" x="457200" y="3105150"/>
          <a:ext xmlns:a="http://schemas.openxmlformats.org/drawingml/2006/main" cx="11277600" cy="2076450"/>
        </p:xfrm>
        <a:graphic xmlns:a="http://schemas.openxmlformats.org/drawingml/2006/main">
          <a:graphicData uri="http://schemas.openxmlformats.org/drawingml/2006/table">
            <a:tbl>
              <a:tblPr/>
              <a:tblGrid>
                <a:gridCol w="2476500"/>
                <a:gridCol w="1466850"/>
                <a:gridCol w="1466850"/>
                <a:gridCol w="1466850"/>
                <a:gridCol w="1466850"/>
                <a:gridCol w="1466850"/>
                <a:gridCol w="1466850"/>
              </a:tblGrid>
              <a:tr h="692150">
                <a:tc>
                  <a:txBody>
                    <a:bodyPr lIns="85725" tIns="57150" rIns="85725" bIns="57150">
                      <a:noAutofit/>
                    </a:bodyPr>
                    <a:lstStyle/>
                    <a:p>
                      <a:pPr algn="l">
                        <a:buNone/>
                      </a:pPr>
                      <a:r>
                        <a:rPr sz="1800" b="1">
                          <a:solidFill>
                            <a:srgbClr val="FFFFFF"/>
                          </a:solidFill>
                          <a:latin typeface="JetBrains Mono"/>
                          <a:ea typeface="JetBrains Mono"/>
                          <a:cs typeface="JetBrains Mono"/>
                        </a:rPr>
                        <a:t>Entrada</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t - 5</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t - 4</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t - 3</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t - 2</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t - 1</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t</a:t>
                      </a:r>
                    </a:p>
                  </a:txBody>
                  <a:tcPr marL="91440" marR="91440" marT="45720" marB="45720" anchor="ctr">
                    <a:solidFill>
                      <a:srgbClr val="0053EB"/>
                    </a:solidFill>
                  </a:tcPr>
                </a:tc>
              </a:tr>
              <a:tr h="692150">
                <a:tc>
                  <a:txBody>
                    <a:bodyPr lIns="85725" tIns="57150" rIns="85725" bIns="57150">
                      <a:noAutofit/>
                    </a:bodyPr>
                    <a:lstStyle/>
                    <a:p>
                      <a:pPr algn="l">
                        <a:buNone/>
                      </a:pPr>
                      <a:r>
                        <a:rPr sz="1800" b="0">
                          <a:solidFill>
                            <a:srgbClr val="FFFFFF"/>
                          </a:solidFill>
                          <a:latin typeface="JetBrains Mono"/>
                          <a:ea typeface="JetBrains Mono"/>
                          <a:cs typeface="JetBrains Mono"/>
                        </a:rPr>
                        <a:t>Chuva</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0,2</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0,4</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1,0</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2,0</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5,0</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3,0</a:t>
                      </a:r>
                    </a:p>
                  </a:txBody>
                  <a:tcPr marL="91440" marR="91440" marT="45720" marB="45720" anchor="ctr">
                    <a:solidFill>
                      <a:srgbClr val="000F29"/>
                    </a:solidFill>
                  </a:tcPr>
                </a:tc>
              </a:tr>
              <a:tr h="692150">
                <a:tc>
                  <a:txBody>
                    <a:bodyPr lIns="85725" tIns="57150" rIns="85725" bIns="57150">
                      <a:noAutofit/>
                    </a:bodyPr>
                    <a:lstStyle/>
                    <a:p>
                      <a:pPr algn="l">
                        <a:buNone/>
                      </a:pPr>
                      <a:r>
                        <a:rPr sz="1800" b="0">
                          <a:solidFill>
                            <a:srgbClr val="FFFFFF"/>
                          </a:solidFill>
                          <a:latin typeface="JetBrains Mono"/>
                          <a:ea typeface="JetBrains Mono"/>
                          <a:cs typeface="JetBrains Mono"/>
                        </a:rPr>
                        <a:t>Q anterior</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1,0</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1,0</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2,0</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1,5</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0,5</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0,2</a:t>
                      </a:r>
                    </a:p>
                  </a:txBody>
                  <a:tcPr marL="91440" marR="91440" marT="45720" marB="45720" anchor="ctr">
                    <a:solidFill>
                      <a:srgbClr val="000F29"/>
                    </a:solidFill>
                  </a:tcPr>
                </a:tc>
              </a:tr>
            </a:tbl>
          </a:graphicData>
        </a:graphic>
      </p:graphicFrame>
      <p:sp>
        <p:nvSpPr>
          <p:cNvPr id="24004" name="Atribuições ao longo do histórico da">
            <a:extLst xmlns:a="http://schemas.openxmlformats.org/drawingml/2006/main">
              <a:ext uri="{FF2B5EF4-FFF2-40B4-BE49-F238E27FC236}">
                <a16:creationId xmlns:a16="http://schemas.microsoft.com/office/drawing/2014/main" id="{3B4183B0-B04F-5BDE-88B1-E65E51011BD3}"/>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Atribuições ao longo do histórico da previsão</a:t>
            </a:r>
          </a:p>
        </p:txBody>
      </p:sp>
      <p:sp>
        <p:nvSpPr>
          <p:cNvPr id="24005" name="Atribuição por variável e passo: ond">
            <a:extLst xmlns:a="http://schemas.openxmlformats.org/drawingml/2006/main">
              <a:ext uri="{FF2B5EF4-FFF2-40B4-BE49-F238E27FC236}">
                <a16:creationId xmlns:a16="http://schemas.microsoft.com/office/drawing/2014/main" id="{2222114E-24D2-5753-A10C-787ECAFAAB75}"/>
              </a:ext>
            </a:extLst>
          </p:cNvPr>
          <p:cNvSpPr>
            <a:spLocks xmlns:a="http://schemas.openxmlformats.org/drawingml/2006/main" noGrp="1"/>
          </p:cNvSpPr>
          <p:nvPr/>
        </p:nvSpPr>
        <p:spPr>
          <a:xfrm xmlns:a="http://schemas.openxmlformats.org/drawingml/2006/main">
            <a:off x="457200" y="252412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Atribuição por variável e passo: onde o modelo usou o histórico?</a:t>
            </a:r>
          </a:p>
        </p:txBody>
      </p:sp>
      <p:sp>
        <p:nvSpPr>
          <p:cNvPr id="24006" name="Inspeção por cheia, estiagem e tempo">
            <a:extLst xmlns:a="http://schemas.openxmlformats.org/drawingml/2006/main">
              <a:ext uri="{FF2B5EF4-FFF2-40B4-BE49-F238E27FC236}">
                <a16:creationId xmlns:a16="http://schemas.microsoft.com/office/drawing/2014/main" id="{33522F62-E5EC-5FC5-9F5B-BD34DFC9291B}"/>
              </a:ext>
            </a:extLst>
          </p:cNvPr>
          <p:cNvSpPr>
            <a:spLocks xmlns:a="http://schemas.openxmlformats.org/drawingml/2006/main" noGrp="1"/>
          </p:cNvSpPr>
          <p:nvPr/>
        </p:nvSpPr>
        <p:spPr>
          <a:xfrm xmlns:a="http://schemas.openxmlformats.org/drawingml/2006/main">
            <a:off x="457200" y="5524500"/>
            <a:ext cx="11277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71E7BD"/>
                </a:solidFill>
                <a:latin typeface="JetBrains Mono"/>
                <a:ea typeface="JetBrains Mono"/>
                <a:cs typeface="JetBrains Mono"/>
              </a:defRPr>
            </a:pPr>
            <a:r>
              <a:rPr sz="1875" b="1">
                <a:solidFill>
                  <a:srgbClr val="71E7BD"/>
                </a:solidFill>
                <a:latin typeface="JetBrains Mono"/>
                <a:ea typeface="JetBrains Mono"/>
                <a:cs typeface="JetBrains Mono"/>
              </a:rPr>
              <a:t>Inspeção por cheia, estiagem e tempo até o pico.</a:t>
            </a:r>
          </a:p>
        </p:txBody>
      </p:sp>
      <p:sp>
        <p:nvSpPr>
          <p:cNvPr id="24007" name="Valores didáticos de atribuição (m³/">
            <a:extLst xmlns:a="http://schemas.openxmlformats.org/drawingml/2006/main">
              <a:ext uri="{FF2B5EF4-FFF2-40B4-BE49-F238E27FC236}">
                <a16:creationId xmlns:a16="http://schemas.microsoft.com/office/drawing/2014/main" id="{E5FC24CD-8B28-5324-86F5-80787B2C8A01}"/>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Valores didáticos de atribuição (m³/s), sem treinamento ou cálculo de IG em um modelo real.</a:t>
            </a:r>
          </a:p>
        </p:txBody>
      </p:sp>
      <p:pic>
        <p:nvPicPr>
          <p:cNvPr id="24008" name="Imagem 13"/>
          <p:cNvPicPr>
            <a:picLocks xmlns:a="http://schemas.openxmlformats.org/drawingml/2006/main" noChangeAspect="1"/>
          </p:cNvPicPr>
          <p:nvPr/>
        </p:nvPicPr>
        <p:blipFill>
          <a:blip xmlns:r="http://schemas.openxmlformats.org/officeDocument/2006/relationships" xmlns:a="http://schemas.openxmlformats.org/drawingml/2006/main" r:embed="R1a84db8c023c417e"/>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24009" name="Hydro-UAI Explicabilidade">
            <a:extLst xmlns:a="http://schemas.openxmlformats.org/drawingml/2006/main">
              <a:ext uri="{FF2B5EF4-FFF2-40B4-BE49-F238E27FC236}">
                <a16:creationId xmlns:a16="http://schemas.microsoft.com/office/drawing/2014/main" id="{56D67651-1062-5E8E-B3C0-19437786E15A}"/>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Explicabilidade</a:t>
            </a:r>
          </a:p>
        </p:txBody>
      </p:sp>
      <p:sp>
        <p:nvSpPr>
          <p:cNvPr id="24010" name="Divisor Hydro-UAI">
            <a:extLst xmlns:a="http://schemas.openxmlformats.org/drawingml/2006/main">
              <a:ext uri="{FF2B5EF4-FFF2-40B4-BE49-F238E27FC236}">
                <a16:creationId xmlns:a16="http://schemas.microsoft.com/office/drawing/2014/main" id="{03B737DD-C572-518D-A06F-0C0E49737E9E}"/>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24011" name="Hydro-UAI Hydro-UAI Course">
            <a:extLst xmlns:a="http://schemas.openxmlformats.org/drawingml/2006/main">
              <a:ext uri="{FF2B5EF4-FFF2-40B4-BE49-F238E27FC236}">
                <a16:creationId xmlns:a16="http://schemas.microsoft.com/office/drawing/2014/main" id="{40DAD506-DEC3-5401-88B1-F5A564DC75DE}"/>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24012" name="Hydro-UAI 24 / 62">
            <a:extLst xmlns:a="http://schemas.openxmlformats.org/drawingml/2006/main">
              <a:ext uri="{FF2B5EF4-FFF2-40B4-BE49-F238E27FC236}">
                <a16:creationId xmlns:a16="http://schemas.microsoft.com/office/drawing/2014/main" id="{4B2641BD-9F29-552A-8DDA-74A73F45513D}"/>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29 / 68</a:t>
            </a:r>
          </a:p>
        </p:txBody>
      </p:sp>
    </p:spTree>
    <p:extLst>
      <p:ext uri="{BB962C8B-B14F-4D97-AF65-F5344CB8AC3E}">
        <p14:creationId xmlns:p14="http://schemas.microsoft.com/office/powerpoint/2010/main" val="3991283715"/>
      </p:ext>
    </p:extLst>
  </p:cSld>
</p:sld>
</file>

<file path=ppt/slides/slide25.xml><?xml version="1.0" encoding="utf-8"?>
<p:sld xmlns:p="http://schemas.openxmlformats.org/presentationml/2006/main">
  <p:cSld>
    <p:spTree>
      <p:nvGrpSpPr>
        <p:cNvPr id="25001" name=""/>
        <p:cNvGrpSpPr/>
        <p:nvPr/>
      </p:nvGrpSpPr>
      <p:grpSpPr>
        <a:xfrm xmlns:a="http://schemas.openxmlformats.org/drawingml/2006/main"/>
      </p:grpSpPr>
      <p:sp>
        <p:nvSpPr>
          <p:cNvPr id="25002" name="Retângulo 6">
            <a:extLst xmlns:a="http://schemas.openxmlformats.org/drawingml/2006/main">
              <a:ext uri="{FF2B5EF4-FFF2-40B4-BE49-F238E27FC236}">
                <a16:creationId xmlns:a16="http://schemas.microsoft.com/office/drawing/2014/main" id="{42AC0D19-6A01-5738-AA70-BF807EFB12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25003" name=""/>
          <p:cNvGraphicFramePr/>
          <p:nvPr/>
        </p:nvGraphicFramePr>
        <p:xfrm>
          <a:off xmlns:a="http://schemas.openxmlformats.org/drawingml/2006/main" x="457200" y="3143250"/>
          <a:ext xmlns:a="http://schemas.openxmlformats.org/drawingml/2006/main" cx="4095750" cy="2190750"/>
        </p:xfrm>
        <a:graphic xmlns:a="http://schemas.openxmlformats.org/drawingml/2006/main">
          <a:graphicData uri="http://schemas.openxmlformats.org/drawingml/2006/table">
            <a:tbl>
              <a:tblPr/>
              <a:tblGrid>
                <a:gridCol w="1023938"/>
                <a:gridCol w="1023938"/>
                <a:gridCol w="1023938"/>
                <a:gridCol w="1023938"/>
              </a:tblGrid>
              <a:tr h="547688">
                <a:tc>
                  <a:txBody>
                    <a:bodyPr lIns="85725" tIns="57150" rIns="85725" bIns="57150">
                      <a:noAutofit/>
                    </a:bodyPr>
                    <a:lstStyle/>
                    <a:p>
                      <a:pPr algn="ctr">
                        <a:buNone/>
                      </a:pPr>
                      <a:r>
                        <a:rPr sz="180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800" b="0">
                          <a:solidFill>
                            <a:srgbClr val="FFFFFF"/>
                          </a:solidFill>
                          <a:latin typeface="JetBrains Mono"/>
                          <a:ea typeface="JetBrains Mono"/>
                          <a:cs typeface="JetBrains Mono"/>
                        </a:rPr>
                        <a:t>1</a:t>
                      </a:r>
                    </a:p>
                  </a:txBody>
                  <a:tcPr marL="91440" marR="91440" marT="45720" marB="45720" anchor="ctr">
                    <a:solidFill>
                      <a:srgbClr val="163C69"/>
                    </a:solidFill>
                  </a:tcPr>
                </a:tc>
                <a:tc>
                  <a:txBody>
                    <a:bodyPr lIns="85725" tIns="57150" rIns="85725" bIns="57150">
                      <a:noAutofit/>
                    </a:bodyPr>
                    <a:lstStyle/>
                    <a:p>
                      <a:pPr algn="ctr">
                        <a:buNone/>
                      </a:pPr>
                      <a:r>
                        <a:rPr sz="1800" b="0">
                          <a:solidFill>
                            <a:srgbClr val="FFFFFF"/>
                          </a:solidFill>
                          <a:latin typeface="JetBrains Mono"/>
                          <a:ea typeface="JetBrains Mono"/>
                          <a:cs typeface="JetBrains Mono"/>
                        </a:rPr>
                        <a:t>4</a:t>
                      </a:r>
                    </a:p>
                  </a:txBody>
                  <a:tcPr marL="91440" marR="91440" marT="45720" marB="45720" anchor="ctr">
                    <a:solidFill>
                      <a:srgbClr val="163C69"/>
                    </a:solidFill>
                  </a:tcPr>
                </a:tc>
                <a:tc>
                  <a:txBody>
                    <a:bodyPr lIns="85725" tIns="57150" rIns="85725" bIns="57150">
                      <a:noAutofit/>
                    </a:bodyPr>
                    <a:lstStyle/>
                    <a:p>
                      <a:pPr algn="ctr">
                        <a:buNone/>
                      </a:pPr>
                      <a:r>
                        <a:rPr sz="1800" b="0">
                          <a:solidFill>
                            <a:srgbClr val="FFFFFF"/>
                          </a:solidFill>
                          <a:latin typeface="JetBrains Mono"/>
                          <a:ea typeface="JetBrains Mono"/>
                          <a:cs typeface="JetBrains Mono"/>
                        </a:rPr>
                        <a:t>2</a:t>
                      </a:r>
                    </a:p>
                  </a:txBody>
                  <a:tcPr marL="91440" marR="91440" marT="45720" marB="45720" anchor="ctr">
                    <a:solidFill>
                      <a:srgbClr val="163C69"/>
                    </a:solidFill>
                  </a:tcPr>
                </a:tc>
              </a:tr>
              <a:tr h="547688">
                <a:tc>
                  <a:txBody>
                    <a:bodyPr lIns="85725" tIns="57150" rIns="85725" bIns="57150">
                      <a:noAutofit/>
                    </a:bodyPr>
                    <a:lstStyle/>
                    <a:p>
                      <a:pPr algn="ctr">
                        <a:buNone/>
                      </a:pPr>
                      <a:r>
                        <a:rPr sz="180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800" b="0">
                          <a:solidFill>
                            <a:srgbClr val="FFFFFF"/>
                          </a:solidFill>
                          <a:latin typeface="JetBrains Mono"/>
                          <a:ea typeface="JetBrains Mono"/>
                          <a:cs typeface="JetBrains Mono"/>
                        </a:rPr>
                        <a:t>2</a:t>
                      </a:r>
                    </a:p>
                  </a:txBody>
                  <a:tcPr marL="91440" marR="91440" marT="45720" marB="45720" anchor="ctr">
                    <a:solidFill>
                      <a:srgbClr val="163C69"/>
                    </a:solidFill>
                  </a:tcPr>
                </a:tc>
                <a:tc>
                  <a:txBody>
                    <a:bodyPr lIns="85725" tIns="57150" rIns="85725" bIns="57150">
                      <a:noAutofit/>
                    </a:bodyPr>
                    <a:lstStyle/>
                    <a:p>
                      <a:pPr algn="ctr">
                        <a:buNone/>
                      </a:pPr>
                      <a:r>
                        <a:rPr sz="1800" b="0">
                          <a:solidFill>
                            <a:srgbClr val="FFFFFF"/>
                          </a:solidFill>
                          <a:latin typeface="JetBrains Mono"/>
                          <a:ea typeface="JetBrains Mono"/>
                          <a:cs typeface="JetBrains Mono"/>
                        </a:rPr>
                        <a:t>8</a:t>
                      </a:r>
                    </a:p>
                  </a:txBody>
                  <a:tcPr marL="91440" marR="91440" marT="45720" marB="45720" anchor="ctr">
                    <a:solidFill>
                      <a:srgbClr val="0053EB"/>
                    </a:solidFill>
                  </a:tcPr>
                </a:tc>
                <a:tc>
                  <a:txBody>
                    <a:bodyPr lIns="85725" tIns="57150" rIns="85725" bIns="57150">
                      <a:noAutofit/>
                    </a:bodyPr>
                    <a:lstStyle/>
                    <a:p>
                      <a:pPr algn="ctr">
                        <a:buNone/>
                      </a:pPr>
                      <a:r>
                        <a:rPr sz="1800" b="0">
                          <a:solidFill>
                            <a:srgbClr val="FFFFFF"/>
                          </a:solidFill>
                          <a:latin typeface="JetBrains Mono"/>
                          <a:ea typeface="JetBrains Mono"/>
                          <a:cs typeface="JetBrains Mono"/>
                        </a:rPr>
                        <a:t>4</a:t>
                      </a:r>
                    </a:p>
                  </a:txBody>
                  <a:tcPr marL="91440" marR="91440" marT="45720" marB="45720" anchor="ctr">
                    <a:solidFill>
                      <a:srgbClr val="163C69"/>
                    </a:solidFill>
                  </a:tcPr>
                </a:tc>
              </a:tr>
              <a:tr h="547688">
                <a:tc>
                  <a:txBody>
                    <a:bodyPr lIns="85725" tIns="57150" rIns="85725" bIns="57150">
                      <a:noAutofit/>
                    </a:bodyPr>
                    <a:lstStyle/>
                    <a:p>
                      <a:pPr algn="ctr">
                        <a:buNone/>
                      </a:pPr>
                      <a:r>
                        <a:rPr sz="1800" b="0">
                          <a:solidFill>
                            <a:srgbClr val="FFFFFF"/>
                          </a:solidFill>
                          <a:latin typeface="JetBrains Mono"/>
                          <a:ea typeface="JetBrains Mono"/>
                          <a:cs typeface="JetBrains Mono"/>
                        </a:rPr>
                        <a:t>1</a:t>
                      </a:r>
                    </a:p>
                  </a:txBody>
                  <a:tcPr marL="91440" marR="91440" marT="45720" marB="45720" anchor="ctr">
                    <a:solidFill>
                      <a:srgbClr val="163C69"/>
                    </a:solidFill>
                  </a:tcPr>
                </a:tc>
                <a:tc>
                  <a:txBody>
                    <a:bodyPr lIns="85725" tIns="57150" rIns="85725" bIns="57150">
                      <a:noAutofit/>
                    </a:bodyPr>
                    <a:lstStyle/>
                    <a:p>
                      <a:pPr algn="ctr">
                        <a:buNone/>
                      </a:pPr>
                      <a:r>
                        <a:rPr sz="1800" b="0">
                          <a:solidFill>
                            <a:srgbClr val="FFFFFF"/>
                          </a:solidFill>
                          <a:latin typeface="JetBrains Mono"/>
                          <a:ea typeface="JetBrains Mono"/>
                          <a:cs typeface="JetBrains Mono"/>
                        </a:rPr>
                        <a:t>3</a:t>
                      </a:r>
                    </a:p>
                  </a:txBody>
                  <a:tcPr marL="91440" marR="91440" marT="45720" marB="45720" anchor="ctr">
                    <a:solidFill>
                      <a:srgbClr val="163C69"/>
                    </a:solidFill>
                  </a:tcPr>
                </a:tc>
                <a:tc>
                  <a:txBody>
                    <a:bodyPr lIns="85725" tIns="57150" rIns="85725" bIns="57150">
                      <a:noAutofit/>
                    </a:bodyPr>
                    <a:lstStyle/>
                    <a:p>
                      <a:pPr algn="ctr">
                        <a:buNone/>
                      </a:pPr>
                      <a:r>
                        <a:rPr sz="1800" b="0">
                          <a:solidFill>
                            <a:srgbClr val="000F29"/>
                          </a:solidFill>
                          <a:latin typeface="JetBrains Mono"/>
                          <a:ea typeface="JetBrains Mono"/>
                          <a:cs typeface="JetBrains Mono"/>
                        </a:rPr>
                        <a:t>12</a:t>
                      </a:r>
                    </a:p>
                  </a:txBody>
                  <a:tcPr marL="91440" marR="91440" marT="45720" marB="45720" anchor="ctr">
                    <a:solidFill>
                      <a:srgbClr val="83DFFF"/>
                    </a:solidFill>
                  </a:tcPr>
                </a:tc>
                <a:tc>
                  <a:txBody>
                    <a:bodyPr lIns="85725" tIns="57150" rIns="85725" bIns="57150">
                      <a:noAutofit/>
                    </a:bodyPr>
                    <a:lstStyle/>
                    <a:p>
                      <a:pPr algn="ctr">
                        <a:buNone/>
                      </a:pPr>
                      <a:r>
                        <a:rPr sz="1800" b="0">
                          <a:solidFill>
                            <a:srgbClr val="FFFFFF"/>
                          </a:solidFill>
                          <a:latin typeface="JetBrains Mono"/>
                          <a:ea typeface="JetBrains Mono"/>
                          <a:cs typeface="JetBrains Mono"/>
                        </a:rPr>
                        <a:t>6</a:t>
                      </a:r>
                    </a:p>
                  </a:txBody>
                  <a:tcPr marL="91440" marR="91440" marT="45720" marB="45720" anchor="ctr">
                    <a:solidFill>
                      <a:srgbClr val="0053EB"/>
                    </a:solidFill>
                  </a:tcPr>
                </a:tc>
              </a:tr>
              <a:tr h="547688">
                <a:tc>
                  <a:txBody>
                    <a:bodyPr lIns="85725" tIns="57150" rIns="85725" bIns="57150">
                      <a:noAutofit/>
                    </a:bodyPr>
                    <a:lstStyle/>
                    <a:p>
                      <a:pPr algn="ctr">
                        <a:buNone/>
                      </a:pPr>
                      <a:r>
                        <a:rPr sz="1800"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800" b="0">
                          <a:solidFill>
                            <a:srgbClr val="FFFFFF"/>
                          </a:solidFill>
                          <a:latin typeface="JetBrains Mono"/>
                          <a:ea typeface="JetBrains Mono"/>
                          <a:cs typeface="JetBrains Mono"/>
                        </a:rPr>
                        <a:t>1</a:t>
                      </a:r>
                    </a:p>
                  </a:txBody>
                  <a:tcPr marL="91440" marR="91440" marT="45720" marB="45720" anchor="ctr">
                    <a:solidFill>
                      <a:srgbClr val="163C69"/>
                    </a:solidFill>
                  </a:tcPr>
                </a:tc>
                <a:tc>
                  <a:txBody>
                    <a:bodyPr lIns="85725" tIns="57150" rIns="85725" bIns="57150">
                      <a:noAutofit/>
                    </a:bodyPr>
                    <a:lstStyle/>
                    <a:p>
                      <a:pPr algn="ctr">
                        <a:buNone/>
                      </a:pPr>
                      <a:r>
                        <a:rPr sz="1800" b="0">
                          <a:solidFill>
                            <a:srgbClr val="FFFFFF"/>
                          </a:solidFill>
                          <a:latin typeface="JetBrains Mono"/>
                          <a:ea typeface="JetBrains Mono"/>
                          <a:cs typeface="JetBrains Mono"/>
                        </a:rPr>
                        <a:t>6</a:t>
                      </a:r>
                    </a:p>
                  </a:txBody>
                  <a:tcPr marL="91440" marR="91440" marT="45720" marB="45720" anchor="ctr">
                    <a:solidFill>
                      <a:srgbClr val="0053EB"/>
                    </a:solidFill>
                  </a:tcPr>
                </a:tc>
                <a:tc>
                  <a:txBody>
                    <a:bodyPr lIns="85725" tIns="57150" rIns="85725" bIns="57150">
                      <a:noAutofit/>
                    </a:bodyPr>
                    <a:lstStyle/>
                    <a:p>
                      <a:pPr algn="ctr">
                        <a:buNone/>
                      </a:pPr>
                      <a:r>
                        <a:rPr sz="1800" b="0">
                          <a:solidFill>
                            <a:srgbClr val="FFFFFF"/>
                          </a:solidFill>
                          <a:latin typeface="JetBrains Mono"/>
                          <a:ea typeface="JetBrains Mono"/>
                          <a:cs typeface="JetBrains Mono"/>
                        </a:rPr>
                        <a:t>3</a:t>
                      </a:r>
                    </a:p>
                  </a:txBody>
                  <a:tcPr marL="91440" marR="91440" marT="45720" marB="45720" anchor="ctr">
                    <a:solidFill>
                      <a:srgbClr val="163C69"/>
                    </a:solidFill>
                  </a:tcPr>
                </a:tc>
              </a:tr>
            </a:tbl>
          </a:graphicData>
        </a:graphic>
      </p:graphicFrame>
      <p:graphicFrame>
        <p:nvGraphicFramePr>
          <p:cNvPr id="25004" name=""/>
          <p:cNvGraphicFramePr/>
          <p:nvPr/>
        </p:nvGraphicFramePr>
        <p:xfrm>
          <a:off xmlns:a="http://schemas.openxmlformats.org/drawingml/2006/main" x="6648450" y="3143250"/>
          <a:ext xmlns:a="http://schemas.openxmlformats.org/drawingml/2006/main" cx="4095750" cy="2190750"/>
        </p:xfrm>
        <a:graphic xmlns:a="http://schemas.openxmlformats.org/drawingml/2006/main">
          <a:graphicData uri="http://schemas.openxmlformats.org/drawingml/2006/table">
            <a:tbl>
              <a:tblPr/>
              <a:tblGrid>
                <a:gridCol w="1023938"/>
                <a:gridCol w="1023938"/>
                <a:gridCol w="1023938"/>
                <a:gridCol w="1023938"/>
              </a:tblGrid>
              <a:tr h="547688">
                <a:tc>
                  <a:txBody>
                    <a:bodyPr lIns="85725" tIns="57150" rIns="85725" bIns="57150">
                      <a:noAutofit/>
                    </a:bodyPr>
                    <a:lstStyle/>
                    <a:p>
                      <a:pPr algn="ctr">
                        <a:buNone/>
                      </a:pPr>
                      <a:r>
                        <a:rPr sz="1725"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725" b="0">
                          <a:solidFill>
                            <a:srgbClr val="FFFFFF"/>
                          </a:solidFill>
                          <a:latin typeface="JetBrains Mono"/>
                          <a:ea typeface="JetBrains Mono"/>
                          <a:cs typeface="JetBrains Mono"/>
                        </a:rPr>
                        <a:t>0.1</a:t>
                      </a:r>
                    </a:p>
                  </a:txBody>
                  <a:tcPr marL="91440" marR="91440" marT="45720" marB="45720" anchor="ctr">
                    <a:solidFill>
                      <a:srgbClr val="000F29"/>
                    </a:solidFill>
                  </a:tcPr>
                </a:tc>
                <a:tc>
                  <a:txBody>
                    <a:bodyPr lIns="85725" tIns="57150" rIns="85725" bIns="57150">
                      <a:noAutofit/>
                    </a:bodyPr>
                    <a:lstStyle/>
                    <a:p>
                      <a:pPr algn="ctr">
                        <a:buNone/>
                      </a:pPr>
                      <a:r>
                        <a:rPr sz="1725" b="0">
                          <a:solidFill>
                            <a:srgbClr val="FFFFFF"/>
                          </a:solidFill>
                          <a:latin typeface="JetBrains Mono"/>
                          <a:ea typeface="JetBrains Mono"/>
                          <a:cs typeface="JetBrains Mono"/>
                        </a:rPr>
                        <a:t>0.3</a:t>
                      </a:r>
                    </a:p>
                  </a:txBody>
                  <a:tcPr marL="91440" marR="91440" marT="45720" marB="45720" anchor="ctr">
                    <a:solidFill>
                      <a:srgbClr val="163C69"/>
                    </a:solidFill>
                  </a:tcPr>
                </a:tc>
                <a:tc>
                  <a:txBody>
                    <a:bodyPr lIns="85725" tIns="57150" rIns="85725" bIns="57150">
                      <a:noAutofit/>
                    </a:bodyPr>
                    <a:lstStyle/>
                    <a:p>
                      <a:pPr algn="ctr">
                        <a:buNone/>
                      </a:pPr>
                      <a:r>
                        <a:rPr sz="1725" b="0">
                          <a:solidFill>
                            <a:srgbClr val="FFFFFF"/>
                          </a:solidFill>
                          <a:latin typeface="JetBrains Mono"/>
                          <a:ea typeface="JetBrains Mono"/>
                          <a:cs typeface="JetBrains Mono"/>
                        </a:rPr>
                        <a:t>0.1</a:t>
                      </a:r>
                    </a:p>
                  </a:txBody>
                  <a:tcPr marL="91440" marR="91440" marT="45720" marB="45720" anchor="ctr">
                    <a:solidFill>
                      <a:srgbClr val="000F29"/>
                    </a:solidFill>
                  </a:tcPr>
                </a:tc>
              </a:tr>
              <a:tr h="547688">
                <a:tc>
                  <a:txBody>
                    <a:bodyPr lIns="85725" tIns="57150" rIns="85725" bIns="57150">
                      <a:noAutofit/>
                    </a:bodyPr>
                    <a:lstStyle/>
                    <a:p>
                      <a:pPr algn="ctr">
                        <a:buNone/>
                      </a:pPr>
                      <a:r>
                        <a:rPr sz="1725"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725" b="0">
                          <a:solidFill>
                            <a:srgbClr val="FFFFFF"/>
                          </a:solidFill>
                          <a:latin typeface="JetBrains Mono"/>
                          <a:ea typeface="JetBrains Mono"/>
                          <a:cs typeface="JetBrains Mono"/>
                        </a:rPr>
                        <a:t>0.2</a:t>
                      </a:r>
                    </a:p>
                  </a:txBody>
                  <a:tcPr marL="91440" marR="91440" marT="45720" marB="45720" anchor="ctr">
                    <a:solidFill>
                      <a:srgbClr val="163C69"/>
                    </a:solidFill>
                  </a:tcPr>
                </a:tc>
                <a:tc>
                  <a:txBody>
                    <a:bodyPr lIns="85725" tIns="57150" rIns="85725" bIns="57150">
                      <a:noAutofit/>
                    </a:bodyPr>
                    <a:lstStyle/>
                    <a:p>
                      <a:pPr algn="ctr">
                        <a:buNone/>
                      </a:pPr>
                      <a:r>
                        <a:rPr sz="1725" b="0">
                          <a:solidFill>
                            <a:srgbClr val="FFFFFF"/>
                          </a:solidFill>
                          <a:latin typeface="JetBrains Mono"/>
                          <a:ea typeface="JetBrains Mono"/>
                          <a:cs typeface="JetBrains Mono"/>
                        </a:rPr>
                        <a:t>0.8</a:t>
                      </a:r>
                    </a:p>
                  </a:txBody>
                  <a:tcPr marL="91440" marR="91440" marT="45720" marB="45720" anchor="ctr">
                    <a:solidFill>
                      <a:srgbClr val="163C69"/>
                    </a:solidFill>
                  </a:tcPr>
                </a:tc>
                <a:tc>
                  <a:txBody>
                    <a:bodyPr lIns="85725" tIns="57150" rIns="85725" bIns="57150">
                      <a:noAutofit/>
                    </a:bodyPr>
                    <a:lstStyle/>
                    <a:p>
                      <a:pPr algn="ctr">
                        <a:buNone/>
                      </a:pPr>
                      <a:r>
                        <a:rPr sz="1725" b="0">
                          <a:solidFill>
                            <a:srgbClr val="FFFFFF"/>
                          </a:solidFill>
                          <a:latin typeface="JetBrains Mono"/>
                          <a:ea typeface="JetBrains Mono"/>
                          <a:cs typeface="JetBrains Mono"/>
                        </a:rPr>
                        <a:t>0.3</a:t>
                      </a:r>
                    </a:p>
                  </a:txBody>
                  <a:tcPr marL="91440" marR="91440" marT="45720" marB="45720" anchor="ctr">
                    <a:solidFill>
                      <a:srgbClr val="163C69"/>
                    </a:solidFill>
                  </a:tcPr>
                </a:tc>
              </a:tr>
              <a:tr h="547688">
                <a:tc>
                  <a:txBody>
                    <a:bodyPr lIns="85725" tIns="57150" rIns="85725" bIns="57150">
                      <a:noAutofit/>
                    </a:bodyPr>
                    <a:lstStyle/>
                    <a:p>
                      <a:pPr algn="ctr">
                        <a:buNone/>
                      </a:pPr>
                      <a:r>
                        <a:rPr sz="1725" b="0">
                          <a:solidFill>
                            <a:srgbClr val="FFFFFF"/>
                          </a:solidFill>
                          <a:latin typeface="JetBrains Mono"/>
                          <a:ea typeface="JetBrains Mono"/>
                          <a:cs typeface="JetBrains Mono"/>
                        </a:rPr>
                        <a:t>0.1</a:t>
                      </a:r>
                    </a:p>
                  </a:txBody>
                  <a:tcPr marL="91440" marR="91440" marT="45720" marB="45720" anchor="ctr">
                    <a:solidFill>
                      <a:srgbClr val="000F29"/>
                    </a:solidFill>
                  </a:tcPr>
                </a:tc>
                <a:tc>
                  <a:txBody>
                    <a:bodyPr lIns="85725" tIns="57150" rIns="85725" bIns="57150">
                      <a:noAutofit/>
                    </a:bodyPr>
                    <a:lstStyle/>
                    <a:p>
                      <a:pPr algn="ctr">
                        <a:buNone/>
                      </a:pPr>
                      <a:r>
                        <a:rPr sz="1725" b="0">
                          <a:solidFill>
                            <a:srgbClr val="FFFFFF"/>
                          </a:solidFill>
                          <a:latin typeface="JetBrains Mono"/>
                          <a:ea typeface="JetBrains Mono"/>
                          <a:cs typeface="JetBrains Mono"/>
                        </a:rPr>
                        <a:t>0.4</a:t>
                      </a:r>
                    </a:p>
                  </a:txBody>
                  <a:tcPr marL="91440" marR="91440" marT="45720" marB="45720" anchor="ctr">
                    <a:solidFill>
                      <a:srgbClr val="163C69"/>
                    </a:solidFill>
                  </a:tcPr>
                </a:tc>
                <a:tc>
                  <a:txBody>
                    <a:bodyPr lIns="85725" tIns="57150" rIns="85725" bIns="57150">
                      <a:noAutofit/>
                    </a:bodyPr>
                    <a:lstStyle/>
                    <a:p>
                      <a:pPr algn="ctr">
                        <a:buNone/>
                      </a:pPr>
                      <a:r>
                        <a:rPr sz="1725" b="0">
                          <a:solidFill>
                            <a:srgbClr val="000F29"/>
                          </a:solidFill>
                          <a:latin typeface="JetBrains Mono"/>
                          <a:ea typeface="JetBrains Mono"/>
                          <a:cs typeface="JetBrains Mono"/>
                        </a:rPr>
                        <a:t>3</a:t>
                      </a:r>
                    </a:p>
                  </a:txBody>
                  <a:tcPr marL="91440" marR="91440" marT="45720" marB="45720" anchor="ctr">
                    <a:solidFill>
                      <a:srgbClr val="83DFFF"/>
                    </a:solidFill>
                  </a:tcPr>
                </a:tc>
                <a:tc>
                  <a:txBody>
                    <a:bodyPr lIns="85725" tIns="57150" rIns="85725" bIns="57150">
                      <a:noAutofit/>
                    </a:bodyPr>
                    <a:lstStyle/>
                    <a:p>
                      <a:pPr algn="ctr">
                        <a:buNone/>
                      </a:pPr>
                      <a:r>
                        <a:rPr sz="1725" b="0">
                          <a:solidFill>
                            <a:srgbClr val="FFFFFF"/>
                          </a:solidFill>
                          <a:latin typeface="JetBrains Mono"/>
                          <a:ea typeface="JetBrains Mono"/>
                          <a:cs typeface="JetBrains Mono"/>
                        </a:rPr>
                        <a:t>1.5</a:t>
                      </a:r>
                    </a:p>
                  </a:txBody>
                  <a:tcPr marL="91440" marR="91440" marT="45720" marB="45720" anchor="ctr">
                    <a:solidFill>
                      <a:srgbClr val="0053EB"/>
                    </a:solidFill>
                  </a:tcPr>
                </a:tc>
              </a:tr>
              <a:tr h="547688">
                <a:tc>
                  <a:txBody>
                    <a:bodyPr lIns="85725" tIns="57150" rIns="85725" bIns="57150">
                      <a:noAutofit/>
                    </a:bodyPr>
                    <a:lstStyle/>
                    <a:p>
                      <a:pPr algn="ctr">
                        <a:buNone/>
                      </a:pPr>
                      <a:r>
                        <a:rPr sz="1725" b="0">
                          <a:solidFill>
                            <a:srgbClr val="FFFFFF"/>
                          </a:solidFill>
                          <a:latin typeface="JetBrains Mono"/>
                          <a:ea typeface="JetBrains Mono"/>
                          <a:cs typeface="JetBrains Mono"/>
                        </a:rPr>
                        <a:t>0</a:t>
                      </a:r>
                    </a:p>
                  </a:txBody>
                  <a:tcPr marL="91440" marR="91440" marT="45720" marB="45720" anchor="ctr">
                    <a:solidFill>
                      <a:srgbClr val="000F29"/>
                    </a:solidFill>
                  </a:tcPr>
                </a:tc>
                <a:tc>
                  <a:txBody>
                    <a:bodyPr lIns="85725" tIns="57150" rIns="85725" bIns="57150">
                      <a:noAutofit/>
                    </a:bodyPr>
                    <a:lstStyle/>
                    <a:p>
                      <a:pPr algn="ctr">
                        <a:buNone/>
                      </a:pPr>
                      <a:r>
                        <a:rPr sz="1725" b="0">
                          <a:solidFill>
                            <a:srgbClr val="FFFFFF"/>
                          </a:solidFill>
                          <a:latin typeface="JetBrains Mono"/>
                          <a:ea typeface="JetBrains Mono"/>
                          <a:cs typeface="JetBrains Mono"/>
                        </a:rPr>
                        <a:t>0.1</a:t>
                      </a:r>
                    </a:p>
                  </a:txBody>
                  <a:tcPr marL="91440" marR="91440" marT="45720" marB="45720" anchor="ctr">
                    <a:solidFill>
                      <a:srgbClr val="000F29"/>
                    </a:solidFill>
                  </a:tcPr>
                </a:tc>
                <a:tc>
                  <a:txBody>
                    <a:bodyPr lIns="85725" tIns="57150" rIns="85725" bIns="57150">
                      <a:noAutofit/>
                    </a:bodyPr>
                    <a:lstStyle/>
                    <a:p>
                      <a:pPr algn="ctr">
                        <a:buNone/>
                      </a:pPr>
                      <a:r>
                        <a:rPr sz="1725" b="0">
                          <a:solidFill>
                            <a:srgbClr val="FFFFFF"/>
                          </a:solidFill>
                          <a:latin typeface="JetBrains Mono"/>
                          <a:ea typeface="JetBrains Mono"/>
                          <a:cs typeface="JetBrains Mono"/>
                        </a:rPr>
                        <a:t>1</a:t>
                      </a:r>
                    </a:p>
                  </a:txBody>
                  <a:tcPr marL="91440" marR="91440" marT="45720" marB="45720" anchor="ctr">
                    <a:solidFill>
                      <a:srgbClr val="163C69"/>
                    </a:solidFill>
                  </a:tcPr>
                </a:tc>
                <a:tc>
                  <a:txBody>
                    <a:bodyPr lIns="85725" tIns="57150" rIns="85725" bIns="57150">
                      <a:noAutofit/>
                    </a:bodyPr>
                    <a:lstStyle/>
                    <a:p>
                      <a:pPr algn="ctr">
                        <a:buNone/>
                      </a:pPr>
                      <a:r>
                        <a:rPr sz="1725" b="0">
                          <a:solidFill>
                            <a:srgbClr val="FFFFFF"/>
                          </a:solidFill>
                          <a:latin typeface="JetBrains Mono"/>
                          <a:ea typeface="JetBrains Mono"/>
                          <a:cs typeface="JetBrains Mono"/>
                        </a:rPr>
                        <a:t>0.5</a:t>
                      </a:r>
                    </a:p>
                  </a:txBody>
                  <a:tcPr marL="91440" marR="91440" marT="45720" marB="45720" anchor="ctr">
                    <a:solidFill>
                      <a:srgbClr val="163C69"/>
                    </a:solidFill>
                  </a:tcPr>
                </a:tc>
              </a:tr>
            </a:tbl>
          </a:graphicData>
        </a:graphic>
      </p:graphicFrame>
      <p:sp>
        <p:nvSpPr>
          <p:cNvPr id="25005" name="Explicação espacial de uma previsão">
            <a:extLst xmlns:a="http://schemas.openxmlformats.org/drawingml/2006/main">
              <a:ext uri="{FF2B5EF4-FFF2-40B4-BE49-F238E27FC236}">
                <a16:creationId xmlns:a16="http://schemas.microsoft.com/office/drawing/2014/main" id="{6EA1365B-891D-58A6-B8F2-C268CE96544D}"/>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Explicação espacial de uma previsão</a:t>
            </a:r>
          </a:p>
        </p:txBody>
      </p:sp>
      <p:sp>
        <p:nvSpPr>
          <p:cNvPr id="25006" name="Campo de chuva (mm/h)">
            <a:extLst xmlns:a="http://schemas.openxmlformats.org/drawingml/2006/main">
              <a:ext uri="{FF2B5EF4-FFF2-40B4-BE49-F238E27FC236}">
                <a16:creationId xmlns:a16="http://schemas.microsoft.com/office/drawing/2014/main" id="{A9095CF5-F032-567A-AB8D-71D5A376C0B9}"/>
              </a:ext>
            </a:extLst>
          </p:cNvPr>
          <p:cNvSpPr>
            <a:spLocks xmlns:a="http://schemas.openxmlformats.org/drawingml/2006/main" noGrp="1"/>
          </p:cNvSpPr>
          <p:nvPr/>
        </p:nvSpPr>
        <p:spPr>
          <a:xfrm xmlns:a="http://schemas.openxmlformats.org/drawingml/2006/main">
            <a:off x="457200" y="25717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Campo de chuva (mm/h)</a:t>
            </a:r>
          </a:p>
        </p:txBody>
      </p:sp>
      <p:sp>
        <p:nvSpPr>
          <p:cNvPr id="25007" name="Atribuição a Q̂ (m³/s)">
            <a:extLst xmlns:a="http://schemas.openxmlformats.org/drawingml/2006/main">
              <a:ext uri="{FF2B5EF4-FFF2-40B4-BE49-F238E27FC236}">
                <a16:creationId xmlns:a16="http://schemas.microsoft.com/office/drawing/2014/main" id="{40542247-CB7F-56DD-B426-E0A0CF6794B9}"/>
              </a:ext>
            </a:extLst>
          </p:cNvPr>
          <p:cNvSpPr>
            <a:spLocks xmlns:a="http://schemas.openxmlformats.org/drawingml/2006/main" noGrp="1"/>
          </p:cNvSpPr>
          <p:nvPr/>
        </p:nvSpPr>
        <p:spPr>
          <a:xfrm xmlns:a="http://schemas.openxmlformats.org/drawingml/2006/main">
            <a:off x="6648450" y="25717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Atribuição a Q̂ (m³/s)</a:t>
            </a:r>
          </a:p>
        </p:txBody>
      </p:sp>
      <p:sp>
        <p:nvSpPr>
          <p:cNvPr id="25008" name="Exemplo esquemático com valores sint">
            <a:extLst xmlns:a="http://schemas.openxmlformats.org/drawingml/2006/main">
              <a:ext uri="{FF2B5EF4-FFF2-40B4-BE49-F238E27FC236}">
                <a16:creationId xmlns:a16="http://schemas.microsoft.com/office/drawing/2014/main" id="{13FDFA1B-62CD-5270-9653-2DC5DE99CEF5}"/>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Exemplo esquemático com valores sintéticos. Cores mostram magnitude na escala indicada.</a:t>
            </a:r>
          </a:p>
        </p:txBody>
      </p:sp>
      <p:pic>
        <p:nvPicPr>
          <p:cNvPr id="25009" name="Imagem 13"/>
          <p:cNvPicPr>
            <a:picLocks xmlns:a="http://schemas.openxmlformats.org/drawingml/2006/main" noChangeAspect="1"/>
          </p:cNvPicPr>
          <p:nvPr/>
        </p:nvPicPr>
        <p:blipFill>
          <a:blip xmlns:r="http://schemas.openxmlformats.org/officeDocument/2006/relationships" xmlns:a="http://schemas.openxmlformats.org/drawingml/2006/main" r:embed="R9ad45aaae4d94d21"/>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25010" name="Hydro-UAI Explicabilidade">
            <a:extLst xmlns:a="http://schemas.openxmlformats.org/drawingml/2006/main">
              <a:ext uri="{FF2B5EF4-FFF2-40B4-BE49-F238E27FC236}">
                <a16:creationId xmlns:a16="http://schemas.microsoft.com/office/drawing/2014/main" id="{8F9FC0F4-69DD-5D06-B175-B51D13690FDA}"/>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Explicabilidade</a:t>
            </a:r>
          </a:p>
        </p:txBody>
      </p:sp>
      <p:sp>
        <p:nvSpPr>
          <p:cNvPr id="25011" name="Divisor Hydro-UAI">
            <a:extLst xmlns:a="http://schemas.openxmlformats.org/drawingml/2006/main">
              <a:ext uri="{FF2B5EF4-FFF2-40B4-BE49-F238E27FC236}">
                <a16:creationId xmlns:a16="http://schemas.microsoft.com/office/drawing/2014/main" id="{39B2149D-E5FF-5C3E-9B24-E991C52672F6}"/>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25012" name="Hydro-UAI Hydro-UAI Course">
            <a:extLst xmlns:a="http://schemas.openxmlformats.org/drawingml/2006/main">
              <a:ext uri="{FF2B5EF4-FFF2-40B4-BE49-F238E27FC236}">
                <a16:creationId xmlns:a16="http://schemas.microsoft.com/office/drawing/2014/main" id="{AE8CEA16-E217-5F59-B9B4-2E6A8E7CDBEA}"/>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25013" name="Hydro-UAI 25 / 62">
            <a:extLst xmlns:a="http://schemas.openxmlformats.org/drawingml/2006/main">
              <a:ext uri="{FF2B5EF4-FFF2-40B4-BE49-F238E27FC236}">
                <a16:creationId xmlns:a16="http://schemas.microsoft.com/office/drawing/2014/main" id="{F0A6B4E2-200D-517F-978C-96E042296646}"/>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30 / 68</a:t>
            </a:r>
          </a:p>
        </p:txBody>
      </p:sp>
    </p:spTree>
    <p:extLst>
      <p:ext uri="{BB962C8B-B14F-4D97-AF65-F5344CB8AC3E}">
        <p14:creationId xmlns:p14="http://schemas.microsoft.com/office/powerpoint/2010/main" val="3991283715"/>
      </p:ext>
    </p:extLst>
  </p:cSld>
</p:sld>
</file>

<file path=ppt/slides/slide26.xml><?xml version="1.0" encoding="utf-8"?>
<p:sld xmlns:p="http://schemas.openxmlformats.org/presentationml/2006/main">
  <p:cSld>
    <p:spTree>
      <p:nvGrpSpPr>
        <p:cNvPr id="26001" name=""/>
        <p:cNvGrpSpPr/>
        <p:nvPr/>
      </p:nvGrpSpPr>
      <p:grpSpPr>
        <a:xfrm xmlns:a="http://schemas.openxmlformats.org/drawingml/2006/main"/>
      </p:grpSpPr>
      <p:sp>
        <p:nvSpPr>
          <p:cNvPr id="26002" name="Retângulo 6">
            <a:extLst xmlns:a="http://schemas.openxmlformats.org/drawingml/2006/main">
              <a:ext uri="{FF2B5EF4-FFF2-40B4-BE49-F238E27FC236}">
                <a16:creationId xmlns:a16="http://schemas.microsoft.com/office/drawing/2014/main" id="{F49606EA-1EE1-59B4-BC96-5816D4970D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26003" name=""/>
          <p:cNvGraphicFramePr/>
          <p:nvPr/>
        </p:nvGraphicFramePr>
        <p:xfrm>
          <a:off xmlns:a="http://schemas.openxmlformats.org/drawingml/2006/main" x="457200" y="2600325"/>
          <a:ext xmlns:a="http://schemas.openxmlformats.org/drawingml/2006/main" cx="11277600" cy="3276600"/>
        </p:xfrm>
        <a:graphic xmlns:a="http://schemas.openxmlformats.org/drawingml/2006/main">
          <a:graphicData uri="http://schemas.openxmlformats.org/drawingml/2006/table">
            <a:tbl>
              <a:tblPr/>
              <a:tblGrid>
                <a:gridCol w="2695575"/>
                <a:gridCol w="3876675"/>
                <a:gridCol w="4705350"/>
              </a:tblGrid>
              <a:tr h="655320">
                <a:tc>
                  <a:txBody>
                    <a:bodyPr lIns="85725" tIns="57150" rIns="85725" bIns="57150">
                      <a:noAutofit/>
                    </a:bodyPr>
                    <a:lstStyle/>
                    <a:p>
                      <a:pPr algn="l">
                        <a:buNone/>
                      </a:pPr>
                      <a:r>
                        <a:rPr sz="1575" b="1">
                          <a:solidFill>
                            <a:srgbClr val="FFFFFF"/>
                          </a:solidFill>
                          <a:latin typeface="JetBrains Mono"/>
                          <a:ea typeface="JetBrains Mono"/>
                          <a:cs typeface="JetBrains Mono"/>
                        </a:rPr>
                        <a:t>Método</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Uso</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Atenção na interpretação</a:t>
                      </a:r>
                    </a:p>
                  </a:txBody>
                  <a:tcPr marL="91440" marR="91440" marT="45720" marB="45720" anchor="ctr">
                    <a:solidFill>
                      <a:srgbClr val="0053EB"/>
                    </a:solidFill>
                  </a:tcPr>
                </a:tc>
              </a:tr>
              <a:tr h="655320">
                <a:tc>
                  <a:txBody>
                    <a:bodyPr lIns="85725" tIns="57150" rIns="85725" bIns="57150">
                      <a:noAutofit/>
                    </a:bodyPr>
                    <a:lstStyle/>
                    <a:p>
                      <a:pPr algn="l">
                        <a:buNone/>
                      </a:pPr>
                      <a:r>
                        <a:rPr sz="1575" b="0">
                          <a:solidFill>
                            <a:srgbClr val="FFFFFF"/>
                          </a:solidFill>
                          <a:latin typeface="JetBrains Mono"/>
                          <a:ea typeface="JetBrains Mono"/>
                          <a:cs typeface="JetBrains Mono"/>
                        </a:rPr>
                        <a:t>SHAP</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Atribuição local e agregações.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Referência e dependência entre variáveis.</a:t>
                      </a:r>
                    </a:p>
                  </a:txBody>
                  <a:tcPr marL="91440" marR="91440" marT="45720" marB="45720" anchor="ctr">
                    <a:solidFill>
                      <a:srgbClr val="000F29"/>
                    </a:solidFill>
                  </a:tcPr>
                </a:tc>
              </a:tr>
              <a:tr h="655320">
                <a:tc>
                  <a:txBody>
                    <a:bodyPr lIns="85725" tIns="57150" rIns="85725" bIns="57150">
                      <a:noAutofit/>
                    </a:bodyPr>
                    <a:lstStyle/>
                    <a:p>
                      <a:pPr algn="l">
                        <a:buNone/>
                      </a:pPr>
                      <a:r>
                        <a:rPr sz="1575" b="0">
                          <a:solidFill>
                            <a:srgbClr val="FFFFFF"/>
                          </a:solidFill>
                          <a:latin typeface="JetBrains Mono"/>
                          <a:ea typeface="JetBrains Mono"/>
                          <a:cs typeface="JetBrains Mono"/>
                        </a:rPr>
                        <a:t>Integrated Gradients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Entradas de redes diferenciáveis.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Referência e caminho de integração.</a:t>
                      </a:r>
                    </a:p>
                  </a:txBody>
                  <a:tcPr marL="91440" marR="91440" marT="45720" marB="45720" anchor="ctr">
                    <a:solidFill>
                      <a:srgbClr val="000F29"/>
                    </a:solidFill>
                  </a:tcPr>
                </a:tc>
              </a:tr>
              <a:tr h="655320">
                <a:tc>
                  <a:txBody>
                    <a:bodyPr lIns="85725" tIns="57150" rIns="85725" bIns="57150">
                      <a:noAutofit/>
                    </a:bodyPr>
                    <a:lstStyle/>
                    <a:p>
                      <a:pPr algn="l">
                        <a:buNone/>
                      </a:pPr>
                      <a:r>
                        <a:rPr sz="1575" b="0">
                          <a:solidFill>
                            <a:srgbClr val="FFFFFF"/>
                          </a:solidFill>
                          <a:latin typeface="JetBrains Mono"/>
                          <a:ea typeface="JetBrains Mono"/>
                          <a:cs typeface="JetBrains Mono"/>
                        </a:rPr>
                        <a:t>Grad-CAM</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Regiões relevantes em CNN.</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Mapa de localização geralmente grosseiro.</a:t>
                      </a:r>
                    </a:p>
                  </a:txBody>
                  <a:tcPr marL="91440" marR="91440" marT="45720" marB="45720" anchor="ctr">
                    <a:solidFill>
                      <a:srgbClr val="000F29"/>
                    </a:solidFill>
                  </a:tcPr>
                </a:tc>
              </a:tr>
              <a:tr h="655320">
                <a:tc>
                  <a:txBody>
                    <a:bodyPr lIns="85725" tIns="57150" rIns="85725" bIns="57150">
                      <a:noAutofit/>
                    </a:bodyPr>
                    <a:lstStyle/>
                    <a:p>
                      <a:pPr algn="l">
                        <a:buNone/>
                      </a:pPr>
                      <a:r>
                        <a:rPr sz="1575" b="0">
                          <a:solidFill>
                            <a:srgbClr val="FFFFFF"/>
                          </a:solidFill>
                          <a:latin typeface="JetBrains Mono"/>
                          <a:ea typeface="JetBrains Mono"/>
                          <a:cs typeface="JetBrains Mono"/>
                        </a:rPr>
                        <a:t>Permutação</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Mudança de erro após perturbar entradas.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Perturbação pode romper relações dos dados.</a:t>
                      </a:r>
                    </a:p>
                  </a:txBody>
                  <a:tcPr marL="91440" marR="91440" marT="45720" marB="45720" anchor="ctr">
                    <a:solidFill>
                      <a:srgbClr val="000F29"/>
                    </a:solidFill>
                  </a:tcPr>
                </a:tc>
              </a:tr>
            </a:tbl>
          </a:graphicData>
        </a:graphic>
      </p:graphicFrame>
      <p:sp>
        <p:nvSpPr>
          <p:cNvPr id="26004" name="Métodos e perguntas que eles ajudam ">
            <a:extLst xmlns:a="http://schemas.openxmlformats.org/drawingml/2006/main">
              <a:ext uri="{FF2B5EF4-FFF2-40B4-BE49-F238E27FC236}">
                <a16:creationId xmlns:a16="http://schemas.microsoft.com/office/drawing/2014/main" id="{4E0D4B6D-5C75-5B05-B802-20D573CF69E8}"/>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Métodos e perguntas que eles ajudam a investigar</a:t>
            </a:r>
          </a:p>
        </p:txBody>
      </p:sp>
      <p:pic>
        <p:nvPicPr>
          <p:cNvPr id="26005" name="Imagem 13"/>
          <p:cNvPicPr>
            <a:picLocks xmlns:a="http://schemas.openxmlformats.org/drawingml/2006/main" noChangeAspect="1"/>
          </p:cNvPicPr>
          <p:nvPr/>
        </p:nvPicPr>
        <p:blipFill>
          <a:blip xmlns:r="http://schemas.openxmlformats.org/officeDocument/2006/relationships" xmlns:a="http://schemas.openxmlformats.org/drawingml/2006/main" r:embed="R0fb4d58de46440cd"/>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26006" name="Hydro-UAI Explicabilidade">
            <a:extLst xmlns:a="http://schemas.openxmlformats.org/drawingml/2006/main">
              <a:ext uri="{FF2B5EF4-FFF2-40B4-BE49-F238E27FC236}">
                <a16:creationId xmlns:a16="http://schemas.microsoft.com/office/drawing/2014/main" id="{4596FF34-0655-5634-8924-75772DE025A2}"/>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Explicabilidade</a:t>
            </a:r>
          </a:p>
        </p:txBody>
      </p:sp>
      <p:sp>
        <p:nvSpPr>
          <p:cNvPr id="26007" name="Divisor Hydro-UAI">
            <a:extLst xmlns:a="http://schemas.openxmlformats.org/drawingml/2006/main">
              <a:ext uri="{FF2B5EF4-FFF2-40B4-BE49-F238E27FC236}">
                <a16:creationId xmlns:a16="http://schemas.microsoft.com/office/drawing/2014/main" id="{AEF1187A-4EAF-53BB-B051-3408A264ADA4}"/>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26008" name="Hydro-UAI Hydro-UAI Course">
            <a:extLst xmlns:a="http://schemas.openxmlformats.org/drawingml/2006/main">
              <a:ext uri="{FF2B5EF4-FFF2-40B4-BE49-F238E27FC236}">
                <a16:creationId xmlns:a16="http://schemas.microsoft.com/office/drawing/2014/main" id="{B8EEDC56-0269-5A6C-8D51-3DCF450D0E49}"/>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26009" name="Hydro-UAI 26 / 62">
            <a:extLst xmlns:a="http://schemas.openxmlformats.org/drawingml/2006/main">
              <a:ext uri="{FF2B5EF4-FFF2-40B4-BE49-F238E27FC236}">
                <a16:creationId xmlns:a16="http://schemas.microsoft.com/office/drawing/2014/main" id="{A62A4B30-2D2D-514B-840F-006FDF472214}"/>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32 / 68</a:t>
            </a:r>
          </a:p>
        </p:txBody>
      </p:sp>
    </p:spTree>
    <p:extLst>
      <p:ext uri="{BB962C8B-B14F-4D97-AF65-F5344CB8AC3E}">
        <p14:creationId xmlns:p14="http://schemas.microsoft.com/office/powerpoint/2010/main" val="3991283715"/>
      </p:ext>
    </p:extLst>
  </p:cSld>
</p:sld>
</file>

<file path=ppt/slides/slide27.xml><?xml version="1.0" encoding="utf-8"?>
<p:sld xmlns:p="http://schemas.openxmlformats.org/presentationml/2006/main">
  <p:cSld>
    <p:spTree>
      <p:nvGrpSpPr>
        <p:cNvPr id="27001" name=""/>
        <p:cNvGrpSpPr/>
        <p:nvPr/>
      </p:nvGrpSpPr>
      <p:grpSpPr>
        <a:xfrm xmlns:a="http://schemas.openxmlformats.org/drawingml/2006/main"/>
      </p:grpSpPr>
      <p:sp>
        <p:nvSpPr>
          <p:cNvPr id="27002" name="Retângulo 6">
            <a:extLst xmlns:a="http://schemas.openxmlformats.org/drawingml/2006/main">
              <a:ext uri="{FF2B5EF4-FFF2-40B4-BE49-F238E27FC236}">
                <a16:creationId xmlns:a16="http://schemas.microsoft.com/office/drawing/2014/main" id="{B4C9F1C3-CCD0-58D3-9E90-F554EBEDC1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003" name="Entradas correlacionadas e referênci">
            <a:extLst xmlns:a="http://schemas.openxmlformats.org/drawingml/2006/main">
              <a:ext uri="{FF2B5EF4-FFF2-40B4-BE49-F238E27FC236}">
                <a16:creationId xmlns:a16="http://schemas.microsoft.com/office/drawing/2014/main" id="{D5D65317-996D-5552-A644-BC33CB74C3DF}"/>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Entradas correlacionadas e referências de explicação</a:t>
            </a:r>
          </a:p>
        </p:txBody>
      </p:sp>
      <p:sp>
        <p:nvSpPr>
          <p:cNvPr id="27004" name="Chuva em 3 dias">
            <a:extLst xmlns:a="http://schemas.openxmlformats.org/drawingml/2006/main">
              <a:ext uri="{FF2B5EF4-FFF2-40B4-BE49-F238E27FC236}">
                <a16:creationId xmlns:a16="http://schemas.microsoft.com/office/drawing/2014/main" id="{3AABD4BF-2773-55AA-8691-0BF243CEE963}"/>
              </a:ext>
            </a:extLst>
          </p:cNvPr>
          <p:cNvSpPr>
            <a:spLocks xmlns:a="http://schemas.openxmlformats.org/drawingml/2006/main" noGrp="1"/>
          </p:cNvSpPr>
          <p:nvPr/>
        </p:nvSpPr>
        <p:spPr>
          <a:xfrm xmlns:a="http://schemas.openxmlformats.org/drawingml/2006/main">
            <a:off x="457200" y="26193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Chuva em 3 dias</a:t>
            </a:r>
          </a:p>
        </p:txBody>
      </p:sp>
      <p:sp>
        <p:nvSpPr>
          <p:cNvPr id="27005" name="Pode compartilhar informação com chu">
            <a:extLst xmlns:a="http://schemas.openxmlformats.org/drawingml/2006/main">
              <a:ext uri="{FF2B5EF4-FFF2-40B4-BE49-F238E27FC236}">
                <a16:creationId xmlns:a16="http://schemas.microsoft.com/office/drawing/2014/main" id="{C616C91D-9F6E-5F66-A82C-25E59D72F882}"/>
              </a:ext>
            </a:extLst>
          </p:cNvPr>
          <p:cNvSpPr>
            <a:spLocks xmlns:a="http://schemas.openxmlformats.org/drawingml/2006/main" noGrp="1"/>
          </p:cNvSpPr>
          <p:nvPr/>
        </p:nvSpPr>
        <p:spPr>
          <a:xfrm xmlns:a="http://schemas.openxmlformats.org/drawingml/2006/main">
            <a:off x="3981450" y="2619375"/>
            <a:ext cx="7753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Pode compartilhar informação com chuva em 7 dias.</a:t>
            </a:r>
          </a:p>
        </p:txBody>
      </p:sp>
      <p:sp>
        <p:nvSpPr>
          <p:cNvPr id="27006" name="Conjunto de referência">
            <a:extLst xmlns:a="http://schemas.openxmlformats.org/drawingml/2006/main">
              <a:ext uri="{FF2B5EF4-FFF2-40B4-BE49-F238E27FC236}">
                <a16:creationId xmlns:a16="http://schemas.microsoft.com/office/drawing/2014/main" id="{E8C7E25F-6E98-59C4-95D4-182AE3655B44}"/>
              </a:ext>
            </a:extLst>
          </p:cNvPr>
          <p:cNvSpPr>
            <a:spLocks xmlns:a="http://schemas.openxmlformats.org/drawingml/2006/main" noGrp="1"/>
          </p:cNvSpPr>
          <p:nvPr/>
        </p:nvSpPr>
        <p:spPr>
          <a:xfrm xmlns:a="http://schemas.openxmlformats.org/drawingml/2006/main">
            <a:off x="457200" y="34194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Conjunto de referência</a:t>
            </a:r>
          </a:p>
        </p:txBody>
      </p:sp>
      <p:sp>
        <p:nvSpPr>
          <p:cNvPr id="27007" name="Muda o contexto usado para calcular ">
            <a:extLst xmlns:a="http://schemas.openxmlformats.org/drawingml/2006/main">
              <a:ext uri="{FF2B5EF4-FFF2-40B4-BE49-F238E27FC236}">
                <a16:creationId xmlns:a16="http://schemas.microsoft.com/office/drawing/2014/main" id="{2DE27469-1407-542F-9C9F-117DBBFD0F53}"/>
              </a:ext>
            </a:extLst>
          </p:cNvPr>
          <p:cNvSpPr>
            <a:spLocks xmlns:a="http://schemas.openxmlformats.org/drawingml/2006/main" noGrp="1"/>
          </p:cNvSpPr>
          <p:nvPr/>
        </p:nvSpPr>
        <p:spPr>
          <a:xfrm xmlns:a="http://schemas.openxmlformats.org/drawingml/2006/main">
            <a:off x="3981450" y="3419475"/>
            <a:ext cx="7753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Muda o contexto usado para calcular a atribuição.</a:t>
            </a:r>
          </a:p>
        </p:txBody>
      </p:sp>
      <p:sp>
        <p:nvSpPr>
          <p:cNvPr id="27008" name="Perturbação de entradas">
            <a:extLst xmlns:a="http://schemas.openxmlformats.org/drawingml/2006/main">
              <a:ext uri="{FF2B5EF4-FFF2-40B4-BE49-F238E27FC236}">
                <a16:creationId xmlns:a16="http://schemas.microsoft.com/office/drawing/2014/main" id="{4DD564FF-5E32-5514-9D25-D55EB67AAF35}"/>
              </a:ext>
            </a:extLst>
          </p:cNvPr>
          <p:cNvSpPr>
            <a:spLocks xmlns:a="http://schemas.openxmlformats.org/drawingml/2006/main" noGrp="1"/>
          </p:cNvSpPr>
          <p:nvPr/>
        </p:nvSpPr>
        <p:spPr>
          <a:xfrm xmlns:a="http://schemas.openxmlformats.org/drawingml/2006/main">
            <a:off x="457200" y="42195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Perturbação de entradas</a:t>
            </a:r>
          </a:p>
        </p:txBody>
      </p:sp>
      <p:sp>
        <p:nvSpPr>
          <p:cNvPr id="27009" name="Pode criar combinações hidrologicame">
            <a:extLst xmlns:a="http://schemas.openxmlformats.org/drawingml/2006/main">
              <a:ext uri="{FF2B5EF4-FFF2-40B4-BE49-F238E27FC236}">
                <a16:creationId xmlns:a16="http://schemas.microsoft.com/office/drawing/2014/main" id="{0440B406-3538-50E6-A898-FEC6FA1A3E96}"/>
              </a:ext>
            </a:extLst>
          </p:cNvPr>
          <p:cNvSpPr>
            <a:spLocks xmlns:a="http://schemas.openxmlformats.org/drawingml/2006/main" noGrp="1"/>
          </p:cNvSpPr>
          <p:nvPr/>
        </p:nvSpPr>
        <p:spPr>
          <a:xfrm xmlns:a="http://schemas.openxmlformats.org/drawingml/2006/main">
            <a:off x="3981450" y="4219575"/>
            <a:ext cx="7753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Pode criar combinações hidrologicamente improváveis.</a:t>
            </a:r>
          </a:p>
        </p:txBody>
      </p:sp>
      <p:sp>
        <p:nvSpPr>
          <p:cNvPr id="27010" name="Análise por regime">
            <a:extLst xmlns:a="http://schemas.openxmlformats.org/drawingml/2006/main">
              <a:ext uri="{FF2B5EF4-FFF2-40B4-BE49-F238E27FC236}">
                <a16:creationId xmlns:a16="http://schemas.microsoft.com/office/drawing/2014/main" id="{95809015-9CA2-5F26-868D-1BAE51E6852F}"/>
              </a:ext>
            </a:extLst>
          </p:cNvPr>
          <p:cNvSpPr>
            <a:spLocks xmlns:a="http://schemas.openxmlformats.org/drawingml/2006/main" noGrp="1"/>
          </p:cNvSpPr>
          <p:nvPr/>
        </p:nvSpPr>
        <p:spPr>
          <a:xfrm xmlns:a="http://schemas.openxmlformats.org/drawingml/2006/main">
            <a:off x="457200" y="50196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Análise por regime</a:t>
            </a:r>
          </a:p>
        </p:txBody>
      </p:sp>
      <p:sp>
        <p:nvSpPr>
          <p:cNvPr id="27011" name="Permite comparar cheia, recessão e e">
            <a:extLst xmlns:a="http://schemas.openxmlformats.org/drawingml/2006/main">
              <a:ext uri="{FF2B5EF4-FFF2-40B4-BE49-F238E27FC236}">
                <a16:creationId xmlns:a16="http://schemas.microsoft.com/office/drawing/2014/main" id="{13645E2A-F5CC-5F2B-AA32-50ED061D4779}"/>
              </a:ext>
            </a:extLst>
          </p:cNvPr>
          <p:cNvSpPr>
            <a:spLocks xmlns:a="http://schemas.openxmlformats.org/drawingml/2006/main" noGrp="1"/>
          </p:cNvSpPr>
          <p:nvPr/>
        </p:nvSpPr>
        <p:spPr>
          <a:xfrm xmlns:a="http://schemas.openxmlformats.org/drawingml/2006/main">
            <a:off x="3981450" y="5019675"/>
            <a:ext cx="7753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Permite comparar cheia, recessão e estiagem.</a:t>
            </a:r>
          </a:p>
        </p:txBody>
      </p:sp>
      <p:pic>
        <p:nvPicPr>
          <p:cNvPr id="27012" name="Imagem 13"/>
          <p:cNvPicPr>
            <a:picLocks xmlns:a="http://schemas.openxmlformats.org/drawingml/2006/main" noChangeAspect="1"/>
          </p:cNvPicPr>
          <p:nvPr/>
        </p:nvPicPr>
        <p:blipFill>
          <a:blip xmlns:r="http://schemas.openxmlformats.org/officeDocument/2006/relationships" xmlns:a="http://schemas.openxmlformats.org/drawingml/2006/main" r:embed="R43de1483435a49b5"/>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27013" name="Hydro-UAI Explicabilidade">
            <a:extLst xmlns:a="http://schemas.openxmlformats.org/drawingml/2006/main">
              <a:ext uri="{FF2B5EF4-FFF2-40B4-BE49-F238E27FC236}">
                <a16:creationId xmlns:a16="http://schemas.microsoft.com/office/drawing/2014/main" id="{4142F28A-F334-5CB3-9DF1-C14E7C462C93}"/>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Explicabilidade</a:t>
            </a:r>
          </a:p>
        </p:txBody>
      </p:sp>
      <p:sp>
        <p:nvSpPr>
          <p:cNvPr id="27014" name="Divisor Hydro-UAI">
            <a:extLst xmlns:a="http://schemas.openxmlformats.org/drawingml/2006/main">
              <a:ext uri="{FF2B5EF4-FFF2-40B4-BE49-F238E27FC236}">
                <a16:creationId xmlns:a16="http://schemas.microsoft.com/office/drawing/2014/main" id="{05AFE818-0913-5EB9-BFFA-916B5041B41B}"/>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27015" name="Hydro-UAI Hydro-UAI Course">
            <a:extLst xmlns:a="http://schemas.openxmlformats.org/drawingml/2006/main">
              <a:ext uri="{FF2B5EF4-FFF2-40B4-BE49-F238E27FC236}">
                <a16:creationId xmlns:a16="http://schemas.microsoft.com/office/drawing/2014/main" id="{757C57AB-8E19-51B3-A296-D9BAA95EE86F}"/>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27016" name="Hydro-UAI 27 / 62">
            <a:extLst xmlns:a="http://schemas.openxmlformats.org/drawingml/2006/main">
              <a:ext uri="{FF2B5EF4-FFF2-40B4-BE49-F238E27FC236}">
                <a16:creationId xmlns:a16="http://schemas.microsoft.com/office/drawing/2014/main" id="{28B6FD5E-5975-5858-9E52-64555D765A3D}"/>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33 / 68</a:t>
            </a:r>
          </a:p>
        </p:txBody>
      </p:sp>
    </p:spTree>
    <p:extLst>
      <p:ext uri="{BB962C8B-B14F-4D97-AF65-F5344CB8AC3E}">
        <p14:creationId xmlns:p14="http://schemas.microsoft.com/office/powerpoint/2010/main" val="3991283715"/>
      </p:ext>
    </p:extLst>
  </p:cSld>
</p:sld>
</file>

<file path=ppt/slides/slide28.xml><?xml version="1.0" encoding="utf-8"?>
<p:sld xmlns:p="http://schemas.openxmlformats.org/presentationml/2006/main">
  <p:cSld>
    <p:spTree>
      <p:nvGrpSpPr>
        <p:cNvPr id="28001" name=""/>
        <p:cNvGrpSpPr/>
        <p:nvPr/>
      </p:nvGrpSpPr>
      <p:grpSpPr>
        <a:xfrm xmlns:a="http://schemas.openxmlformats.org/drawingml/2006/main"/>
      </p:grpSpPr>
      <p:sp>
        <p:nvSpPr>
          <p:cNvPr id="28002" name="Retângulo 6">
            <a:extLst xmlns:a="http://schemas.openxmlformats.org/drawingml/2006/main">
              <a:ext uri="{FF2B5EF4-FFF2-40B4-BE49-F238E27FC236}">
                <a16:creationId xmlns:a16="http://schemas.microsoft.com/office/drawing/2014/main" id="{FD9A998B-FBB4-5C29-9B1E-9C27241F7E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28003" name=""/>
          <p:cNvGraphicFramePr/>
          <p:nvPr/>
        </p:nvGraphicFramePr>
        <p:xfrm>
          <a:off xmlns:a="http://schemas.openxmlformats.org/drawingml/2006/main" x="457200" y="3267075"/>
          <a:ext xmlns:a="http://schemas.openxmlformats.org/drawingml/2006/main" cx="11277600" cy="2447925"/>
        </p:xfrm>
        <a:graphic xmlns:a="http://schemas.openxmlformats.org/drawingml/2006/main">
          <a:graphicData uri="http://schemas.openxmlformats.org/drawingml/2006/table">
            <a:tbl>
              <a:tblPr/>
              <a:tblGrid>
                <a:gridCol w="3048000"/>
                <a:gridCol w="8229600"/>
              </a:tblGrid>
              <a:tr h="489585">
                <a:tc>
                  <a:txBody>
                    <a:bodyPr lIns="85725" tIns="57150" rIns="85725" bIns="57150">
                      <a:noAutofit/>
                    </a:bodyPr>
                    <a:lstStyle/>
                    <a:p>
                      <a:pPr algn="l">
                        <a:buNone/>
                      </a:pPr>
                      <a:r>
                        <a:rPr sz="1650" b="1">
                          <a:solidFill>
                            <a:srgbClr val="FFFFFF"/>
                          </a:solidFill>
                          <a:latin typeface="JetBrains Mono"/>
                          <a:ea typeface="JetBrains Mono"/>
                          <a:cs typeface="JetBrains Mono"/>
                        </a:rPr>
                        <a:t>Elemento</a:t>
                      </a:r>
                    </a:p>
                  </a:txBody>
                  <a:tcPr marL="91440" marR="91440" marT="45720" marB="45720" anchor="ctr">
                    <a:solidFill>
                      <a:srgbClr val="0053EB"/>
                    </a:solidFill>
                  </a:tcPr>
                </a:tc>
                <a:tc>
                  <a:txBody>
                    <a:bodyPr lIns="85725" tIns="57150" rIns="85725" bIns="57150">
                      <a:noAutofit/>
                    </a:bodyPr>
                    <a:lstStyle/>
                    <a:p>
                      <a:pPr algn="l">
                        <a:buNone/>
                      </a:pPr>
                      <a:r>
                        <a:rPr sz="1650" b="1">
                          <a:solidFill>
                            <a:srgbClr val="FFFFFF"/>
                          </a:solidFill>
                          <a:latin typeface="JetBrains Mono"/>
                          <a:ea typeface="JetBrains Mono"/>
                          <a:cs typeface="JetBrains Mono"/>
                        </a:rPr>
                        <a:t>Contexto do estudo</a:t>
                      </a:r>
                    </a:p>
                  </a:txBody>
                  <a:tcPr marL="91440" marR="91440" marT="45720" marB="45720" anchor="ctr">
                    <a:solidFill>
                      <a:srgbClr val="0053EB"/>
                    </a:solidFill>
                  </a:tcPr>
                </a:tc>
              </a:tr>
              <a:tr h="489585">
                <a:tc>
                  <a:txBody>
                    <a:bodyPr lIns="85725" tIns="57150" rIns="85725" bIns="57150">
                      <a:noAutofit/>
                    </a:bodyPr>
                    <a:lstStyle/>
                    <a:p>
                      <a:pPr algn="l">
                        <a:buNone/>
                      </a:pPr>
                      <a:r>
                        <a:rPr sz="1650" b="0">
                          <a:solidFill>
                            <a:srgbClr val="FFFFFF"/>
                          </a:solidFill>
                          <a:latin typeface="JetBrains Mono"/>
                          <a:ea typeface="JetBrains Mono"/>
                          <a:cs typeface="JetBrains Mono"/>
                        </a:rPr>
                        <a:t>Aplicação</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Predição de vazão em duas áreas com SuDS nos EUA.</a:t>
                      </a:r>
                    </a:p>
                  </a:txBody>
                  <a:tcPr marL="91440" marR="91440" marT="45720" marB="45720" anchor="ctr">
                    <a:solidFill>
                      <a:srgbClr val="000F29"/>
                    </a:solidFill>
                  </a:tcPr>
                </a:tc>
              </a:tr>
              <a:tr h="489585">
                <a:tc>
                  <a:txBody>
                    <a:bodyPr lIns="85725" tIns="57150" rIns="85725" bIns="57150">
                      <a:noAutofit/>
                    </a:bodyPr>
                    <a:lstStyle/>
                    <a:p>
                      <a:pPr algn="l">
                        <a:buNone/>
                      </a:pPr>
                      <a:r>
                        <a:rPr sz="1650" b="0">
                          <a:solidFill>
                            <a:srgbClr val="FFFFFF"/>
                          </a:solidFill>
                          <a:latin typeface="JetBrains Mono"/>
                          <a:ea typeface="JetBrains Mono"/>
                          <a:cs typeface="JetBrains Mono"/>
                        </a:rPr>
                        <a:t>Escala temporal</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Resposta hidrológica em intervalos sub-horários.</a:t>
                      </a:r>
                    </a:p>
                  </a:txBody>
                  <a:tcPr marL="91440" marR="91440" marT="45720" marB="45720" anchor="ctr">
                    <a:solidFill>
                      <a:srgbClr val="000F29"/>
                    </a:solidFill>
                  </a:tcPr>
                </a:tc>
              </a:tr>
              <a:tr h="489585">
                <a:tc>
                  <a:txBody>
                    <a:bodyPr lIns="85725" tIns="57150" rIns="85725" bIns="57150">
                      <a:noAutofit/>
                    </a:bodyPr>
                    <a:lstStyle/>
                    <a:p>
                      <a:pPr algn="l">
                        <a:buNone/>
                      </a:pPr>
                      <a:r>
                        <a:rPr sz="1650" b="0">
                          <a:solidFill>
                            <a:srgbClr val="FFFFFF"/>
                          </a:solidFill>
                          <a:latin typeface="JetBrains Mono"/>
                          <a:ea typeface="JetBrains Mono"/>
                          <a:cs typeface="JetBrains Mono"/>
                        </a:rPr>
                        <a:t>Análise</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Explicações das relações usadas pelos modelos.</a:t>
                      </a:r>
                    </a:p>
                  </a:txBody>
                  <a:tcPr marL="91440" marR="91440" marT="45720" marB="45720" anchor="ctr">
                    <a:solidFill>
                      <a:srgbClr val="000F29"/>
                    </a:solidFill>
                  </a:tcPr>
                </a:tc>
              </a:tr>
              <a:tr h="489585">
                <a:tc>
                  <a:txBody>
                    <a:bodyPr lIns="85725" tIns="57150" rIns="85725" bIns="57150">
                      <a:noAutofit/>
                    </a:bodyPr>
                    <a:lstStyle/>
                    <a:p>
                      <a:pPr algn="l">
                        <a:buNone/>
                      </a:pPr>
                      <a:r>
                        <a:rPr sz="1650" b="0">
                          <a:solidFill>
                            <a:srgbClr val="FFFFFF"/>
                          </a:solidFill>
                          <a:latin typeface="JetBrains Mono"/>
                          <a:ea typeface="JetBrains Mono"/>
                          <a:cs typeface="JetBrains Mono"/>
                        </a:rPr>
                        <a:t>Achado</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Boa previsão pode acompanhar explicações implausíveis.</a:t>
                      </a:r>
                    </a:p>
                  </a:txBody>
                  <a:tcPr marL="91440" marR="91440" marT="45720" marB="45720" anchor="ctr">
                    <a:solidFill>
                      <a:srgbClr val="000F29"/>
                    </a:solidFill>
                  </a:tcPr>
                </a:tc>
              </a:tr>
            </a:tbl>
          </a:graphicData>
        </a:graphic>
      </p:graphicFrame>
      <p:sp>
        <p:nvSpPr>
          <p:cNvPr id="28004" name="Evidência: explicações em drenagem u">
            <a:extLst xmlns:a="http://schemas.openxmlformats.org/drawingml/2006/main">
              <a:ext uri="{FF2B5EF4-FFF2-40B4-BE49-F238E27FC236}">
                <a16:creationId xmlns:a16="http://schemas.microsoft.com/office/drawing/2014/main" id="{D26640BE-2AF2-5682-A87D-6E60918ED4A3}"/>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Evidência: explicações em drenagem urbana</a:t>
            </a:r>
          </a:p>
        </p:txBody>
      </p:sp>
      <p:sp>
        <p:nvSpPr>
          <p:cNvPr id="28005" name="Yang e Chui (2021)">
            <a:extLst xmlns:a="http://schemas.openxmlformats.org/drawingml/2006/main">
              <a:ext uri="{FF2B5EF4-FFF2-40B4-BE49-F238E27FC236}">
                <a16:creationId xmlns:a16="http://schemas.microsoft.com/office/drawing/2014/main" id="{58918BC6-EC5F-5A07-BEB8-528F0C549971}"/>
              </a:ext>
            </a:extLst>
          </p:cNvPr>
          <p:cNvSpPr>
            <a:spLocks xmlns:a="http://schemas.openxmlformats.org/drawingml/2006/main" noGrp="1"/>
          </p:cNvSpPr>
          <p:nvPr/>
        </p:nvSpPr>
        <p:spPr>
          <a:xfrm xmlns:a="http://schemas.openxmlformats.org/drawingml/2006/main">
            <a:off x="457200" y="2571750"/>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83DFFF"/>
                </a:solidFill>
                <a:latin typeface="JetBrains Mono"/>
                <a:ea typeface="JetBrains Mono"/>
                <a:cs typeface="JetBrains Mono"/>
              </a:defRPr>
            </a:pPr>
            <a:r>
              <a:rPr sz="2250" b="1">
                <a:solidFill>
                  <a:srgbClr val="83DFFF"/>
                </a:solidFill>
                <a:latin typeface="JetBrains Mono"/>
                <a:ea typeface="JetBrains Mono"/>
                <a:cs typeface="JetBrains Mono"/>
              </a:rPr>
              <a:t>Yang e Chui (2021)</a:t>
            </a:r>
          </a:p>
        </p:txBody>
      </p:sp>
      <p:sp>
        <p:nvSpPr>
          <p:cNvPr id="28006" name="Yang e Chui (2021), HESS 25, 5839–58">
            <a:extLst xmlns:a="http://schemas.openxmlformats.org/drawingml/2006/main">
              <a:ext uri="{FF2B5EF4-FFF2-40B4-BE49-F238E27FC236}">
                <a16:creationId xmlns:a16="http://schemas.microsoft.com/office/drawing/2014/main" id="{8C08DE03-2D6A-5C61-88BF-5454A37F37F6}"/>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Yang e Chui (2021), HESS 25, 5839–5858.</a:t>
            </a:r>
          </a:p>
        </p:txBody>
      </p:sp>
      <p:pic>
        <p:nvPicPr>
          <p:cNvPr id="28007" name="Imagem 13"/>
          <p:cNvPicPr>
            <a:picLocks xmlns:a="http://schemas.openxmlformats.org/drawingml/2006/main" noChangeAspect="1"/>
          </p:cNvPicPr>
          <p:nvPr/>
        </p:nvPicPr>
        <p:blipFill>
          <a:blip xmlns:r="http://schemas.openxmlformats.org/officeDocument/2006/relationships" xmlns:a="http://schemas.openxmlformats.org/drawingml/2006/main" r:embed="R5a503f7c0e0c4398"/>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28008" name="Hydro-UAI Explicabilidade">
            <a:extLst xmlns:a="http://schemas.openxmlformats.org/drawingml/2006/main">
              <a:ext uri="{FF2B5EF4-FFF2-40B4-BE49-F238E27FC236}">
                <a16:creationId xmlns:a16="http://schemas.microsoft.com/office/drawing/2014/main" id="{DCF2AC42-9128-5BC0-AF5A-5BBAB2D7F698}"/>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Explicabilidade</a:t>
            </a:r>
          </a:p>
        </p:txBody>
      </p:sp>
      <p:sp>
        <p:nvSpPr>
          <p:cNvPr id="28009" name="Divisor Hydro-UAI">
            <a:extLst xmlns:a="http://schemas.openxmlformats.org/drawingml/2006/main">
              <a:ext uri="{FF2B5EF4-FFF2-40B4-BE49-F238E27FC236}">
                <a16:creationId xmlns:a16="http://schemas.microsoft.com/office/drawing/2014/main" id="{96158A4E-D25F-53BC-970A-FEB8AF85AE7B}"/>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28010" name="Hydro-UAI Hydro-UAI Course">
            <a:extLst xmlns:a="http://schemas.openxmlformats.org/drawingml/2006/main">
              <a:ext uri="{FF2B5EF4-FFF2-40B4-BE49-F238E27FC236}">
                <a16:creationId xmlns:a16="http://schemas.microsoft.com/office/drawing/2014/main" id="{5E6CFD59-3C12-53F5-A78E-6081900F332C}"/>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28011" name="Hydro-UAI 28 / 62">
            <a:extLst xmlns:a="http://schemas.openxmlformats.org/drawingml/2006/main">
              <a:ext uri="{FF2B5EF4-FFF2-40B4-BE49-F238E27FC236}">
                <a16:creationId xmlns:a16="http://schemas.microsoft.com/office/drawing/2014/main" id="{E5440FAB-E318-588C-BEB5-D192B7BAB80C}"/>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34 / 68</a:t>
            </a:r>
          </a:p>
        </p:txBody>
      </p:sp>
    </p:spTree>
    <p:extLst>
      <p:ext uri="{BB962C8B-B14F-4D97-AF65-F5344CB8AC3E}">
        <p14:creationId xmlns:p14="http://schemas.microsoft.com/office/powerpoint/2010/main" val="3991283715"/>
      </p:ext>
    </p:extLst>
  </p:cSld>
</p:sld>
</file>

<file path=ppt/slides/slide29.xml><?xml version="1.0" encoding="utf-8"?>
<p:sld xmlns:p="http://schemas.openxmlformats.org/presentationml/2006/main">
  <p:cSld>
    <p:spTree>
      <p:nvGrpSpPr>
        <p:cNvPr id="29001" name=""/>
        <p:cNvGrpSpPr/>
        <p:nvPr/>
      </p:nvGrpSpPr>
      <p:grpSpPr>
        <a:xfrm xmlns:a="http://schemas.openxmlformats.org/drawingml/2006/main"/>
      </p:grpSpPr>
      <p:sp>
        <p:nvSpPr>
          <p:cNvPr id="29002" name="Retângulo 6">
            <a:extLst xmlns:a="http://schemas.openxmlformats.org/drawingml/2006/main">
              <a:ext uri="{FF2B5EF4-FFF2-40B4-BE49-F238E27FC236}">
                <a16:creationId xmlns:a16="http://schemas.microsoft.com/office/drawing/2014/main" id="{12DD027E-ECDC-51EB-BFC1-2FBF715EE7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003" name="CSI hidrológico: o modelo acertou po">
            <a:extLst xmlns:a="http://schemas.openxmlformats.org/drawingml/2006/main">
              <a:ext uri="{FF2B5EF4-FFF2-40B4-BE49-F238E27FC236}">
                <a16:creationId xmlns:a16="http://schemas.microsoft.com/office/drawing/2014/main" id="{666A2E80-B6F4-5A42-B651-1D04D3E346AF}"/>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CSI hidrológico: o modelo acertou por quê?</a:t>
            </a:r>
          </a:p>
        </p:txBody>
      </p:sp>
      <p:sp>
        <p:nvSpPr>
          <p:cNvPr id="29004" name="Modelo: “Acertei a cheia!”">
            <a:extLst xmlns:a="http://schemas.openxmlformats.org/drawingml/2006/main">
              <a:ext uri="{FF2B5EF4-FFF2-40B4-BE49-F238E27FC236}">
                <a16:creationId xmlns:a16="http://schemas.microsoft.com/office/drawing/2014/main" id="{3DCAA500-AD51-505B-8A6D-A119B7633F2E}"/>
              </a:ext>
            </a:extLst>
          </p:cNvPr>
          <p:cNvSpPr>
            <a:spLocks xmlns:a="http://schemas.openxmlformats.org/drawingml/2006/main" noGrp="1"/>
          </p:cNvSpPr>
          <p:nvPr/>
        </p:nvSpPr>
        <p:spPr>
          <a:xfrm xmlns:a="http://schemas.openxmlformats.org/drawingml/2006/main">
            <a:off x="457200" y="2647950"/>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83DFFF"/>
                </a:solidFill>
                <a:latin typeface="JetBrains Mono"/>
                <a:ea typeface="JetBrains Mono"/>
                <a:cs typeface="JetBrains Mono"/>
              </a:defRPr>
            </a:pPr>
            <a:r>
              <a:rPr sz="2175" b="1">
                <a:solidFill>
                  <a:srgbClr val="83DFFF"/>
                </a:solidFill>
                <a:latin typeface="JetBrains Mono"/>
                <a:ea typeface="JetBrains Mono"/>
                <a:cs typeface="JetBrains Mono"/>
              </a:rPr>
              <a:t>Modelo: “Acertei a cheia!”</a:t>
            </a:r>
          </a:p>
        </p:txBody>
      </p:sp>
      <p:sp>
        <p:nvSpPr>
          <p:cNvPr id="29005" name="Perícia: “Você usou&#10;a chuva de amanh">
            <a:extLst xmlns:a="http://schemas.openxmlformats.org/drawingml/2006/main">
              <a:ext uri="{FF2B5EF4-FFF2-40B4-BE49-F238E27FC236}">
                <a16:creationId xmlns:a16="http://schemas.microsoft.com/office/drawing/2014/main" id="{612ABB82-2D61-5689-89EE-544170D92CA9}"/>
              </a:ext>
            </a:extLst>
          </p:cNvPr>
          <p:cNvSpPr>
            <a:spLocks xmlns:a="http://schemas.openxmlformats.org/drawingml/2006/main" noGrp="1"/>
          </p:cNvSpPr>
          <p:nvPr/>
        </p:nvSpPr>
        <p:spPr>
          <a:xfrm xmlns:a="http://schemas.openxmlformats.org/drawingml/2006/main">
            <a:off x="457200" y="3933825"/>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FFAD62"/>
                </a:solidFill>
                <a:latin typeface="JetBrains Mono"/>
                <a:ea typeface="JetBrains Mono"/>
                <a:cs typeface="JetBrains Mono"/>
              </a:defRPr>
            </a:pPr>
            <a:r>
              <a:rPr sz="2475" b="1">
                <a:solidFill>
                  <a:srgbClr val="FFAD62"/>
                </a:solidFill>
                <a:latin typeface="JetBrains Mono"/>
                <a:ea typeface="JetBrains Mono"/>
                <a:cs typeface="JetBrains Mono"/>
              </a:rPr>
              <a:t>Perícia: “Você usou</a:t>
            </a:r>
          </a:p>
          <a:p xmlns:a="http://schemas.openxmlformats.org/drawingml/2006/main">
            <a:pPr algn="l">
              <a:buNone/>
              <a:defRPr sz="2475" b="1">
                <a:solidFill>
                  <a:srgbClr val="FFAD62"/>
                </a:solidFill>
                <a:latin typeface="JetBrains Mono"/>
                <a:ea typeface="JetBrains Mono"/>
                <a:cs typeface="JetBrains Mono"/>
              </a:defRPr>
            </a:pPr>
            <a:r>
              <a:rPr sz="2475" b="1">
                <a:solidFill>
                  <a:srgbClr val="FFAD62"/>
                </a:solidFill>
                <a:latin typeface="JetBrains Mono"/>
                <a:ea typeface="JetBrains Mono"/>
                <a:cs typeface="JetBrains Mono"/>
              </a:rPr>
              <a:t>a chuva de amanhã?”</a:t>
            </a:r>
          </a:p>
        </p:txBody>
      </p:sp>
      <p:sp>
        <p:nvSpPr>
          <p:cNvPr id="29006" name="Uma variável importante merece inves">
            <a:extLst xmlns:a="http://schemas.openxmlformats.org/drawingml/2006/main">
              <a:ext uri="{FF2B5EF4-FFF2-40B4-BE49-F238E27FC236}">
                <a16:creationId xmlns:a16="http://schemas.microsoft.com/office/drawing/2014/main" id="{50240BA3-B34C-595C-B335-1085F042E384}"/>
              </a:ext>
            </a:extLst>
          </p:cNvPr>
          <p:cNvSpPr>
            <a:spLocks xmlns:a="http://schemas.openxmlformats.org/drawingml/2006/main" noGrp="1"/>
          </p:cNvSpPr>
          <p:nvPr/>
        </p:nvSpPr>
        <p:spPr>
          <a:xfrm xmlns:a="http://schemas.openxmlformats.org/drawingml/2006/main">
            <a:off x="457200" y="5219700"/>
            <a:ext cx="676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FFFFFF"/>
                </a:solidFill>
                <a:latin typeface="JetBrains Mono"/>
                <a:ea typeface="JetBrains Mono"/>
                <a:cs typeface="JetBrains Mono"/>
              </a:defRPr>
            </a:pPr>
            <a:r>
              <a:rPr sz="1650" b="0">
                <a:solidFill>
                  <a:srgbClr val="FFFFFF"/>
                </a:solidFill>
                <a:latin typeface="JetBrains Mono"/>
                <a:ea typeface="JetBrains Mono"/>
                <a:cs typeface="JetBrains Mono"/>
              </a:rPr>
              <a:t>Uma variável importante merece investigação da origem e do horário.</a:t>
            </a:r>
          </a:p>
        </p:txBody>
      </p:sp>
      <p:pic>
        <p:nvPicPr>
          <p:cNvPr id="29007" name="Imagem 13"/>
          <p:cNvPicPr>
            <a:picLocks xmlns:a="http://schemas.openxmlformats.org/drawingml/2006/main" noChangeAspect="1"/>
          </p:cNvPicPr>
          <p:nvPr/>
        </p:nvPicPr>
        <p:blipFill>
          <a:blip xmlns:r="http://schemas.openxmlformats.org/officeDocument/2006/relationships" xmlns:a="http://schemas.openxmlformats.org/drawingml/2006/main" r:embed="R767947a9f5df455b"/>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pic>
        <p:nvPicPr>
          <p:cNvPr id="29008" name=""/>
          <p:cNvPicPr>
            <a:picLocks xmlns:a="http://schemas.openxmlformats.org/drawingml/2006/main" noChangeAspect="1"/>
          </p:cNvPicPr>
          <p:nvPr/>
        </p:nvPicPr>
        <p:blipFill>
          <a:blip xmlns:r="http://schemas.openxmlformats.org/officeDocument/2006/relationships" xmlns:a="http://schemas.openxmlformats.org/drawingml/2006/main" r:embed="R0410e19aacf74c49"/>
          <a:stretch xmlns:a="http://schemas.openxmlformats.org/drawingml/2006/main"/>
        </p:blipFill>
        <p:spPr>
          <a:xfrm xmlns:a="http://schemas.openxmlformats.org/drawingml/2006/main">
            <a:off x="7886700" y="2381250"/>
            <a:ext cx="3543300" cy="3543300"/>
          </a:xfrm>
          <a:prstGeom xmlns:a="http://schemas.openxmlformats.org/drawingml/2006/main" prst="rect">
            <a:avLst/>
          </a:prstGeom>
        </p:spPr>
      </p:pic>
      <p:sp>
        <p:nvSpPr>
          <p:cNvPr id="29009" name="Hydro-UAI Explicabilidade">
            <a:extLst xmlns:a="http://schemas.openxmlformats.org/drawingml/2006/main">
              <a:ext uri="{FF2B5EF4-FFF2-40B4-BE49-F238E27FC236}">
                <a16:creationId xmlns:a16="http://schemas.microsoft.com/office/drawing/2014/main" id="{DA415779-2D50-53E7-9BFA-C95E58F0AF00}"/>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Explicabilidade</a:t>
            </a:r>
          </a:p>
        </p:txBody>
      </p:sp>
      <p:sp>
        <p:nvSpPr>
          <p:cNvPr id="29010" name="Divisor Hydro-UAI">
            <a:extLst xmlns:a="http://schemas.openxmlformats.org/drawingml/2006/main">
              <a:ext uri="{FF2B5EF4-FFF2-40B4-BE49-F238E27FC236}">
                <a16:creationId xmlns:a16="http://schemas.microsoft.com/office/drawing/2014/main" id="{2F338BFB-BE2E-5D52-A6C7-D1E93A2159CA}"/>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29011" name="Hydro-UAI Hydro-UAI Course">
            <a:extLst xmlns:a="http://schemas.openxmlformats.org/drawingml/2006/main">
              <a:ext uri="{FF2B5EF4-FFF2-40B4-BE49-F238E27FC236}">
                <a16:creationId xmlns:a16="http://schemas.microsoft.com/office/drawing/2014/main" id="{6E4CF28E-538B-5048-B04A-719DA92F01DA}"/>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29012" name="Hydro-UAI 29 / 62">
            <a:extLst xmlns:a="http://schemas.openxmlformats.org/drawingml/2006/main">
              <a:ext uri="{FF2B5EF4-FFF2-40B4-BE49-F238E27FC236}">
                <a16:creationId xmlns:a16="http://schemas.microsoft.com/office/drawing/2014/main" id="{E1C30DE3-64B0-52FC-9FB2-98BF40F6AD40}"/>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35 / 68</a:t>
            </a:r>
          </a:p>
        </p:txBody>
      </p:sp>
    </p:spTree>
    <p:extLst>
      <p:ext uri="{BB962C8B-B14F-4D97-AF65-F5344CB8AC3E}">
        <p14:creationId xmlns:p14="http://schemas.microsoft.com/office/powerpoint/2010/main" val="3991283715"/>
      </p:ext>
    </p:extLst>
  </p:cSld>
</p:sld>
</file>

<file path=ppt/slides/slide30.xml><?xml version="1.0" encoding="utf-8"?>
<p:sld xmlns:p="http://schemas.openxmlformats.org/presentationml/2006/main">
  <p:cSld>
    <p:spTree>
      <p:nvGrpSpPr>
        <p:cNvPr id="30001" name=""/>
        <p:cNvGrpSpPr/>
        <p:nvPr/>
      </p:nvGrpSpPr>
      <p:grpSpPr>
        <a:xfrm xmlns:a="http://schemas.openxmlformats.org/drawingml/2006/main"/>
      </p:grpSpPr>
      <p:sp>
        <p:nvSpPr>
          <p:cNvPr id="30002" name="Retângulo 6">
            <a:extLst xmlns:a="http://schemas.openxmlformats.org/drawingml/2006/main">
              <a:ext uri="{FF2B5EF4-FFF2-40B4-BE49-F238E27FC236}">
                <a16:creationId xmlns:a16="http://schemas.microsoft.com/office/drawing/2014/main" id="{B75E57D0-69C3-58C9-B7B6-8EA3607DB5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30003" name=""/>
          <p:cNvGraphicFramePr/>
          <p:nvPr/>
        </p:nvGraphicFramePr>
        <p:xfrm>
          <a:off xmlns:a="http://schemas.openxmlformats.org/drawingml/2006/main" x="457200" y="3400425"/>
          <a:ext xmlns:a="http://schemas.openxmlformats.org/drawingml/2006/main" cx="5486400" cy="2114550"/>
        </p:xfrm>
        <a:graphic xmlns:a="http://schemas.openxmlformats.org/drawingml/2006/main">
          <a:graphicData uri="http://schemas.openxmlformats.org/drawingml/2006/table">
            <a:tbl>
              <a:tblPr/>
              <a:tblGrid>
                <a:gridCol w="3333750"/>
                <a:gridCol w="2152650"/>
              </a:tblGrid>
              <a:tr h="528638">
                <a:tc>
                  <a:txBody>
                    <a:bodyPr lIns="85725" tIns="57150" rIns="85725" bIns="57150">
                      <a:noAutofit/>
                    </a:bodyPr>
                    <a:lstStyle/>
                    <a:p>
                      <a:pPr algn="l">
                        <a:buNone/>
                      </a:pPr>
                      <a:r>
                        <a:rPr sz="1950" b="1">
                          <a:solidFill>
                            <a:srgbClr val="FFFFFF"/>
                          </a:solidFill>
                          <a:latin typeface="JetBrains Mono"/>
                          <a:ea typeface="JetBrains Mono"/>
                          <a:cs typeface="JetBrains Mono"/>
                        </a:rPr>
                        <a:t>Entrada</a:t>
                      </a:r>
                    </a:p>
                  </a:txBody>
                  <a:tcPr marL="91440" marR="91440" marT="45720" marB="45720" anchor="ctr">
                    <a:solidFill>
                      <a:srgbClr val="0053EB"/>
                    </a:solidFill>
                  </a:tcPr>
                </a:tc>
                <a:tc>
                  <a:txBody>
                    <a:bodyPr lIns="85725" tIns="57150" rIns="85725" bIns="57150">
                      <a:noAutofit/>
                    </a:bodyPr>
                    <a:lstStyle/>
                    <a:p>
                      <a:pPr algn="l">
                        <a:buNone/>
                      </a:pPr>
                      <a:r>
                        <a:rPr sz="1950" b="1">
                          <a:solidFill>
                            <a:srgbClr val="FFFFFF"/>
                          </a:solidFill>
                          <a:latin typeface="JetBrains Mono"/>
                          <a:ea typeface="JetBrains Mono"/>
                          <a:cs typeface="JetBrains Mono"/>
                        </a:rPr>
                        <a:t>Contribuição</a:t>
                      </a:r>
                    </a:p>
                  </a:txBody>
                  <a:tcPr marL="91440" marR="91440" marT="45720" marB="45720" anchor="ctr">
                    <a:solidFill>
                      <a:srgbClr val="0053EB"/>
                    </a:solidFill>
                  </a:tcPr>
                </a:tc>
              </a:tr>
              <a:tr h="528638">
                <a:tc>
                  <a:txBody>
                    <a:bodyPr lIns="85725" tIns="57150" rIns="85725" bIns="57150">
                      <a:noAutofit/>
                    </a:bodyPr>
                    <a:lstStyle/>
                    <a:p>
                      <a:pPr algn="l">
                        <a:buNone/>
                      </a:pPr>
                      <a:r>
                        <a:rPr sz="1950" b="0">
                          <a:solidFill>
                            <a:srgbClr val="FFFFFF"/>
                          </a:solidFill>
                          <a:latin typeface="JetBrains Mono"/>
                          <a:ea typeface="JetBrains Mono"/>
                          <a:cs typeface="JetBrains Mono"/>
                        </a:rPr>
                        <a:t>Chuva</a:t>
                      </a:r>
                    </a:p>
                  </a:txBody>
                  <a:tcPr marL="91440" marR="91440" marT="45720" marB="45720" anchor="ctr">
                    <a:solidFill>
                      <a:srgbClr val="000F29"/>
                    </a:solidFill>
                  </a:tcPr>
                </a:tc>
                <a:tc>
                  <a:txBody>
                    <a:bodyPr lIns="85725" tIns="57150" rIns="85725" bIns="57150">
                      <a:noAutofit/>
                    </a:bodyPr>
                    <a:lstStyle/>
                    <a:p>
                      <a:pPr algn="l">
                        <a:buNone/>
                      </a:pPr>
                      <a:r>
                        <a:rPr sz="1950" b="0">
                          <a:solidFill>
                            <a:srgbClr val="FFFFFF"/>
                          </a:solidFill>
                          <a:latin typeface="JetBrains Mono"/>
                          <a:ea typeface="JetBrains Mono"/>
                          <a:cs typeface="JetBrains Mono"/>
                        </a:rPr>
                        <a:t>+9 m³/s</a:t>
                      </a:r>
                    </a:p>
                  </a:txBody>
                  <a:tcPr marL="91440" marR="91440" marT="45720" marB="45720" anchor="ctr">
                    <a:solidFill>
                      <a:srgbClr val="000F29"/>
                    </a:solidFill>
                  </a:tcPr>
                </a:tc>
              </a:tr>
              <a:tr h="528638">
                <a:tc>
                  <a:txBody>
                    <a:bodyPr lIns="85725" tIns="57150" rIns="85725" bIns="57150">
                      <a:noAutofit/>
                    </a:bodyPr>
                    <a:lstStyle/>
                    <a:p>
                      <a:pPr algn="l">
                        <a:buNone/>
                      </a:pPr>
                      <a:r>
                        <a:rPr sz="1950" b="0">
                          <a:solidFill>
                            <a:srgbClr val="FFFFFF"/>
                          </a:solidFill>
                          <a:latin typeface="JetBrains Mono"/>
                          <a:ea typeface="JetBrains Mono"/>
                          <a:cs typeface="JetBrains Mono"/>
                        </a:rPr>
                        <a:t>Q anterior</a:t>
                      </a:r>
                    </a:p>
                  </a:txBody>
                  <a:tcPr marL="91440" marR="91440" marT="45720" marB="45720" anchor="ctr">
                    <a:solidFill>
                      <a:srgbClr val="000F29"/>
                    </a:solidFill>
                  </a:tcPr>
                </a:tc>
                <a:tc>
                  <a:txBody>
                    <a:bodyPr lIns="85725" tIns="57150" rIns="85725" bIns="57150">
                      <a:noAutofit/>
                    </a:bodyPr>
                    <a:lstStyle/>
                    <a:p>
                      <a:pPr algn="l">
                        <a:buNone/>
                      </a:pPr>
                      <a:r>
                        <a:rPr sz="1950" b="0">
                          <a:solidFill>
                            <a:srgbClr val="FFFFFF"/>
                          </a:solidFill>
                          <a:latin typeface="JetBrains Mono"/>
                          <a:ea typeface="JetBrains Mono"/>
                          <a:cs typeface="JetBrains Mono"/>
                        </a:rPr>
                        <a:t>+6 m³/s</a:t>
                      </a:r>
                    </a:p>
                  </a:txBody>
                  <a:tcPr marL="91440" marR="91440" marT="45720" marB="45720" anchor="ctr">
                    <a:solidFill>
                      <a:srgbClr val="000F29"/>
                    </a:solidFill>
                  </a:tcPr>
                </a:tc>
              </a:tr>
              <a:tr h="528638">
                <a:tc>
                  <a:txBody>
                    <a:bodyPr lIns="85725" tIns="57150" rIns="85725" bIns="57150">
                      <a:noAutofit/>
                    </a:bodyPr>
                    <a:lstStyle/>
                    <a:p>
                      <a:pPr algn="l">
                        <a:buNone/>
                      </a:pPr>
                      <a:r>
                        <a:rPr sz="1950" b="0">
                          <a:solidFill>
                            <a:srgbClr val="FFFFFF"/>
                          </a:solidFill>
                          <a:latin typeface="JetBrains Mono"/>
                          <a:ea typeface="JetBrains Mono"/>
                          <a:cs typeface="JetBrains Mono"/>
                        </a:rPr>
                        <a:t>ETP</a:t>
                      </a:r>
                    </a:p>
                  </a:txBody>
                  <a:tcPr marL="91440" marR="91440" marT="45720" marB="45720" anchor="ctr">
                    <a:solidFill>
                      <a:srgbClr val="000F29"/>
                    </a:solidFill>
                  </a:tcPr>
                </a:tc>
                <a:tc>
                  <a:txBody>
                    <a:bodyPr lIns="85725" tIns="57150" rIns="85725" bIns="57150">
                      <a:noAutofit/>
                    </a:bodyPr>
                    <a:lstStyle/>
                    <a:p>
                      <a:pPr algn="l">
                        <a:buNone/>
                      </a:pPr>
                      <a:r>
                        <a:rPr sz="1950" b="0">
                          <a:solidFill>
                            <a:srgbClr val="FFFFFF"/>
                          </a:solidFill>
                          <a:latin typeface="JetBrains Mono"/>
                          <a:ea typeface="JetBrains Mono"/>
                          <a:cs typeface="JetBrains Mono"/>
                        </a:rPr>
                        <a:t>-2 m³/s</a:t>
                      </a:r>
                    </a:p>
                  </a:txBody>
                  <a:tcPr marL="91440" marR="91440" marT="45720" marB="45720" anchor="ctr">
                    <a:solidFill>
                      <a:srgbClr val="000F29"/>
                    </a:solidFill>
                  </a:tcPr>
                </a:tc>
              </a:tr>
            </a:tbl>
          </a:graphicData>
        </a:graphic>
      </p:graphicFrame>
      <p:sp>
        <p:nvSpPr>
          <p:cNvPr id="30004" name="Atividade: reconstrução e interpreta">
            <a:extLst xmlns:a="http://schemas.openxmlformats.org/drawingml/2006/main">
              <a:ext uri="{FF2B5EF4-FFF2-40B4-BE49-F238E27FC236}">
                <a16:creationId xmlns:a16="http://schemas.microsoft.com/office/drawing/2014/main" id="{D5B6AA29-56D3-53BD-BAE6-C4F7130E4E7A}"/>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Atividade: reconstrução e interpretação de SHAP</a:t>
            </a:r>
          </a:p>
        </p:txBody>
      </p:sp>
      <p:sp>
        <p:nvSpPr>
          <p:cNvPr id="30005" name="Referência: 12 m³/s">
            <a:extLst xmlns:a="http://schemas.openxmlformats.org/drawingml/2006/main">
              <a:ext uri="{FF2B5EF4-FFF2-40B4-BE49-F238E27FC236}">
                <a16:creationId xmlns:a16="http://schemas.microsoft.com/office/drawing/2014/main" id="{1D2D1A35-AA4F-5DA4-8FD1-279AC5B882CA}"/>
              </a:ext>
            </a:extLst>
          </p:cNvPr>
          <p:cNvSpPr>
            <a:spLocks xmlns:a="http://schemas.openxmlformats.org/drawingml/2006/main" noGrp="1"/>
          </p:cNvSpPr>
          <p:nvPr/>
        </p:nvSpPr>
        <p:spPr>
          <a:xfrm xmlns:a="http://schemas.openxmlformats.org/drawingml/2006/main">
            <a:off x="457200" y="2609850"/>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83DFFF"/>
                </a:solidFill>
                <a:latin typeface="JetBrains Mono"/>
                <a:ea typeface="JetBrains Mono"/>
                <a:cs typeface="JetBrains Mono"/>
              </a:defRPr>
            </a:pPr>
            <a:r>
              <a:rPr sz="2250" b="1">
                <a:solidFill>
                  <a:srgbClr val="83DFFF"/>
                </a:solidFill>
                <a:latin typeface="JetBrains Mono"/>
                <a:ea typeface="JetBrains Mono"/>
                <a:cs typeface="JetBrains Mono"/>
              </a:rPr>
              <a:t>Referência: 12 m³/s</a:t>
            </a:r>
          </a:p>
        </p:txBody>
      </p:sp>
      <p:sp>
        <p:nvSpPr>
          <p:cNvPr id="30006" name="1. Qual é a previsão?&#10;&#10;2. O que sign">
            <a:extLst xmlns:a="http://schemas.openxmlformats.org/drawingml/2006/main">
              <a:ext uri="{FF2B5EF4-FFF2-40B4-BE49-F238E27FC236}">
                <a16:creationId xmlns:a16="http://schemas.microsoft.com/office/drawing/2014/main" id="{AC21A0C0-6971-58F3-915A-0D6E09FBEAD2}"/>
              </a:ext>
            </a:extLst>
          </p:cNvPr>
          <p:cNvSpPr>
            <a:spLocks xmlns:a="http://schemas.openxmlformats.org/drawingml/2006/main" noGrp="1"/>
          </p:cNvSpPr>
          <p:nvPr/>
        </p:nvSpPr>
        <p:spPr>
          <a:xfrm xmlns:a="http://schemas.openxmlformats.org/drawingml/2006/main">
            <a:off x="6667500" y="3371850"/>
            <a:ext cx="50673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1. Qual é a previsão?</a:t>
            </a:r>
          </a:p>
          <a:p xmlns:a="http://schemas.openxmlformats.org/drawingml/2006/main">
            <a:r>
              <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2. O que significa o sinal negativo?</a:t>
            </a:r>
          </a:p>
          <a:p xmlns:a="http://schemas.openxmlformats.org/drawingml/2006/main">
            <a:r>
              <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3. Esse valor é um efeito causal?</a:t>
            </a:r>
          </a:p>
        </p:txBody>
      </p:sp>
      <p:pic>
        <p:nvPicPr>
          <p:cNvPr id="30007" name="Imagem 13"/>
          <p:cNvPicPr>
            <a:picLocks xmlns:a="http://schemas.openxmlformats.org/drawingml/2006/main" noChangeAspect="1"/>
          </p:cNvPicPr>
          <p:nvPr/>
        </p:nvPicPr>
        <p:blipFill>
          <a:blip xmlns:r="http://schemas.openxmlformats.org/officeDocument/2006/relationships" xmlns:a="http://schemas.openxmlformats.org/drawingml/2006/main" r:embed="Rac22de37287c4269"/>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30008" name="Hydro-UAI Explicabilidade">
            <a:extLst xmlns:a="http://schemas.openxmlformats.org/drawingml/2006/main">
              <a:ext uri="{FF2B5EF4-FFF2-40B4-BE49-F238E27FC236}">
                <a16:creationId xmlns:a16="http://schemas.microsoft.com/office/drawing/2014/main" id="{589F682E-2135-5CEA-B8A6-38C3A4046E21}"/>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Explicabilidade</a:t>
            </a:r>
          </a:p>
        </p:txBody>
      </p:sp>
      <p:sp>
        <p:nvSpPr>
          <p:cNvPr id="30009" name="Divisor Hydro-UAI">
            <a:extLst xmlns:a="http://schemas.openxmlformats.org/drawingml/2006/main">
              <a:ext uri="{FF2B5EF4-FFF2-40B4-BE49-F238E27FC236}">
                <a16:creationId xmlns:a16="http://schemas.microsoft.com/office/drawing/2014/main" id="{C3962706-EDAE-5BA7-9B3B-F834DA64E6FF}"/>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30010" name="Hydro-UAI Hydro-UAI Course">
            <a:extLst xmlns:a="http://schemas.openxmlformats.org/drawingml/2006/main">
              <a:ext uri="{FF2B5EF4-FFF2-40B4-BE49-F238E27FC236}">
                <a16:creationId xmlns:a16="http://schemas.microsoft.com/office/drawing/2014/main" id="{0D71103A-DC9C-5A54-AAB2-29FD93345B19}"/>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30011" name="Hydro-UAI 30 / 62">
            <a:extLst xmlns:a="http://schemas.openxmlformats.org/drawingml/2006/main">
              <a:ext uri="{FF2B5EF4-FFF2-40B4-BE49-F238E27FC236}">
                <a16:creationId xmlns:a16="http://schemas.microsoft.com/office/drawing/2014/main" id="{9A547128-B6B5-5145-9AF3-46E05B88F50C}"/>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36 / 68</a:t>
            </a:r>
          </a:p>
        </p:txBody>
      </p:sp>
    </p:spTree>
    <p:extLst>
      <p:ext uri="{BB962C8B-B14F-4D97-AF65-F5344CB8AC3E}">
        <p14:creationId xmlns:p14="http://schemas.microsoft.com/office/powerpoint/2010/main" val="3991283715"/>
      </p:ext>
    </p:extLst>
  </p:cSld>
</p:sld>
</file>

<file path=ppt/slides/slide31.xml><?xml version="1.0" encoding="utf-8"?>
<p:sld xmlns:p="http://schemas.openxmlformats.org/presentationml/2006/main">
  <p:cSld>
    <p:spTree>
      <p:nvGrpSpPr>
        <p:cNvPr id="31001" name=""/>
        <p:cNvGrpSpPr/>
        <p:nvPr/>
      </p:nvGrpSpPr>
      <p:grpSpPr>
        <a:xfrm xmlns:a="http://schemas.openxmlformats.org/drawingml/2006/main"/>
      </p:grpSpPr>
      <p:sp>
        <p:nvSpPr>
          <p:cNvPr id="31002" name="Retângulo 6">
            <a:extLst xmlns:a="http://schemas.openxmlformats.org/drawingml/2006/main">
              <a:ext uri="{FF2B5EF4-FFF2-40B4-BE49-F238E27FC236}">
                <a16:creationId xmlns:a16="http://schemas.microsoft.com/office/drawing/2014/main" id="{323AF0BB-9D8C-5494-A296-D042C75989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003" name="PINN: uma aproximação treinada com d">
            <a:extLst xmlns:a="http://schemas.openxmlformats.org/drawingml/2006/main">
              <a:ext uri="{FF2B5EF4-FFF2-40B4-BE49-F238E27FC236}">
                <a16:creationId xmlns:a16="http://schemas.microsoft.com/office/drawing/2014/main" id="{AB19F341-460C-589E-8EC8-2C82A7BF824B}"/>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PINN: uma aproximação treinada com dados e equações</a:t>
            </a:r>
          </a:p>
        </p:txBody>
      </p:sp>
      <p:sp>
        <p:nvSpPr>
          <p:cNvPr id="31004" name="Coordenadas&#10;x e t">
            <a:extLst xmlns:a="http://schemas.openxmlformats.org/drawingml/2006/main">
              <a:ext uri="{FF2B5EF4-FFF2-40B4-BE49-F238E27FC236}">
                <a16:creationId xmlns:a16="http://schemas.microsoft.com/office/drawing/2014/main" id="{D5FDC4C1-1AC6-544B-A1DB-8FAF58D27468}"/>
              </a:ext>
            </a:extLst>
          </p:cNvPr>
          <p:cNvSpPr>
            <a:spLocks xmlns:a="http://schemas.openxmlformats.org/drawingml/2006/main" noGrp="1"/>
          </p:cNvSpPr>
          <p:nvPr/>
        </p:nvSpPr>
        <p:spPr>
          <a:xfrm xmlns:a="http://schemas.openxmlformats.org/drawingml/2006/main">
            <a:off x="457200" y="3028950"/>
            <a:ext cx="2952750" cy="10001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Coordenadas</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x e t</a:t>
            </a:r>
          </a:p>
        </p:txBody>
      </p:sp>
      <p:sp>
        <p:nvSpPr>
          <p:cNvPr id="31005" name="Rede neural&#10;uθ(x, t)">
            <a:extLst xmlns:a="http://schemas.openxmlformats.org/drawingml/2006/main">
              <a:ext uri="{FF2B5EF4-FFF2-40B4-BE49-F238E27FC236}">
                <a16:creationId xmlns:a16="http://schemas.microsoft.com/office/drawing/2014/main" id="{0ADF1ABF-A8E6-5F65-BDA1-929AEF22DFAD}"/>
              </a:ext>
            </a:extLst>
          </p:cNvPr>
          <p:cNvSpPr>
            <a:spLocks xmlns:a="http://schemas.openxmlformats.org/drawingml/2006/main" noGrp="1"/>
          </p:cNvSpPr>
          <p:nvPr/>
        </p:nvSpPr>
        <p:spPr>
          <a:xfrm xmlns:a="http://schemas.openxmlformats.org/drawingml/2006/main">
            <a:off x="4410075" y="3028950"/>
            <a:ext cx="2952750" cy="1000125"/>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Rede neural</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uθ(x, t)</a:t>
            </a:r>
          </a:p>
        </p:txBody>
      </p:sp>
      <p:sp>
        <p:nvSpPr>
          <p:cNvPr id="31006" name="Estado físico&#10;previsto">
            <a:extLst xmlns:a="http://schemas.openxmlformats.org/drawingml/2006/main">
              <a:ext uri="{FF2B5EF4-FFF2-40B4-BE49-F238E27FC236}">
                <a16:creationId xmlns:a16="http://schemas.microsoft.com/office/drawing/2014/main" id="{C01E77F2-EBC2-54B4-B8E4-43CE50653606}"/>
              </a:ext>
            </a:extLst>
          </p:cNvPr>
          <p:cNvSpPr>
            <a:spLocks xmlns:a="http://schemas.openxmlformats.org/drawingml/2006/main" noGrp="1"/>
          </p:cNvSpPr>
          <p:nvPr/>
        </p:nvSpPr>
        <p:spPr>
          <a:xfrm xmlns:a="http://schemas.openxmlformats.org/drawingml/2006/main">
            <a:off x="8420100" y="3028950"/>
            <a:ext cx="2952750" cy="1000125"/>
          </a:xfrm>
          <a:prstGeom xmlns:a="http://schemas.openxmlformats.org/drawingml/2006/main" prst="rect">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Estado físico</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previsto</a:t>
            </a:r>
          </a:p>
        </p:txBody>
      </p:sp>
      <p:cxnSp>
        <p:nvCxnSpPr>
          <p:cNvPr id="31007" name=""/>
          <p:cNvCxnSpPr>
            <a:stCxn xmlns:a="http://schemas.openxmlformats.org/drawingml/2006/main" id="31004" idx="3"/>
            <a:endCxn xmlns:a="http://schemas.openxmlformats.org/drawingml/2006/main" id="31005" idx="1"/>
          </p:cNvCxnSpPr>
          <p:nvPr/>
        </p:nvCxnSpPr>
        <p:spPr>
          <a:xfrm xmlns:a="http://schemas.openxmlformats.org/drawingml/2006/main">
            <a:off x="3409950" y="3529013"/>
            <a:ext cx="1000125"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31008" name=""/>
          <p:cNvCxnSpPr>
            <a:stCxn xmlns:a="http://schemas.openxmlformats.org/drawingml/2006/main" id="31005" idx="3"/>
            <a:endCxn xmlns:a="http://schemas.openxmlformats.org/drawingml/2006/main" id="31006" idx="1"/>
          </p:cNvCxnSpPr>
          <p:nvPr/>
        </p:nvCxnSpPr>
        <p:spPr>
          <a:xfrm xmlns:a="http://schemas.openxmlformats.org/drawingml/2006/main">
            <a:off x="7362825" y="3529013"/>
            <a:ext cx="1057275" cy="0"/>
          </a:xfrm>
          <a:prstGeom xmlns:a="http://schemas.openxmlformats.org/drawingml/2006/main" prst="straightConnector1">
            <a:avLst/>
          </a:prstGeom>
          <a:ln xmlns:a="http://schemas.openxmlformats.org/drawingml/2006/main" w="19050">
            <a:solidFill>
              <a:srgbClr val="71E7BD"/>
            </a:solidFill>
            <a:tailEnd type="triangle" w="sm" len="sm"/>
          </a:ln>
        </p:spPr>
      </p:cxnSp>
      <p:sp>
        <p:nvSpPr>
          <p:cNvPr id="31009" name="O treinamento avalia o ajuste aos da">
            <a:extLst xmlns:a="http://schemas.openxmlformats.org/drawingml/2006/main">
              <a:ext uri="{FF2B5EF4-FFF2-40B4-BE49-F238E27FC236}">
                <a16:creationId xmlns:a16="http://schemas.microsoft.com/office/drawing/2014/main" id="{E6D95CB2-3AF1-566B-8477-6D38FF0E6A3A}"/>
              </a:ext>
            </a:extLst>
          </p:cNvPr>
          <p:cNvSpPr>
            <a:spLocks xmlns:a="http://schemas.openxmlformats.org/drawingml/2006/main" noGrp="1"/>
          </p:cNvSpPr>
          <p:nvPr/>
        </p:nvSpPr>
        <p:spPr>
          <a:xfrm xmlns:a="http://schemas.openxmlformats.org/drawingml/2006/main">
            <a:off x="457200" y="4695825"/>
            <a:ext cx="1127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O treinamento avalia o ajuste aos dados e o resíduo da equação.</a:t>
            </a:r>
          </a:p>
        </p:txBody>
      </p:sp>
      <p:pic>
        <p:nvPicPr>
          <p:cNvPr id="31010" name="Imagem 13"/>
          <p:cNvPicPr>
            <a:picLocks xmlns:a="http://schemas.openxmlformats.org/drawingml/2006/main" noChangeAspect="1"/>
          </p:cNvPicPr>
          <p:nvPr/>
        </p:nvPicPr>
        <p:blipFill>
          <a:blip xmlns:r="http://schemas.openxmlformats.org/officeDocument/2006/relationships" xmlns:a="http://schemas.openxmlformats.org/drawingml/2006/main" r:embed="Re8915d9df51448c9"/>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31011" name="Hydro-UAI Redes informadas pela física">
            <a:extLst xmlns:a="http://schemas.openxmlformats.org/drawingml/2006/main">
              <a:ext uri="{FF2B5EF4-FFF2-40B4-BE49-F238E27FC236}">
                <a16:creationId xmlns:a16="http://schemas.microsoft.com/office/drawing/2014/main" id="{BB3479E0-F391-53D9-A0CA-26867F59CC07}"/>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informadas pela física</a:t>
            </a:r>
          </a:p>
        </p:txBody>
      </p:sp>
      <p:sp>
        <p:nvSpPr>
          <p:cNvPr id="31012" name="Divisor Hydro-UAI">
            <a:extLst xmlns:a="http://schemas.openxmlformats.org/drawingml/2006/main">
              <a:ext uri="{FF2B5EF4-FFF2-40B4-BE49-F238E27FC236}">
                <a16:creationId xmlns:a16="http://schemas.microsoft.com/office/drawing/2014/main" id="{ADE0F095-D79F-51AB-88C2-09F412AF2594}"/>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31013" name="Hydro-UAI Hydro-UAI Course">
            <a:extLst xmlns:a="http://schemas.openxmlformats.org/drawingml/2006/main">
              <a:ext uri="{FF2B5EF4-FFF2-40B4-BE49-F238E27FC236}">
                <a16:creationId xmlns:a16="http://schemas.microsoft.com/office/drawing/2014/main" id="{77CE1249-EC94-596D-B470-A674CBEBDE21}"/>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31014" name="Hydro-UAI 31 / 62">
            <a:extLst xmlns:a="http://schemas.openxmlformats.org/drawingml/2006/main">
              <a:ext uri="{FF2B5EF4-FFF2-40B4-BE49-F238E27FC236}">
                <a16:creationId xmlns:a16="http://schemas.microsoft.com/office/drawing/2014/main" id="{906A10D5-8FEA-5FD1-9FBB-B269769594FD}"/>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37 / 68</a:t>
            </a:r>
          </a:p>
        </p:txBody>
      </p:sp>
    </p:spTree>
    <p:extLst>
      <p:ext uri="{BB962C8B-B14F-4D97-AF65-F5344CB8AC3E}">
        <p14:creationId xmlns:p14="http://schemas.microsoft.com/office/powerpoint/2010/main" val="3991283715"/>
      </p:ext>
    </p:extLst>
  </p:cSld>
</p:sld>
</file>

<file path=ppt/slides/slide32.xml><?xml version="1.0" encoding="utf-8"?>
<p:sld xmlns:p="http://schemas.openxmlformats.org/presentationml/2006/main">
  <p:cSld>
    <p:spTree>
      <p:nvGrpSpPr>
        <p:cNvPr id="32001" name=""/>
        <p:cNvGrpSpPr/>
        <p:nvPr/>
      </p:nvGrpSpPr>
      <p:grpSpPr>
        <a:xfrm xmlns:a="http://schemas.openxmlformats.org/drawingml/2006/main"/>
      </p:grpSpPr>
      <p:sp>
        <p:nvSpPr>
          <p:cNvPr id="32002" name="Retângulo 6">
            <a:extLst xmlns:a="http://schemas.openxmlformats.org/drawingml/2006/main">
              <a:ext uri="{FF2B5EF4-FFF2-40B4-BE49-F238E27FC236}">
                <a16:creationId xmlns:a16="http://schemas.microsoft.com/office/drawing/2014/main" id="{5A7D28B9-725D-50BF-82A8-80C95FECB6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32003" name=""/>
          <p:cNvGraphicFramePr/>
          <p:nvPr/>
        </p:nvGraphicFramePr>
        <p:xfrm>
          <a:off xmlns:a="http://schemas.openxmlformats.org/drawingml/2006/main" x="457200" y="4276725"/>
          <a:ext xmlns:a="http://schemas.openxmlformats.org/drawingml/2006/main" cx="11277600" cy="1552575"/>
        </p:xfrm>
        <a:graphic xmlns:a="http://schemas.openxmlformats.org/drawingml/2006/main">
          <a:graphicData uri="http://schemas.openxmlformats.org/drawingml/2006/table">
            <a:tbl>
              <a:tblPr/>
              <a:tblGrid>
                <a:gridCol w="3095625"/>
                <a:gridCol w="2667000"/>
                <a:gridCol w="5514975"/>
              </a:tblGrid>
              <a:tr h="388144">
                <a:tc>
                  <a:txBody>
                    <a:bodyPr lIns="85725" tIns="57150" rIns="85725" bIns="57150">
                      <a:noAutofit/>
                    </a:bodyPr>
                    <a:lstStyle/>
                    <a:p>
                      <a:pPr algn="l">
                        <a:buNone/>
                      </a:pPr>
                      <a:r>
                        <a:rPr sz="1575" b="1">
                          <a:solidFill>
                            <a:srgbClr val="FFFFFF"/>
                          </a:solidFill>
                          <a:latin typeface="JetBrains Mono"/>
                          <a:ea typeface="JetBrains Mono"/>
                          <a:cs typeface="JetBrains Mono"/>
                        </a:rPr>
                        <a:t>Quantidade</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Unidade</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Significado</a:t>
                      </a:r>
                    </a:p>
                  </a:txBody>
                  <a:tcPr marL="91440" marR="91440" marT="45720" marB="45720" anchor="ctr">
                    <a:solidFill>
                      <a:srgbClr val="0053EB"/>
                    </a:solidFill>
                  </a:tcPr>
                </a:tc>
              </a:tr>
              <a:tr h="388144">
                <a:tc>
                  <a:txBody>
                    <a:bodyPr lIns="85725" tIns="57150" rIns="85725" bIns="57150">
                      <a:noAutofit/>
                    </a:bodyPr>
                    <a:lstStyle/>
                    <a:p>
                      <a:pPr algn="l">
                        <a:buNone/>
                      </a:pPr>
                      <a:r>
                        <a:rPr sz="1575" b="0">
                          <a:solidFill>
                            <a:srgbClr val="FFFFFF"/>
                          </a:solidFill>
                          <a:latin typeface="JetBrains Mono"/>
                          <a:ea typeface="JetBrains Mono"/>
                          <a:cs typeface="JetBrains Mono"/>
                        </a:rPr>
                        <a:t>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mm</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Armazenamento equivalente na bacia.</a:t>
                      </a:r>
                    </a:p>
                  </a:txBody>
                  <a:tcPr marL="91440" marR="91440" marT="45720" marB="45720" anchor="ctr">
                    <a:solidFill>
                      <a:srgbClr val="000F29"/>
                    </a:solidFill>
                  </a:tcPr>
                </a:tc>
              </a:tr>
              <a:tr h="388144">
                <a:tc>
                  <a:txBody>
                    <a:bodyPr lIns="85725" tIns="57150" rIns="85725" bIns="57150">
                      <a:noAutofit/>
                    </a:bodyPr>
                    <a:lstStyle/>
                    <a:p>
                      <a:pPr algn="l">
                        <a:buNone/>
                      </a:pPr>
                      <a:r>
                        <a:rPr sz="1575" b="0">
                          <a:solidFill>
                            <a:srgbClr val="FFFFFF"/>
                          </a:solidFill>
                          <a:latin typeface="JetBrains Mono"/>
                          <a:ea typeface="JetBrains Mono"/>
                          <a:cs typeface="JetBrains Mono"/>
                        </a:rPr>
                        <a:t>P, ET e q</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mm/dia</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Fluxos por unidade de área.</a:t>
                      </a:r>
                    </a:p>
                  </a:txBody>
                  <a:tcPr marL="91440" marR="91440" marT="45720" marB="45720" anchor="ctr">
                    <a:solidFill>
                      <a:srgbClr val="000F29"/>
                    </a:solidFill>
                  </a:tcPr>
                </a:tc>
              </a:tr>
              <a:tr h="388144">
                <a:tc>
                  <a:txBody>
                    <a:bodyPr lIns="85725" tIns="57150" rIns="85725" bIns="57150">
                      <a:noAutofit/>
                    </a:bodyPr>
                    <a:lstStyle/>
                    <a:p>
                      <a:pPr algn="l">
                        <a:buNone/>
                      </a:pPr>
                      <a:r>
                        <a:rPr sz="1575" b="0">
                          <a:solidFill>
                            <a:srgbClr val="FFFFFF"/>
                          </a:solidFill>
                          <a:latin typeface="JetBrains Mono"/>
                          <a:ea typeface="JetBrains Mono"/>
                          <a:cs typeface="JetBrains Mono"/>
                        </a:rPr>
                        <a:t>k</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1/dia</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Coeficiente de esvaziamento.</a:t>
                      </a:r>
                    </a:p>
                  </a:txBody>
                  <a:tcPr marL="91440" marR="91440" marT="45720" marB="45720" anchor="ctr">
                    <a:solidFill>
                      <a:srgbClr val="000F29"/>
                    </a:solidFill>
                  </a:tcPr>
                </a:tc>
              </a:tr>
            </a:tbl>
          </a:graphicData>
        </a:graphic>
      </p:graphicFrame>
      <p:sp>
        <p:nvSpPr>
          <p:cNvPr id="32004" name="Um reservatório conceitual e o balan">
            <a:extLst xmlns:a="http://schemas.openxmlformats.org/drawingml/2006/main">
              <a:ext uri="{FF2B5EF4-FFF2-40B4-BE49-F238E27FC236}">
                <a16:creationId xmlns:a16="http://schemas.microsoft.com/office/drawing/2014/main" id="{DA2E2CD7-DD1C-5BD1-AC51-67974227DAC6}"/>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Um reservatório conceitual e o balanço de água</a:t>
            </a:r>
          </a:p>
        </p:txBody>
      </p:sp>
      <p:sp>
        <p:nvSpPr>
          <p:cNvPr id="32005" name="dS/dt = P - ET - q">
            <a:extLst xmlns:a="http://schemas.openxmlformats.org/drawingml/2006/main">
              <a:ext uri="{FF2B5EF4-FFF2-40B4-BE49-F238E27FC236}">
                <a16:creationId xmlns:a16="http://schemas.microsoft.com/office/drawing/2014/main" id="{639D028C-0A70-5AD6-8BCA-F06AA3C07D05}"/>
              </a:ext>
            </a:extLst>
          </p:cNvPr>
          <p:cNvSpPr>
            <a:spLocks xmlns:a="http://schemas.openxmlformats.org/drawingml/2006/main" noGrp="1"/>
          </p:cNvSpPr>
          <p:nvPr/>
        </p:nvSpPr>
        <p:spPr>
          <a:xfrm xmlns:a="http://schemas.openxmlformats.org/drawingml/2006/main">
            <a:off x="457200" y="2581275"/>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83DFFF"/>
                </a:solidFill>
                <a:latin typeface="JetBrains Mono"/>
                <a:ea typeface="JetBrains Mono"/>
                <a:cs typeface="JetBrains Mono"/>
              </a:defRPr>
            </a:pPr>
            <a:r>
              <a:rPr sz="2550" b="1">
                <a:solidFill>
                  <a:srgbClr val="83DFFF"/>
                </a:solidFill>
                <a:latin typeface="JetBrains Mono"/>
                <a:ea typeface="JetBrains Mono"/>
                <a:cs typeface="JetBrains Mono"/>
              </a:rPr>
              <a:t>dS/dt = P - ET - q</a:t>
            </a:r>
          </a:p>
        </p:txBody>
      </p:sp>
      <p:sp>
        <p:nvSpPr>
          <p:cNvPr id="32006" name="q = kS">
            <a:extLst xmlns:a="http://schemas.openxmlformats.org/drawingml/2006/main">
              <a:ext uri="{FF2B5EF4-FFF2-40B4-BE49-F238E27FC236}">
                <a16:creationId xmlns:a16="http://schemas.microsoft.com/office/drawing/2014/main" id="{F6B1436E-4FE8-5014-B7F7-55711FD4F50D}"/>
              </a:ext>
            </a:extLst>
          </p:cNvPr>
          <p:cNvSpPr>
            <a:spLocks xmlns:a="http://schemas.openxmlformats.org/drawingml/2006/main" noGrp="1"/>
          </p:cNvSpPr>
          <p:nvPr/>
        </p:nvSpPr>
        <p:spPr>
          <a:xfrm xmlns:a="http://schemas.openxmlformats.org/drawingml/2006/main">
            <a:off x="457200" y="3333750"/>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FFAD62"/>
                </a:solidFill>
                <a:latin typeface="JetBrains Mono"/>
                <a:ea typeface="JetBrains Mono"/>
                <a:cs typeface="JetBrains Mono"/>
              </a:defRPr>
            </a:pPr>
            <a:r>
              <a:rPr sz="2550" b="1">
                <a:solidFill>
                  <a:srgbClr val="FFAD62"/>
                </a:solidFill>
                <a:latin typeface="JetBrains Mono"/>
                <a:ea typeface="JetBrains Mono"/>
                <a:cs typeface="JetBrains Mono"/>
              </a:rPr>
              <a:t>q = kS</a:t>
            </a:r>
          </a:p>
        </p:txBody>
      </p:sp>
      <p:pic>
        <p:nvPicPr>
          <p:cNvPr id="32007" name="Imagem 13"/>
          <p:cNvPicPr>
            <a:picLocks xmlns:a="http://schemas.openxmlformats.org/drawingml/2006/main" noChangeAspect="1"/>
          </p:cNvPicPr>
          <p:nvPr/>
        </p:nvPicPr>
        <p:blipFill>
          <a:blip xmlns:r="http://schemas.openxmlformats.org/officeDocument/2006/relationships" xmlns:a="http://schemas.openxmlformats.org/drawingml/2006/main" r:embed="Rb520df30c76e4921"/>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32008" name="Hydro-UAI Redes informadas pela física">
            <a:extLst xmlns:a="http://schemas.openxmlformats.org/drawingml/2006/main">
              <a:ext uri="{FF2B5EF4-FFF2-40B4-BE49-F238E27FC236}">
                <a16:creationId xmlns:a16="http://schemas.microsoft.com/office/drawing/2014/main" id="{8F9A34BC-34A8-54ED-980F-14A03CB8A9E4}"/>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informadas pela física</a:t>
            </a:r>
          </a:p>
        </p:txBody>
      </p:sp>
      <p:sp>
        <p:nvSpPr>
          <p:cNvPr id="32009" name="Divisor Hydro-UAI">
            <a:extLst xmlns:a="http://schemas.openxmlformats.org/drawingml/2006/main">
              <a:ext uri="{FF2B5EF4-FFF2-40B4-BE49-F238E27FC236}">
                <a16:creationId xmlns:a16="http://schemas.microsoft.com/office/drawing/2014/main" id="{EC5329DA-FDB1-553D-A3E1-8987C8E38554}"/>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32010" name="Hydro-UAI Hydro-UAI Course">
            <a:extLst xmlns:a="http://schemas.openxmlformats.org/drawingml/2006/main">
              <a:ext uri="{FF2B5EF4-FFF2-40B4-BE49-F238E27FC236}">
                <a16:creationId xmlns:a16="http://schemas.microsoft.com/office/drawing/2014/main" id="{A1F45754-728F-5158-8A5C-7501933BE0C6}"/>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32011" name="Hydro-UAI 32 / 62">
            <a:extLst xmlns:a="http://schemas.openxmlformats.org/drawingml/2006/main">
              <a:ext uri="{FF2B5EF4-FFF2-40B4-BE49-F238E27FC236}">
                <a16:creationId xmlns:a16="http://schemas.microsoft.com/office/drawing/2014/main" id="{7E4CBB8C-25BF-516A-A0FC-3D648A9BC690}"/>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38 / 68</a:t>
            </a:r>
          </a:p>
        </p:txBody>
      </p:sp>
    </p:spTree>
    <p:extLst>
      <p:ext uri="{BB962C8B-B14F-4D97-AF65-F5344CB8AC3E}">
        <p14:creationId xmlns:p14="http://schemas.microsoft.com/office/powerpoint/2010/main" val="3991283715"/>
      </p:ext>
    </p:extLst>
  </p:cSld>
</p:sld>
</file>

<file path=ppt/slides/slide33.xml><?xml version="1.0" encoding="utf-8"?>
<p:sld xmlns:p="http://schemas.openxmlformats.org/presentationml/2006/main">
  <p:cSld>
    <p:spTree>
      <p:nvGrpSpPr>
        <p:cNvPr id="33001" name=""/>
        <p:cNvGrpSpPr/>
        <p:nvPr/>
      </p:nvGrpSpPr>
      <p:grpSpPr>
        <a:xfrm xmlns:a="http://schemas.openxmlformats.org/drawingml/2006/main"/>
      </p:grpSpPr>
      <p:sp>
        <p:nvSpPr>
          <p:cNvPr id="33002" name="Retângulo 6">
            <a:extLst xmlns:a="http://schemas.openxmlformats.org/drawingml/2006/main">
              <a:ext uri="{FF2B5EF4-FFF2-40B4-BE49-F238E27FC236}">
                <a16:creationId xmlns:a16="http://schemas.microsoft.com/office/drawing/2014/main" id="{C163C945-B82C-5D38-91A7-160B61B0061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003" name="A rede, a derivada e o resíduo físic">
            <a:extLst xmlns:a="http://schemas.openxmlformats.org/drawingml/2006/main">
              <a:ext uri="{FF2B5EF4-FFF2-40B4-BE49-F238E27FC236}">
                <a16:creationId xmlns:a16="http://schemas.microsoft.com/office/drawing/2014/main" id="{5CBB82CA-724E-56D1-B9B1-2FDF0EB2BF06}"/>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 rede, a derivada e o resíduo físico</a:t>
            </a:r>
          </a:p>
        </p:txBody>
      </p:sp>
      <p:sp>
        <p:nvSpPr>
          <p:cNvPr id="33004" name="Tempo t">
            <a:extLst xmlns:a="http://schemas.openxmlformats.org/drawingml/2006/main">
              <a:ext uri="{FF2B5EF4-FFF2-40B4-BE49-F238E27FC236}">
                <a16:creationId xmlns:a16="http://schemas.microsoft.com/office/drawing/2014/main" id="{0F6B3318-D2DA-59AE-955C-E7EF7AC705DE}"/>
              </a:ext>
            </a:extLst>
          </p:cNvPr>
          <p:cNvSpPr>
            <a:spLocks xmlns:a="http://schemas.openxmlformats.org/drawingml/2006/main" noGrp="1"/>
          </p:cNvSpPr>
          <p:nvPr/>
        </p:nvSpPr>
        <p:spPr>
          <a:xfrm xmlns:a="http://schemas.openxmlformats.org/drawingml/2006/main">
            <a:off x="457200" y="2847975"/>
            <a:ext cx="1981200" cy="81915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Tempo t</a:t>
            </a:r>
          </a:p>
        </p:txBody>
      </p:sp>
      <p:sp>
        <p:nvSpPr>
          <p:cNvPr id="33005" name="Rede&#10;Sθ(t)">
            <a:extLst xmlns:a="http://schemas.openxmlformats.org/drawingml/2006/main">
              <a:ext uri="{FF2B5EF4-FFF2-40B4-BE49-F238E27FC236}">
                <a16:creationId xmlns:a16="http://schemas.microsoft.com/office/drawing/2014/main" id="{FA885155-43EF-5F20-8C84-523E2B24EC34}"/>
              </a:ext>
            </a:extLst>
          </p:cNvPr>
          <p:cNvSpPr>
            <a:spLocks xmlns:a="http://schemas.openxmlformats.org/drawingml/2006/main" noGrp="1"/>
          </p:cNvSpPr>
          <p:nvPr/>
        </p:nvSpPr>
        <p:spPr>
          <a:xfrm xmlns:a="http://schemas.openxmlformats.org/drawingml/2006/main">
            <a:off x="3362325" y="2847975"/>
            <a:ext cx="2228850" cy="819150"/>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Rede</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Sθ(t)</a:t>
            </a:r>
          </a:p>
        </p:txBody>
      </p:sp>
      <p:sp>
        <p:nvSpPr>
          <p:cNvPr id="33006" name="Derivada&#10;dSθ/dt">
            <a:extLst xmlns:a="http://schemas.openxmlformats.org/drawingml/2006/main">
              <a:ext uri="{FF2B5EF4-FFF2-40B4-BE49-F238E27FC236}">
                <a16:creationId xmlns:a16="http://schemas.microsoft.com/office/drawing/2014/main" id="{6809245B-DB21-5978-8EB1-4D4B799A239F}"/>
              </a:ext>
            </a:extLst>
          </p:cNvPr>
          <p:cNvSpPr>
            <a:spLocks xmlns:a="http://schemas.openxmlformats.org/drawingml/2006/main" noGrp="1"/>
          </p:cNvSpPr>
          <p:nvPr/>
        </p:nvSpPr>
        <p:spPr>
          <a:xfrm xmlns:a="http://schemas.openxmlformats.org/drawingml/2006/main">
            <a:off x="6524625" y="2847975"/>
            <a:ext cx="2238375" cy="81915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Derivada</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dSθ/dt</a:t>
            </a:r>
          </a:p>
        </p:txBody>
      </p:sp>
      <p:sp>
        <p:nvSpPr>
          <p:cNvPr id="33007" name="Resíduo&#10;rθ(t)">
            <a:extLst xmlns:a="http://schemas.openxmlformats.org/drawingml/2006/main">
              <a:ext uri="{FF2B5EF4-FFF2-40B4-BE49-F238E27FC236}">
                <a16:creationId xmlns:a16="http://schemas.microsoft.com/office/drawing/2014/main" id="{89A22748-38C0-5E39-B97B-D3E4FA9D3252}"/>
              </a:ext>
            </a:extLst>
          </p:cNvPr>
          <p:cNvSpPr>
            <a:spLocks xmlns:a="http://schemas.openxmlformats.org/drawingml/2006/main" noGrp="1"/>
          </p:cNvSpPr>
          <p:nvPr/>
        </p:nvSpPr>
        <p:spPr>
          <a:xfrm xmlns:a="http://schemas.openxmlformats.org/drawingml/2006/main">
            <a:off x="9629775" y="2847975"/>
            <a:ext cx="2105025" cy="819150"/>
          </a:xfrm>
          <a:prstGeom xmlns:a="http://schemas.openxmlformats.org/drawingml/2006/main" prst="rect">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Resíduo</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rθ(t)</a:t>
            </a:r>
          </a:p>
        </p:txBody>
      </p:sp>
      <p:cxnSp>
        <p:nvCxnSpPr>
          <p:cNvPr id="33008" name=""/>
          <p:cNvCxnSpPr>
            <a:stCxn xmlns:a="http://schemas.openxmlformats.org/drawingml/2006/main" id="33004" idx="3"/>
            <a:endCxn xmlns:a="http://schemas.openxmlformats.org/drawingml/2006/main" id="33005" idx="1"/>
          </p:cNvCxnSpPr>
          <p:nvPr/>
        </p:nvCxnSpPr>
        <p:spPr>
          <a:xfrm xmlns:a="http://schemas.openxmlformats.org/drawingml/2006/main">
            <a:off x="2438400" y="3257550"/>
            <a:ext cx="923925"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33009" name=""/>
          <p:cNvCxnSpPr>
            <a:stCxn xmlns:a="http://schemas.openxmlformats.org/drawingml/2006/main" id="33005" idx="3"/>
            <a:endCxn xmlns:a="http://schemas.openxmlformats.org/drawingml/2006/main" id="33006" idx="1"/>
          </p:cNvCxnSpPr>
          <p:nvPr/>
        </p:nvCxnSpPr>
        <p:spPr>
          <a:xfrm xmlns:a="http://schemas.openxmlformats.org/drawingml/2006/main">
            <a:off x="5591175" y="3257550"/>
            <a:ext cx="933450"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33010" name=""/>
          <p:cNvCxnSpPr>
            <a:stCxn xmlns:a="http://schemas.openxmlformats.org/drawingml/2006/main" id="33006" idx="3"/>
            <a:endCxn xmlns:a="http://schemas.openxmlformats.org/drawingml/2006/main" id="33007" idx="1"/>
          </p:cNvCxnSpPr>
          <p:nvPr/>
        </p:nvCxnSpPr>
        <p:spPr>
          <a:xfrm xmlns:a="http://schemas.openxmlformats.org/drawingml/2006/main">
            <a:off x="8763000" y="3257550"/>
            <a:ext cx="866775" cy="0"/>
          </a:xfrm>
          <a:prstGeom xmlns:a="http://schemas.openxmlformats.org/drawingml/2006/main" prst="straightConnector1">
            <a:avLst/>
          </a:prstGeom>
          <a:ln xmlns:a="http://schemas.openxmlformats.org/drawingml/2006/main" w="19050">
            <a:solidFill>
              <a:srgbClr val="71E7BD"/>
            </a:solidFill>
            <a:tailEnd type="triangle" w="sm" len="sm"/>
          </a:ln>
        </p:spPr>
      </p:cxnSp>
      <p:sp>
        <p:nvSpPr>
          <p:cNvPr id="33011" name="rθ = dSθ/dt - [P(t) - ET(t) - kSθ(t)">
            <a:extLst xmlns:a="http://schemas.openxmlformats.org/drawingml/2006/main">
              <a:ext uri="{FF2B5EF4-FFF2-40B4-BE49-F238E27FC236}">
                <a16:creationId xmlns:a16="http://schemas.microsoft.com/office/drawing/2014/main" id="{84177161-452E-5B75-A4AA-8EC8A1142034}"/>
              </a:ext>
            </a:extLst>
          </p:cNvPr>
          <p:cNvSpPr>
            <a:spLocks xmlns:a="http://schemas.openxmlformats.org/drawingml/2006/main" noGrp="1"/>
          </p:cNvSpPr>
          <p:nvPr/>
        </p:nvSpPr>
        <p:spPr>
          <a:xfrm xmlns:a="http://schemas.openxmlformats.org/drawingml/2006/main">
            <a:off x="457200" y="44481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83DFFF"/>
                </a:solidFill>
                <a:latin typeface="JetBrains Mono"/>
                <a:ea typeface="JetBrains Mono"/>
                <a:cs typeface="JetBrains Mono"/>
              </a:defRPr>
            </a:pPr>
            <a:r>
              <a:rPr sz="2175" b="1">
                <a:solidFill>
                  <a:srgbClr val="83DFFF"/>
                </a:solidFill>
                <a:latin typeface="JetBrains Mono"/>
                <a:ea typeface="JetBrains Mono"/>
                <a:cs typeface="JetBrains Mono"/>
              </a:rPr>
              <a:t>rθ = dSθ/dt - [P(t) - ET(t) - kSθ(t)]</a:t>
            </a:r>
          </a:p>
        </p:txBody>
      </p:sp>
      <p:sp>
        <p:nvSpPr>
          <p:cNvPr id="33012" name="Diferenciação automática acompanha a">
            <a:extLst xmlns:a="http://schemas.openxmlformats.org/drawingml/2006/main">
              <a:ext uri="{FF2B5EF4-FFF2-40B4-BE49-F238E27FC236}">
                <a16:creationId xmlns:a16="http://schemas.microsoft.com/office/drawing/2014/main" id="{3059C86D-189A-5E18-B5D7-7B802D0F25C6}"/>
              </a:ext>
            </a:extLst>
          </p:cNvPr>
          <p:cNvSpPr>
            <a:spLocks xmlns:a="http://schemas.openxmlformats.org/drawingml/2006/main" noGrp="1"/>
          </p:cNvSpPr>
          <p:nvPr/>
        </p:nvSpPr>
        <p:spPr>
          <a:xfrm xmlns:a="http://schemas.openxmlformats.org/drawingml/2006/main">
            <a:off x="457200" y="5343525"/>
            <a:ext cx="11277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Diferenciação automática acompanha as operações da rede.</a:t>
            </a:r>
          </a:p>
        </p:txBody>
      </p:sp>
      <p:pic>
        <p:nvPicPr>
          <p:cNvPr id="33013" name="Imagem 13"/>
          <p:cNvPicPr>
            <a:picLocks xmlns:a="http://schemas.openxmlformats.org/drawingml/2006/main" noChangeAspect="1"/>
          </p:cNvPicPr>
          <p:nvPr/>
        </p:nvPicPr>
        <p:blipFill>
          <a:blip xmlns:r="http://schemas.openxmlformats.org/officeDocument/2006/relationships" xmlns:a="http://schemas.openxmlformats.org/drawingml/2006/main" r:embed="R6470a5ce2b964fe0"/>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33014" name="Hydro-UAI Redes informadas pela física">
            <a:extLst xmlns:a="http://schemas.openxmlformats.org/drawingml/2006/main">
              <a:ext uri="{FF2B5EF4-FFF2-40B4-BE49-F238E27FC236}">
                <a16:creationId xmlns:a16="http://schemas.microsoft.com/office/drawing/2014/main" id="{48372D8D-C034-5E88-B888-84C1B9E9C717}"/>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informadas pela física</a:t>
            </a:r>
          </a:p>
        </p:txBody>
      </p:sp>
      <p:sp>
        <p:nvSpPr>
          <p:cNvPr id="33015" name="Divisor Hydro-UAI">
            <a:extLst xmlns:a="http://schemas.openxmlformats.org/drawingml/2006/main">
              <a:ext uri="{FF2B5EF4-FFF2-40B4-BE49-F238E27FC236}">
                <a16:creationId xmlns:a16="http://schemas.microsoft.com/office/drawing/2014/main" id="{B3035AFC-13E8-5BC3-859C-BECD0128AE6A}"/>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33016" name="Hydro-UAI Hydro-UAI Course">
            <a:extLst xmlns:a="http://schemas.openxmlformats.org/drawingml/2006/main">
              <a:ext uri="{FF2B5EF4-FFF2-40B4-BE49-F238E27FC236}">
                <a16:creationId xmlns:a16="http://schemas.microsoft.com/office/drawing/2014/main" id="{9B6C788D-12A4-5EAE-B1C2-DB17A4FD1AED}"/>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33017" name="Hydro-UAI 33 / 62">
            <a:extLst xmlns:a="http://schemas.openxmlformats.org/drawingml/2006/main">
              <a:ext uri="{FF2B5EF4-FFF2-40B4-BE49-F238E27FC236}">
                <a16:creationId xmlns:a16="http://schemas.microsoft.com/office/drawing/2014/main" id="{4B013211-C40F-54D3-8568-1A2BDDCAB69B}"/>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39 / 68</a:t>
            </a:r>
          </a:p>
        </p:txBody>
      </p:sp>
    </p:spTree>
    <p:extLst>
      <p:ext uri="{BB962C8B-B14F-4D97-AF65-F5344CB8AC3E}">
        <p14:creationId xmlns:p14="http://schemas.microsoft.com/office/powerpoint/2010/main" val="3991283715"/>
      </p:ext>
    </p:extLst>
  </p:cSld>
</p:sld>
</file>

<file path=ppt/slides/slide34.xml><?xml version="1.0" encoding="utf-8"?>
<p:sld xmlns:p="http://schemas.openxmlformats.org/presentationml/2006/main">
  <p:cSld>
    <p:spTree>
      <p:nvGrpSpPr>
        <p:cNvPr id="34001" name=""/>
        <p:cNvGrpSpPr/>
        <p:nvPr/>
      </p:nvGrpSpPr>
      <p:grpSpPr>
        <a:xfrm xmlns:a="http://schemas.openxmlformats.org/drawingml/2006/main"/>
      </p:grpSpPr>
      <p:sp>
        <p:nvSpPr>
          <p:cNvPr id="34002" name="Retângulo 6">
            <a:extLst xmlns:a="http://schemas.openxmlformats.org/drawingml/2006/main">
              <a:ext uri="{FF2B5EF4-FFF2-40B4-BE49-F238E27FC236}">
                <a16:creationId xmlns:a16="http://schemas.microsoft.com/office/drawing/2014/main" id="{B2FD112B-0552-5D05-B3A7-5E6F3B0B46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003" name="A função de perda de uma PINN para o">
            <a:extLst xmlns:a="http://schemas.openxmlformats.org/drawingml/2006/main">
              <a:ext uri="{FF2B5EF4-FFF2-40B4-BE49-F238E27FC236}">
                <a16:creationId xmlns:a16="http://schemas.microsoft.com/office/drawing/2014/main" id="{3765A061-62D9-57EF-B050-E95F0A95F12B}"/>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 função de perda de uma PINN para o reservatório</a:t>
            </a:r>
          </a:p>
        </p:txBody>
      </p:sp>
      <p:sp>
        <p:nvSpPr>
          <p:cNvPr id="34004" name="L = λd Ldados + λr Lresíduo + λ0 Lin">
            <a:extLst xmlns:a="http://schemas.openxmlformats.org/drawingml/2006/main">
              <a:ext uri="{FF2B5EF4-FFF2-40B4-BE49-F238E27FC236}">
                <a16:creationId xmlns:a16="http://schemas.microsoft.com/office/drawing/2014/main" id="{3AAA8D7D-0C5A-52AB-8319-5BAB6C5E142B}"/>
              </a:ext>
            </a:extLst>
          </p:cNvPr>
          <p:cNvSpPr>
            <a:spLocks xmlns:a="http://schemas.openxmlformats.org/drawingml/2006/main" noGrp="1"/>
          </p:cNvSpPr>
          <p:nvPr/>
        </p:nvSpPr>
        <p:spPr>
          <a:xfrm xmlns:a="http://schemas.openxmlformats.org/drawingml/2006/main">
            <a:off x="457200" y="2590800"/>
            <a:ext cx="11277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83DFFF"/>
                </a:solidFill>
                <a:latin typeface="JetBrains Mono"/>
                <a:ea typeface="JetBrains Mono"/>
                <a:cs typeface="JetBrains Mono"/>
              </a:defRPr>
            </a:pPr>
            <a:r>
              <a:rPr sz="2250" b="1">
                <a:solidFill>
                  <a:srgbClr val="83DFFF"/>
                </a:solidFill>
                <a:latin typeface="JetBrains Mono"/>
                <a:ea typeface="JetBrains Mono"/>
                <a:cs typeface="JetBrains Mono"/>
              </a:rPr>
              <a:t>L = λd Ldados + λr Lresíduo + λ0 Linicial</a:t>
            </a:r>
          </a:p>
        </p:txBody>
      </p:sp>
      <p:sp>
        <p:nvSpPr>
          <p:cNvPr id="34005" name="Dados">
            <a:extLst xmlns:a="http://schemas.openxmlformats.org/drawingml/2006/main">
              <a:ext uri="{FF2B5EF4-FFF2-40B4-BE49-F238E27FC236}">
                <a16:creationId xmlns:a16="http://schemas.microsoft.com/office/drawing/2014/main" id="{1397FB12-1625-51B8-B44B-027E87E7C462}"/>
              </a:ext>
            </a:extLst>
          </p:cNvPr>
          <p:cNvSpPr>
            <a:spLocks xmlns:a="http://schemas.openxmlformats.org/drawingml/2006/main" noGrp="1"/>
          </p:cNvSpPr>
          <p:nvPr/>
        </p:nvSpPr>
        <p:spPr>
          <a:xfrm xmlns:a="http://schemas.openxmlformats.org/drawingml/2006/main">
            <a:off x="457200" y="3543300"/>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Dados</a:t>
            </a:r>
          </a:p>
        </p:txBody>
      </p:sp>
      <p:sp>
        <p:nvSpPr>
          <p:cNvPr id="34006" name="Compara Sθ(t) com armazenamentos obs">
            <a:extLst xmlns:a="http://schemas.openxmlformats.org/drawingml/2006/main">
              <a:ext uri="{FF2B5EF4-FFF2-40B4-BE49-F238E27FC236}">
                <a16:creationId xmlns:a16="http://schemas.microsoft.com/office/drawing/2014/main" id="{A9855CF2-DB18-5062-807C-9A253DC2235C}"/>
              </a:ext>
            </a:extLst>
          </p:cNvPr>
          <p:cNvSpPr>
            <a:spLocks xmlns:a="http://schemas.openxmlformats.org/drawingml/2006/main" noGrp="1"/>
          </p:cNvSpPr>
          <p:nvPr/>
        </p:nvSpPr>
        <p:spPr>
          <a:xfrm xmlns:a="http://schemas.openxmlformats.org/drawingml/2006/main">
            <a:off x="3695700" y="3543300"/>
            <a:ext cx="8039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Compara Sθ(t) com armazenamentos observados.</a:t>
            </a:r>
          </a:p>
        </p:txBody>
      </p:sp>
      <p:sp>
        <p:nvSpPr>
          <p:cNvPr id="34007" name="Equação">
            <a:extLst xmlns:a="http://schemas.openxmlformats.org/drawingml/2006/main">
              <a:ext uri="{FF2B5EF4-FFF2-40B4-BE49-F238E27FC236}">
                <a16:creationId xmlns:a16="http://schemas.microsoft.com/office/drawing/2014/main" id="{357B5F85-D8D9-50E9-A579-58A419124F50}"/>
              </a:ext>
            </a:extLst>
          </p:cNvPr>
          <p:cNvSpPr>
            <a:spLocks xmlns:a="http://schemas.openxmlformats.org/drawingml/2006/main" noGrp="1"/>
          </p:cNvSpPr>
          <p:nvPr/>
        </p:nvSpPr>
        <p:spPr>
          <a:xfrm xmlns:a="http://schemas.openxmlformats.org/drawingml/2006/main">
            <a:off x="457200" y="4267200"/>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Equação</a:t>
            </a:r>
          </a:p>
        </p:txBody>
      </p:sp>
      <p:sp>
        <p:nvSpPr>
          <p:cNvPr id="34008" name="Penaliza o resíduo em pontos de colo">
            <a:extLst xmlns:a="http://schemas.openxmlformats.org/drawingml/2006/main">
              <a:ext uri="{FF2B5EF4-FFF2-40B4-BE49-F238E27FC236}">
                <a16:creationId xmlns:a16="http://schemas.microsoft.com/office/drawing/2014/main" id="{50B93EBE-5AC6-5734-B7FF-4F166DD8389C}"/>
              </a:ext>
            </a:extLst>
          </p:cNvPr>
          <p:cNvSpPr>
            <a:spLocks xmlns:a="http://schemas.openxmlformats.org/drawingml/2006/main" noGrp="1"/>
          </p:cNvSpPr>
          <p:nvPr/>
        </p:nvSpPr>
        <p:spPr>
          <a:xfrm xmlns:a="http://schemas.openxmlformats.org/drawingml/2006/main">
            <a:off x="3695700" y="4267200"/>
            <a:ext cx="8039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Penaliza o resíduo em pontos de colocação.</a:t>
            </a:r>
          </a:p>
        </p:txBody>
      </p:sp>
      <p:sp>
        <p:nvSpPr>
          <p:cNvPr id="34009" name="Estado inicial">
            <a:extLst xmlns:a="http://schemas.openxmlformats.org/drawingml/2006/main">
              <a:ext uri="{FF2B5EF4-FFF2-40B4-BE49-F238E27FC236}">
                <a16:creationId xmlns:a16="http://schemas.microsoft.com/office/drawing/2014/main" id="{1A72E752-D712-578C-9E01-2C215B649FBD}"/>
              </a:ext>
            </a:extLst>
          </p:cNvPr>
          <p:cNvSpPr>
            <a:spLocks xmlns:a="http://schemas.openxmlformats.org/drawingml/2006/main" noGrp="1"/>
          </p:cNvSpPr>
          <p:nvPr/>
        </p:nvSpPr>
        <p:spPr>
          <a:xfrm xmlns:a="http://schemas.openxmlformats.org/drawingml/2006/main">
            <a:off x="457200" y="4991100"/>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Estado inicial</a:t>
            </a:r>
          </a:p>
        </p:txBody>
      </p:sp>
      <p:sp>
        <p:nvSpPr>
          <p:cNvPr id="34010" name="Compara Sθ(0) com o armazenamento in">
            <a:extLst xmlns:a="http://schemas.openxmlformats.org/drawingml/2006/main">
              <a:ext uri="{FF2B5EF4-FFF2-40B4-BE49-F238E27FC236}">
                <a16:creationId xmlns:a16="http://schemas.microsoft.com/office/drawing/2014/main" id="{09EA665C-D234-585E-B357-4107E84786AE}"/>
              </a:ext>
            </a:extLst>
          </p:cNvPr>
          <p:cNvSpPr>
            <a:spLocks xmlns:a="http://schemas.openxmlformats.org/drawingml/2006/main" noGrp="1"/>
          </p:cNvSpPr>
          <p:nvPr/>
        </p:nvSpPr>
        <p:spPr>
          <a:xfrm xmlns:a="http://schemas.openxmlformats.org/drawingml/2006/main">
            <a:off x="3695700" y="4991100"/>
            <a:ext cx="8039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Compara Sθ(0) com o armazenamento inicial.</a:t>
            </a:r>
          </a:p>
        </p:txBody>
      </p:sp>
      <p:sp>
        <p:nvSpPr>
          <p:cNvPr id="34011" name="As parcelas precisam de normalização">
            <a:extLst xmlns:a="http://schemas.openxmlformats.org/drawingml/2006/main">
              <a:ext uri="{FF2B5EF4-FFF2-40B4-BE49-F238E27FC236}">
                <a16:creationId xmlns:a16="http://schemas.microsoft.com/office/drawing/2014/main" id="{6F40A553-FD02-59FE-9C09-A8C68D5F4818}"/>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As parcelas precisam de normalização coerente antes da combinação.</a:t>
            </a:r>
          </a:p>
        </p:txBody>
      </p:sp>
      <p:pic>
        <p:nvPicPr>
          <p:cNvPr id="34012" name="Imagem 13"/>
          <p:cNvPicPr>
            <a:picLocks xmlns:a="http://schemas.openxmlformats.org/drawingml/2006/main" noChangeAspect="1"/>
          </p:cNvPicPr>
          <p:nvPr/>
        </p:nvPicPr>
        <p:blipFill>
          <a:blip xmlns:r="http://schemas.openxmlformats.org/officeDocument/2006/relationships" xmlns:a="http://schemas.openxmlformats.org/drawingml/2006/main" r:embed="R3883f5b6d55442f1"/>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34013" name="Hydro-UAI Redes informadas pela física">
            <a:extLst xmlns:a="http://schemas.openxmlformats.org/drawingml/2006/main">
              <a:ext uri="{FF2B5EF4-FFF2-40B4-BE49-F238E27FC236}">
                <a16:creationId xmlns:a16="http://schemas.microsoft.com/office/drawing/2014/main" id="{9C4EFA6B-5177-5C35-B816-6AE0FB78ECEF}"/>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informadas pela física</a:t>
            </a:r>
          </a:p>
        </p:txBody>
      </p:sp>
      <p:sp>
        <p:nvSpPr>
          <p:cNvPr id="34014" name="Divisor Hydro-UAI">
            <a:extLst xmlns:a="http://schemas.openxmlformats.org/drawingml/2006/main">
              <a:ext uri="{FF2B5EF4-FFF2-40B4-BE49-F238E27FC236}">
                <a16:creationId xmlns:a16="http://schemas.microsoft.com/office/drawing/2014/main" id="{27924B2E-8BC1-5FFF-B87F-A608B39549FF}"/>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34015" name="Hydro-UAI Hydro-UAI Course">
            <a:extLst xmlns:a="http://schemas.openxmlformats.org/drawingml/2006/main">
              <a:ext uri="{FF2B5EF4-FFF2-40B4-BE49-F238E27FC236}">
                <a16:creationId xmlns:a16="http://schemas.microsoft.com/office/drawing/2014/main" id="{A7D6C9B8-CAE1-530D-9AAE-D6B73CBEFA47}"/>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34016" name="Hydro-UAI 34 / 62">
            <a:extLst xmlns:a="http://schemas.openxmlformats.org/drawingml/2006/main">
              <a:ext uri="{FF2B5EF4-FFF2-40B4-BE49-F238E27FC236}">
                <a16:creationId xmlns:a16="http://schemas.microsoft.com/office/drawing/2014/main" id="{0D978929-24B1-5ABF-B55D-2BEC092AC732}"/>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40 / 68</a:t>
            </a:r>
          </a:p>
        </p:txBody>
      </p:sp>
    </p:spTree>
    <p:extLst>
      <p:ext uri="{BB962C8B-B14F-4D97-AF65-F5344CB8AC3E}">
        <p14:creationId xmlns:p14="http://schemas.microsoft.com/office/powerpoint/2010/main" val="3991283715"/>
      </p:ext>
    </p:extLst>
  </p:cSld>
</p:sld>
</file>

<file path=ppt/slides/slide35.xml><?xml version="1.0" encoding="utf-8"?>
<p:sld xmlns:p="http://schemas.openxmlformats.org/presentationml/2006/main">
  <p:cSld>
    <p:spTree>
      <p:nvGrpSpPr>
        <p:cNvPr id="35001" name=""/>
        <p:cNvGrpSpPr/>
        <p:nvPr/>
      </p:nvGrpSpPr>
      <p:grpSpPr>
        <a:xfrm xmlns:a="http://schemas.openxmlformats.org/drawingml/2006/main"/>
      </p:grpSpPr>
      <p:sp>
        <p:nvSpPr>
          <p:cNvPr id="35002" name="Retângulo 6">
            <a:extLst xmlns:a="http://schemas.openxmlformats.org/drawingml/2006/main">
              <a:ext uri="{FF2B5EF4-FFF2-40B4-BE49-F238E27FC236}">
                <a16:creationId xmlns:a16="http://schemas.microsoft.com/office/drawing/2014/main" id="{FC0765B4-C187-560B-B0CA-89A28A0739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35003" name=""/>
          <p:cNvGraphicFramePr/>
          <p:nvPr/>
        </p:nvGraphicFramePr>
        <p:xfrm>
          <a:off xmlns:a="http://schemas.openxmlformats.org/drawingml/2006/main" x="457200" y="2667000"/>
          <a:ext xmlns:a="http://schemas.openxmlformats.org/drawingml/2006/main" cx="4810125" cy="2695575"/>
        </p:xfrm>
        <a:graphic xmlns:a="http://schemas.openxmlformats.org/drawingml/2006/main">
          <a:graphicData uri="http://schemas.openxmlformats.org/drawingml/2006/table">
            <a:tbl>
              <a:tblPr/>
              <a:tblGrid>
                <a:gridCol w="2571750"/>
                <a:gridCol w="2238375"/>
              </a:tblGrid>
              <a:tr h="539115">
                <a:tc>
                  <a:txBody>
                    <a:bodyPr lIns="85725" tIns="57150" rIns="85725" bIns="57150">
                      <a:noAutofit/>
                    </a:bodyPr>
                    <a:lstStyle/>
                    <a:p>
                      <a:pPr algn="l">
                        <a:buNone/>
                      </a:pPr>
                      <a:r>
                        <a:rPr sz="1725" b="1">
                          <a:solidFill>
                            <a:srgbClr val="FFFFFF"/>
                          </a:solidFill>
                          <a:latin typeface="JetBrains Mono"/>
                          <a:ea typeface="JetBrains Mono"/>
                          <a:cs typeface="JetBrains Mono"/>
                        </a:rPr>
                        <a:t>Quantidade</a:t>
                      </a:r>
                    </a:p>
                  </a:txBody>
                  <a:tcPr marL="91440" marR="91440" marT="45720" marB="45720" anchor="ctr">
                    <a:solidFill>
                      <a:srgbClr val="0053EB"/>
                    </a:solidFill>
                  </a:tcPr>
                </a:tc>
                <a:tc>
                  <a:txBody>
                    <a:bodyPr lIns="85725" tIns="57150" rIns="85725" bIns="57150">
                      <a:noAutofit/>
                    </a:bodyPr>
                    <a:lstStyle/>
                    <a:p>
                      <a:pPr algn="l">
                        <a:buNone/>
                      </a:pPr>
                      <a:r>
                        <a:rPr sz="1725" b="1">
                          <a:solidFill>
                            <a:srgbClr val="FFFFFF"/>
                          </a:solidFill>
                          <a:latin typeface="JetBrains Mono"/>
                          <a:ea typeface="JetBrains Mono"/>
                          <a:cs typeface="JetBrains Mono"/>
                        </a:rPr>
                        <a:t>Valor</a:t>
                      </a:r>
                    </a:p>
                  </a:txBody>
                  <a:tcPr marL="91440" marR="91440" marT="45720" marB="45720" anchor="ctr">
                    <a:solidFill>
                      <a:srgbClr val="0053EB"/>
                    </a:solidFill>
                  </a:tcPr>
                </a:tc>
              </a:tr>
              <a:tr h="539115">
                <a:tc>
                  <a:txBody>
                    <a:bodyPr lIns="85725" tIns="57150" rIns="85725" bIns="57150">
                      <a:noAutofit/>
                    </a:bodyPr>
                    <a:lstStyle/>
                    <a:p>
                      <a:pPr algn="l">
                        <a:buNone/>
                      </a:pPr>
                      <a:r>
                        <a:rPr sz="1725" b="0">
                          <a:solidFill>
                            <a:srgbClr val="FFFFFF"/>
                          </a:solidFill>
                          <a:latin typeface="JetBrains Mono"/>
                          <a:ea typeface="JetBrains Mono"/>
                          <a:cs typeface="JetBrains Mono"/>
                        </a:rPr>
                        <a:t>P</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10 mm/dia</a:t>
                      </a:r>
                    </a:p>
                  </a:txBody>
                  <a:tcPr marL="91440" marR="91440" marT="45720" marB="45720" anchor="ctr">
                    <a:solidFill>
                      <a:srgbClr val="000F29"/>
                    </a:solidFill>
                  </a:tcPr>
                </a:tc>
              </a:tr>
              <a:tr h="539115">
                <a:tc>
                  <a:txBody>
                    <a:bodyPr lIns="85725" tIns="57150" rIns="85725" bIns="57150">
                      <a:noAutofit/>
                    </a:bodyPr>
                    <a:lstStyle/>
                    <a:p>
                      <a:pPr algn="l">
                        <a:buNone/>
                      </a:pPr>
                      <a:r>
                        <a:rPr sz="1725" b="0">
                          <a:solidFill>
                            <a:srgbClr val="FFFFFF"/>
                          </a:solidFill>
                          <a:latin typeface="JetBrains Mono"/>
                          <a:ea typeface="JetBrains Mono"/>
                          <a:cs typeface="JetBrains Mono"/>
                        </a:rPr>
                        <a:t>ET</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2 mm/dia</a:t>
                      </a:r>
                    </a:p>
                  </a:txBody>
                  <a:tcPr marL="91440" marR="91440" marT="45720" marB="45720" anchor="ctr">
                    <a:solidFill>
                      <a:srgbClr val="000F29"/>
                    </a:solidFill>
                  </a:tcPr>
                </a:tc>
              </a:tr>
              <a:tr h="539115">
                <a:tc>
                  <a:txBody>
                    <a:bodyPr lIns="85725" tIns="57150" rIns="85725" bIns="57150">
                      <a:noAutofit/>
                    </a:bodyPr>
                    <a:lstStyle/>
                    <a:p>
                      <a:pPr algn="l">
                        <a:buNone/>
                      </a:pPr>
                      <a:r>
                        <a:rPr sz="1725" b="0">
                          <a:solidFill>
                            <a:srgbClr val="FFFFFF"/>
                          </a:solidFill>
                          <a:latin typeface="JetBrains Mono"/>
                          <a:ea typeface="JetBrains Mono"/>
                          <a:cs typeface="JetBrains Mono"/>
                        </a:rPr>
                        <a:t>S e k</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50 mm e 0,1/dia</a:t>
                      </a:r>
                    </a:p>
                  </a:txBody>
                  <a:tcPr marL="91440" marR="91440" marT="45720" marB="45720" anchor="ctr">
                    <a:solidFill>
                      <a:srgbClr val="000F29"/>
                    </a:solidFill>
                  </a:tcPr>
                </a:tc>
              </a:tr>
              <a:tr h="539115">
                <a:tc>
                  <a:txBody>
                    <a:bodyPr lIns="85725" tIns="57150" rIns="85725" bIns="57150">
                      <a:noAutofit/>
                    </a:bodyPr>
                    <a:lstStyle/>
                    <a:p>
                      <a:pPr algn="l">
                        <a:buNone/>
                      </a:pPr>
                      <a:r>
                        <a:rPr sz="1725" b="0">
                          <a:solidFill>
                            <a:srgbClr val="FFFFFF"/>
                          </a:solidFill>
                          <a:latin typeface="JetBrains Mono"/>
                          <a:ea typeface="JetBrains Mono"/>
                          <a:cs typeface="JetBrains Mono"/>
                        </a:rPr>
                        <a:t>dSθ/dt</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2 mm/dia</a:t>
                      </a:r>
                    </a:p>
                  </a:txBody>
                  <a:tcPr marL="91440" marR="91440" marT="45720" marB="45720" anchor="ctr">
                    <a:solidFill>
                      <a:srgbClr val="000F29"/>
                    </a:solidFill>
                  </a:tcPr>
                </a:tc>
              </a:tr>
            </a:tbl>
          </a:graphicData>
        </a:graphic>
      </p:graphicFrame>
      <p:sp>
        <p:nvSpPr>
          <p:cNvPr id="35004" name="Resíduo do balanço: um exemplo numér">
            <a:extLst xmlns:a="http://schemas.openxmlformats.org/drawingml/2006/main">
              <a:ext uri="{FF2B5EF4-FFF2-40B4-BE49-F238E27FC236}">
                <a16:creationId xmlns:a16="http://schemas.microsoft.com/office/drawing/2014/main" id="{D8A08CFD-5B49-5F4F-867E-CEBA862D6D64}"/>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Resíduo do balanço: um exemplo numérico</a:t>
            </a:r>
          </a:p>
        </p:txBody>
      </p:sp>
      <p:sp>
        <p:nvSpPr>
          <p:cNvPr id="35005" name="q = 0,1 × 50 = 5 mm/dia">
            <a:extLst xmlns:a="http://schemas.openxmlformats.org/drawingml/2006/main">
              <a:ext uri="{FF2B5EF4-FFF2-40B4-BE49-F238E27FC236}">
                <a16:creationId xmlns:a16="http://schemas.microsoft.com/office/drawing/2014/main" id="{749E6F40-F4B3-5D78-B8BA-FD7655D199CB}"/>
              </a:ext>
            </a:extLst>
          </p:cNvPr>
          <p:cNvSpPr>
            <a:spLocks xmlns:a="http://schemas.openxmlformats.org/drawingml/2006/main" noGrp="1"/>
          </p:cNvSpPr>
          <p:nvPr/>
        </p:nvSpPr>
        <p:spPr>
          <a:xfrm xmlns:a="http://schemas.openxmlformats.org/drawingml/2006/main">
            <a:off x="6038850" y="2847975"/>
            <a:ext cx="5695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83DFFF"/>
                </a:solidFill>
                <a:latin typeface="JetBrains Mono"/>
                <a:ea typeface="JetBrains Mono"/>
                <a:cs typeface="JetBrains Mono"/>
              </a:defRPr>
            </a:pPr>
            <a:r>
              <a:rPr sz="1950" b="1">
                <a:solidFill>
                  <a:srgbClr val="83DFFF"/>
                </a:solidFill>
                <a:latin typeface="JetBrains Mono"/>
                <a:ea typeface="JetBrains Mono"/>
                <a:cs typeface="JetBrains Mono"/>
              </a:rPr>
              <a:t>q = 0,1 × 50 = 5 mm/dia</a:t>
            </a:r>
          </a:p>
        </p:txBody>
      </p:sp>
      <p:sp>
        <p:nvSpPr>
          <p:cNvPr id="35006" name="r = 2 - (10 - 2 - 5)&#10;  = -1 mm/dia">
            <a:extLst xmlns:a="http://schemas.openxmlformats.org/drawingml/2006/main">
              <a:ext uri="{FF2B5EF4-FFF2-40B4-BE49-F238E27FC236}">
                <a16:creationId xmlns:a16="http://schemas.microsoft.com/office/drawing/2014/main" id="{55DCBB2A-22DE-53FC-9368-BABE03F53A01}"/>
              </a:ext>
            </a:extLst>
          </p:cNvPr>
          <p:cNvSpPr>
            <a:spLocks xmlns:a="http://schemas.openxmlformats.org/drawingml/2006/main" noGrp="1"/>
          </p:cNvSpPr>
          <p:nvPr/>
        </p:nvSpPr>
        <p:spPr>
          <a:xfrm xmlns:a="http://schemas.openxmlformats.org/drawingml/2006/main">
            <a:off x="6038850" y="3905250"/>
            <a:ext cx="56959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FFAD62"/>
                </a:solidFill>
                <a:latin typeface="JetBrains Mono"/>
                <a:ea typeface="JetBrains Mono"/>
                <a:cs typeface="JetBrains Mono"/>
              </a:defRPr>
            </a:pPr>
            <a:r>
              <a:rPr sz="2175" b="1">
                <a:solidFill>
                  <a:srgbClr val="FFAD62"/>
                </a:solidFill>
                <a:latin typeface="JetBrains Mono"/>
                <a:ea typeface="JetBrains Mono"/>
                <a:cs typeface="JetBrains Mono"/>
              </a:rPr>
              <a:t>r = 2 - (10 - 2 - 5)</a:t>
            </a:r>
          </a:p>
          <a:p xmlns:a="http://schemas.openxmlformats.org/drawingml/2006/main">
            <a:pPr algn="l">
              <a:buNone/>
              <a:defRPr sz="2175" b="1">
                <a:solidFill>
                  <a:srgbClr val="FFAD62"/>
                </a:solidFill>
                <a:latin typeface="JetBrains Mono"/>
                <a:ea typeface="JetBrains Mono"/>
                <a:cs typeface="JetBrains Mono"/>
              </a:defRPr>
            </a:pPr>
            <a:r>
              <a:rPr sz="2175" b="1">
                <a:solidFill>
                  <a:srgbClr val="FFAD62"/>
                </a:solidFill>
                <a:latin typeface="JetBrains Mono"/>
                <a:ea typeface="JetBrains Mono"/>
                <a:cs typeface="JetBrains Mono"/>
              </a:rPr>
              <a:t>  = -1 mm/dia</a:t>
            </a:r>
          </a:p>
        </p:txBody>
      </p:sp>
      <p:sp>
        <p:nvSpPr>
          <p:cNvPr id="35007" name="r² = 1 (mm/dia)²">
            <a:extLst xmlns:a="http://schemas.openxmlformats.org/drawingml/2006/main">
              <a:ext uri="{FF2B5EF4-FFF2-40B4-BE49-F238E27FC236}">
                <a16:creationId xmlns:a16="http://schemas.microsoft.com/office/drawing/2014/main" id="{32D0DC36-4509-5CF1-BC6C-E044F422C2BB}"/>
              </a:ext>
            </a:extLst>
          </p:cNvPr>
          <p:cNvSpPr>
            <a:spLocks xmlns:a="http://schemas.openxmlformats.org/drawingml/2006/main" noGrp="1"/>
          </p:cNvSpPr>
          <p:nvPr/>
        </p:nvSpPr>
        <p:spPr>
          <a:xfrm xmlns:a="http://schemas.openxmlformats.org/drawingml/2006/main">
            <a:off x="6038850" y="5200650"/>
            <a:ext cx="5695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FFFFFF"/>
                </a:solidFill>
                <a:latin typeface="JetBrains Mono"/>
                <a:ea typeface="JetBrains Mono"/>
                <a:cs typeface="JetBrains Mono"/>
              </a:defRPr>
            </a:pPr>
            <a:r>
              <a:rPr sz="1950" b="0">
                <a:solidFill>
                  <a:srgbClr val="FFFFFF"/>
                </a:solidFill>
                <a:latin typeface="JetBrains Mono"/>
                <a:ea typeface="JetBrains Mono"/>
                <a:cs typeface="JetBrains Mono"/>
              </a:rPr>
              <a:t>r² = 1 (mm/dia)²</a:t>
            </a:r>
          </a:p>
        </p:txBody>
      </p:sp>
      <p:pic>
        <p:nvPicPr>
          <p:cNvPr id="35008" name="Imagem 13"/>
          <p:cNvPicPr>
            <a:picLocks xmlns:a="http://schemas.openxmlformats.org/drawingml/2006/main" noChangeAspect="1"/>
          </p:cNvPicPr>
          <p:nvPr/>
        </p:nvPicPr>
        <p:blipFill>
          <a:blip xmlns:r="http://schemas.openxmlformats.org/officeDocument/2006/relationships" xmlns:a="http://schemas.openxmlformats.org/drawingml/2006/main" r:embed="Raa521bcf96d74bb0"/>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35009" name="Hydro-UAI Redes informadas pela física">
            <a:extLst xmlns:a="http://schemas.openxmlformats.org/drawingml/2006/main">
              <a:ext uri="{FF2B5EF4-FFF2-40B4-BE49-F238E27FC236}">
                <a16:creationId xmlns:a16="http://schemas.microsoft.com/office/drawing/2014/main" id="{1FE3C97C-5B42-5782-8EF6-CD353B47F88E}"/>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informadas pela física</a:t>
            </a:r>
          </a:p>
        </p:txBody>
      </p:sp>
      <p:sp>
        <p:nvSpPr>
          <p:cNvPr id="35010" name="Divisor Hydro-UAI">
            <a:extLst xmlns:a="http://schemas.openxmlformats.org/drawingml/2006/main">
              <a:ext uri="{FF2B5EF4-FFF2-40B4-BE49-F238E27FC236}">
                <a16:creationId xmlns:a16="http://schemas.microsoft.com/office/drawing/2014/main" id="{80D24157-FEEB-586F-997B-24B4B99AFF93}"/>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35011" name="Hydro-UAI Hydro-UAI Course">
            <a:extLst xmlns:a="http://schemas.openxmlformats.org/drawingml/2006/main">
              <a:ext uri="{FF2B5EF4-FFF2-40B4-BE49-F238E27FC236}">
                <a16:creationId xmlns:a16="http://schemas.microsoft.com/office/drawing/2014/main" id="{886BDB02-9786-5044-9135-740CD2653F20}"/>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35012" name="Hydro-UAI 35 / 62">
            <a:extLst xmlns:a="http://schemas.openxmlformats.org/drawingml/2006/main">
              <a:ext uri="{FF2B5EF4-FFF2-40B4-BE49-F238E27FC236}">
                <a16:creationId xmlns:a16="http://schemas.microsoft.com/office/drawing/2014/main" id="{139BA84F-4C4D-53E6-A5EC-B48F925FF2C2}"/>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41 / 68</a:t>
            </a:r>
          </a:p>
        </p:txBody>
      </p:sp>
    </p:spTree>
    <p:extLst>
      <p:ext uri="{BB962C8B-B14F-4D97-AF65-F5344CB8AC3E}">
        <p14:creationId xmlns:p14="http://schemas.microsoft.com/office/powerpoint/2010/main" val="3991283715"/>
      </p:ext>
    </p:extLst>
  </p:cSld>
</p:sld>
</file>

<file path=ppt/slides/slide36.xml><?xml version="1.0" encoding="utf-8"?>
<p:sld xmlns:p="http://schemas.openxmlformats.org/presentationml/2006/main">
  <p:cSld>
    <p:spTree>
      <p:nvGrpSpPr>
        <p:cNvPr id="36001" name=""/>
        <p:cNvGrpSpPr/>
        <p:nvPr/>
      </p:nvGrpSpPr>
      <p:grpSpPr>
        <a:xfrm xmlns:a="http://schemas.openxmlformats.org/drawingml/2006/main"/>
      </p:grpSpPr>
      <p:sp>
        <p:nvSpPr>
          <p:cNvPr id="36002" name="Retângulo 6">
            <a:extLst xmlns:a="http://schemas.openxmlformats.org/drawingml/2006/main">
              <a:ext uri="{FF2B5EF4-FFF2-40B4-BE49-F238E27FC236}">
                <a16:creationId xmlns:a16="http://schemas.microsoft.com/office/drawing/2014/main" id="{3B6A029A-933E-5DFE-B61D-FA4C5EC529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36003" name="Chart"/>
          <p:cNvGraphicFramePr/>
          <p:nvPr/>
        </p:nvGraphicFramePr>
        <p:xfrm>
          <a:off xmlns:a="http://schemas.openxmlformats.org/drawingml/2006/main" x="457200" y="2647950"/>
          <a:ext xmlns:a="http://schemas.openxmlformats.org/drawingml/2006/main" cx="11277600" cy="3124200"/>
        </p:xfrm>
        <a:graphic xmlns:a="http://schemas.openxmlformats.org/drawingml/2006/main">
          <a:graphicData uri="http://schemas.openxmlformats.org/drawingml/2006/chart">
            <c:chart xmlns:r="http://schemas.openxmlformats.org/officeDocument/2006/relationships" xmlns:c="http://schemas.openxmlformats.org/drawingml/2006/chart" r:id="R06d9c337be1b4dbc"/>
          </a:graphicData>
        </a:graphic>
      </p:graphicFrame>
      <p:sp>
        <p:nvSpPr>
          <p:cNvPr id="36004" name="Poucos dados e uma equação de recess">
            <a:extLst xmlns:a="http://schemas.openxmlformats.org/drawingml/2006/main">
              <a:ext uri="{FF2B5EF4-FFF2-40B4-BE49-F238E27FC236}">
                <a16:creationId xmlns:a16="http://schemas.microsoft.com/office/drawing/2014/main" id="{C0A0BDF8-0084-540D-841D-DD8BD1E49820}"/>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Poucos dados e uma equação de recessão</a:t>
            </a:r>
          </a:p>
        </p:txBody>
      </p:sp>
      <p:sp>
        <p:nvSpPr>
          <p:cNvPr id="36005" name="Funções analíticas construídas para ">
            <a:extLst xmlns:a="http://schemas.openxmlformats.org/drawingml/2006/main">
              <a:ext uri="{FF2B5EF4-FFF2-40B4-BE49-F238E27FC236}">
                <a16:creationId xmlns:a16="http://schemas.microsoft.com/office/drawing/2014/main" id="{D0B932A3-27B6-5F32-A4CC-990269D1F32B}"/>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Funções analíticas construídas para a aula. Não são resultados de treinamento de PINN.</a:t>
            </a:r>
          </a:p>
        </p:txBody>
      </p:sp>
      <p:pic>
        <p:nvPicPr>
          <p:cNvPr id="36006" name="Imagem 13"/>
          <p:cNvPicPr>
            <a:picLocks xmlns:a="http://schemas.openxmlformats.org/drawingml/2006/main" noChangeAspect="1"/>
          </p:cNvPicPr>
          <p:nvPr/>
        </p:nvPicPr>
        <p:blipFill>
          <a:blip xmlns:r="http://schemas.openxmlformats.org/officeDocument/2006/relationships" xmlns:a="http://schemas.openxmlformats.org/drawingml/2006/main" r:embed="R8ac66674f3b84cbf"/>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36007" name="Hydro-UAI Redes informadas pela física">
            <a:extLst xmlns:a="http://schemas.openxmlformats.org/drawingml/2006/main">
              <a:ext uri="{FF2B5EF4-FFF2-40B4-BE49-F238E27FC236}">
                <a16:creationId xmlns:a16="http://schemas.microsoft.com/office/drawing/2014/main" id="{FA1CBD2E-D515-5FB5-9BF8-89959E90C2E5}"/>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informadas pela física</a:t>
            </a:r>
          </a:p>
        </p:txBody>
      </p:sp>
      <p:sp>
        <p:nvSpPr>
          <p:cNvPr id="36008" name="Divisor Hydro-UAI">
            <a:extLst xmlns:a="http://schemas.openxmlformats.org/drawingml/2006/main">
              <a:ext uri="{FF2B5EF4-FFF2-40B4-BE49-F238E27FC236}">
                <a16:creationId xmlns:a16="http://schemas.microsoft.com/office/drawing/2014/main" id="{0A4832C0-492C-5FC2-BB53-DF4BEE512274}"/>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36009" name="Hydro-UAI Hydro-UAI Course">
            <a:extLst xmlns:a="http://schemas.openxmlformats.org/drawingml/2006/main">
              <a:ext uri="{FF2B5EF4-FFF2-40B4-BE49-F238E27FC236}">
                <a16:creationId xmlns:a16="http://schemas.microsoft.com/office/drawing/2014/main" id="{7FF3E773-8A2A-5B44-B07A-D25FFB070505}"/>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36010" name="Hydro-UAI 36 / 62">
            <a:extLst xmlns:a="http://schemas.openxmlformats.org/drawingml/2006/main">
              <a:ext uri="{FF2B5EF4-FFF2-40B4-BE49-F238E27FC236}">
                <a16:creationId xmlns:a16="http://schemas.microsoft.com/office/drawing/2014/main" id="{80295DF8-39C3-508C-A2D8-BB0992C447AB}"/>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42 / 68</a:t>
            </a:r>
          </a:p>
        </p:txBody>
      </p:sp>
    </p:spTree>
    <p:extLst>
      <p:ext uri="{BB962C8B-B14F-4D97-AF65-F5344CB8AC3E}">
        <p14:creationId xmlns:p14="http://schemas.microsoft.com/office/powerpoint/2010/main" val="3991283715"/>
      </p:ext>
    </p:extLst>
  </p:cSld>
</p:sld>
</file>

<file path=ppt/slides/slide37.xml><?xml version="1.0" encoding="utf-8"?>
<p:sld xmlns:p="http://schemas.openxmlformats.org/presentationml/2006/main">
  <p:cSld>
    <p:spTree>
      <p:nvGrpSpPr>
        <p:cNvPr id="37001" name=""/>
        <p:cNvGrpSpPr/>
        <p:nvPr/>
      </p:nvGrpSpPr>
      <p:grpSpPr>
        <a:xfrm xmlns:a="http://schemas.openxmlformats.org/drawingml/2006/main"/>
      </p:grpSpPr>
      <p:sp>
        <p:nvSpPr>
          <p:cNvPr id="37002" name="Retângulo 6">
            <a:extLst xmlns:a="http://schemas.openxmlformats.org/drawingml/2006/main">
              <a:ext uri="{FF2B5EF4-FFF2-40B4-BE49-F238E27FC236}">
                <a16:creationId xmlns:a16="http://schemas.microsoft.com/office/drawing/2014/main" id="{D952746A-58B9-5BF9-90C4-84E0D86E10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37003" name=""/>
          <p:cNvGraphicFramePr/>
          <p:nvPr/>
        </p:nvGraphicFramePr>
        <p:xfrm>
          <a:off xmlns:a="http://schemas.openxmlformats.org/drawingml/2006/main" x="457200" y="2809875"/>
          <a:ext xmlns:a="http://schemas.openxmlformats.org/drawingml/2006/main" cx="11277600" cy="2276475"/>
        </p:xfrm>
        <a:graphic xmlns:a="http://schemas.openxmlformats.org/drawingml/2006/main">
          <a:graphicData uri="http://schemas.openxmlformats.org/drawingml/2006/table">
            <a:tbl>
              <a:tblPr/>
              <a:tblGrid>
                <a:gridCol w="2457450"/>
                <a:gridCol w="4419600"/>
                <a:gridCol w="4400550"/>
              </a:tblGrid>
              <a:tr h="758825">
                <a:tc>
                  <a:txBody>
                    <a:bodyPr lIns="85725" tIns="57150" rIns="85725" bIns="57150">
                      <a:noAutofit/>
                    </a:bodyPr>
                    <a:lstStyle/>
                    <a:p>
                      <a:pPr algn="l">
                        <a:buNone/>
                      </a:pPr>
                      <a:r>
                        <a:rPr sz="1725" b="1">
                          <a:solidFill>
                            <a:srgbClr val="FFFFFF"/>
                          </a:solidFill>
                          <a:latin typeface="JetBrains Mono"/>
                          <a:ea typeface="JetBrains Mono"/>
                          <a:cs typeface="JetBrains Mono"/>
                        </a:rPr>
                        <a:t>Problema</a:t>
                      </a:r>
                    </a:p>
                  </a:txBody>
                  <a:tcPr marL="91440" marR="91440" marT="45720" marB="45720" anchor="ctr">
                    <a:solidFill>
                      <a:srgbClr val="0053EB"/>
                    </a:solidFill>
                  </a:tcPr>
                </a:tc>
                <a:tc>
                  <a:txBody>
                    <a:bodyPr lIns="85725" tIns="57150" rIns="85725" bIns="57150">
                      <a:noAutofit/>
                    </a:bodyPr>
                    <a:lstStyle/>
                    <a:p>
                      <a:pPr algn="l">
                        <a:buNone/>
                      </a:pPr>
                      <a:r>
                        <a:rPr sz="1725" b="1">
                          <a:solidFill>
                            <a:srgbClr val="FFFFFF"/>
                          </a:solidFill>
                          <a:latin typeface="JetBrains Mono"/>
                          <a:ea typeface="JetBrains Mono"/>
                          <a:cs typeface="JetBrains Mono"/>
                        </a:rPr>
                        <a:t>Informação dada</a:t>
                      </a:r>
                    </a:p>
                  </a:txBody>
                  <a:tcPr marL="91440" marR="91440" marT="45720" marB="45720" anchor="ctr">
                    <a:solidFill>
                      <a:srgbClr val="0053EB"/>
                    </a:solidFill>
                  </a:tcPr>
                </a:tc>
                <a:tc>
                  <a:txBody>
                    <a:bodyPr lIns="85725" tIns="57150" rIns="85725" bIns="57150">
                      <a:noAutofit/>
                    </a:bodyPr>
                    <a:lstStyle/>
                    <a:p>
                      <a:pPr algn="l">
                        <a:buNone/>
                      </a:pPr>
                      <a:r>
                        <a:rPr sz="1725" b="1">
                          <a:solidFill>
                            <a:srgbClr val="FFFFFF"/>
                          </a:solidFill>
                          <a:latin typeface="JetBrains Mono"/>
                          <a:ea typeface="JetBrains Mono"/>
                          <a:cs typeface="JetBrains Mono"/>
                        </a:rPr>
                        <a:t>O que se estima</a:t>
                      </a:r>
                    </a:p>
                  </a:txBody>
                  <a:tcPr marL="91440" marR="91440" marT="45720" marB="45720" anchor="ctr">
                    <a:solidFill>
                      <a:srgbClr val="0053EB"/>
                    </a:solidFill>
                  </a:tcPr>
                </a:tc>
              </a:tr>
              <a:tr h="758825">
                <a:tc>
                  <a:txBody>
                    <a:bodyPr lIns="85725" tIns="57150" rIns="85725" bIns="57150">
                      <a:noAutofit/>
                    </a:bodyPr>
                    <a:lstStyle/>
                    <a:p>
                      <a:pPr algn="l">
                        <a:buNone/>
                      </a:pPr>
                      <a:r>
                        <a:rPr sz="1725" b="0">
                          <a:solidFill>
                            <a:srgbClr val="FFFFFF"/>
                          </a:solidFill>
                          <a:latin typeface="JetBrains Mono"/>
                          <a:ea typeface="JetBrains Mono"/>
                          <a:cs typeface="JetBrains Mono"/>
                        </a:rPr>
                        <a:t>Direto</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k, forçantes e S inicial.</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Trajetória S(t) e escoamento q(t).</a:t>
                      </a:r>
                    </a:p>
                  </a:txBody>
                  <a:tcPr marL="91440" marR="91440" marT="45720" marB="45720" anchor="ctr">
                    <a:solidFill>
                      <a:srgbClr val="000F29"/>
                    </a:solidFill>
                  </a:tcPr>
                </a:tc>
              </a:tr>
              <a:tr h="758825">
                <a:tc>
                  <a:txBody>
                    <a:bodyPr lIns="85725" tIns="57150" rIns="85725" bIns="57150">
                      <a:noAutofit/>
                    </a:bodyPr>
                    <a:lstStyle/>
                    <a:p>
                      <a:pPr algn="l">
                        <a:buNone/>
                      </a:pPr>
                      <a:r>
                        <a:rPr sz="1725" b="0">
                          <a:solidFill>
                            <a:srgbClr val="FFFFFF"/>
                          </a:solidFill>
                          <a:latin typeface="JetBrains Mono"/>
                          <a:ea typeface="JetBrains Mono"/>
                          <a:cs typeface="JetBrains Mono"/>
                        </a:rPr>
                        <a:t>Inverso</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Observações e uma equação.</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Parâmetro k e/ou estados desconhecidos.</a:t>
                      </a:r>
                    </a:p>
                  </a:txBody>
                  <a:tcPr marL="91440" marR="91440" marT="45720" marB="45720" anchor="ctr">
                    <a:solidFill>
                      <a:srgbClr val="000F29"/>
                    </a:solidFill>
                  </a:tcPr>
                </a:tc>
              </a:tr>
            </a:tbl>
          </a:graphicData>
        </a:graphic>
      </p:graphicFrame>
      <p:sp>
        <p:nvSpPr>
          <p:cNvPr id="37004" name="Problema direto e problema inverso">
            <a:extLst xmlns:a="http://schemas.openxmlformats.org/drawingml/2006/main">
              <a:ext uri="{FF2B5EF4-FFF2-40B4-BE49-F238E27FC236}">
                <a16:creationId xmlns:a16="http://schemas.microsoft.com/office/drawing/2014/main" id="{13A59E8E-EEE5-56E2-9124-AA72ECF39CEA}"/>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Problema direto e problema inverso</a:t>
            </a:r>
          </a:p>
        </p:txBody>
      </p:sp>
      <p:sp>
        <p:nvSpPr>
          <p:cNvPr id="37005" name="Mais de uma combinação de parâmetros">
            <a:extLst xmlns:a="http://schemas.openxmlformats.org/drawingml/2006/main">
              <a:ext uri="{FF2B5EF4-FFF2-40B4-BE49-F238E27FC236}">
                <a16:creationId xmlns:a16="http://schemas.microsoft.com/office/drawing/2014/main" id="{EC4FC5A7-79A4-592A-AF5E-87414454699C}"/>
              </a:ext>
            </a:extLst>
          </p:cNvPr>
          <p:cNvSpPr>
            <a:spLocks xmlns:a="http://schemas.openxmlformats.org/drawingml/2006/main" noGrp="1"/>
          </p:cNvSpPr>
          <p:nvPr/>
        </p:nvSpPr>
        <p:spPr>
          <a:xfrm xmlns:a="http://schemas.openxmlformats.org/drawingml/2006/main">
            <a:off x="457200" y="5419725"/>
            <a:ext cx="1127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FFAD62"/>
                </a:solidFill>
                <a:latin typeface="JetBrains Mono"/>
                <a:ea typeface="JetBrains Mono"/>
                <a:cs typeface="JetBrains Mono"/>
              </a:defRPr>
            </a:pPr>
            <a:r>
              <a:rPr sz="1875" b="1">
                <a:solidFill>
                  <a:srgbClr val="FFAD62"/>
                </a:solidFill>
                <a:latin typeface="JetBrains Mono"/>
                <a:ea typeface="JetBrains Mono"/>
                <a:cs typeface="JetBrains Mono"/>
              </a:rPr>
              <a:t>Mais de uma combinação de parâmetros pode explicar os dados.</a:t>
            </a:r>
          </a:p>
        </p:txBody>
      </p:sp>
      <p:pic>
        <p:nvPicPr>
          <p:cNvPr id="37006" name="Imagem 13"/>
          <p:cNvPicPr>
            <a:picLocks xmlns:a="http://schemas.openxmlformats.org/drawingml/2006/main" noChangeAspect="1"/>
          </p:cNvPicPr>
          <p:nvPr/>
        </p:nvPicPr>
        <p:blipFill>
          <a:blip xmlns:r="http://schemas.openxmlformats.org/officeDocument/2006/relationships" xmlns:a="http://schemas.openxmlformats.org/drawingml/2006/main" r:embed="Ra9ecc88a975644e6"/>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37007" name="Hydro-UAI Redes informadas pela física">
            <a:extLst xmlns:a="http://schemas.openxmlformats.org/drawingml/2006/main">
              <a:ext uri="{FF2B5EF4-FFF2-40B4-BE49-F238E27FC236}">
                <a16:creationId xmlns:a16="http://schemas.microsoft.com/office/drawing/2014/main" id="{82EFC8D6-49EE-5B0B-A72F-74AEF0DF80F6}"/>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informadas pela física</a:t>
            </a:r>
          </a:p>
        </p:txBody>
      </p:sp>
      <p:sp>
        <p:nvSpPr>
          <p:cNvPr id="37008" name="Divisor Hydro-UAI">
            <a:extLst xmlns:a="http://schemas.openxmlformats.org/drawingml/2006/main">
              <a:ext uri="{FF2B5EF4-FFF2-40B4-BE49-F238E27FC236}">
                <a16:creationId xmlns:a16="http://schemas.microsoft.com/office/drawing/2014/main" id="{722947CF-A8E0-5CA4-8A79-4C1154BFB49A}"/>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37009" name="Hydro-UAI Hydro-UAI Course">
            <a:extLst xmlns:a="http://schemas.openxmlformats.org/drawingml/2006/main">
              <a:ext uri="{FF2B5EF4-FFF2-40B4-BE49-F238E27FC236}">
                <a16:creationId xmlns:a16="http://schemas.microsoft.com/office/drawing/2014/main" id="{DC875B29-8147-52D9-8F4F-8091FB83E0C3}"/>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37010" name="Hydro-UAI 37 / 62">
            <a:extLst xmlns:a="http://schemas.openxmlformats.org/drawingml/2006/main">
              <a:ext uri="{FF2B5EF4-FFF2-40B4-BE49-F238E27FC236}">
                <a16:creationId xmlns:a16="http://schemas.microsoft.com/office/drawing/2014/main" id="{F537078F-E5C0-512A-9A76-91303247528B}"/>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43 / 68</a:t>
            </a:r>
          </a:p>
        </p:txBody>
      </p:sp>
    </p:spTree>
    <p:extLst>
      <p:ext uri="{BB962C8B-B14F-4D97-AF65-F5344CB8AC3E}">
        <p14:creationId xmlns:p14="http://schemas.microsoft.com/office/powerpoint/2010/main" val="3991283715"/>
      </p:ext>
    </p:extLst>
  </p:cSld>
</p:sld>
</file>

<file path=ppt/slides/slide38.xml><?xml version="1.0" encoding="utf-8"?>
<p:sld xmlns:p="http://schemas.openxmlformats.org/presentationml/2006/main">
  <p:cSld>
    <p:spTree>
      <p:nvGrpSpPr>
        <p:cNvPr id="38001" name=""/>
        <p:cNvGrpSpPr/>
        <p:nvPr/>
      </p:nvGrpSpPr>
      <p:grpSpPr>
        <a:xfrm xmlns:a="http://schemas.openxmlformats.org/drawingml/2006/main"/>
      </p:grpSpPr>
      <p:sp>
        <p:nvSpPr>
          <p:cNvPr id="38002" name="Retângulo 6">
            <a:extLst xmlns:a="http://schemas.openxmlformats.org/drawingml/2006/main">
              <a:ext uri="{FF2B5EF4-FFF2-40B4-BE49-F238E27FC236}">
                <a16:creationId xmlns:a16="http://schemas.microsoft.com/office/drawing/2014/main" id="{356C0169-4843-5A5D-BF2A-0927A554E2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38003" name=""/>
          <p:cNvGraphicFramePr/>
          <p:nvPr/>
        </p:nvGraphicFramePr>
        <p:xfrm>
          <a:off xmlns:a="http://schemas.openxmlformats.org/drawingml/2006/main" x="457200" y="4305300"/>
          <a:ext xmlns:a="http://schemas.openxmlformats.org/drawingml/2006/main" cx="11277600" cy="1562100"/>
        </p:xfrm>
        <a:graphic xmlns:a="http://schemas.openxmlformats.org/drawingml/2006/main">
          <a:graphicData uri="http://schemas.openxmlformats.org/drawingml/2006/table">
            <a:tbl>
              <a:tblPr/>
              <a:tblGrid>
                <a:gridCol w="4572000"/>
                <a:gridCol w="6705600"/>
              </a:tblGrid>
              <a:tr h="390525">
                <a:tc>
                  <a:txBody>
                    <a:bodyPr lIns="85725" tIns="57150" rIns="85725" bIns="57150">
                      <a:noAutofit/>
                    </a:bodyPr>
                    <a:lstStyle/>
                    <a:p>
                      <a:pPr algn="l">
                        <a:buNone/>
                      </a:pPr>
                      <a:r>
                        <a:rPr sz="1575" b="1">
                          <a:solidFill>
                            <a:srgbClr val="FFFFFF"/>
                          </a:solidFill>
                          <a:latin typeface="JetBrains Mono"/>
                          <a:ea typeface="JetBrains Mono"/>
                          <a:cs typeface="JetBrains Mono"/>
                        </a:rPr>
                        <a:t>Informação</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Papel no exemplo</a:t>
                      </a:r>
                    </a:p>
                  </a:txBody>
                  <a:tcPr marL="91440" marR="91440" marT="45720" marB="45720" anchor="ctr">
                    <a:solidFill>
                      <a:srgbClr val="0053EB"/>
                    </a:solidFill>
                  </a:tcPr>
                </a:tc>
              </a:tr>
              <a:tr h="390525">
                <a:tc>
                  <a:txBody>
                    <a:bodyPr lIns="85725" tIns="57150" rIns="85725" bIns="57150">
                      <a:noAutofit/>
                    </a:bodyPr>
                    <a:lstStyle/>
                    <a:p>
                      <a:pPr algn="l">
                        <a:buNone/>
                      </a:pPr>
                      <a:r>
                        <a:rPr sz="1575" b="0">
                          <a:solidFill>
                            <a:srgbClr val="FFFFFF"/>
                          </a:solidFill>
                          <a:latin typeface="JetBrains Mono"/>
                          <a:ea typeface="JetBrains Mono"/>
                          <a:cs typeface="JetBrains Mono"/>
                        </a:rPr>
                        <a:t>Cargas e vazões observadas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Restringem os estados e a condutividade.</a:t>
                      </a:r>
                    </a:p>
                  </a:txBody>
                  <a:tcPr marL="91440" marR="91440" marT="45720" marB="45720" anchor="ctr">
                    <a:solidFill>
                      <a:srgbClr val="000F29"/>
                    </a:solidFill>
                  </a:tcPr>
                </a:tc>
              </a:tr>
              <a:tr h="390525">
                <a:tc>
                  <a:txBody>
                    <a:bodyPr lIns="85725" tIns="57150" rIns="85725" bIns="57150">
                      <a:noAutofit/>
                    </a:bodyPr>
                    <a:lstStyle/>
                    <a:p>
                      <a:pPr algn="l">
                        <a:buNone/>
                      </a:pPr>
                      <a:r>
                        <a:rPr sz="1575" b="0">
                          <a:solidFill>
                            <a:srgbClr val="FFFFFF"/>
                          </a:solidFill>
                          <a:latin typeface="JetBrains Mono"/>
                          <a:ea typeface="JetBrains Mono"/>
                          <a:cs typeface="JetBrains Mono"/>
                        </a:rPr>
                        <a:t>Condições de contorno</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Definem cargas ou fluxos nas extremidades.</a:t>
                      </a:r>
                    </a:p>
                  </a:txBody>
                  <a:tcPr marL="91440" marR="91440" marT="45720" marB="45720" anchor="ctr">
                    <a:solidFill>
                      <a:srgbClr val="000F29"/>
                    </a:solidFill>
                  </a:tcPr>
                </a:tc>
              </a:tr>
              <a:tr h="390525">
                <a:tc>
                  <a:txBody>
                    <a:bodyPr lIns="85725" tIns="57150" rIns="85725" bIns="57150">
                      <a:noAutofit/>
                    </a:bodyPr>
                    <a:lstStyle/>
                    <a:p>
                      <a:pPr algn="l">
                        <a:buNone/>
                      </a:pPr>
                      <a:r>
                        <a:rPr sz="1575" b="0">
                          <a:solidFill>
                            <a:srgbClr val="FFFFFF"/>
                          </a:solidFill>
                          <a:latin typeface="JetBrains Mono"/>
                          <a:ea typeface="JetBrains Mono"/>
                          <a:cs typeface="JetBrains Mono"/>
                        </a:rPr>
                        <a:t>K(x) desconhecido</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Exige informação para identificar seus valores.</a:t>
                      </a:r>
                    </a:p>
                  </a:txBody>
                  <a:tcPr marL="91440" marR="91440" marT="45720" marB="45720" anchor="ctr">
                    <a:solidFill>
                      <a:srgbClr val="000F29"/>
                    </a:solidFill>
                  </a:tcPr>
                </a:tc>
              </a:tr>
            </a:tbl>
          </a:graphicData>
        </a:graphic>
      </p:graphicFrame>
      <p:sp>
        <p:nvSpPr>
          <p:cNvPr id="38004" name="Água subterrânea: Darcy e recuperaçã">
            <a:extLst xmlns:a="http://schemas.openxmlformats.org/drawingml/2006/main">
              <a:ext uri="{FF2B5EF4-FFF2-40B4-BE49-F238E27FC236}">
                <a16:creationId xmlns:a16="http://schemas.microsoft.com/office/drawing/2014/main" id="{A7D649BD-A87D-5EBE-928D-B73BD3770618}"/>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Água subterrânea: Darcy e recuperação de parâmetros</a:t>
            </a:r>
          </a:p>
        </p:txBody>
      </p:sp>
      <p:sp>
        <p:nvSpPr>
          <p:cNvPr id="38005" name="q(x) = -K(x) dh/dx">
            <a:extLst xmlns:a="http://schemas.openxmlformats.org/drawingml/2006/main">
              <a:ext uri="{FF2B5EF4-FFF2-40B4-BE49-F238E27FC236}">
                <a16:creationId xmlns:a16="http://schemas.microsoft.com/office/drawing/2014/main" id="{A69AD534-91AA-582F-A314-95261CAD48F8}"/>
              </a:ext>
            </a:extLst>
          </p:cNvPr>
          <p:cNvSpPr>
            <a:spLocks xmlns:a="http://schemas.openxmlformats.org/drawingml/2006/main" noGrp="1"/>
          </p:cNvSpPr>
          <p:nvPr/>
        </p:nvSpPr>
        <p:spPr>
          <a:xfrm xmlns:a="http://schemas.openxmlformats.org/drawingml/2006/main">
            <a:off x="457200" y="2600325"/>
            <a:ext cx="11277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83DFFF"/>
                </a:solidFill>
                <a:latin typeface="JetBrains Mono"/>
                <a:ea typeface="JetBrains Mono"/>
                <a:cs typeface="JetBrains Mono"/>
              </a:defRPr>
            </a:pPr>
            <a:r>
              <a:rPr sz="2400" b="1">
                <a:solidFill>
                  <a:srgbClr val="83DFFF"/>
                </a:solidFill>
                <a:latin typeface="JetBrains Mono"/>
                <a:ea typeface="JetBrains Mono"/>
                <a:cs typeface="JetBrains Mono"/>
              </a:rPr>
              <a:t>q(x) = -K(x) dh/dx</a:t>
            </a:r>
          </a:p>
        </p:txBody>
      </p:sp>
      <p:sp>
        <p:nvSpPr>
          <p:cNvPr id="38006" name="dq/dx = 0">
            <a:extLst xmlns:a="http://schemas.openxmlformats.org/drawingml/2006/main">
              <a:ext uri="{FF2B5EF4-FFF2-40B4-BE49-F238E27FC236}">
                <a16:creationId xmlns:a16="http://schemas.microsoft.com/office/drawing/2014/main" id="{F32C4B20-2CDF-52DB-8893-B96BB5A3CBE3}"/>
              </a:ext>
            </a:extLst>
          </p:cNvPr>
          <p:cNvSpPr>
            <a:spLocks xmlns:a="http://schemas.openxmlformats.org/drawingml/2006/main" noGrp="1"/>
          </p:cNvSpPr>
          <p:nvPr/>
        </p:nvSpPr>
        <p:spPr>
          <a:xfrm xmlns:a="http://schemas.openxmlformats.org/drawingml/2006/main">
            <a:off x="457200" y="3343275"/>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FFAD62"/>
                </a:solidFill>
                <a:latin typeface="JetBrains Mono"/>
                <a:ea typeface="JetBrains Mono"/>
                <a:cs typeface="JetBrains Mono"/>
              </a:defRPr>
            </a:pPr>
            <a:r>
              <a:rPr sz="2400" b="1">
                <a:solidFill>
                  <a:srgbClr val="FFAD62"/>
                </a:solidFill>
                <a:latin typeface="JetBrains Mono"/>
                <a:ea typeface="JetBrains Mono"/>
                <a:cs typeface="JetBrains Mono"/>
              </a:rPr>
              <a:t>dq/dx = 0</a:t>
            </a:r>
          </a:p>
        </p:txBody>
      </p:sp>
      <p:sp>
        <p:nvSpPr>
          <p:cNvPr id="38007" name="Tartakovsky et al. (2020), Water Res">
            <a:extLst xmlns:a="http://schemas.openxmlformats.org/drawingml/2006/main">
              <a:ext uri="{FF2B5EF4-FFF2-40B4-BE49-F238E27FC236}">
                <a16:creationId xmlns:a16="http://schemas.microsoft.com/office/drawing/2014/main" id="{96EB6C9A-9C4E-5E6D-8E37-83736AC8A7B9}"/>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Tartakovsky et al. (2020), Water Resources Research. Exemplo 1D simplificado.</a:t>
            </a:r>
          </a:p>
        </p:txBody>
      </p:sp>
      <p:pic>
        <p:nvPicPr>
          <p:cNvPr id="38008" name="Imagem 13"/>
          <p:cNvPicPr>
            <a:picLocks xmlns:a="http://schemas.openxmlformats.org/drawingml/2006/main" noChangeAspect="1"/>
          </p:cNvPicPr>
          <p:nvPr/>
        </p:nvPicPr>
        <p:blipFill>
          <a:blip xmlns:r="http://schemas.openxmlformats.org/officeDocument/2006/relationships" xmlns:a="http://schemas.openxmlformats.org/drawingml/2006/main" r:embed="Ra8da32cd104047f0"/>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38009" name="Hydro-UAI Redes informadas pela física">
            <a:extLst xmlns:a="http://schemas.openxmlformats.org/drawingml/2006/main">
              <a:ext uri="{FF2B5EF4-FFF2-40B4-BE49-F238E27FC236}">
                <a16:creationId xmlns:a16="http://schemas.microsoft.com/office/drawing/2014/main" id="{89AA2843-F337-54AE-AD32-ADAE379AB3EA}"/>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informadas pela física</a:t>
            </a:r>
          </a:p>
        </p:txBody>
      </p:sp>
      <p:sp>
        <p:nvSpPr>
          <p:cNvPr id="38010" name="Divisor Hydro-UAI">
            <a:extLst xmlns:a="http://schemas.openxmlformats.org/drawingml/2006/main">
              <a:ext uri="{FF2B5EF4-FFF2-40B4-BE49-F238E27FC236}">
                <a16:creationId xmlns:a16="http://schemas.microsoft.com/office/drawing/2014/main" id="{7C2F3343-029F-599C-B487-B3D6C6BD01CD}"/>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38011" name="Hydro-UAI Hydro-UAI Course">
            <a:extLst xmlns:a="http://schemas.openxmlformats.org/drawingml/2006/main">
              <a:ext uri="{FF2B5EF4-FFF2-40B4-BE49-F238E27FC236}">
                <a16:creationId xmlns:a16="http://schemas.microsoft.com/office/drawing/2014/main" id="{5EDDFF33-547D-5BEF-AEAF-5263097D1FA8}"/>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38012" name="Hydro-UAI 38 / 62">
            <a:extLst xmlns:a="http://schemas.openxmlformats.org/drawingml/2006/main">
              <a:ext uri="{FF2B5EF4-FFF2-40B4-BE49-F238E27FC236}">
                <a16:creationId xmlns:a16="http://schemas.microsoft.com/office/drawing/2014/main" id="{06262B65-E06A-5807-860E-1F524E9B65C5}"/>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44 / 68</a:t>
            </a:r>
          </a:p>
        </p:txBody>
      </p:sp>
    </p:spTree>
    <p:extLst>
      <p:ext uri="{BB962C8B-B14F-4D97-AF65-F5344CB8AC3E}">
        <p14:creationId xmlns:p14="http://schemas.microsoft.com/office/powerpoint/2010/main" val="3991283715"/>
      </p:ext>
    </p:extLst>
  </p:cSld>
</p:sld>
</file>

<file path=ppt/slides/slide39.xml><?xml version="1.0" encoding="utf-8"?>
<p:sld xmlns:p="http://schemas.openxmlformats.org/presentationml/2006/main">
  <p:cSld>
    <p:spTree>
      <p:nvGrpSpPr>
        <p:cNvPr id="39001" name=""/>
        <p:cNvGrpSpPr/>
        <p:nvPr/>
      </p:nvGrpSpPr>
      <p:grpSpPr>
        <a:xfrm xmlns:a="http://schemas.openxmlformats.org/drawingml/2006/main"/>
      </p:grpSpPr>
      <p:sp>
        <p:nvSpPr>
          <p:cNvPr id="39002" name="Retângulo 6">
            <a:extLst xmlns:a="http://schemas.openxmlformats.org/drawingml/2006/main">
              <a:ext uri="{FF2B5EF4-FFF2-40B4-BE49-F238E27FC236}">
                <a16:creationId xmlns:a16="http://schemas.microsoft.com/office/drawing/2014/main" id="{DF02A01D-A894-5B46-96B5-936893D7A0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003" name="Propagação em rios: continuidade e f">
            <a:extLst xmlns:a="http://schemas.openxmlformats.org/drawingml/2006/main">
              <a:ext uri="{FF2B5EF4-FFF2-40B4-BE49-F238E27FC236}">
                <a16:creationId xmlns:a16="http://schemas.microsoft.com/office/drawing/2014/main" id="{C60038DF-F029-5502-BE44-689DE64A4AAB}"/>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Propagação em rios: continuidade e fechamento físico</a:t>
            </a:r>
          </a:p>
        </p:txBody>
      </p:sp>
      <p:sp>
        <p:nvSpPr>
          <p:cNvPr id="39004" name="∂A/∂t + ∂Q/∂x = qₗ">
            <a:extLst xmlns:a="http://schemas.openxmlformats.org/drawingml/2006/main">
              <a:ext uri="{FF2B5EF4-FFF2-40B4-BE49-F238E27FC236}">
                <a16:creationId xmlns:a16="http://schemas.microsoft.com/office/drawing/2014/main" id="{FD6D4B9B-FE3B-5C00-9EE5-1EE15E1D6B14}"/>
              </a:ext>
            </a:extLst>
          </p:cNvPr>
          <p:cNvSpPr>
            <a:spLocks xmlns:a="http://schemas.openxmlformats.org/drawingml/2006/main" noGrp="1"/>
          </p:cNvSpPr>
          <p:nvPr/>
        </p:nvSpPr>
        <p:spPr>
          <a:xfrm xmlns:a="http://schemas.openxmlformats.org/drawingml/2006/main">
            <a:off x="457200" y="2647950"/>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83DFFF"/>
                </a:solidFill>
                <a:latin typeface="JetBrains Mono"/>
                <a:ea typeface="JetBrains Mono"/>
                <a:cs typeface="JetBrains Mono"/>
              </a:defRPr>
            </a:pPr>
            <a:r>
              <a:rPr sz="2550" b="1">
                <a:solidFill>
                  <a:srgbClr val="83DFFF"/>
                </a:solidFill>
                <a:latin typeface="JetBrains Mono"/>
                <a:ea typeface="JetBrains Mono"/>
                <a:cs typeface="JetBrains Mono"/>
              </a:rPr>
              <a:t>∂A/∂t + ∂Q/∂x = qₗ</a:t>
            </a:r>
          </a:p>
        </p:txBody>
      </p:sp>
      <p:sp>
        <p:nvSpPr>
          <p:cNvPr id="39005" name="A">
            <a:extLst xmlns:a="http://schemas.openxmlformats.org/drawingml/2006/main">
              <a:ext uri="{FF2B5EF4-FFF2-40B4-BE49-F238E27FC236}">
                <a16:creationId xmlns:a16="http://schemas.microsoft.com/office/drawing/2014/main" id="{FC63F48E-FEC1-50E4-8AB8-210F86248635}"/>
              </a:ext>
            </a:extLst>
          </p:cNvPr>
          <p:cNvSpPr>
            <a:spLocks xmlns:a="http://schemas.openxmlformats.org/drawingml/2006/main" noGrp="1"/>
          </p:cNvSpPr>
          <p:nvPr/>
        </p:nvSpPr>
        <p:spPr>
          <a:xfrm xmlns:a="http://schemas.openxmlformats.org/drawingml/2006/main">
            <a:off x="457200" y="3676650"/>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A</a:t>
            </a:r>
          </a:p>
        </p:txBody>
      </p:sp>
      <p:sp>
        <p:nvSpPr>
          <p:cNvPr id="39006" name="Área da seção molhada (m²).">
            <a:extLst xmlns:a="http://schemas.openxmlformats.org/drawingml/2006/main">
              <a:ext uri="{FF2B5EF4-FFF2-40B4-BE49-F238E27FC236}">
                <a16:creationId xmlns:a16="http://schemas.microsoft.com/office/drawing/2014/main" id="{6987EE6F-0B5D-557B-9076-1CA72BF507F8}"/>
              </a:ext>
            </a:extLst>
          </p:cNvPr>
          <p:cNvSpPr>
            <a:spLocks xmlns:a="http://schemas.openxmlformats.org/drawingml/2006/main" noGrp="1"/>
          </p:cNvSpPr>
          <p:nvPr/>
        </p:nvSpPr>
        <p:spPr>
          <a:xfrm xmlns:a="http://schemas.openxmlformats.org/drawingml/2006/main">
            <a:off x="2124075" y="3676650"/>
            <a:ext cx="96107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Área da seção molhada (m²).</a:t>
            </a:r>
          </a:p>
        </p:txBody>
      </p:sp>
      <p:sp>
        <p:nvSpPr>
          <p:cNvPr id="39007" name="Q">
            <a:extLst xmlns:a="http://schemas.openxmlformats.org/drawingml/2006/main">
              <a:ext uri="{FF2B5EF4-FFF2-40B4-BE49-F238E27FC236}">
                <a16:creationId xmlns:a16="http://schemas.microsoft.com/office/drawing/2014/main" id="{E6CE2DCB-BB29-5529-894B-73538982ECB4}"/>
              </a:ext>
            </a:extLst>
          </p:cNvPr>
          <p:cNvSpPr>
            <a:spLocks xmlns:a="http://schemas.openxmlformats.org/drawingml/2006/main" noGrp="1"/>
          </p:cNvSpPr>
          <p:nvPr/>
        </p:nvSpPr>
        <p:spPr>
          <a:xfrm xmlns:a="http://schemas.openxmlformats.org/drawingml/2006/main">
            <a:off x="457200" y="4248150"/>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Q</a:t>
            </a:r>
          </a:p>
        </p:txBody>
      </p:sp>
      <p:sp>
        <p:nvSpPr>
          <p:cNvPr id="39008" name="Vazão (m³/s).">
            <a:extLst xmlns:a="http://schemas.openxmlformats.org/drawingml/2006/main">
              <a:ext uri="{FF2B5EF4-FFF2-40B4-BE49-F238E27FC236}">
                <a16:creationId xmlns:a16="http://schemas.microsoft.com/office/drawing/2014/main" id="{D102C2CB-39B6-5A93-9E0B-54CB888E328E}"/>
              </a:ext>
            </a:extLst>
          </p:cNvPr>
          <p:cNvSpPr>
            <a:spLocks xmlns:a="http://schemas.openxmlformats.org/drawingml/2006/main" noGrp="1"/>
          </p:cNvSpPr>
          <p:nvPr/>
        </p:nvSpPr>
        <p:spPr>
          <a:xfrm xmlns:a="http://schemas.openxmlformats.org/drawingml/2006/main">
            <a:off x="2124075" y="4248150"/>
            <a:ext cx="96107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Vazão (m³/s).</a:t>
            </a:r>
          </a:p>
        </p:txBody>
      </p:sp>
      <p:sp>
        <p:nvSpPr>
          <p:cNvPr id="39009" name="qₗ">
            <a:extLst xmlns:a="http://schemas.openxmlformats.org/drawingml/2006/main">
              <a:ext uri="{FF2B5EF4-FFF2-40B4-BE49-F238E27FC236}">
                <a16:creationId xmlns:a16="http://schemas.microsoft.com/office/drawing/2014/main" id="{0827D6EB-CFBA-52B8-8DC7-C1FCD1407C56}"/>
              </a:ext>
            </a:extLst>
          </p:cNvPr>
          <p:cNvSpPr>
            <a:spLocks xmlns:a="http://schemas.openxmlformats.org/drawingml/2006/main" noGrp="1"/>
          </p:cNvSpPr>
          <p:nvPr/>
        </p:nvSpPr>
        <p:spPr>
          <a:xfrm xmlns:a="http://schemas.openxmlformats.org/drawingml/2006/main">
            <a:off x="457200" y="4819650"/>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qₗ</a:t>
            </a:r>
          </a:p>
        </p:txBody>
      </p:sp>
      <p:sp>
        <p:nvSpPr>
          <p:cNvPr id="39010" name="Entrada lateral por comprimento (m²/">
            <a:extLst xmlns:a="http://schemas.openxmlformats.org/drawingml/2006/main">
              <a:ext uri="{FF2B5EF4-FFF2-40B4-BE49-F238E27FC236}">
                <a16:creationId xmlns:a16="http://schemas.microsoft.com/office/drawing/2014/main" id="{52DB1C88-A06C-52D4-A16D-F7B610D81540}"/>
              </a:ext>
            </a:extLst>
          </p:cNvPr>
          <p:cNvSpPr>
            <a:spLocks xmlns:a="http://schemas.openxmlformats.org/drawingml/2006/main" noGrp="1"/>
          </p:cNvSpPr>
          <p:nvPr/>
        </p:nvSpPr>
        <p:spPr>
          <a:xfrm xmlns:a="http://schemas.openxmlformats.org/drawingml/2006/main">
            <a:off x="2124075" y="4819650"/>
            <a:ext cx="96107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Entrada lateral por comprimento (m²/s).</a:t>
            </a:r>
          </a:p>
        </p:txBody>
      </p:sp>
      <p:sp>
        <p:nvSpPr>
          <p:cNvPr id="39011" name="Quantidade de movimento e condições ">
            <a:extLst xmlns:a="http://schemas.openxmlformats.org/drawingml/2006/main">
              <a:ext uri="{FF2B5EF4-FFF2-40B4-BE49-F238E27FC236}">
                <a16:creationId xmlns:a16="http://schemas.microsoft.com/office/drawing/2014/main" id="{FEFD4D6C-5C4A-516C-B80F-ED40BF84BEA5}"/>
              </a:ext>
            </a:extLst>
          </p:cNvPr>
          <p:cNvSpPr>
            <a:spLocks xmlns:a="http://schemas.openxmlformats.org/drawingml/2006/main" noGrp="1"/>
          </p:cNvSpPr>
          <p:nvPr/>
        </p:nvSpPr>
        <p:spPr>
          <a:xfrm xmlns:a="http://schemas.openxmlformats.org/drawingml/2006/main">
            <a:off x="457200" y="5581650"/>
            <a:ext cx="11277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FFAD62"/>
                </a:solidFill>
                <a:latin typeface="JetBrains Mono"/>
                <a:ea typeface="JetBrains Mono"/>
                <a:cs typeface="JetBrains Mono"/>
              </a:defRPr>
            </a:pPr>
            <a:r>
              <a:rPr sz="1725" b="1">
                <a:solidFill>
                  <a:srgbClr val="FFAD62"/>
                </a:solidFill>
                <a:latin typeface="JetBrains Mono"/>
                <a:ea typeface="JetBrains Mono"/>
                <a:cs typeface="JetBrains Mono"/>
              </a:rPr>
              <a:t>Quantidade de movimento e condições completam o problema.</a:t>
            </a:r>
          </a:p>
        </p:txBody>
      </p:sp>
      <p:pic>
        <p:nvPicPr>
          <p:cNvPr id="39012" name="Imagem 13"/>
          <p:cNvPicPr>
            <a:picLocks xmlns:a="http://schemas.openxmlformats.org/drawingml/2006/main" noChangeAspect="1"/>
          </p:cNvPicPr>
          <p:nvPr/>
        </p:nvPicPr>
        <p:blipFill>
          <a:blip xmlns:r="http://schemas.openxmlformats.org/officeDocument/2006/relationships" xmlns:a="http://schemas.openxmlformats.org/drawingml/2006/main" r:embed="Rb0b5b26ec10c432b"/>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39013" name="Hydro-UAI Redes informadas pela física">
            <a:extLst xmlns:a="http://schemas.openxmlformats.org/drawingml/2006/main">
              <a:ext uri="{FF2B5EF4-FFF2-40B4-BE49-F238E27FC236}">
                <a16:creationId xmlns:a16="http://schemas.microsoft.com/office/drawing/2014/main" id="{CDD3AEB8-B187-5B3A-9D8C-F374903F356A}"/>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informadas pela física</a:t>
            </a:r>
          </a:p>
        </p:txBody>
      </p:sp>
      <p:sp>
        <p:nvSpPr>
          <p:cNvPr id="39014" name="Divisor Hydro-UAI">
            <a:extLst xmlns:a="http://schemas.openxmlformats.org/drawingml/2006/main">
              <a:ext uri="{FF2B5EF4-FFF2-40B4-BE49-F238E27FC236}">
                <a16:creationId xmlns:a16="http://schemas.microsoft.com/office/drawing/2014/main" id="{336D89FD-C5C0-51FD-85D9-D23A05E23888}"/>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39015" name="Hydro-UAI Hydro-UAI Course">
            <a:extLst xmlns:a="http://schemas.openxmlformats.org/drawingml/2006/main">
              <a:ext uri="{FF2B5EF4-FFF2-40B4-BE49-F238E27FC236}">
                <a16:creationId xmlns:a16="http://schemas.microsoft.com/office/drawing/2014/main" id="{6F6FDB65-B242-595F-91BD-A62AEC556E5D}"/>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39016" name="Hydro-UAI 39 / 62">
            <a:extLst xmlns:a="http://schemas.openxmlformats.org/drawingml/2006/main">
              <a:ext uri="{FF2B5EF4-FFF2-40B4-BE49-F238E27FC236}">
                <a16:creationId xmlns:a16="http://schemas.microsoft.com/office/drawing/2014/main" id="{B7003AE1-3A9C-58EA-AE41-0319B0B3F768}"/>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45 / 68</a:t>
            </a:r>
          </a:p>
        </p:txBody>
      </p:sp>
    </p:spTree>
    <p:extLst>
      <p:ext uri="{BB962C8B-B14F-4D97-AF65-F5344CB8AC3E}">
        <p14:creationId xmlns:p14="http://schemas.microsoft.com/office/powerpoint/2010/main" val="3991283715"/>
      </p:ext>
    </p:extLst>
  </p:cSld>
</p:sld>
</file>

<file path=ppt/slides/slide40.xml><?xml version="1.0" encoding="utf-8"?>
<p:sld xmlns:p="http://schemas.openxmlformats.org/presentationml/2006/main">
  <p:cSld>
    <p:spTree>
      <p:nvGrpSpPr>
        <p:cNvPr id="40001" name=""/>
        <p:cNvGrpSpPr/>
        <p:nvPr/>
      </p:nvGrpSpPr>
      <p:grpSpPr>
        <a:xfrm xmlns:a="http://schemas.openxmlformats.org/drawingml/2006/main"/>
      </p:grpSpPr>
      <p:sp>
        <p:nvSpPr>
          <p:cNvPr id="40002" name="Retângulo 6">
            <a:extLst xmlns:a="http://schemas.openxmlformats.org/drawingml/2006/main">
              <a:ext uri="{FF2B5EF4-FFF2-40B4-BE49-F238E27FC236}">
                <a16:creationId xmlns:a16="http://schemas.microsoft.com/office/drawing/2014/main" id="{AFB6F321-1FE4-5315-B54A-039CDF0393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40003" name=""/>
          <p:cNvGraphicFramePr/>
          <p:nvPr/>
        </p:nvGraphicFramePr>
        <p:xfrm>
          <a:off xmlns:a="http://schemas.openxmlformats.org/drawingml/2006/main" x="457200" y="2590800"/>
          <a:ext xmlns:a="http://schemas.openxmlformats.org/drawingml/2006/main" cx="11277600" cy="3276600"/>
        </p:xfrm>
        <a:graphic xmlns:a="http://schemas.openxmlformats.org/drawingml/2006/main">
          <a:graphicData uri="http://schemas.openxmlformats.org/drawingml/2006/table">
            <a:tbl>
              <a:tblPr/>
              <a:tblGrid>
                <a:gridCol w="4429125"/>
                <a:gridCol w="6848475"/>
              </a:tblGrid>
              <a:tr h="655320">
                <a:tc>
                  <a:txBody>
                    <a:bodyPr lIns="85725" tIns="57150" rIns="85725" bIns="57150">
                      <a:noAutofit/>
                    </a:bodyPr>
                    <a:lstStyle/>
                    <a:p>
                      <a:pPr algn="l">
                        <a:buNone/>
                      </a:pPr>
                      <a:r>
                        <a:rPr sz="1650" b="1">
                          <a:solidFill>
                            <a:srgbClr val="FFFFFF"/>
                          </a:solidFill>
                          <a:latin typeface="JetBrains Mono"/>
                          <a:ea typeface="JetBrains Mono"/>
                          <a:cs typeface="JetBrains Mono"/>
                        </a:rPr>
                        <a:t>Formulação</a:t>
                      </a:r>
                    </a:p>
                  </a:txBody>
                  <a:tcPr marL="91440" marR="91440" marT="45720" marB="45720" anchor="ctr">
                    <a:solidFill>
                      <a:srgbClr val="0053EB"/>
                    </a:solidFill>
                  </a:tcPr>
                </a:tc>
                <a:tc>
                  <a:txBody>
                    <a:bodyPr lIns="85725" tIns="57150" rIns="85725" bIns="57150">
                      <a:noAutofit/>
                    </a:bodyPr>
                    <a:lstStyle/>
                    <a:p>
                      <a:pPr algn="l">
                        <a:buNone/>
                      </a:pPr>
                      <a:r>
                        <a:rPr sz="1650" b="1">
                          <a:solidFill>
                            <a:srgbClr val="FFFFFF"/>
                          </a:solidFill>
                          <a:latin typeface="JetBrains Mono"/>
                          <a:ea typeface="JetBrains Mono"/>
                          <a:cs typeface="JetBrains Mono"/>
                        </a:rPr>
                        <a:t>Como incorpora conhecimento físico</a:t>
                      </a:r>
                    </a:p>
                  </a:txBody>
                  <a:tcPr marL="91440" marR="91440" marT="45720" marB="45720" anchor="ctr">
                    <a:solidFill>
                      <a:srgbClr val="0053EB"/>
                    </a:solidFill>
                  </a:tcPr>
                </a:tc>
              </a:tr>
              <a:tr h="655320">
                <a:tc>
                  <a:txBody>
                    <a:bodyPr lIns="85725" tIns="57150" rIns="85725" bIns="57150">
                      <a:noAutofit/>
                    </a:bodyPr>
                    <a:lstStyle/>
                    <a:p>
                      <a:pPr algn="l">
                        <a:buNone/>
                      </a:pPr>
                      <a:r>
                        <a:rPr sz="1650" b="0">
                          <a:solidFill>
                            <a:srgbClr val="FFFFFF"/>
                          </a:solidFill>
                          <a:latin typeface="JetBrains Mono"/>
                          <a:ea typeface="JetBrains Mono"/>
                          <a:cs typeface="JetBrains Mono"/>
                        </a:rPr>
                        <a:t>PINN clássica</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Rede de coordenadas e resíduos de equações diferenciais.</a:t>
                      </a:r>
                    </a:p>
                  </a:txBody>
                  <a:tcPr marL="91440" marR="91440" marT="45720" marB="45720" anchor="ctr">
                    <a:solidFill>
                      <a:srgbClr val="000F29"/>
                    </a:solidFill>
                  </a:tcPr>
                </a:tc>
              </a:tr>
              <a:tr h="655320">
                <a:tc>
                  <a:txBody>
                    <a:bodyPr lIns="85725" tIns="57150" rIns="85725" bIns="57150">
                      <a:noAutofit/>
                    </a:bodyPr>
                    <a:lstStyle/>
                    <a:p>
                      <a:pPr algn="l">
                        <a:buNone/>
                      </a:pPr>
                      <a:r>
                        <a:rPr sz="1650" b="0">
                          <a:solidFill>
                            <a:srgbClr val="FFFFFF"/>
                          </a:solidFill>
                          <a:latin typeface="JetBrains Mono"/>
                          <a:ea typeface="JetBrains Mono"/>
                          <a:cs typeface="JetBrains Mono"/>
                        </a:rPr>
                        <a:t>Penalização física em previsão</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Rede temporal recebe perdas de balanço ou restrições.</a:t>
                      </a:r>
                    </a:p>
                  </a:txBody>
                  <a:tcPr marL="91440" marR="91440" marT="45720" marB="45720" anchor="ctr">
                    <a:solidFill>
                      <a:srgbClr val="000F29"/>
                    </a:solidFill>
                  </a:tcPr>
                </a:tc>
              </a:tr>
              <a:tr h="655320">
                <a:tc>
                  <a:txBody>
                    <a:bodyPr lIns="85725" tIns="57150" rIns="85725" bIns="57150">
                      <a:noAutofit/>
                    </a:bodyPr>
                    <a:lstStyle/>
                    <a:p>
                      <a:pPr algn="l">
                        <a:buNone/>
                      </a:pPr>
                      <a:r>
                        <a:rPr sz="1650" b="0">
                          <a:solidFill>
                            <a:srgbClr val="FFFFFF"/>
                          </a:solidFill>
                          <a:latin typeface="JetBrains Mono"/>
                          <a:ea typeface="JetBrains Mono"/>
                          <a:cs typeface="JetBrains Mono"/>
                        </a:rPr>
                        <a:t>Arquitetura com conservação</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Estrutura impõe relações de conservação por construção.</a:t>
                      </a:r>
                    </a:p>
                  </a:txBody>
                  <a:tcPr marL="91440" marR="91440" marT="45720" marB="45720" anchor="ctr">
                    <a:solidFill>
                      <a:srgbClr val="000F29"/>
                    </a:solidFill>
                  </a:tcPr>
                </a:tc>
              </a:tr>
              <a:tr h="655320">
                <a:tc>
                  <a:txBody>
                    <a:bodyPr lIns="85725" tIns="57150" rIns="85725" bIns="57150">
                      <a:noAutofit/>
                    </a:bodyPr>
                    <a:lstStyle/>
                    <a:p>
                      <a:pPr algn="l">
                        <a:buNone/>
                      </a:pPr>
                      <a:r>
                        <a:rPr sz="1650" b="0">
                          <a:solidFill>
                            <a:srgbClr val="FFFFFF"/>
                          </a:solidFill>
                          <a:latin typeface="JetBrains Mono"/>
                          <a:ea typeface="JetBrains Mono"/>
                          <a:cs typeface="JetBrains Mono"/>
                        </a:rPr>
                        <a:t>Modelo híbrido</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Combina partes aprendidas e componentes de um simulador.</a:t>
                      </a:r>
                    </a:p>
                  </a:txBody>
                  <a:tcPr marL="91440" marR="91440" marT="45720" marB="45720" anchor="ctr">
                    <a:solidFill>
                      <a:srgbClr val="000F29"/>
                    </a:solidFill>
                  </a:tcPr>
                </a:tc>
              </a:tr>
            </a:tbl>
          </a:graphicData>
        </a:graphic>
      </p:graphicFrame>
      <p:sp>
        <p:nvSpPr>
          <p:cNvPr id="40004" name="PINN, penalização física e modelos h">
            <a:extLst xmlns:a="http://schemas.openxmlformats.org/drawingml/2006/main">
              <a:ext uri="{FF2B5EF4-FFF2-40B4-BE49-F238E27FC236}">
                <a16:creationId xmlns:a16="http://schemas.microsoft.com/office/drawing/2014/main" id="{2922AE25-E5AC-5537-853B-8B3AC982127D}"/>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PINN, penalização física e modelos híbridos</a:t>
            </a:r>
          </a:p>
        </p:txBody>
      </p:sp>
      <p:pic>
        <p:nvPicPr>
          <p:cNvPr id="40005" name="Imagem 13"/>
          <p:cNvPicPr>
            <a:picLocks xmlns:a="http://schemas.openxmlformats.org/drawingml/2006/main" noChangeAspect="1"/>
          </p:cNvPicPr>
          <p:nvPr/>
        </p:nvPicPr>
        <p:blipFill>
          <a:blip xmlns:r="http://schemas.openxmlformats.org/officeDocument/2006/relationships" xmlns:a="http://schemas.openxmlformats.org/drawingml/2006/main" r:embed="R77230023a3984d39"/>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40006" name="Hydro-UAI Redes informadas pela física">
            <a:extLst xmlns:a="http://schemas.openxmlformats.org/drawingml/2006/main">
              <a:ext uri="{FF2B5EF4-FFF2-40B4-BE49-F238E27FC236}">
                <a16:creationId xmlns:a16="http://schemas.microsoft.com/office/drawing/2014/main" id="{29770C26-28B6-548C-BF67-63983254103C}"/>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informadas pela física</a:t>
            </a:r>
          </a:p>
        </p:txBody>
      </p:sp>
      <p:sp>
        <p:nvSpPr>
          <p:cNvPr id="40007" name="Divisor Hydro-UAI">
            <a:extLst xmlns:a="http://schemas.openxmlformats.org/drawingml/2006/main">
              <a:ext uri="{FF2B5EF4-FFF2-40B4-BE49-F238E27FC236}">
                <a16:creationId xmlns:a16="http://schemas.microsoft.com/office/drawing/2014/main" id="{25942BBE-52D8-532F-A7DD-B1030B610C53}"/>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40008" name="Hydro-UAI Hydro-UAI Course">
            <a:extLst xmlns:a="http://schemas.openxmlformats.org/drawingml/2006/main">
              <a:ext uri="{FF2B5EF4-FFF2-40B4-BE49-F238E27FC236}">
                <a16:creationId xmlns:a16="http://schemas.microsoft.com/office/drawing/2014/main" id="{36BEEAB7-E0A1-539A-9F39-EC6C96C6688A}"/>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40009" name="Hydro-UAI 40 / 62">
            <a:extLst xmlns:a="http://schemas.openxmlformats.org/drawingml/2006/main">
              <a:ext uri="{FF2B5EF4-FFF2-40B4-BE49-F238E27FC236}">
                <a16:creationId xmlns:a16="http://schemas.microsoft.com/office/drawing/2014/main" id="{BF9B4A7E-B8A0-5768-A84F-685A0AA57618}"/>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46 / 68</a:t>
            </a:r>
          </a:p>
        </p:txBody>
      </p:sp>
    </p:spTree>
    <p:extLst>
      <p:ext uri="{BB962C8B-B14F-4D97-AF65-F5344CB8AC3E}">
        <p14:creationId xmlns:p14="http://schemas.microsoft.com/office/powerpoint/2010/main" val="3991283715"/>
      </p:ext>
    </p:extLst>
  </p:cSld>
</p:sld>
</file>

<file path=ppt/slides/slide41.xml><?xml version="1.0" encoding="utf-8"?>
<p:sld xmlns:p="http://schemas.openxmlformats.org/presentationml/2006/main">
  <p:cSld>
    <p:spTree>
      <p:nvGrpSpPr>
        <p:cNvPr id="41001" name=""/>
        <p:cNvGrpSpPr/>
        <p:nvPr/>
      </p:nvGrpSpPr>
      <p:grpSpPr>
        <a:xfrm xmlns:a="http://schemas.openxmlformats.org/drawingml/2006/main"/>
      </p:grpSpPr>
      <p:sp>
        <p:nvSpPr>
          <p:cNvPr id="41002" name="Retângulo 6">
            <a:extLst xmlns:a="http://schemas.openxmlformats.org/drawingml/2006/main">
              <a:ext uri="{FF2B5EF4-FFF2-40B4-BE49-F238E27FC236}">
                <a16:creationId xmlns:a16="http://schemas.microsoft.com/office/drawing/2014/main" id="{D97C605D-A0A3-572C-B98F-BA5AADDEFEE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41003" name=""/>
          <p:cNvGraphicFramePr/>
          <p:nvPr/>
        </p:nvGraphicFramePr>
        <p:xfrm>
          <a:off xmlns:a="http://schemas.openxmlformats.org/drawingml/2006/main" x="457200" y="2609850"/>
          <a:ext xmlns:a="http://schemas.openxmlformats.org/drawingml/2006/main" cx="11277600" cy="3219450"/>
        </p:xfrm>
        <a:graphic xmlns:a="http://schemas.openxmlformats.org/drawingml/2006/main">
          <a:graphicData uri="http://schemas.openxmlformats.org/drawingml/2006/table">
            <a:tbl>
              <a:tblPr/>
              <a:tblGrid>
                <a:gridCol w="3629025"/>
                <a:gridCol w="7648575"/>
              </a:tblGrid>
              <a:tr h="643890">
                <a:tc>
                  <a:txBody>
                    <a:bodyPr lIns="85725" tIns="57150" rIns="85725" bIns="57150">
                      <a:noAutofit/>
                    </a:bodyPr>
                    <a:lstStyle/>
                    <a:p>
                      <a:pPr algn="l">
                        <a:buNone/>
                      </a:pPr>
                      <a:r>
                        <a:rPr sz="1725" b="1">
                          <a:solidFill>
                            <a:srgbClr val="FFFFFF"/>
                          </a:solidFill>
                          <a:latin typeface="JetBrains Mono"/>
                          <a:ea typeface="JetBrains Mono"/>
                          <a:cs typeface="JetBrains Mono"/>
                        </a:rPr>
                        <a:t>Aspecto</a:t>
                      </a:r>
                    </a:p>
                  </a:txBody>
                  <a:tcPr marL="91440" marR="91440" marT="45720" marB="45720" anchor="ctr">
                    <a:solidFill>
                      <a:srgbClr val="0053EB"/>
                    </a:solidFill>
                  </a:tcPr>
                </a:tc>
                <a:tc>
                  <a:txBody>
                    <a:bodyPr lIns="85725" tIns="57150" rIns="85725" bIns="57150">
                      <a:noAutofit/>
                    </a:bodyPr>
                    <a:lstStyle/>
                    <a:p>
                      <a:pPr algn="l">
                        <a:buNone/>
                      </a:pPr>
                      <a:r>
                        <a:rPr sz="1725" b="1">
                          <a:solidFill>
                            <a:srgbClr val="FFFFFF"/>
                          </a:solidFill>
                          <a:latin typeface="JetBrains Mono"/>
                          <a:ea typeface="JetBrains Mono"/>
                          <a:cs typeface="JetBrains Mono"/>
                        </a:rPr>
                        <a:t>Pergunta de diagnóstico</a:t>
                      </a:r>
                    </a:p>
                  </a:txBody>
                  <a:tcPr marL="91440" marR="91440" marT="45720" marB="45720" anchor="ctr">
                    <a:solidFill>
                      <a:srgbClr val="0053EB"/>
                    </a:solidFill>
                  </a:tcPr>
                </a:tc>
              </a:tr>
              <a:tr h="643890">
                <a:tc>
                  <a:txBody>
                    <a:bodyPr lIns="85725" tIns="57150" rIns="85725" bIns="57150">
                      <a:noAutofit/>
                    </a:bodyPr>
                    <a:lstStyle/>
                    <a:p>
                      <a:pPr algn="l">
                        <a:buNone/>
                      </a:pPr>
                      <a:r>
                        <a:rPr sz="1725" b="0">
                          <a:solidFill>
                            <a:srgbClr val="FFFFFF"/>
                          </a:solidFill>
                          <a:latin typeface="JetBrains Mono"/>
                          <a:ea typeface="JetBrains Mono"/>
                          <a:cs typeface="JetBrains Mono"/>
                        </a:rPr>
                        <a:t>Equação adotada</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Ela representa os processos relevantes e suas escalas?</a:t>
                      </a:r>
                    </a:p>
                  </a:txBody>
                  <a:tcPr marL="91440" marR="91440" marT="45720" marB="45720" anchor="ctr">
                    <a:solidFill>
                      <a:srgbClr val="000F29"/>
                    </a:solidFill>
                  </a:tcPr>
                </a:tc>
              </a:tr>
              <a:tr h="643890">
                <a:tc>
                  <a:txBody>
                    <a:bodyPr lIns="85725" tIns="57150" rIns="85725" bIns="57150">
                      <a:noAutofit/>
                    </a:bodyPr>
                    <a:lstStyle/>
                    <a:p>
                      <a:pPr algn="l">
                        <a:buNone/>
                      </a:pPr>
                      <a:r>
                        <a:rPr sz="1725" b="0">
                          <a:solidFill>
                            <a:srgbClr val="FFFFFF"/>
                          </a:solidFill>
                          <a:latin typeface="JetBrains Mono"/>
                          <a:ea typeface="JetBrains Mono"/>
                          <a:cs typeface="JetBrains Mono"/>
                        </a:rPr>
                        <a:t>Perdas e gradientes</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Uma parcela domina o treinamento das outras?</a:t>
                      </a:r>
                    </a:p>
                  </a:txBody>
                  <a:tcPr marL="91440" marR="91440" marT="45720" marB="45720" anchor="ctr">
                    <a:solidFill>
                      <a:srgbClr val="000F29"/>
                    </a:solidFill>
                  </a:tcPr>
                </a:tc>
              </a:tr>
              <a:tr h="643890">
                <a:tc>
                  <a:txBody>
                    <a:bodyPr lIns="85725" tIns="57150" rIns="85725" bIns="57150">
                      <a:noAutofit/>
                    </a:bodyPr>
                    <a:lstStyle/>
                    <a:p>
                      <a:pPr algn="l">
                        <a:buNone/>
                      </a:pPr>
                      <a:r>
                        <a:rPr sz="1725" b="0">
                          <a:solidFill>
                            <a:srgbClr val="FFFFFF"/>
                          </a:solidFill>
                          <a:latin typeface="JetBrains Mono"/>
                          <a:ea typeface="JetBrains Mono"/>
                          <a:cs typeface="JetBrains Mono"/>
                        </a:rPr>
                        <a:t>Observações e condições</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Os dados e contornos são suficientes e coerentes?</a:t>
                      </a:r>
                    </a:p>
                  </a:txBody>
                  <a:tcPr marL="91440" marR="91440" marT="45720" marB="45720" anchor="ctr">
                    <a:solidFill>
                      <a:srgbClr val="000F29"/>
                    </a:solidFill>
                  </a:tcPr>
                </a:tc>
              </a:tr>
              <a:tr h="643890">
                <a:tc>
                  <a:txBody>
                    <a:bodyPr lIns="85725" tIns="57150" rIns="85725" bIns="57150">
                      <a:noAutofit/>
                    </a:bodyPr>
                    <a:lstStyle/>
                    <a:p>
                      <a:pPr algn="l">
                        <a:buNone/>
                      </a:pPr>
                      <a:r>
                        <a:rPr sz="1725" b="0">
                          <a:solidFill>
                            <a:srgbClr val="FFFFFF"/>
                          </a:solidFill>
                          <a:latin typeface="JetBrains Mono"/>
                          <a:ea typeface="JetBrains Mono"/>
                          <a:cs typeface="JetBrains Mono"/>
                        </a:rPr>
                        <a:t>Avaliação externa</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A solução funciona fora dos pontos de colocação?</a:t>
                      </a:r>
                    </a:p>
                  </a:txBody>
                  <a:tcPr marL="91440" marR="91440" marT="45720" marB="45720" anchor="ctr">
                    <a:solidFill>
                      <a:srgbClr val="000F29"/>
                    </a:solidFill>
                  </a:tcPr>
                </a:tc>
              </a:tr>
            </a:tbl>
          </a:graphicData>
        </a:graphic>
      </p:graphicFrame>
      <p:sp>
        <p:nvSpPr>
          <p:cNvPr id="41004" name="Por que uma PINN pode falhar">
            <a:extLst xmlns:a="http://schemas.openxmlformats.org/drawingml/2006/main">
              <a:ext uri="{FF2B5EF4-FFF2-40B4-BE49-F238E27FC236}">
                <a16:creationId xmlns:a16="http://schemas.microsoft.com/office/drawing/2014/main" id="{EBD76980-3979-578E-9989-D195B390B8A2}"/>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Por que uma PINN pode falhar</a:t>
            </a:r>
          </a:p>
        </p:txBody>
      </p:sp>
      <p:pic>
        <p:nvPicPr>
          <p:cNvPr id="41005" name="Imagem 13"/>
          <p:cNvPicPr>
            <a:picLocks xmlns:a="http://schemas.openxmlformats.org/drawingml/2006/main" noChangeAspect="1"/>
          </p:cNvPicPr>
          <p:nvPr/>
        </p:nvPicPr>
        <p:blipFill>
          <a:blip xmlns:r="http://schemas.openxmlformats.org/officeDocument/2006/relationships" xmlns:a="http://schemas.openxmlformats.org/drawingml/2006/main" r:embed="R11a0500db6884d18"/>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41006" name="Hydro-UAI Redes informadas pela física">
            <a:extLst xmlns:a="http://schemas.openxmlformats.org/drawingml/2006/main">
              <a:ext uri="{FF2B5EF4-FFF2-40B4-BE49-F238E27FC236}">
                <a16:creationId xmlns:a16="http://schemas.microsoft.com/office/drawing/2014/main" id="{B5400AFE-86DB-547F-AE62-11ADF7BA2340}"/>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informadas pela física</a:t>
            </a:r>
          </a:p>
        </p:txBody>
      </p:sp>
      <p:sp>
        <p:nvSpPr>
          <p:cNvPr id="41007" name="Divisor Hydro-UAI">
            <a:extLst xmlns:a="http://schemas.openxmlformats.org/drawingml/2006/main">
              <a:ext uri="{FF2B5EF4-FFF2-40B4-BE49-F238E27FC236}">
                <a16:creationId xmlns:a16="http://schemas.microsoft.com/office/drawing/2014/main" id="{7E3EC1B1-5BEA-5DBD-A8AA-6AAF3B81CFD0}"/>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41008" name="Hydro-UAI Hydro-UAI Course">
            <a:extLst xmlns:a="http://schemas.openxmlformats.org/drawingml/2006/main">
              <a:ext uri="{FF2B5EF4-FFF2-40B4-BE49-F238E27FC236}">
                <a16:creationId xmlns:a16="http://schemas.microsoft.com/office/drawing/2014/main" id="{9B5465FE-5F31-50BA-90A6-8506C17F66EC}"/>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41009" name="Hydro-UAI 41 / 62">
            <a:extLst xmlns:a="http://schemas.openxmlformats.org/drawingml/2006/main">
              <a:ext uri="{FF2B5EF4-FFF2-40B4-BE49-F238E27FC236}">
                <a16:creationId xmlns:a16="http://schemas.microsoft.com/office/drawing/2014/main" id="{AE091C66-8394-599F-8F14-B32FBF1B6647}"/>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47 / 68</a:t>
            </a:r>
          </a:p>
        </p:txBody>
      </p:sp>
    </p:spTree>
    <p:extLst>
      <p:ext uri="{BB962C8B-B14F-4D97-AF65-F5344CB8AC3E}">
        <p14:creationId xmlns:p14="http://schemas.microsoft.com/office/powerpoint/2010/main" val="3991283715"/>
      </p:ext>
    </p:extLst>
  </p:cSld>
</p:sld>
</file>

<file path=ppt/slides/slide42.xml><?xml version="1.0" encoding="utf-8"?>
<p:sld xmlns:p="http://schemas.openxmlformats.org/presentationml/2006/main">
  <p:cSld>
    <p:spTree>
      <p:nvGrpSpPr>
        <p:cNvPr id="42001" name=""/>
        <p:cNvGrpSpPr/>
        <p:nvPr/>
      </p:nvGrpSpPr>
      <p:grpSpPr>
        <a:xfrm xmlns:a="http://schemas.openxmlformats.org/drawingml/2006/main"/>
      </p:grpSpPr>
      <p:sp>
        <p:nvSpPr>
          <p:cNvPr id="42002" name="Retângulo 6">
            <a:extLst xmlns:a="http://schemas.openxmlformats.org/drawingml/2006/main">
              <a:ext uri="{FF2B5EF4-FFF2-40B4-BE49-F238E27FC236}">
                <a16:creationId xmlns:a16="http://schemas.microsoft.com/office/drawing/2014/main" id="{B0F02BDC-8DD5-57C6-9E84-D6164A3EEF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003" name="O fiscal do balanço hídrico">
            <a:extLst xmlns:a="http://schemas.openxmlformats.org/drawingml/2006/main">
              <a:ext uri="{FF2B5EF4-FFF2-40B4-BE49-F238E27FC236}">
                <a16:creationId xmlns:a16="http://schemas.microsoft.com/office/drawing/2014/main" id="{9B8FB8DB-2A6A-54D7-8A25-67014E929B5A}"/>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O fiscal do balanço hídrico</a:t>
            </a:r>
          </a:p>
        </p:txBody>
      </p:sp>
      <p:sp>
        <p:nvSpPr>
          <p:cNvPr id="42004" name="Rede: “Sobrou água&#10;e ninguém sabe de">
            <a:extLst xmlns:a="http://schemas.openxmlformats.org/drawingml/2006/main">
              <a:ext uri="{FF2B5EF4-FFF2-40B4-BE49-F238E27FC236}">
                <a16:creationId xmlns:a16="http://schemas.microsoft.com/office/drawing/2014/main" id="{5526BB3B-B86F-5DCA-A38D-093F1191C9FF}"/>
              </a:ext>
            </a:extLst>
          </p:cNvPr>
          <p:cNvSpPr>
            <a:spLocks xmlns:a="http://schemas.openxmlformats.org/drawingml/2006/main" noGrp="1"/>
          </p:cNvSpPr>
          <p:nvPr/>
        </p:nvSpPr>
        <p:spPr>
          <a:xfrm xmlns:a="http://schemas.openxmlformats.org/drawingml/2006/main">
            <a:off x="457200" y="2647950"/>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83DFFF"/>
                </a:solidFill>
                <a:latin typeface="JetBrains Mono"/>
                <a:ea typeface="JetBrains Mono"/>
                <a:cs typeface="JetBrains Mono"/>
              </a:defRPr>
            </a:pPr>
            <a:r>
              <a:rPr sz="2175" b="1">
                <a:solidFill>
                  <a:srgbClr val="83DFFF"/>
                </a:solidFill>
                <a:latin typeface="JetBrains Mono"/>
                <a:ea typeface="JetBrains Mono"/>
                <a:cs typeface="JetBrains Mono"/>
              </a:rPr>
              <a:t>Rede: “Sobrou água</a:t>
            </a:r>
          </a:p>
          <a:p xmlns:a="http://schemas.openxmlformats.org/drawingml/2006/main">
            <a:pPr algn="l">
              <a:buNone/>
              <a:defRPr sz="2175" b="1">
                <a:solidFill>
                  <a:srgbClr val="83DFFF"/>
                </a:solidFill>
                <a:latin typeface="JetBrains Mono"/>
                <a:ea typeface="JetBrains Mono"/>
                <a:cs typeface="JetBrains Mono"/>
              </a:defRPr>
            </a:pPr>
            <a:r>
              <a:rPr sz="2175" b="1">
                <a:solidFill>
                  <a:srgbClr val="83DFFF"/>
                </a:solidFill>
                <a:latin typeface="JetBrains Mono"/>
                <a:ea typeface="JetBrains Mono"/>
                <a:cs typeface="JetBrains Mono"/>
              </a:rPr>
              <a:t>e ninguém sabe de onde.”</a:t>
            </a:r>
          </a:p>
        </p:txBody>
      </p:sp>
      <p:sp>
        <p:nvSpPr>
          <p:cNvPr id="42005" name="Balanço hídrico:&#10;“Vamos conferir iss">
            <a:extLst xmlns:a="http://schemas.openxmlformats.org/drawingml/2006/main">
              <a:ext uri="{FF2B5EF4-FFF2-40B4-BE49-F238E27FC236}">
                <a16:creationId xmlns:a16="http://schemas.microsoft.com/office/drawing/2014/main" id="{88E520F0-93AD-5904-AB6D-27E558C7F5C3}"/>
              </a:ext>
            </a:extLst>
          </p:cNvPr>
          <p:cNvSpPr>
            <a:spLocks xmlns:a="http://schemas.openxmlformats.org/drawingml/2006/main" noGrp="1"/>
          </p:cNvSpPr>
          <p:nvPr/>
        </p:nvSpPr>
        <p:spPr>
          <a:xfrm xmlns:a="http://schemas.openxmlformats.org/drawingml/2006/main">
            <a:off x="457200" y="3933825"/>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FFAD62"/>
                </a:solidFill>
                <a:latin typeface="JetBrains Mono"/>
                <a:ea typeface="JetBrains Mono"/>
                <a:cs typeface="JetBrains Mono"/>
              </a:defRPr>
            </a:pPr>
            <a:r>
              <a:rPr sz="2475" b="1">
                <a:solidFill>
                  <a:srgbClr val="FFAD62"/>
                </a:solidFill>
                <a:latin typeface="JetBrains Mono"/>
                <a:ea typeface="JetBrains Mono"/>
                <a:cs typeface="JetBrains Mono"/>
              </a:rPr>
              <a:t>Balanço hídrico:</a:t>
            </a:r>
          </a:p>
          <a:p xmlns:a="http://schemas.openxmlformats.org/drawingml/2006/main">
            <a:pPr algn="l">
              <a:buNone/>
              <a:defRPr sz="2475" b="1">
                <a:solidFill>
                  <a:srgbClr val="FFAD62"/>
                </a:solidFill>
                <a:latin typeface="JetBrains Mono"/>
                <a:ea typeface="JetBrains Mono"/>
                <a:cs typeface="JetBrains Mono"/>
              </a:defRPr>
            </a:pPr>
            <a:r>
              <a:rPr sz="2475" b="1">
                <a:solidFill>
                  <a:srgbClr val="FFAD62"/>
                </a:solidFill>
                <a:latin typeface="JetBrains Mono"/>
                <a:ea typeface="JetBrains Mono"/>
                <a:cs typeface="JetBrains Mono"/>
              </a:rPr>
              <a:t>“Vamos conferir isso.”</a:t>
            </a:r>
          </a:p>
        </p:txBody>
      </p:sp>
      <p:sp>
        <p:nvSpPr>
          <p:cNvPr id="42006" name="O resíduo mede a inconsistência com ">
            <a:extLst xmlns:a="http://schemas.openxmlformats.org/drawingml/2006/main">
              <a:ext uri="{FF2B5EF4-FFF2-40B4-BE49-F238E27FC236}">
                <a16:creationId xmlns:a16="http://schemas.microsoft.com/office/drawing/2014/main" id="{D8DC2E4B-AACB-560F-8E86-A3190E501629}"/>
              </a:ext>
            </a:extLst>
          </p:cNvPr>
          <p:cNvSpPr>
            <a:spLocks xmlns:a="http://schemas.openxmlformats.org/drawingml/2006/main" noGrp="1"/>
          </p:cNvSpPr>
          <p:nvPr/>
        </p:nvSpPr>
        <p:spPr>
          <a:xfrm xmlns:a="http://schemas.openxmlformats.org/drawingml/2006/main">
            <a:off x="457200" y="5219700"/>
            <a:ext cx="676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FFFFFF"/>
                </a:solidFill>
                <a:latin typeface="JetBrains Mono"/>
                <a:ea typeface="JetBrains Mono"/>
                <a:cs typeface="JetBrains Mono"/>
              </a:defRPr>
            </a:pPr>
            <a:r>
              <a:rPr sz="1650" b="0">
                <a:solidFill>
                  <a:srgbClr val="FFFFFF"/>
                </a:solidFill>
                <a:latin typeface="JetBrains Mono"/>
                <a:ea typeface="JetBrains Mono"/>
                <a:cs typeface="JetBrains Mono"/>
              </a:rPr>
              <a:t>O resíduo mede a inconsistência com a equação escolhida.</a:t>
            </a:r>
          </a:p>
        </p:txBody>
      </p:sp>
      <p:pic>
        <p:nvPicPr>
          <p:cNvPr id="42007" name="Imagem 13"/>
          <p:cNvPicPr>
            <a:picLocks xmlns:a="http://schemas.openxmlformats.org/drawingml/2006/main" noChangeAspect="1"/>
          </p:cNvPicPr>
          <p:nvPr/>
        </p:nvPicPr>
        <p:blipFill>
          <a:blip xmlns:r="http://schemas.openxmlformats.org/officeDocument/2006/relationships" xmlns:a="http://schemas.openxmlformats.org/drawingml/2006/main" r:embed="R2106faeaa7d5463e"/>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pic>
        <p:nvPicPr>
          <p:cNvPr id="42008" name=""/>
          <p:cNvPicPr>
            <a:picLocks xmlns:a="http://schemas.openxmlformats.org/drawingml/2006/main" noChangeAspect="1"/>
          </p:cNvPicPr>
          <p:nvPr/>
        </p:nvPicPr>
        <p:blipFill>
          <a:blip xmlns:r="http://schemas.openxmlformats.org/officeDocument/2006/relationships" xmlns:a="http://schemas.openxmlformats.org/drawingml/2006/main" r:embed="Ra00ca9bd9a8e40f3"/>
          <a:stretch xmlns:a="http://schemas.openxmlformats.org/drawingml/2006/main"/>
        </p:blipFill>
        <p:spPr>
          <a:xfrm xmlns:a="http://schemas.openxmlformats.org/drawingml/2006/main">
            <a:off x="7886700" y="2381250"/>
            <a:ext cx="3543300" cy="3543300"/>
          </a:xfrm>
          <a:prstGeom xmlns:a="http://schemas.openxmlformats.org/drawingml/2006/main" prst="rect">
            <a:avLst/>
          </a:prstGeom>
        </p:spPr>
      </p:pic>
      <p:sp>
        <p:nvSpPr>
          <p:cNvPr id="42009" name="Hydro-UAI Redes informadas pela física">
            <a:extLst xmlns:a="http://schemas.openxmlformats.org/drawingml/2006/main">
              <a:ext uri="{FF2B5EF4-FFF2-40B4-BE49-F238E27FC236}">
                <a16:creationId xmlns:a16="http://schemas.microsoft.com/office/drawing/2014/main" id="{C3FDA160-ED16-5401-BA59-12430801CA30}"/>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informadas pela física</a:t>
            </a:r>
          </a:p>
        </p:txBody>
      </p:sp>
      <p:sp>
        <p:nvSpPr>
          <p:cNvPr id="42010" name="Divisor Hydro-UAI">
            <a:extLst xmlns:a="http://schemas.openxmlformats.org/drawingml/2006/main">
              <a:ext uri="{FF2B5EF4-FFF2-40B4-BE49-F238E27FC236}">
                <a16:creationId xmlns:a16="http://schemas.microsoft.com/office/drawing/2014/main" id="{3B2E0A0A-6026-5FEF-A49B-BC6270E074DF}"/>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42011" name="Hydro-UAI Hydro-UAI Course">
            <a:extLst xmlns:a="http://schemas.openxmlformats.org/drawingml/2006/main">
              <a:ext uri="{FF2B5EF4-FFF2-40B4-BE49-F238E27FC236}">
                <a16:creationId xmlns:a16="http://schemas.microsoft.com/office/drawing/2014/main" id="{3B5903D2-C98A-59F0-A40F-B969085BC8A7}"/>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42012" name="Hydro-UAI 42 / 62">
            <a:extLst xmlns:a="http://schemas.openxmlformats.org/drawingml/2006/main">
              <a:ext uri="{FF2B5EF4-FFF2-40B4-BE49-F238E27FC236}">
                <a16:creationId xmlns:a16="http://schemas.microsoft.com/office/drawing/2014/main" id="{8FFE08DE-1786-5B36-95BA-344FA694E7C9}"/>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48 / 68</a:t>
            </a:r>
          </a:p>
        </p:txBody>
      </p:sp>
    </p:spTree>
    <p:extLst>
      <p:ext uri="{BB962C8B-B14F-4D97-AF65-F5344CB8AC3E}">
        <p14:creationId xmlns:p14="http://schemas.microsoft.com/office/powerpoint/2010/main" val="3991283715"/>
      </p:ext>
    </p:extLst>
  </p:cSld>
</p:sld>
</file>

<file path=ppt/slides/slide43.xml><?xml version="1.0" encoding="utf-8"?>
<p:sld xmlns:p="http://schemas.openxmlformats.org/presentationml/2006/main">
  <p:cSld>
    <p:spTree>
      <p:nvGrpSpPr>
        <p:cNvPr id="43001" name=""/>
        <p:cNvGrpSpPr/>
        <p:nvPr/>
      </p:nvGrpSpPr>
      <p:grpSpPr>
        <a:xfrm xmlns:a="http://schemas.openxmlformats.org/drawingml/2006/main"/>
      </p:grpSpPr>
      <p:sp>
        <p:nvSpPr>
          <p:cNvPr id="43002" name="Retângulo 6">
            <a:extLst xmlns:a="http://schemas.openxmlformats.org/drawingml/2006/main">
              <a:ext uri="{FF2B5EF4-FFF2-40B4-BE49-F238E27FC236}">
                <a16:creationId xmlns:a16="http://schemas.microsoft.com/office/drawing/2014/main" id="{46DB17A2-B053-55BB-B2A1-3178DA6E26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003" name="Atividade: resíduo de um reservatóri">
            <a:extLst xmlns:a="http://schemas.openxmlformats.org/drawingml/2006/main">
              <a:ext uri="{FF2B5EF4-FFF2-40B4-BE49-F238E27FC236}">
                <a16:creationId xmlns:a16="http://schemas.microsoft.com/office/drawing/2014/main" id="{599EE376-365A-56AF-99A0-5E9C599A7D2F}"/>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Atividade: resíduo de um reservatório</a:t>
            </a:r>
          </a:p>
        </p:txBody>
      </p:sp>
      <p:sp>
        <p:nvSpPr>
          <p:cNvPr id="43004" name="S = 60 mm    k = 0,1/dia&#10;P = 9 mm/di">
            <a:extLst xmlns:a="http://schemas.openxmlformats.org/drawingml/2006/main">
              <a:ext uri="{FF2B5EF4-FFF2-40B4-BE49-F238E27FC236}">
                <a16:creationId xmlns:a16="http://schemas.microsoft.com/office/drawing/2014/main" id="{B376C96F-B3F2-599A-817A-EF7EA3FF47B8}"/>
              </a:ext>
            </a:extLst>
          </p:cNvPr>
          <p:cNvSpPr>
            <a:spLocks xmlns:a="http://schemas.openxmlformats.org/drawingml/2006/main" noGrp="1"/>
          </p:cNvSpPr>
          <p:nvPr/>
        </p:nvSpPr>
        <p:spPr>
          <a:xfrm xmlns:a="http://schemas.openxmlformats.org/drawingml/2006/main">
            <a:off x="457200" y="2638425"/>
            <a:ext cx="112776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83DFFF"/>
                </a:solidFill>
                <a:latin typeface="JetBrains Mono"/>
                <a:ea typeface="JetBrains Mono"/>
                <a:cs typeface="JetBrains Mono"/>
              </a:defRPr>
            </a:pPr>
            <a:r>
              <a:rPr sz="2100" b="1">
                <a:solidFill>
                  <a:srgbClr val="83DFFF"/>
                </a:solidFill>
                <a:latin typeface="JetBrains Mono"/>
                <a:ea typeface="JetBrains Mono"/>
                <a:cs typeface="JetBrains Mono"/>
              </a:rPr>
              <a:t>S = 60 mm    k = 0,1/dia</a:t>
            </a:r>
          </a:p>
          <a:p xmlns:a="http://schemas.openxmlformats.org/drawingml/2006/main">
            <a:pPr algn="l">
              <a:buNone/>
              <a:defRPr sz="2100" b="1">
                <a:solidFill>
                  <a:srgbClr val="83DFFF"/>
                </a:solidFill>
                <a:latin typeface="JetBrains Mono"/>
                <a:ea typeface="JetBrains Mono"/>
                <a:cs typeface="JetBrains Mono"/>
              </a:defRPr>
            </a:pPr>
            <a:r>
              <a:rPr sz="2100" b="1">
                <a:solidFill>
                  <a:srgbClr val="83DFFF"/>
                </a:solidFill>
                <a:latin typeface="JetBrains Mono"/>
                <a:ea typeface="JetBrains Mono"/>
                <a:cs typeface="JetBrains Mono"/>
              </a:rPr>
              <a:t>P = 9 mm/dia    ET = 1 mm/dia</a:t>
            </a:r>
          </a:p>
          <a:p xmlns:a="http://schemas.openxmlformats.org/drawingml/2006/main">
            <a:pPr algn="l">
              <a:buNone/>
              <a:defRPr sz="2100" b="1">
                <a:solidFill>
                  <a:srgbClr val="83DFFF"/>
                </a:solidFill>
                <a:latin typeface="JetBrains Mono"/>
                <a:ea typeface="JetBrains Mono"/>
                <a:cs typeface="JetBrains Mono"/>
              </a:defRPr>
            </a:pPr>
            <a:r>
              <a:rPr sz="2100" b="1">
                <a:solidFill>
                  <a:srgbClr val="83DFFF"/>
                </a:solidFill>
                <a:latin typeface="JetBrains Mono"/>
                <a:ea typeface="JetBrains Mono"/>
                <a:cs typeface="JetBrains Mono"/>
              </a:rPr>
              <a:t>dSθ/dt = 3 mm/dia</a:t>
            </a:r>
          </a:p>
        </p:txBody>
      </p:sp>
      <p:sp>
        <p:nvSpPr>
          <p:cNvPr id="43005" name="1. Calcule q = kS.&#10;2. Calcule a taxa">
            <a:extLst xmlns:a="http://schemas.openxmlformats.org/drawingml/2006/main">
              <a:ext uri="{FF2B5EF4-FFF2-40B4-BE49-F238E27FC236}">
                <a16:creationId xmlns:a16="http://schemas.microsoft.com/office/drawing/2014/main" id="{930070F2-68BD-57A5-B699-0DA304DE74D5}"/>
              </a:ext>
            </a:extLst>
          </p:cNvPr>
          <p:cNvSpPr>
            <a:spLocks xmlns:a="http://schemas.openxmlformats.org/drawingml/2006/main" noGrp="1"/>
          </p:cNvSpPr>
          <p:nvPr/>
        </p:nvSpPr>
        <p:spPr>
          <a:xfrm xmlns:a="http://schemas.openxmlformats.org/drawingml/2006/main">
            <a:off x="457200" y="4276725"/>
            <a:ext cx="112776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1. Calcule q = kS.</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2. Calcule a taxa exigida pelo balanço.</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3. Calcule r = dSθ/dt - (P - ET - q).</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4. Que informações ainda faltam para validar o modelo?</a:t>
            </a:r>
          </a:p>
        </p:txBody>
      </p:sp>
      <p:pic>
        <p:nvPicPr>
          <p:cNvPr id="43006" name="Imagem 13"/>
          <p:cNvPicPr>
            <a:picLocks xmlns:a="http://schemas.openxmlformats.org/drawingml/2006/main" noChangeAspect="1"/>
          </p:cNvPicPr>
          <p:nvPr/>
        </p:nvPicPr>
        <p:blipFill>
          <a:blip xmlns:r="http://schemas.openxmlformats.org/officeDocument/2006/relationships" xmlns:a="http://schemas.openxmlformats.org/drawingml/2006/main" r:embed="R148a81d568264ccc"/>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43007" name="Hydro-UAI Redes informadas pela física">
            <a:extLst xmlns:a="http://schemas.openxmlformats.org/drawingml/2006/main">
              <a:ext uri="{FF2B5EF4-FFF2-40B4-BE49-F238E27FC236}">
                <a16:creationId xmlns:a16="http://schemas.microsoft.com/office/drawing/2014/main" id="{D0933D7E-F9A6-57A2-8FB5-E2A4255D4654}"/>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informadas pela física</a:t>
            </a:r>
          </a:p>
        </p:txBody>
      </p:sp>
      <p:sp>
        <p:nvSpPr>
          <p:cNvPr id="43008" name="Divisor Hydro-UAI">
            <a:extLst xmlns:a="http://schemas.openxmlformats.org/drawingml/2006/main">
              <a:ext uri="{FF2B5EF4-FFF2-40B4-BE49-F238E27FC236}">
                <a16:creationId xmlns:a16="http://schemas.microsoft.com/office/drawing/2014/main" id="{FE0D0204-76A8-54C9-B8B7-ED6AAFFA2F84}"/>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43009" name="Hydro-UAI Hydro-UAI Course">
            <a:extLst xmlns:a="http://schemas.openxmlformats.org/drawingml/2006/main">
              <a:ext uri="{FF2B5EF4-FFF2-40B4-BE49-F238E27FC236}">
                <a16:creationId xmlns:a16="http://schemas.microsoft.com/office/drawing/2014/main" id="{858CE787-631B-5025-AD86-1D6DF69ACA13}"/>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43010" name="Hydro-UAI 43 / 62">
            <a:extLst xmlns:a="http://schemas.openxmlformats.org/drawingml/2006/main">
              <a:ext uri="{FF2B5EF4-FFF2-40B4-BE49-F238E27FC236}">
                <a16:creationId xmlns:a16="http://schemas.microsoft.com/office/drawing/2014/main" id="{8038D981-8FEB-53DD-8C87-CB802D90CA81}"/>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49 / 68</a:t>
            </a:r>
          </a:p>
        </p:txBody>
      </p:sp>
    </p:spTree>
    <p:extLst>
      <p:ext uri="{BB962C8B-B14F-4D97-AF65-F5344CB8AC3E}">
        <p14:creationId xmlns:p14="http://schemas.microsoft.com/office/powerpoint/2010/main" val="3991283715"/>
      </p:ext>
    </p:extLst>
  </p:cSld>
</p:sld>
</file>

<file path=ppt/slides/slide44.xml><?xml version="1.0" encoding="utf-8"?>
<p:sld xmlns:p="http://schemas.openxmlformats.org/presentationml/2006/main">
  <p:cSld>
    <p:spTree>
      <p:nvGrpSpPr>
        <p:cNvPr id="44001" name=""/>
        <p:cNvGrpSpPr/>
        <p:nvPr/>
      </p:nvGrpSpPr>
      <p:grpSpPr>
        <a:xfrm xmlns:a="http://schemas.openxmlformats.org/drawingml/2006/main"/>
      </p:grpSpPr>
      <p:sp>
        <p:nvSpPr>
          <p:cNvPr id="44002" name="Retângulo 6">
            <a:extLst xmlns:a="http://schemas.openxmlformats.org/drawingml/2006/main">
              <a:ext uri="{FF2B5EF4-FFF2-40B4-BE49-F238E27FC236}">
                <a16:creationId xmlns:a16="http://schemas.microsoft.com/office/drawing/2014/main" id="{6203EDB1-E1A2-524F-A13F-21FC6A5419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003" name="LLM: tokens, contexto e geração de l">
            <a:extLst xmlns:a="http://schemas.openxmlformats.org/drawingml/2006/main">
              <a:ext uri="{FF2B5EF4-FFF2-40B4-BE49-F238E27FC236}">
                <a16:creationId xmlns:a16="http://schemas.microsoft.com/office/drawing/2014/main" id="{9109526E-30E6-55C9-B67B-B464109AA99F}"/>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LLM: tokens, contexto e geração de linguagem</a:t>
            </a:r>
          </a:p>
        </p:txBody>
      </p:sp>
      <p:sp>
        <p:nvSpPr>
          <p:cNvPr id="44004" name="Texto e&#10;instruções">
            <a:extLst xmlns:a="http://schemas.openxmlformats.org/drawingml/2006/main">
              <a:ext uri="{FF2B5EF4-FFF2-40B4-BE49-F238E27FC236}">
                <a16:creationId xmlns:a16="http://schemas.microsoft.com/office/drawing/2014/main" id="{80034629-F08E-52EA-98DD-75C306ECD44E}"/>
              </a:ext>
            </a:extLst>
          </p:cNvPr>
          <p:cNvSpPr>
            <a:spLocks xmlns:a="http://schemas.openxmlformats.org/drawingml/2006/main" noGrp="1"/>
          </p:cNvSpPr>
          <p:nvPr/>
        </p:nvSpPr>
        <p:spPr>
          <a:xfrm xmlns:a="http://schemas.openxmlformats.org/drawingml/2006/main">
            <a:off x="457200" y="2981325"/>
            <a:ext cx="2457450" cy="99060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Texto e</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instruções</a:t>
            </a:r>
          </a:p>
        </p:txBody>
      </p:sp>
      <p:sp>
        <p:nvSpPr>
          <p:cNvPr id="44005" name="Tokens e&#10;representações">
            <a:extLst xmlns:a="http://schemas.openxmlformats.org/drawingml/2006/main">
              <a:ext uri="{FF2B5EF4-FFF2-40B4-BE49-F238E27FC236}">
                <a16:creationId xmlns:a16="http://schemas.microsoft.com/office/drawing/2014/main" id="{FC0F19A9-1843-5D08-949A-1ABF860274ED}"/>
              </a:ext>
            </a:extLst>
          </p:cNvPr>
          <p:cNvSpPr>
            <a:spLocks xmlns:a="http://schemas.openxmlformats.org/drawingml/2006/main" noGrp="1"/>
          </p:cNvSpPr>
          <p:nvPr/>
        </p:nvSpPr>
        <p:spPr>
          <a:xfrm xmlns:a="http://schemas.openxmlformats.org/drawingml/2006/main">
            <a:off x="3524250" y="2981325"/>
            <a:ext cx="2457450" cy="99060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Tokens e</a:t>
            </a:r>
          </a:p>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representações</a:t>
            </a:r>
          </a:p>
        </p:txBody>
      </p:sp>
      <p:sp>
        <p:nvSpPr>
          <p:cNvPr id="44006" name="Atenção ao&#10;contexto">
            <a:extLst xmlns:a="http://schemas.openxmlformats.org/drawingml/2006/main">
              <a:ext uri="{FF2B5EF4-FFF2-40B4-BE49-F238E27FC236}">
                <a16:creationId xmlns:a16="http://schemas.microsoft.com/office/drawing/2014/main" id="{703C1044-1FAF-5E67-8994-CBE65BBEDCC9}"/>
              </a:ext>
            </a:extLst>
          </p:cNvPr>
          <p:cNvSpPr>
            <a:spLocks xmlns:a="http://schemas.openxmlformats.org/drawingml/2006/main" noGrp="1"/>
          </p:cNvSpPr>
          <p:nvPr/>
        </p:nvSpPr>
        <p:spPr>
          <a:xfrm xmlns:a="http://schemas.openxmlformats.org/drawingml/2006/main">
            <a:off x="6572250" y="2981325"/>
            <a:ext cx="2457450" cy="990600"/>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Atenção ao</a:t>
            </a:r>
          </a:p>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contexto</a:t>
            </a:r>
          </a:p>
        </p:txBody>
      </p:sp>
      <p:sp>
        <p:nvSpPr>
          <p:cNvPr id="44007" name="Tokens&#10;gerados">
            <a:extLst xmlns:a="http://schemas.openxmlformats.org/drawingml/2006/main">
              <a:ext uri="{FF2B5EF4-FFF2-40B4-BE49-F238E27FC236}">
                <a16:creationId xmlns:a16="http://schemas.microsoft.com/office/drawing/2014/main" id="{72DD5B93-2CE9-5639-9970-7B87832F3237}"/>
              </a:ext>
            </a:extLst>
          </p:cNvPr>
          <p:cNvSpPr>
            <a:spLocks xmlns:a="http://schemas.openxmlformats.org/drawingml/2006/main" noGrp="1"/>
          </p:cNvSpPr>
          <p:nvPr/>
        </p:nvSpPr>
        <p:spPr>
          <a:xfrm xmlns:a="http://schemas.openxmlformats.org/drawingml/2006/main">
            <a:off x="9620250" y="2981325"/>
            <a:ext cx="2114550" cy="990600"/>
          </a:xfrm>
          <a:prstGeom xmlns:a="http://schemas.openxmlformats.org/drawingml/2006/main" prst="rect">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Tokens</a:t>
            </a:r>
          </a:p>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gerados</a:t>
            </a:r>
          </a:p>
        </p:txBody>
      </p:sp>
      <p:cxnSp>
        <p:nvCxnSpPr>
          <p:cNvPr id="44008" name=""/>
          <p:cNvCxnSpPr>
            <a:stCxn xmlns:a="http://schemas.openxmlformats.org/drawingml/2006/main" id="44004" idx="3"/>
            <a:endCxn xmlns:a="http://schemas.openxmlformats.org/drawingml/2006/main" id="44005" idx="1"/>
          </p:cNvCxnSpPr>
          <p:nvPr/>
        </p:nvCxnSpPr>
        <p:spPr>
          <a:xfrm xmlns:a="http://schemas.openxmlformats.org/drawingml/2006/main">
            <a:off x="2914650" y="3476625"/>
            <a:ext cx="609600"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44009" name=""/>
          <p:cNvCxnSpPr>
            <a:stCxn xmlns:a="http://schemas.openxmlformats.org/drawingml/2006/main" id="44005" idx="3"/>
            <a:endCxn xmlns:a="http://schemas.openxmlformats.org/drawingml/2006/main" id="44006" idx="1"/>
          </p:cNvCxnSpPr>
          <p:nvPr/>
        </p:nvCxnSpPr>
        <p:spPr>
          <a:xfrm xmlns:a="http://schemas.openxmlformats.org/drawingml/2006/main">
            <a:off x="5981700" y="3476625"/>
            <a:ext cx="590550"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44010" name=""/>
          <p:cNvCxnSpPr>
            <a:stCxn xmlns:a="http://schemas.openxmlformats.org/drawingml/2006/main" id="44006" idx="3"/>
            <a:endCxn xmlns:a="http://schemas.openxmlformats.org/drawingml/2006/main" id="44007" idx="1"/>
          </p:cNvCxnSpPr>
          <p:nvPr/>
        </p:nvCxnSpPr>
        <p:spPr>
          <a:xfrm xmlns:a="http://schemas.openxmlformats.org/drawingml/2006/main">
            <a:off x="9029700" y="3476625"/>
            <a:ext cx="590550" cy="0"/>
          </a:xfrm>
          <a:prstGeom xmlns:a="http://schemas.openxmlformats.org/drawingml/2006/main" prst="straightConnector1">
            <a:avLst/>
          </a:prstGeom>
          <a:ln xmlns:a="http://schemas.openxmlformats.org/drawingml/2006/main" w="19050">
            <a:solidFill>
              <a:srgbClr val="71E7BD"/>
            </a:solidFill>
            <a:tailEnd type="triangle" w="sm" len="sm"/>
          </a:ln>
        </p:spPr>
      </p:cxnSp>
      <p:sp>
        <p:nvSpPr>
          <p:cNvPr id="44011" name="A geração usa probabilidades condici">
            <a:extLst xmlns:a="http://schemas.openxmlformats.org/drawingml/2006/main">
              <a:ext uri="{FF2B5EF4-FFF2-40B4-BE49-F238E27FC236}">
                <a16:creationId xmlns:a16="http://schemas.microsoft.com/office/drawing/2014/main" id="{2139F10C-4A44-5446-9FC3-2F8F5A9D8C5C}"/>
              </a:ext>
            </a:extLst>
          </p:cNvPr>
          <p:cNvSpPr>
            <a:spLocks xmlns:a="http://schemas.openxmlformats.org/drawingml/2006/main" noGrp="1"/>
          </p:cNvSpPr>
          <p:nvPr/>
        </p:nvSpPr>
        <p:spPr>
          <a:xfrm xmlns:a="http://schemas.openxmlformats.org/drawingml/2006/main">
            <a:off x="457200" y="4714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A geração usa probabilidades condicionadas ao contexto disponível.</a:t>
            </a:r>
          </a:p>
        </p:txBody>
      </p:sp>
      <p:pic>
        <p:nvPicPr>
          <p:cNvPr id="44012" name="Imagem 13"/>
          <p:cNvPicPr>
            <a:picLocks xmlns:a="http://schemas.openxmlformats.org/drawingml/2006/main" noChangeAspect="1"/>
          </p:cNvPicPr>
          <p:nvPr/>
        </p:nvPicPr>
        <p:blipFill>
          <a:blip xmlns:r="http://schemas.openxmlformats.org/officeDocument/2006/relationships" xmlns:a="http://schemas.openxmlformats.org/drawingml/2006/main" r:embed="Re8c4788f73a946fc"/>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44013" name="Hydro-UAI Modelos de linguagem">
            <a:extLst xmlns:a="http://schemas.openxmlformats.org/drawingml/2006/main">
              <a:ext uri="{FF2B5EF4-FFF2-40B4-BE49-F238E27FC236}">
                <a16:creationId xmlns:a16="http://schemas.microsoft.com/office/drawing/2014/main" id="{0A05E6B8-2719-5099-843C-492F9ACAD695}"/>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Modelos de linguagem</a:t>
            </a:r>
          </a:p>
        </p:txBody>
      </p:sp>
      <p:sp>
        <p:nvSpPr>
          <p:cNvPr id="44014" name="Divisor Hydro-UAI">
            <a:extLst xmlns:a="http://schemas.openxmlformats.org/drawingml/2006/main">
              <a:ext uri="{FF2B5EF4-FFF2-40B4-BE49-F238E27FC236}">
                <a16:creationId xmlns:a16="http://schemas.microsoft.com/office/drawing/2014/main" id="{106F2119-F4E8-5E8D-9C1F-7A72D19A70A6}"/>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44015" name="Hydro-UAI Hydro-UAI Course">
            <a:extLst xmlns:a="http://schemas.openxmlformats.org/drawingml/2006/main">
              <a:ext uri="{FF2B5EF4-FFF2-40B4-BE49-F238E27FC236}">
                <a16:creationId xmlns:a16="http://schemas.microsoft.com/office/drawing/2014/main" id="{D2DB45A0-315F-5188-9C7A-DAC7A2BA9AC0}"/>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44016" name="Hydro-UAI 44 / 62">
            <a:extLst xmlns:a="http://schemas.openxmlformats.org/drawingml/2006/main">
              <a:ext uri="{FF2B5EF4-FFF2-40B4-BE49-F238E27FC236}">
                <a16:creationId xmlns:a16="http://schemas.microsoft.com/office/drawing/2014/main" id="{4F9A98F6-0A7A-59F6-8D53-5C951CA35979}"/>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50 / 68</a:t>
            </a:r>
          </a:p>
        </p:txBody>
      </p:sp>
    </p:spTree>
    <p:extLst>
      <p:ext uri="{BB962C8B-B14F-4D97-AF65-F5344CB8AC3E}">
        <p14:creationId xmlns:p14="http://schemas.microsoft.com/office/powerpoint/2010/main" val="3991283715"/>
      </p:ext>
    </p:extLst>
  </p:cSld>
</p:sld>
</file>

<file path=ppt/slides/slide45.xml><?xml version="1.0" encoding="utf-8"?>
<p:sld xmlns:p="http://schemas.openxmlformats.org/presentationml/2006/main">
  <p:cSld>
    <p:spTree>
      <p:nvGrpSpPr>
        <p:cNvPr id="45001" name=""/>
        <p:cNvGrpSpPr/>
        <p:nvPr/>
      </p:nvGrpSpPr>
      <p:grpSpPr>
        <a:xfrm xmlns:a="http://schemas.openxmlformats.org/drawingml/2006/main"/>
      </p:grpSpPr>
      <p:sp>
        <p:nvSpPr>
          <p:cNvPr id="45002" name="Retângulo 6">
            <a:extLst xmlns:a="http://schemas.openxmlformats.org/drawingml/2006/main">
              <a:ext uri="{FF2B5EF4-FFF2-40B4-BE49-F238E27FC236}">
                <a16:creationId xmlns:a16="http://schemas.microsoft.com/office/drawing/2014/main" id="{604180DD-7D9D-50CE-84AC-CD0D0F91CC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45003" name=""/>
          <p:cNvGraphicFramePr/>
          <p:nvPr/>
        </p:nvGraphicFramePr>
        <p:xfrm>
          <a:off xmlns:a="http://schemas.openxmlformats.org/drawingml/2006/main" x="457200" y="2609850"/>
          <a:ext xmlns:a="http://schemas.openxmlformats.org/drawingml/2006/main" cx="11277600" cy="3238500"/>
        </p:xfrm>
        <a:graphic xmlns:a="http://schemas.openxmlformats.org/drawingml/2006/main">
          <a:graphicData uri="http://schemas.openxmlformats.org/drawingml/2006/table">
            <a:tbl>
              <a:tblPr/>
              <a:tblGrid>
                <a:gridCol w="2914650"/>
                <a:gridCol w="4210050"/>
                <a:gridCol w="4152900"/>
              </a:tblGrid>
              <a:tr h="647700">
                <a:tc>
                  <a:txBody>
                    <a:bodyPr lIns="85725" tIns="57150" rIns="85725" bIns="57150">
                      <a:noAutofit/>
                    </a:bodyPr>
                    <a:lstStyle/>
                    <a:p>
                      <a:pPr algn="l">
                        <a:buNone/>
                      </a:pPr>
                      <a:r>
                        <a:rPr sz="1575" b="1">
                          <a:solidFill>
                            <a:srgbClr val="FFFFFF"/>
                          </a:solidFill>
                          <a:latin typeface="JetBrains Mono"/>
                          <a:ea typeface="JetBrains Mono"/>
                          <a:cs typeface="JetBrains Mono"/>
                        </a:rPr>
                        <a:t>Tarefa</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Papel do LLM</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Resultado verificável</a:t>
                      </a:r>
                    </a:p>
                  </a:txBody>
                  <a:tcPr marL="91440" marR="91440" marT="45720" marB="45720" anchor="ctr">
                    <a:solidFill>
                      <a:srgbClr val="0053EB"/>
                    </a:solidFill>
                  </a:tcPr>
                </a:tc>
              </a:tr>
              <a:tr h="647700">
                <a:tc>
                  <a:txBody>
                    <a:bodyPr lIns="85725" tIns="57150" rIns="85725" bIns="57150">
                      <a:noAutofit/>
                    </a:bodyPr>
                    <a:lstStyle/>
                    <a:p>
                      <a:pPr algn="l">
                        <a:buNone/>
                      </a:pPr>
                      <a:r>
                        <a:rPr sz="1575" b="0">
                          <a:solidFill>
                            <a:srgbClr val="FFFFFF"/>
                          </a:solidFill>
                          <a:latin typeface="JetBrains Mono"/>
                          <a:ea typeface="JetBrains Mono"/>
                          <a:cs typeface="JetBrains Mono"/>
                        </a:rPr>
                        <a:t>Consulta técnica</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Busca e síntese de documentos.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Resposta com fontes e versão.</a:t>
                      </a:r>
                    </a:p>
                  </a:txBody>
                  <a:tcPr marL="91440" marR="91440" marT="45720" marB="45720" anchor="ctr">
                    <a:solidFill>
                      <a:srgbClr val="000F29"/>
                    </a:solidFill>
                  </a:tcPr>
                </a:tc>
              </a:tr>
              <a:tr h="647700">
                <a:tc>
                  <a:txBody>
                    <a:bodyPr lIns="85725" tIns="57150" rIns="85725" bIns="57150">
                      <a:noAutofit/>
                    </a:bodyPr>
                    <a:lstStyle/>
                    <a:p>
                      <a:pPr algn="l">
                        <a:buNone/>
                      </a:pPr>
                      <a:r>
                        <a:rPr sz="1575" b="0">
                          <a:solidFill>
                            <a:srgbClr val="FFFFFF"/>
                          </a:solidFill>
                          <a:latin typeface="JetBrains Mono"/>
                          <a:ea typeface="JetBrains Mono"/>
                          <a:cs typeface="JetBrains Mono"/>
                        </a:rPr>
                        <a:t>Preparação de dados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Apoio à escrita de código e checagens.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Tabelas, unidades e logs.</a:t>
                      </a:r>
                    </a:p>
                  </a:txBody>
                  <a:tcPr marL="91440" marR="91440" marT="45720" marB="45720" anchor="ctr">
                    <a:solidFill>
                      <a:srgbClr val="000F29"/>
                    </a:solidFill>
                  </a:tcPr>
                </a:tc>
              </a:tr>
              <a:tr h="647700">
                <a:tc>
                  <a:txBody>
                    <a:bodyPr lIns="85725" tIns="57150" rIns="85725" bIns="57150">
                      <a:noAutofit/>
                    </a:bodyPr>
                    <a:lstStyle/>
                    <a:p>
                      <a:pPr algn="l">
                        <a:buNone/>
                      </a:pPr>
                      <a:r>
                        <a:rPr sz="1575" b="0">
                          <a:solidFill>
                            <a:srgbClr val="FFFFFF"/>
                          </a:solidFill>
                          <a:latin typeface="JetBrains Mono"/>
                          <a:ea typeface="JetBrains Mono"/>
                          <a:cs typeface="JetBrains Mono"/>
                        </a:rPr>
                        <a:t>Modelagem</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Uso de ferramentas para configurar e avaliar.</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Simulação e métricas reproduzíveis.</a:t>
                      </a:r>
                    </a:p>
                  </a:txBody>
                  <a:tcPr marL="91440" marR="91440" marT="45720" marB="45720" anchor="ctr">
                    <a:solidFill>
                      <a:srgbClr val="000F29"/>
                    </a:solidFill>
                  </a:tcPr>
                </a:tc>
              </a:tr>
              <a:tr h="647700">
                <a:tc>
                  <a:txBody>
                    <a:bodyPr lIns="85725" tIns="57150" rIns="85725" bIns="57150">
                      <a:noAutofit/>
                    </a:bodyPr>
                    <a:lstStyle/>
                    <a:p>
                      <a:pPr algn="l">
                        <a:buNone/>
                      </a:pPr>
                      <a:r>
                        <a:rPr sz="1575" b="0">
                          <a:solidFill>
                            <a:srgbClr val="FFFFFF"/>
                          </a:solidFill>
                          <a:latin typeface="JetBrains Mono"/>
                          <a:ea typeface="JetBrains Mono"/>
                          <a:cs typeface="JetBrains Mono"/>
                        </a:rPr>
                        <a:t>Comunicação</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Síntese de resultados numéricos.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Boletim ligado aos dados usados.</a:t>
                      </a:r>
                    </a:p>
                  </a:txBody>
                  <a:tcPr marL="91440" marR="91440" marT="45720" marB="45720" anchor="ctr">
                    <a:solidFill>
                      <a:srgbClr val="000F29"/>
                    </a:solidFill>
                  </a:tcPr>
                </a:tc>
              </a:tr>
            </a:tbl>
          </a:graphicData>
        </a:graphic>
      </p:graphicFrame>
      <p:sp>
        <p:nvSpPr>
          <p:cNvPr id="45004" name="Aplicações de LLM ao trabalho hidrol">
            <a:extLst xmlns:a="http://schemas.openxmlformats.org/drawingml/2006/main">
              <a:ext uri="{FF2B5EF4-FFF2-40B4-BE49-F238E27FC236}">
                <a16:creationId xmlns:a16="http://schemas.microsoft.com/office/drawing/2014/main" id="{D1CA8A0A-EBED-5964-B972-83915273784F}"/>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Aplicações de LLM ao trabalho hidrológico</a:t>
            </a:r>
          </a:p>
        </p:txBody>
      </p:sp>
      <p:pic>
        <p:nvPicPr>
          <p:cNvPr id="45005" name="Imagem 13"/>
          <p:cNvPicPr>
            <a:picLocks xmlns:a="http://schemas.openxmlformats.org/drawingml/2006/main" noChangeAspect="1"/>
          </p:cNvPicPr>
          <p:nvPr/>
        </p:nvPicPr>
        <p:blipFill>
          <a:blip xmlns:r="http://schemas.openxmlformats.org/officeDocument/2006/relationships" xmlns:a="http://schemas.openxmlformats.org/drawingml/2006/main" r:embed="Rd5572bc201de43f0"/>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45006" name="Hydro-UAI Modelos de linguagem">
            <a:extLst xmlns:a="http://schemas.openxmlformats.org/drawingml/2006/main">
              <a:ext uri="{FF2B5EF4-FFF2-40B4-BE49-F238E27FC236}">
                <a16:creationId xmlns:a16="http://schemas.microsoft.com/office/drawing/2014/main" id="{0AB2B919-85DD-5443-9297-F81B54D66FF9}"/>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Modelos de linguagem</a:t>
            </a:r>
          </a:p>
        </p:txBody>
      </p:sp>
      <p:sp>
        <p:nvSpPr>
          <p:cNvPr id="45007" name="Divisor Hydro-UAI">
            <a:extLst xmlns:a="http://schemas.openxmlformats.org/drawingml/2006/main">
              <a:ext uri="{FF2B5EF4-FFF2-40B4-BE49-F238E27FC236}">
                <a16:creationId xmlns:a16="http://schemas.microsoft.com/office/drawing/2014/main" id="{19C385E9-87FA-5331-8B56-B59F568FD50F}"/>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45008" name="Hydro-UAI Hydro-UAI Course">
            <a:extLst xmlns:a="http://schemas.openxmlformats.org/drawingml/2006/main">
              <a:ext uri="{FF2B5EF4-FFF2-40B4-BE49-F238E27FC236}">
                <a16:creationId xmlns:a16="http://schemas.microsoft.com/office/drawing/2014/main" id="{7F36E0BC-A631-5D31-807D-6F05FAA12FA6}"/>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45009" name="Hydro-UAI 45 / 62">
            <a:extLst xmlns:a="http://schemas.openxmlformats.org/drawingml/2006/main">
              <a:ext uri="{FF2B5EF4-FFF2-40B4-BE49-F238E27FC236}">
                <a16:creationId xmlns:a16="http://schemas.microsoft.com/office/drawing/2014/main" id="{320EC98A-BE42-54AB-8D27-DCF9F421E64E}"/>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51 / 68</a:t>
            </a:r>
          </a:p>
        </p:txBody>
      </p:sp>
    </p:spTree>
    <p:extLst>
      <p:ext uri="{BB962C8B-B14F-4D97-AF65-F5344CB8AC3E}">
        <p14:creationId xmlns:p14="http://schemas.microsoft.com/office/powerpoint/2010/main" val="3991283715"/>
      </p:ext>
    </p:extLst>
  </p:cSld>
</p:sld>
</file>

<file path=ppt/slides/slide46.xml><?xml version="1.0" encoding="utf-8"?>
<p:sld xmlns:p="http://schemas.openxmlformats.org/presentationml/2006/main">
  <p:cSld>
    <p:spTree>
      <p:nvGrpSpPr>
        <p:cNvPr id="46001" name=""/>
        <p:cNvGrpSpPr/>
        <p:nvPr/>
      </p:nvGrpSpPr>
      <p:grpSpPr>
        <a:xfrm xmlns:a="http://schemas.openxmlformats.org/drawingml/2006/main"/>
      </p:grpSpPr>
      <p:sp>
        <p:nvSpPr>
          <p:cNvPr id="46002" name="Retângulo 6">
            <a:extLst xmlns:a="http://schemas.openxmlformats.org/drawingml/2006/main">
              <a:ext uri="{FF2B5EF4-FFF2-40B4-BE49-F238E27FC236}">
                <a16:creationId xmlns:a16="http://schemas.microsoft.com/office/drawing/2014/main" id="{F5DD7D76-6A70-5208-A105-E5B3BB689C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46003" name=""/>
          <p:cNvGraphicFramePr/>
          <p:nvPr/>
        </p:nvGraphicFramePr>
        <p:xfrm>
          <a:off xmlns:a="http://schemas.openxmlformats.org/drawingml/2006/main" x="457200" y="2781300"/>
          <a:ext xmlns:a="http://schemas.openxmlformats.org/drawingml/2006/main" cx="11277600" cy="2657475"/>
        </p:xfrm>
        <a:graphic xmlns:a="http://schemas.openxmlformats.org/drawingml/2006/main">
          <a:graphicData uri="http://schemas.openxmlformats.org/drawingml/2006/table">
            <a:tbl>
              <a:tblPr/>
              <a:tblGrid>
                <a:gridCol w="3171825"/>
                <a:gridCol w="3895725"/>
                <a:gridCol w="4210050"/>
              </a:tblGrid>
              <a:tr h="664369">
                <a:tc>
                  <a:txBody>
                    <a:bodyPr lIns="85725" tIns="57150" rIns="85725" bIns="57150">
                      <a:noAutofit/>
                    </a:bodyPr>
                    <a:lstStyle/>
                    <a:p>
                      <a:pPr algn="l">
                        <a:buNone/>
                      </a:pPr>
                      <a:r>
                        <a:rPr sz="1650" b="1">
                          <a:solidFill>
                            <a:srgbClr val="FFFFFF"/>
                          </a:solidFill>
                          <a:latin typeface="JetBrains Mono"/>
                          <a:ea typeface="JetBrains Mono"/>
                          <a:cs typeface="JetBrains Mono"/>
                        </a:rPr>
                        <a:t>Configuração</a:t>
                      </a:r>
                    </a:p>
                  </a:txBody>
                  <a:tcPr marL="91440" marR="91440" marT="45720" marB="45720" anchor="ctr">
                    <a:solidFill>
                      <a:srgbClr val="0053EB"/>
                    </a:solidFill>
                  </a:tcPr>
                </a:tc>
                <a:tc>
                  <a:txBody>
                    <a:bodyPr lIns="85725" tIns="57150" rIns="85725" bIns="57150">
                      <a:noAutofit/>
                    </a:bodyPr>
                    <a:lstStyle/>
                    <a:p>
                      <a:pPr algn="l">
                        <a:buNone/>
                      </a:pPr>
                      <a:r>
                        <a:rPr sz="1650" b="1">
                          <a:solidFill>
                            <a:srgbClr val="FFFFFF"/>
                          </a:solidFill>
                          <a:latin typeface="JetBrains Mono"/>
                          <a:ea typeface="JetBrains Mono"/>
                          <a:cs typeface="JetBrains Mono"/>
                        </a:rPr>
                        <a:t>Contexto adicional</a:t>
                      </a:r>
                    </a:p>
                  </a:txBody>
                  <a:tcPr marL="91440" marR="91440" marT="45720" marB="45720" anchor="ctr">
                    <a:solidFill>
                      <a:srgbClr val="0053EB"/>
                    </a:solidFill>
                  </a:tcPr>
                </a:tc>
                <a:tc>
                  <a:txBody>
                    <a:bodyPr lIns="85725" tIns="57150" rIns="85725" bIns="57150">
                      <a:noAutofit/>
                    </a:bodyPr>
                    <a:lstStyle/>
                    <a:p>
                      <a:pPr algn="l">
                        <a:buNone/>
                      </a:pPr>
                      <a:r>
                        <a:rPr sz="1650" b="1">
                          <a:solidFill>
                            <a:srgbClr val="FFFFFF"/>
                          </a:solidFill>
                          <a:latin typeface="JetBrains Mono"/>
                          <a:ea typeface="JetBrains Mono"/>
                          <a:cs typeface="JetBrains Mono"/>
                        </a:rPr>
                        <a:t>Exemplo</a:t>
                      </a:r>
                    </a:p>
                  </a:txBody>
                  <a:tcPr marL="91440" marR="91440" marT="45720" marB="45720" anchor="ctr">
                    <a:solidFill>
                      <a:srgbClr val="0053EB"/>
                    </a:solidFill>
                  </a:tcPr>
                </a:tc>
              </a:tr>
              <a:tr h="664369">
                <a:tc>
                  <a:txBody>
                    <a:bodyPr lIns="85725" tIns="57150" rIns="85725" bIns="57150">
                      <a:noAutofit/>
                    </a:bodyPr>
                    <a:lstStyle/>
                    <a:p>
                      <a:pPr algn="l">
                        <a:buNone/>
                      </a:pPr>
                      <a:r>
                        <a:rPr sz="1650" b="0">
                          <a:solidFill>
                            <a:srgbClr val="FFFFFF"/>
                          </a:solidFill>
                          <a:latin typeface="JetBrains Mono"/>
                          <a:ea typeface="JetBrains Mono"/>
                          <a:cs typeface="JetBrains Mono"/>
                        </a:rPr>
                        <a:t>Prompt</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Instruções e dados enviados.</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Resumir um resultado fornecido.</a:t>
                      </a:r>
                    </a:p>
                  </a:txBody>
                  <a:tcPr marL="91440" marR="91440" marT="45720" marB="45720" anchor="ctr">
                    <a:solidFill>
                      <a:srgbClr val="000F29"/>
                    </a:solidFill>
                  </a:tcPr>
                </a:tc>
              </a:tr>
              <a:tr h="664369">
                <a:tc>
                  <a:txBody>
                    <a:bodyPr lIns="85725" tIns="57150" rIns="85725" bIns="57150">
                      <a:noAutofit/>
                    </a:bodyPr>
                    <a:lstStyle/>
                    <a:p>
                      <a:pPr algn="l">
                        <a:buNone/>
                      </a:pPr>
                      <a:r>
                        <a:rPr sz="1650" b="0">
                          <a:solidFill>
                            <a:srgbClr val="FFFFFF"/>
                          </a:solidFill>
                          <a:latin typeface="JetBrains Mono"/>
                          <a:ea typeface="JetBrains Mono"/>
                          <a:cs typeface="JetBrains Mono"/>
                        </a:rPr>
                        <a:t>RAG</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Trechos recuperados de documentos.</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Consultar um manual de estação.</a:t>
                      </a:r>
                    </a:p>
                  </a:txBody>
                  <a:tcPr marL="91440" marR="91440" marT="45720" marB="45720" anchor="ctr">
                    <a:solidFill>
                      <a:srgbClr val="000F29"/>
                    </a:solidFill>
                  </a:tcPr>
                </a:tc>
              </a:tr>
              <a:tr h="664369">
                <a:tc>
                  <a:txBody>
                    <a:bodyPr lIns="85725" tIns="57150" rIns="85725" bIns="57150">
                      <a:noAutofit/>
                    </a:bodyPr>
                    <a:lstStyle/>
                    <a:p>
                      <a:pPr algn="l">
                        <a:buNone/>
                      </a:pPr>
                      <a:r>
                        <a:rPr sz="1650" b="0">
                          <a:solidFill>
                            <a:srgbClr val="FFFFFF"/>
                          </a:solidFill>
                          <a:latin typeface="JetBrains Mono"/>
                          <a:ea typeface="JetBrains Mono"/>
                          <a:cs typeface="JetBrains Mono"/>
                        </a:rPr>
                        <a:t>Agente com ferramentas</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Resultados de chamadas e execução.</a:t>
                      </a:r>
                    </a:p>
                  </a:txBody>
                  <a:tcPr marL="91440" marR="91440" marT="45720" marB="45720" anchor="ctr">
                    <a:solidFill>
                      <a:srgbClr val="000F29"/>
                    </a:solidFill>
                  </a:tcPr>
                </a:tc>
                <a:tc>
                  <a:txBody>
                    <a:bodyPr lIns="85725" tIns="57150" rIns="85725" bIns="57150">
                      <a:noAutofit/>
                    </a:bodyPr>
                    <a:lstStyle/>
                    <a:p>
                      <a:pPr algn="l">
                        <a:buNone/>
                      </a:pPr>
                      <a:r>
                        <a:rPr sz="1650" b="0">
                          <a:solidFill>
                            <a:srgbClr val="FFFFFF"/>
                          </a:solidFill>
                          <a:latin typeface="JetBrains Mono"/>
                          <a:ea typeface="JetBrains Mono"/>
                          <a:cs typeface="JetBrains Mono"/>
                        </a:rPr>
                        <a:t>Rodar um modelo e comparar métricas.</a:t>
                      </a:r>
                    </a:p>
                  </a:txBody>
                  <a:tcPr marL="91440" marR="91440" marT="45720" marB="45720" anchor="ctr">
                    <a:solidFill>
                      <a:srgbClr val="000F29"/>
                    </a:solidFill>
                  </a:tcPr>
                </a:tc>
              </a:tr>
            </a:tbl>
          </a:graphicData>
        </a:graphic>
      </p:graphicFrame>
      <p:sp>
        <p:nvSpPr>
          <p:cNvPr id="46004" name="Prompt, RAG e agente com ferramentas">
            <a:extLst xmlns:a="http://schemas.openxmlformats.org/drawingml/2006/main">
              <a:ext uri="{FF2B5EF4-FFF2-40B4-BE49-F238E27FC236}">
                <a16:creationId xmlns:a16="http://schemas.microsoft.com/office/drawing/2014/main" id="{E08F1907-1C48-5F20-A1CF-93FB2AB455D3}"/>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Prompt, RAG e agente com ferramentas</a:t>
            </a:r>
          </a:p>
        </p:txBody>
      </p:sp>
      <p:sp>
        <p:nvSpPr>
          <p:cNvPr id="46005" name="RAG e ferramentas podem compor o mes">
            <a:extLst xmlns:a="http://schemas.openxmlformats.org/drawingml/2006/main">
              <a:ext uri="{FF2B5EF4-FFF2-40B4-BE49-F238E27FC236}">
                <a16:creationId xmlns:a16="http://schemas.microsoft.com/office/drawing/2014/main" id="{2C402867-E436-5912-99B3-A6100EE3A682}"/>
              </a:ext>
            </a:extLst>
          </p:cNvPr>
          <p:cNvSpPr>
            <a:spLocks xmlns:a="http://schemas.openxmlformats.org/drawingml/2006/main" noGrp="1"/>
          </p:cNvSpPr>
          <p:nvPr/>
        </p:nvSpPr>
        <p:spPr>
          <a:xfrm xmlns:a="http://schemas.openxmlformats.org/drawingml/2006/main">
            <a:off x="457200" y="5505450"/>
            <a:ext cx="11277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3DFFF"/>
                </a:solidFill>
                <a:latin typeface="JetBrains Mono"/>
                <a:ea typeface="JetBrains Mono"/>
                <a:cs typeface="JetBrains Mono"/>
              </a:defRPr>
            </a:pPr>
            <a:r>
              <a:rPr sz="1875" b="1">
                <a:solidFill>
                  <a:srgbClr val="83DFFF"/>
                </a:solidFill>
                <a:latin typeface="JetBrains Mono"/>
                <a:ea typeface="JetBrains Mono"/>
                <a:cs typeface="JetBrains Mono"/>
              </a:rPr>
              <a:t>RAG e ferramentas podem compor o mesmo fluxo de trabalho.</a:t>
            </a:r>
          </a:p>
        </p:txBody>
      </p:sp>
      <p:pic>
        <p:nvPicPr>
          <p:cNvPr id="46006" name="Imagem 13"/>
          <p:cNvPicPr>
            <a:picLocks xmlns:a="http://schemas.openxmlformats.org/drawingml/2006/main" noChangeAspect="1"/>
          </p:cNvPicPr>
          <p:nvPr/>
        </p:nvPicPr>
        <p:blipFill>
          <a:blip xmlns:r="http://schemas.openxmlformats.org/officeDocument/2006/relationships" xmlns:a="http://schemas.openxmlformats.org/drawingml/2006/main" r:embed="R9893ef9ab3f04c8c"/>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46007" name="Hydro-UAI Modelos de linguagem">
            <a:extLst xmlns:a="http://schemas.openxmlformats.org/drawingml/2006/main">
              <a:ext uri="{FF2B5EF4-FFF2-40B4-BE49-F238E27FC236}">
                <a16:creationId xmlns:a16="http://schemas.microsoft.com/office/drawing/2014/main" id="{799B5313-149F-5536-AEF5-727B3434CD64}"/>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Modelos de linguagem</a:t>
            </a:r>
          </a:p>
        </p:txBody>
      </p:sp>
      <p:sp>
        <p:nvSpPr>
          <p:cNvPr id="46008" name="Divisor Hydro-UAI">
            <a:extLst xmlns:a="http://schemas.openxmlformats.org/drawingml/2006/main">
              <a:ext uri="{FF2B5EF4-FFF2-40B4-BE49-F238E27FC236}">
                <a16:creationId xmlns:a16="http://schemas.microsoft.com/office/drawing/2014/main" id="{022633AB-0E97-5CDE-A1C6-28A506E0B6CA}"/>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46009" name="Hydro-UAI Hydro-UAI Course">
            <a:extLst xmlns:a="http://schemas.openxmlformats.org/drawingml/2006/main">
              <a:ext uri="{FF2B5EF4-FFF2-40B4-BE49-F238E27FC236}">
                <a16:creationId xmlns:a16="http://schemas.microsoft.com/office/drawing/2014/main" id="{8EC69146-3AFF-5814-9BC8-00C36324146E}"/>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46010" name="Hydro-UAI 46 / 62">
            <a:extLst xmlns:a="http://schemas.openxmlformats.org/drawingml/2006/main">
              <a:ext uri="{FF2B5EF4-FFF2-40B4-BE49-F238E27FC236}">
                <a16:creationId xmlns:a16="http://schemas.microsoft.com/office/drawing/2014/main" id="{841A9EF1-D329-56E3-9A66-5FF8A77D1D32}"/>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52 / 68</a:t>
            </a:r>
          </a:p>
        </p:txBody>
      </p:sp>
    </p:spTree>
    <p:extLst>
      <p:ext uri="{BB962C8B-B14F-4D97-AF65-F5344CB8AC3E}">
        <p14:creationId xmlns:p14="http://schemas.microsoft.com/office/powerpoint/2010/main" val="3991283715"/>
      </p:ext>
    </p:extLst>
  </p:cSld>
</p:sld>
</file>

<file path=ppt/slides/slide47.xml><?xml version="1.0" encoding="utf-8"?>
<p:sld xmlns:p="http://schemas.openxmlformats.org/presentationml/2006/main">
  <p:cSld>
    <p:spTree>
      <p:nvGrpSpPr>
        <p:cNvPr id="47001" name=""/>
        <p:cNvGrpSpPr/>
        <p:nvPr/>
      </p:nvGrpSpPr>
      <p:grpSpPr>
        <a:xfrm xmlns:a="http://schemas.openxmlformats.org/drawingml/2006/main"/>
      </p:grpSpPr>
      <p:sp>
        <p:nvSpPr>
          <p:cNvPr id="47002" name="Retângulo 6">
            <a:extLst xmlns:a="http://schemas.openxmlformats.org/drawingml/2006/main">
              <a:ext uri="{FF2B5EF4-FFF2-40B4-BE49-F238E27FC236}">
                <a16:creationId xmlns:a16="http://schemas.microsoft.com/office/drawing/2014/main" id="{822AA466-33B5-58F7-9E2D-0B51B02192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003" name="RAG para consultar documentos hidrol">
            <a:extLst xmlns:a="http://schemas.openxmlformats.org/drawingml/2006/main">
              <a:ext uri="{FF2B5EF4-FFF2-40B4-BE49-F238E27FC236}">
                <a16:creationId xmlns:a16="http://schemas.microsoft.com/office/drawing/2014/main" id="{0DB4CFC1-D9B8-57E3-ADFF-C1AAF0A1733C}"/>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RAG para consultar documentos hidrológicos</a:t>
            </a:r>
          </a:p>
        </p:txBody>
      </p:sp>
      <p:sp>
        <p:nvSpPr>
          <p:cNvPr id="47004" name="Pergunta&#10;sobre a estação">
            <a:extLst xmlns:a="http://schemas.openxmlformats.org/drawingml/2006/main">
              <a:ext uri="{FF2B5EF4-FFF2-40B4-BE49-F238E27FC236}">
                <a16:creationId xmlns:a16="http://schemas.microsoft.com/office/drawing/2014/main" id="{882ED2A4-0E79-5792-8FE4-1AE69BC5D956}"/>
              </a:ext>
            </a:extLst>
          </p:cNvPr>
          <p:cNvSpPr>
            <a:spLocks xmlns:a="http://schemas.openxmlformats.org/drawingml/2006/main" noGrp="1"/>
          </p:cNvSpPr>
          <p:nvPr/>
        </p:nvSpPr>
        <p:spPr>
          <a:xfrm xmlns:a="http://schemas.openxmlformats.org/drawingml/2006/main">
            <a:off x="457200" y="2981325"/>
            <a:ext cx="2667000" cy="100965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Pergunta</a:t>
            </a:r>
          </a:p>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sobre a estação</a:t>
            </a:r>
          </a:p>
        </p:txBody>
      </p:sp>
      <p:sp>
        <p:nvSpPr>
          <p:cNvPr id="47005" name="Busca em&#10;manuais e metadados">
            <a:extLst xmlns:a="http://schemas.openxmlformats.org/drawingml/2006/main">
              <a:ext uri="{FF2B5EF4-FFF2-40B4-BE49-F238E27FC236}">
                <a16:creationId xmlns:a16="http://schemas.microsoft.com/office/drawing/2014/main" id="{756981A5-A67F-54DC-94B3-B2D3E384C38E}"/>
              </a:ext>
            </a:extLst>
          </p:cNvPr>
          <p:cNvSpPr>
            <a:spLocks xmlns:a="http://schemas.openxmlformats.org/drawingml/2006/main" noGrp="1"/>
          </p:cNvSpPr>
          <p:nvPr/>
        </p:nvSpPr>
        <p:spPr>
          <a:xfrm xmlns:a="http://schemas.openxmlformats.org/drawingml/2006/main">
            <a:off x="3933825" y="2981325"/>
            <a:ext cx="2857500" cy="1009650"/>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Busca em</a:t>
            </a:r>
          </a:p>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manuais e metadados</a:t>
            </a:r>
          </a:p>
        </p:txBody>
      </p:sp>
      <p:sp>
        <p:nvSpPr>
          <p:cNvPr id="47006" name="Resposta com&#10;fontes recuperadas">
            <a:extLst xmlns:a="http://schemas.openxmlformats.org/drawingml/2006/main">
              <a:ext uri="{FF2B5EF4-FFF2-40B4-BE49-F238E27FC236}">
                <a16:creationId xmlns:a16="http://schemas.microsoft.com/office/drawing/2014/main" id="{8EF0A3DF-A8CF-592B-A466-A0E988B18F85}"/>
              </a:ext>
            </a:extLst>
          </p:cNvPr>
          <p:cNvSpPr>
            <a:spLocks xmlns:a="http://schemas.openxmlformats.org/drawingml/2006/main" noGrp="1"/>
          </p:cNvSpPr>
          <p:nvPr/>
        </p:nvSpPr>
        <p:spPr>
          <a:xfrm xmlns:a="http://schemas.openxmlformats.org/drawingml/2006/main">
            <a:off x="7753350" y="2981325"/>
            <a:ext cx="3581400" cy="1009650"/>
          </a:xfrm>
          <a:prstGeom xmlns:a="http://schemas.openxmlformats.org/drawingml/2006/main" prst="rect">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Resposta com</a:t>
            </a:r>
          </a:p>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fontes recuperadas</a:t>
            </a:r>
          </a:p>
        </p:txBody>
      </p:sp>
      <p:cxnSp>
        <p:nvCxnSpPr>
          <p:cNvPr id="47007" name=""/>
          <p:cNvCxnSpPr>
            <a:stCxn xmlns:a="http://schemas.openxmlformats.org/drawingml/2006/main" id="47004" idx="3"/>
            <a:endCxn xmlns:a="http://schemas.openxmlformats.org/drawingml/2006/main" id="47005" idx="1"/>
          </p:cNvCxnSpPr>
          <p:nvPr/>
        </p:nvCxnSpPr>
        <p:spPr>
          <a:xfrm xmlns:a="http://schemas.openxmlformats.org/drawingml/2006/main">
            <a:off x="3124200" y="3486150"/>
            <a:ext cx="809625"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47008" name=""/>
          <p:cNvCxnSpPr>
            <a:stCxn xmlns:a="http://schemas.openxmlformats.org/drawingml/2006/main" id="47005" idx="3"/>
            <a:endCxn xmlns:a="http://schemas.openxmlformats.org/drawingml/2006/main" id="47006" idx="1"/>
          </p:cNvCxnSpPr>
          <p:nvPr/>
        </p:nvCxnSpPr>
        <p:spPr>
          <a:xfrm xmlns:a="http://schemas.openxmlformats.org/drawingml/2006/main">
            <a:off x="6791325" y="3486150"/>
            <a:ext cx="962025" cy="0"/>
          </a:xfrm>
          <a:prstGeom xmlns:a="http://schemas.openxmlformats.org/drawingml/2006/main" prst="straightConnector1">
            <a:avLst/>
          </a:prstGeom>
          <a:ln xmlns:a="http://schemas.openxmlformats.org/drawingml/2006/main" w="19050">
            <a:solidFill>
              <a:srgbClr val="71E7BD"/>
            </a:solidFill>
            <a:tailEnd type="triangle" w="sm" len="sm"/>
          </a:ln>
        </p:spPr>
      </p:cxnSp>
      <p:sp>
        <p:nvSpPr>
          <p:cNvPr id="47009" name="Exemplo: unidade, datum, falhas e mu">
            <a:extLst xmlns:a="http://schemas.openxmlformats.org/drawingml/2006/main">
              <a:ext uri="{FF2B5EF4-FFF2-40B4-BE49-F238E27FC236}">
                <a16:creationId xmlns:a16="http://schemas.microsoft.com/office/drawing/2014/main" id="{5210F2AC-8BAD-5A83-A6E0-3DB22896C51D}"/>
              </a:ext>
            </a:extLst>
          </p:cNvPr>
          <p:cNvSpPr>
            <a:spLocks xmlns:a="http://schemas.openxmlformats.org/drawingml/2006/main" noGrp="1"/>
          </p:cNvSpPr>
          <p:nvPr/>
        </p:nvSpPr>
        <p:spPr>
          <a:xfrm xmlns:a="http://schemas.openxmlformats.org/drawingml/2006/main">
            <a:off x="457200" y="4648200"/>
            <a:ext cx="112776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Exemplo: unidade, datum, falhas e mudanças de instrumentação.</a:t>
            </a:r>
          </a:p>
        </p:txBody>
      </p:sp>
      <p:sp>
        <p:nvSpPr>
          <p:cNvPr id="47010" name="O trecho precisa sustentar a afirmaç">
            <a:extLst xmlns:a="http://schemas.openxmlformats.org/drawingml/2006/main">
              <a:ext uri="{FF2B5EF4-FFF2-40B4-BE49-F238E27FC236}">
                <a16:creationId xmlns:a16="http://schemas.microsoft.com/office/drawing/2014/main" id="{1EE85DC1-BBAE-56ED-BCDB-B5785CA353CE}"/>
              </a:ext>
            </a:extLst>
          </p:cNvPr>
          <p:cNvSpPr>
            <a:spLocks xmlns:a="http://schemas.openxmlformats.org/drawingml/2006/main" noGrp="1"/>
          </p:cNvSpPr>
          <p:nvPr/>
        </p:nvSpPr>
        <p:spPr>
          <a:xfrm xmlns:a="http://schemas.openxmlformats.org/drawingml/2006/main">
            <a:off x="457200" y="55816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O trecho precisa sustentar a afirmação e pertencer à versão correta.</a:t>
            </a:r>
          </a:p>
        </p:txBody>
      </p:sp>
      <p:pic>
        <p:nvPicPr>
          <p:cNvPr id="47011" name="Imagem 13"/>
          <p:cNvPicPr>
            <a:picLocks xmlns:a="http://schemas.openxmlformats.org/drawingml/2006/main" noChangeAspect="1"/>
          </p:cNvPicPr>
          <p:nvPr/>
        </p:nvPicPr>
        <p:blipFill>
          <a:blip xmlns:r="http://schemas.openxmlformats.org/officeDocument/2006/relationships" xmlns:a="http://schemas.openxmlformats.org/drawingml/2006/main" r:embed="R6d3b48628eef4ed2"/>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47012" name="Hydro-UAI Modelos de linguagem">
            <a:extLst xmlns:a="http://schemas.openxmlformats.org/drawingml/2006/main">
              <a:ext uri="{FF2B5EF4-FFF2-40B4-BE49-F238E27FC236}">
                <a16:creationId xmlns:a16="http://schemas.microsoft.com/office/drawing/2014/main" id="{61C0BB3F-249C-53B4-B002-101CA4F47FDF}"/>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Modelos de linguagem</a:t>
            </a:r>
          </a:p>
        </p:txBody>
      </p:sp>
      <p:sp>
        <p:nvSpPr>
          <p:cNvPr id="47013" name="Divisor Hydro-UAI">
            <a:extLst xmlns:a="http://schemas.openxmlformats.org/drawingml/2006/main">
              <a:ext uri="{FF2B5EF4-FFF2-40B4-BE49-F238E27FC236}">
                <a16:creationId xmlns:a16="http://schemas.microsoft.com/office/drawing/2014/main" id="{1DD418AB-32E9-550C-A2D7-A7B8909D2092}"/>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47014" name="Hydro-UAI Hydro-UAI Course">
            <a:extLst xmlns:a="http://schemas.openxmlformats.org/drawingml/2006/main">
              <a:ext uri="{FF2B5EF4-FFF2-40B4-BE49-F238E27FC236}">
                <a16:creationId xmlns:a16="http://schemas.microsoft.com/office/drawing/2014/main" id="{D1EF45BD-711E-5B96-A91E-FB14B19B9A22}"/>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47015" name="Hydro-UAI 47 / 62">
            <a:extLst xmlns:a="http://schemas.openxmlformats.org/drawingml/2006/main">
              <a:ext uri="{FF2B5EF4-FFF2-40B4-BE49-F238E27FC236}">
                <a16:creationId xmlns:a16="http://schemas.microsoft.com/office/drawing/2014/main" id="{64965479-6E90-5919-9836-DEE86333EADF}"/>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53 / 68</a:t>
            </a:r>
          </a:p>
        </p:txBody>
      </p:sp>
    </p:spTree>
    <p:extLst>
      <p:ext uri="{BB962C8B-B14F-4D97-AF65-F5344CB8AC3E}">
        <p14:creationId xmlns:p14="http://schemas.microsoft.com/office/powerpoint/2010/main" val="3991283715"/>
      </p:ext>
    </p:extLst>
  </p:cSld>
</p:sld>
</file>

<file path=ppt/slides/slide48.xml><?xml version="1.0" encoding="utf-8"?>
<p:sld xmlns:p="http://schemas.openxmlformats.org/presentationml/2006/main">
  <p:cSld>
    <p:spTree>
      <p:nvGrpSpPr>
        <p:cNvPr id="48001" name=""/>
        <p:cNvGrpSpPr/>
        <p:nvPr/>
      </p:nvGrpSpPr>
      <p:grpSpPr>
        <a:xfrm xmlns:a="http://schemas.openxmlformats.org/drawingml/2006/main"/>
      </p:grpSpPr>
      <p:sp>
        <p:nvSpPr>
          <p:cNvPr id="48002" name="Retângulo 6">
            <a:extLst xmlns:a="http://schemas.openxmlformats.org/drawingml/2006/main">
              <a:ext uri="{FF2B5EF4-FFF2-40B4-BE49-F238E27FC236}">
                <a16:creationId xmlns:a16="http://schemas.microsoft.com/office/drawing/2014/main" id="{E4862FAD-02A8-5FE9-8215-AA120896375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003" name="Agente hidrológico: proposta, execuç">
            <a:extLst xmlns:a="http://schemas.openxmlformats.org/drawingml/2006/main">
              <a:ext uri="{FF2B5EF4-FFF2-40B4-BE49-F238E27FC236}">
                <a16:creationId xmlns:a16="http://schemas.microsoft.com/office/drawing/2014/main" id="{67D9FAB2-834D-55B6-9883-0B1D1AAD5C92}"/>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Agente hidrológico: proposta, execução e retorno</a:t>
            </a:r>
          </a:p>
        </p:txBody>
      </p:sp>
      <p:sp>
        <p:nvSpPr>
          <p:cNvPr id="48004" name="Objetivo&#10;em linguagem">
            <a:extLst xmlns:a="http://schemas.openxmlformats.org/drawingml/2006/main">
              <a:ext uri="{FF2B5EF4-FFF2-40B4-BE49-F238E27FC236}">
                <a16:creationId xmlns:a16="http://schemas.microsoft.com/office/drawing/2014/main" id="{AABCA3DB-E221-5106-A101-2655EBA7D466}"/>
              </a:ext>
            </a:extLst>
          </p:cNvPr>
          <p:cNvSpPr>
            <a:spLocks xmlns:a="http://schemas.openxmlformats.org/drawingml/2006/main" noGrp="1"/>
          </p:cNvSpPr>
          <p:nvPr/>
        </p:nvSpPr>
        <p:spPr>
          <a:xfrm xmlns:a="http://schemas.openxmlformats.org/drawingml/2006/main">
            <a:off x="457200" y="2771775"/>
            <a:ext cx="2609850" cy="87630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Objetivo</a:t>
            </a:r>
          </a:p>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em linguagem</a:t>
            </a:r>
          </a:p>
        </p:txBody>
      </p:sp>
      <p:sp>
        <p:nvSpPr>
          <p:cNvPr id="48005" name="LLM propõe&#10;uma chamada">
            <a:extLst xmlns:a="http://schemas.openxmlformats.org/drawingml/2006/main">
              <a:ext uri="{FF2B5EF4-FFF2-40B4-BE49-F238E27FC236}">
                <a16:creationId xmlns:a16="http://schemas.microsoft.com/office/drawing/2014/main" id="{1E7BCCAD-C94E-5092-B680-64FE145AD778}"/>
              </a:ext>
            </a:extLst>
          </p:cNvPr>
          <p:cNvSpPr>
            <a:spLocks xmlns:a="http://schemas.openxmlformats.org/drawingml/2006/main" noGrp="1"/>
          </p:cNvSpPr>
          <p:nvPr/>
        </p:nvSpPr>
        <p:spPr>
          <a:xfrm xmlns:a="http://schemas.openxmlformats.org/drawingml/2006/main">
            <a:off x="4324350" y="2771775"/>
            <a:ext cx="2609850" cy="876300"/>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LLM propõe</a:t>
            </a:r>
          </a:p>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uma chamada</a:t>
            </a:r>
          </a:p>
        </p:txBody>
      </p:sp>
      <p:sp>
        <p:nvSpPr>
          <p:cNvPr id="48006" name="Ferramenta&#10;executa">
            <a:extLst xmlns:a="http://schemas.openxmlformats.org/drawingml/2006/main">
              <a:ext uri="{FF2B5EF4-FFF2-40B4-BE49-F238E27FC236}">
                <a16:creationId xmlns:a16="http://schemas.microsoft.com/office/drawing/2014/main" id="{A9DE6103-525F-52B1-ABCA-95F869AB115A}"/>
              </a:ext>
            </a:extLst>
          </p:cNvPr>
          <p:cNvSpPr>
            <a:spLocks xmlns:a="http://schemas.openxmlformats.org/drawingml/2006/main" noGrp="1"/>
          </p:cNvSpPr>
          <p:nvPr/>
        </p:nvSpPr>
        <p:spPr>
          <a:xfrm xmlns:a="http://schemas.openxmlformats.org/drawingml/2006/main">
            <a:off x="8572500" y="2771775"/>
            <a:ext cx="2609850" cy="87630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Ferramenta</a:t>
            </a:r>
          </a:p>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executa</a:t>
            </a:r>
          </a:p>
        </p:txBody>
      </p:sp>
      <p:sp>
        <p:nvSpPr>
          <p:cNvPr id="48007" name="Resultado&#10;com métricas">
            <a:extLst xmlns:a="http://schemas.openxmlformats.org/drawingml/2006/main">
              <a:ext uri="{FF2B5EF4-FFF2-40B4-BE49-F238E27FC236}">
                <a16:creationId xmlns:a16="http://schemas.microsoft.com/office/drawing/2014/main" id="{92743B7B-6D4B-5DB8-A822-0D91518F5CB9}"/>
              </a:ext>
            </a:extLst>
          </p:cNvPr>
          <p:cNvSpPr>
            <a:spLocks xmlns:a="http://schemas.openxmlformats.org/drawingml/2006/main" noGrp="1"/>
          </p:cNvSpPr>
          <p:nvPr/>
        </p:nvSpPr>
        <p:spPr>
          <a:xfrm xmlns:a="http://schemas.openxmlformats.org/drawingml/2006/main">
            <a:off x="8572500" y="4752975"/>
            <a:ext cx="2609850" cy="876300"/>
          </a:xfrm>
          <a:prstGeom xmlns:a="http://schemas.openxmlformats.org/drawingml/2006/main" prst="rect">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Resultado</a:t>
            </a:r>
          </a:p>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com métricas</a:t>
            </a:r>
          </a:p>
        </p:txBody>
      </p:sp>
      <p:sp>
        <p:nvSpPr>
          <p:cNvPr id="48008" name="Verificação e&#10;próxima decisão">
            <a:extLst xmlns:a="http://schemas.openxmlformats.org/drawingml/2006/main">
              <a:ext uri="{FF2B5EF4-FFF2-40B4-BE49-F238E27FC236}">
                <a16:creationId xmlns:a16="http://schemas.microsoft.com/office/drawing/2014/main" id="{DAFBB55D-BC79-5E74-B6CC-92DC948CAADC}"/>
              </a:ext>
            </a:extLst>
          </p:cNvPr>
          <p:cNvSpPr>
            <a:spLocks xmlns:a="http://schemas.openxmlformats.org/drawingml/2006/main" noGrp="1"/>
          </p:cNvSpPr>
          <p:nvPr/>
        </p:nvSpPr>
        <p:spPr>
          <a:xfrm xmlns:a="http://schemas.openxmlformats.org/drawingml/2006/main">
            <a:off x="4324350" y="4752975"/>
            <a:ext cx="2609850" cy="876300"/>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Verificação e</a:t>
            </a:r>
          </a:p>
          <a:p xmlns:a="http://schemas.openxmlformats.org/drawingml/2006/main">
            <a:pPr algn="ctr">
              <a:buNone/>
              <a:defRPr sz="1725" b="1">
                <a:solidFill>
                  <a:srgbClr val="FFFFFF"/>
                </a:solidFill>
                <a:latin typeface="JetBrains Mono"/>
                <a:ea typeface="JetBrains Mono"/>
                <a:cs typeface="JetBrains Mono"/>
              </a:defRPr>
            </a:pPr>
            <a:r>
              <a:rPr sz="1725" b="1">
                <a:solidFill>
                  <a:srgbClr val="FFFFFF"/>
                </a:solidFill>
                <a:latin typeface="JetBrains Mono"/>
                <a:ea typeface="JetBrains Mono"/>
                <a:cs typeface="JetBrains Mono"/>
              </a:rPr>
              <a:t>próxima decisão</a:t>
            </a:r>
          </a:p>
        </p:txBody>
      </p:sp>
      <p:cxnSp>
        <p:nvCxnSpPr>
          <p:cNvPr id="48009" name=""/>
          <p:cNvCxnSpPr>
            <a:stCxn xmlns:a="http://schemas.openxmlformats.org/drawingml/2006/main" id="48004" idx="3"/>
            <a:endCxn xmlns:a="http://schemas.openxmlformats.org/drawingml/2006/main" id="48005" idx="1"/>
          </p:cNvCxnSpPr>
          <p:nvPr/>
        </p:nvCxnSpPr>
        <p:spPr>
          <a:xfrm xmlns:a="http://schemas.openxmlformats.org/drawingml/2006/main">
            <a:off x="3067050" y="3209925"/>
            <a:ext cx="1257300"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48010" name=""/>
          <p:cNvCxnSpPr>
            <a:stCxn xmlns:a="http://schemas.openxmlformats.org/drawingml/2006/main" id="48005" idx="3"/>
            <a:endCxn xmlns:a="http://schemas.openxmlformats.org/drawingml/2006/main" id="48006" idx="1"/>
          </p:cNvCxnSpPr>
          <p:nvPr/>
        </p:nvCxnSpPr>
        <p:spPr>
          <a:xfrm xmlns:a="http://schemas.openxmlformats.org/drawingml/2006/main">
            <a:off x="6934200" y="3209925"/>
            <a:ext cx="1638300"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48011" name=""/>
          <p:cNvCxnSpPr>
            <a:stCxn xmlns:a="http://schemas.openxmlformats.org/drawingml/2006/main" id="48006" idx="2"/>
            <a:endCxn xmlns:a="http://schemas.openxmlformats.org/drawingml/2006/main" id="48007" idx="0"/>
          </p:cNvCxnSpPr>
          <p:nvPr/>
        </p:nvCxnSpPr>
        <p:spPr>
          <a:xfrm xmlns:a="http://schemas.openxmlformats.org/drawingml/2006/main">
            <a:off x="9877425" y="3648075"/>
            <a:ext cx="0" cy="1104900"/>
          </a:xfrm>
          <a:prstGeom xmlns:a="http://schemas.openxmlformats.org/drawingml/2006/main" prst="straightConnector1">
            <a:avLst/>
          </a:prstGeom>
          <a:ln xmlns:a="http://schemas.openxmlformats.org/drawingml/2006/main" w="19050">
            <a:solidFill>
              <a:srgbClr val="71E7BD"/>
            </a:solidFill>
            <a:tailEnd type="triangle" w="sm" len="sm"/>
          </a:ln>
        </p:spPr>
      </p:cxnSp>
      <p:cxnSp>
        <p:nvCxnSpPr>
          <p:cNvPr id="48012" name=""/>
          <p:cNvCxnSpPr>
            <a:stCxn xmlns:a="http://schemas.openxmlformats.org/drawingml/2006/main" id="48007" idx="1"/>
            <a:endCxn xmlns:a="http://schemas.openxmlformats.org/drawingml/2006/main" id="48008" idx="3"/>
          </p:cNvCxnSpPr>
          <p:nvPr/>
        </p:nvCxnSpPr>
        <p:spPr>
          <a:xfrm xmlns:a="http://schemas.openxmlformats.org/drawingml/2006/main" flipH="1">
            <a:off x="6934200" y="5191125"/>
            <a:ext cx="1638300" cy="0"/>
          </a:xfrm>
          <a:prstGeom xmlns:a="http://schemas.openxmlformats.org/drawingml/2006/main" prst="straightConnector1">
            <a:avLst/>
          </a:prstGeom>
          <a:ln xmlns:a="http://schemas.openxmlformats.org/drawingml/2006/main" w="19050">
            <a:solidFill>
              <a:srgbClr val="71E7BD"/>
            </a:solidFill>
            <a:tailEnd type="triangle" w="sm" len="sm"/>
          </a:ln>
        </p:spPr>
      </p:cxnSp>
      <p:cxnSp>
        <p:nvCxnSpPr>
          <p:cNvPr id="48013" name=""/>
          <p:cNvCxnSpPr>
            <a:stCxn xmlns:a="http://schemas.openxmlformats.org/drawingml/2006/main" id="48008" idx="0"/>
            <a:endCxn xmlns:a="http://schemas.openxmlformats.org/drawingml/2006/main" id="48005" idx="2"/>
          </p:cNvCxnSpPr>
          <p:nvPr/>
        </p:nvCxnSpPr>
        <p:spPr>
          <a:xfrm xmlns:a="http://schemas.openxmlformats.org/drawingml/2006/main" flipV="1">
            <a:off x="5629275" y="3648075"/>
            <a:ext cx="0" cy="1104900"/>
          </a:xfrm>
          <a:prstGeom xmlns:a="http://schemas.openxmlformats.org/drawingml/2006/main" prst="straightConnector1">
            <a:avLst/>
          </a:prstGeom>
          <a:ln xmlns:a="http://schemas.openxmlformats.org/drawingml/2006/main" w="19050">
            <a:solidFill>
              <a:srgbClr val="FFAD62"/>
            </a:solidFill>
            <a:tailEnd type="triangle" w="sm" len="sm"/>
          </a:ln>
        </p:spPr>
      </p:cxnSp>
      <p:sp>
        <p:nvSpPr>
          <p:cNvPr id="48014" name="Registrar dados,&#10;parâmetros e versõe">
            <a:extLst xmlns:a="http://schemas.openxmlformats.org/drawingml/2006/main">
              <a:ext uri="{FF2B5EF4-FFF2-40B4-BE49-F238E27FC236}">
                <a16:creationId xmlns:a16="http://schemas.microsoft.com/office/drawing/2014/main" id="{B8F47248-65DB-585E-8B5A-10F28D5FCA1B}"/>
              </a:ext>
            </a:extLst>
          </p:cNvPr>
          <p:cNvSpPr>
            <a:spLocks xmlns:a="http://schemas.openxmlformats.org/drawingml/2006/main" noGrp="1"/>
          </p:cNvSpPr>
          <p:nvPr/>
        </p:nvSpPr>
        <p:spPr>
          <a:xfrm xmlns:a="http://schemas.openxmlformats.org/drawingml/2006/main">
            <a:off x="457200" y="4867275"/>
            <a:ext cx="3009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FFFFFF"/>
                </a:solidFill>
                <a:latin typeface="JetBrains Mono"/>
                <a:ea typeface="JetBrains Mono"/>
                <a:cs typeface="JetBrains Mono"/>
              </a:defRPr>
            </a:pPr>
            <a:r>
              <a:rPr sz="1650" b="0">
                <a:solidFill>
                  <a:srgbClr val="FFFFFF"/>
                </a:solidFill>
                <a:latin typeface="JetBrains Mono"/>
                <a:ea typeface="JetBrains Mono"/>
                <a:cs typeface="JetBrains Mono"/>
              </a:rPr>
              <a:t>Registrar dados,</a:t>
            </a:r>
          </a:p>
          <a:p xmlns:a="http://schemas.openxmlformats.org/drawingml/2006/main">
            <a:pPr algn="l">
              <a:buNone/>
              <a:defRPr sz="1650" b="0">
                <a:solidFill>
                  <a:srgbClr val="FFFFFF"/>
                </a:solidFill>
                <a:latin typeface="JetBrains Mono"/>
                <a:ea typeface="JetBrains Mono"/>
                <a:cs typeface="JetBrains Mono"/>
              </a:defRPr>
            </a:pPr>
            <a:r>
              <a:rPr sz="1650" b="0">
                <a:solidFill>
                  <a:srgbClr val="FFFFFF"/>
                </a:solidFill>
                <a:latin typeface="JetBrains Mono"/>
                <a:ea typeface="JetBrains Mono"/>
                <a:cs typeface="JetBrains Mono"/>
              </a:rPr>
              <a:t>parâmetros e versões.</a:t>
            </a:r>
          </a:p>
        </p:txBody>
      </p:sp>
      <p:pic>
        <p:nvPicPr>
          <p:cNvPr id="48015" name="Imagem 13"/>
          <p:cNvPicPr>
            <a:picLocks xmlns:a="http://schemas.openxmlformats.org/drawingml/2006/main" noChangeAspect="1"/>
          </p:cNvPicPr>
          <p:nvPr/>
        </p:nvPicPr>
        <p:blipFill>
          <a:blip xmlns:r="http://schemas.openxmlformats.org/officeDocument/2006/relationships" xmlns:a="http://schemas.openxmlformats.org/drawingml/2006/main" r:embed="Rc196ed5e8d944a65"/>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48016" name="Hydro-UAI Modelos de linguagem">
            <a:extLst xmlns:a="http://schemas.openxmlformats.org/drawingml/2006/main">
              <a:ext uri="{FF2B5EF4-FFF2-40B4-BE49-F238E27FC236}">
                <a16:creationId xmlns:a16="http://schemas.microsoft.com/office/drawing/2014/main" id="{D54D380B-D330-59E5-9E3C-A20F52257F92}"/>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Modelos de linguagem</a:t>
            </a:r>
          </a:p>
        </p:txBody>
      </p:sp>
      <p:sp>
        <p:nvSpPr>
          <p:cNvPr id="48017" name="Divisor Hydro-UAI">
            <a:extLst xmlns:a="http://schemas.openxmlformats.org/drawingml/2006/main">
              <a:ext uri="{FF2B5EF4-FFF2-40B4-BE49-F238E27FC236}">
                <a16:creationId xmlns:a16="http://schemas.microsoft.com/office/drawing/2014/main" id="{2D71ACD2-E1BB-591B-822D-8C93A36B9AEB}"/>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48018" name="Hydro-UAI Hydro-UAI Course">
            <a:extLst xmlns:a="http://schemas.openxmlformats.org/drawingml/2006/main">
              <a:ext uri="{FF2B5EF4-FFF2-40B4-BE49-F238E27FC236}">
                <a16:creationId xmlns:a16="http://schemas.microsoft.com/office/drawing/2014/main" id="{B4378766-8DE2-59A9-82D0-79834FA42D5F}"/>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48019" name="Hydro-UAI 48 / 62">
            <a:extLst xmlns:a="http://schemas.openxmlformats.org/drawingml/2006/main">
              <a:ext uri="{FF2B5EF4-FFF2-40B4-BE49-F238E27FC236}">
                <a16:creationId xmlns:a16="http://schemas.microsoft.com/office/drawing/2014/main" id="{C86A142C-7739-518B-AD16-D1F79DBC6ECB}"/>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54 / 68</a:t>
            </a:r>
          </a:p>
        </p:txBody>
      </p:sp>
    </p:spTree>
    <p:extLst>
      <p:ext uri="{BB962C8B-B14F-4D97-AF65-F5344CB8AC3E}">
        <p14:creationId xmlns:p14="http://schemas.microsoft.com/office/powerpoint/2010/main" val="3991283715"/>
      </p:ext>
    </p:extLst>
  </p:cSld>
</p:sld>
</file>

<file path=ppt/slides/slide49.xml><?xml version="1.0" encoding="utf-8"?>
<p:sld xmlns:p="http://schemas.openxmlformats.org/presentationml/2006/main">
  <p:cSld>
    <p:spTree>
      <p:nvGrpSpPr>
        <p:cNvPr id="49001" name=""/>
        <p:cNvGrpSpPr/>
        <p:nvPr/>
      </p:nvGrpSpPr>
      <p:grpSpPr>
        <a:xfrm xmlns:a="http://schemas.openxmlformats.org/drawingml/2006/main"/>
      </p:grpSpPr>
      <p:sp>
        <p:nvSpPr>
          <p:cNvPr id="49002" name="Retângulo 6">
            <a:extLst xmlns:a="http://schemas.openxmlformats.org/drawingml/2006/main">
              <a:ext uri="{FF2B5EF4-FFF2-40B4-BE49-F238E27FC236}">
                <a16:creationId xmlns:a16="http://schemas.microsoft.com/office/drawing/2014/main" id="{DA9240E2-28C7-5145-91E8-E66989763F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49003" name=""/>
          <p:cNvGraphicFramePr/>
          <p:nvPr/>
        </p:nvGraphicFramePr>
        <p:xfrm>
          <a:off xmlns:a="http://schemas.openxmlformats.org/drawingml/2006/main" x="457200" y="2714625"/>
          <a:ext xmlns:a="http://schemas.openxmlformats.org/drawingml/2006/main" cx="5438775" cy="2219325"/>
        </p:xfrm>
        <a:graphic xmlns:a="http://schemas.openxmlformats.org/drawingml/2006/main">
          <a:graphicData uri="http://schemas.openxmlformats.org/drawingml/2006/table">
            <a:tbl>
              <a:tblPr/>
              <a:tblGrid>
                <a:gridCol w="3209925"/>
                <a:gridCol w="2228850"/>
              </a:tblGrid>
              <a:tr h="554831">
                <a:tc>
                  <a:txBody>
                    <a:bodyPr lIns="85725" tIns="57150" rIns="85725" bIns="57150">
                      <a:noAutofit/>
                    </a:bodyPr>
                    <a:lstStyle/>
                    <a:p>
                      <a:pPr algn="l">
                        <a:buNone/>
                      </a:pPr>
                      <a:r>
                        <a:rPr sz="1875" b="1">
                          <a:solidFill>
                            <a:srgbClr val="FFFFFF"/>
                          </a:solidFill>
                          <a:latin typeface="JetBrains Mono"/>
                          <a:ea typeface="JetBrains Mono"/>
                          <a:cs typeface="JetBrains Mono"/>
                        </a:rPr>
                        <a:t>Intervalo futuro</a:t>
                      </a:r>
                    </a:p>
                  </a:txBody>
                  <a:tcPr marL="91440" marR="91440" marT="45720" marB="45720" anchor="ctr">
                    <a:solidFill>
                      <a:srgbClr val="0053EB"/>
                    </a:solidFill>
                  </a:tcPr>
                </a:tc>
                <a:tc>
                  <a:txBody>
                    <a:bodyPr lIns="85725" tIns="57150" rIns="85725" bIns="57150">
                      <a:noAutofit/>
                    </a:bodyPr>
                    <a:lstStyle/>
                    <a:p>
                      <a:pPr algn="l">
                        <a:buNone/>
                      </a:pPr>
                      <a:r>
                        <a:rPr sz="1875" b="1">
                          <a:solidFill>
                            <a:srgbClr val="FFFFFF"/>
                          </a:solidFill>
                          <a:latin typeface="JetBrains Mono"/>
                          <a:ea typeface="JetBrains Mono"/>
                          <a:cs typeface="JetBrains Mono"/>
                        </a:rPr>
                        <a:t>Q médio previsto</a:t>
                      </a:r>
                    </a:p>
                  </a:txBody>
                  <a:tcPr marL="91440" marR="91440" marT="45720" marB="45720" anchor="ctr">
                    <a:solidFill>
                      <a:srgbClr val="0053EB"/>
                    </a:solidFill>
                  </a:tcPr>
                </a:tc>
              </a:tr>
              <a:tr h="554831">
                <a:tc>
                  <a:txBody>
                    <a:bodyPr lIns="85725" tIns="57150" rIns="85725" bIns="57150">
                      <a:noAutofit/>
                    </a:bodyPr>
                    <a:lstStyle/>
                    <a:p>
                      <a:pPr algn="l">
                        <a:buNone/>
                      </a:pPr>
                      <a:r>
                        <a:rPr sz="1875" b="0">
                          <a:solidFill>
                            <a:srgbClr val="FFFFFF"/>
                          </a:solidFill>
                          <a:latin typeface="JetBrains Mono"/>
                          <a:ea typeface="JetBrains Mono"/>
                          <a:cs typeface="JetBrains Mono"/>
                        </a:rPr>
                        <a:t>0 a 1 h</a:t>
                      </a:r>
                    </a:p>
                  </a:txBody>
                  <a:tcPr marL="91440" marR="91440" marT="45720" marB="45720" anchor="ctr">
                    <a:solidFill>
                      <a:srgbClr val="000F29"/>
                    </a:solidFill>
                  </a:tcPr>
                </a:tc>
                <a:tc>
                  <a:txBody>
                    <a:bodyPr lIns="85725" tIns="57150" rIns="85725" bIns="57150">
                      <a:noAutofit/>
                    </a:bodyPr>
                    <a:lstStyle/>
                    <a:p>
                      <a:pPr algn="l">
                        <a:buNone/>
                      </a:pPr>
                      <a:r>
                        <a:rPr sz="1875" b="0">
                          <a:solidFill>
                            <a:srgbClr val="FFFFFF"/>
                          </a:solidFill>
                          <a:latin typeface="JetBrains Mono"/>
                          <a:ea typeface="JetBrains Mono"/>
                          <a:cs typeface="JetBrains Mono"/>
                        </a:rPr>
                        <a:t>10 m³/s</a:t>
                      </a:r>
                    </a:p>
                  </a:txBody>
                  <a:tcPr marL="91440" marR="91440" marT="45720" marB="45720" anchor="ctr">
                    <a:solidFill>
                      <a:srgbClr val="000F29"/>
                    </a:solidFill>
                  </a:tcPr>
                </a:tc>
              </a:tr>
              <a:tr h="554831">
                <a:tc>
                  <a:txBody>
                    <a:bodyPr lIns="85725" tIns="57150" rIns="85725" bIns="57150">
                      <a:noAutofit/>
                    </a:bodyPr>
                    <a:lstStyle/>
                    <a:p>
                      <a:pPr algn="l">
                        <a:buNone/>
                      </a:pPr>
                      <a:r>
                        <a:rPr sz="1875" b="0">
                          <a:solidFill>
                            <a:srgbClr val="FFFFFF"/>
                          </a:solidFill>
                          <a:latin typeface="JetBrains Mono"/>
                          <a:ea typeface="JetBrains Mono"/>
                          <a:cs typeface="JetBrains Mono"/>
                        </a:rPr>
                        <a:t>1 a 2 h</a:t>
                      </a:r>
                    </a:p>
                  </a:txBody>
                  <a:tcPr marL="91440" marR="91440" marT="45720" marB="45720" anchor="ctr">
                    <a:solidFill>
                      <a:srgbClr val="000F29"/>
                    </a:solidFill>
                  </a:tcPr>
                </a:tc>
                <a:tc>
                  <a:txBody>
                    <a:bodyPr lIns="85725" tIns="57150" rIns="85725" bIns="57150">
                      <a:noAutofit/>
                    </a:bodyPr>
                    <a:lstStyle/>
                    <a:p>
                      <a:pPr algn="l">
                        <a:buNone/>
                      </a:pPr>
                      <a:r>
                        <a:rPr sz="1875" b="0">
                          <a:solidFill>
                            <a:srgbClr val="FFFFFF"/>
                          </a:solidFill>
                          <a:latin typeface="JetBrains Mono"/>
                          <a:ea typeface="JetBrains Mono"/>
                          <a:cs typeface="JetBrains Mono"/>
                        </a:rPr>
                        <a:t>20 m³/s</a:t>
                      </a:r>
                    </a:p>
                  </a:txBody>
                  <a:tcPr marL="91440" marR="91440" marT="45720" marB="45720" anchor="ctr">
                    <a:solidFill>
                      <a:srgbClr val="000F29"/>
                    </a:solidFill>
                  </a:tcPr>
                </a:tc>
              </a:tr>
              <a:tr h="554831">
                <a:tc>
                  <a:txBody>
                    <a:bodyPr lIns="85725" tIns="57150" rIns="85725" bIns="57150">
                      <a:noAutofit/>
                    </a:bodyPr>
                    <a:lstStyle/>
                    <a:p>
                      <a:pPr algn="l">
                        <a:buNone/>
                      </a:pPr>
                      <a:r>
                        <a:rPr sz="1875" b="0">
                          <a:solidFill>
                            <a:srgbClr val="FFFFFF"/>
                          </a:solidFill>
                          <a:latin typeface="JetBrains Mono"/>
                          <a:ea typeface="JetBrains Mono"/>
                          <a:cs typeface="JetBrains Mono"/>
                        </a:rPr>
                        <a:t>2 a 3 h</a:t>
                      </a:r>
                    </a:p>
                  </a:txBody>
                  <a:tcPr marL="91440" marR="91440" marT="45720" marB="45720" anchor="ctr">
                    <a:solidFill>
                      <a:srgbClr val="000F29"/>
                    </a:solidFill>
                  </a:tcPr>
                </a:tc>
                <a:tc>
                  <a:txBody>
                    <a:bodyPr lIns="85725" tIns="57150" rIns="85725" bIns="57150">
                      <a:noAutofit/>
                    </a:bodyPr>
                    <a:lstStyle/>
                    <a:p>
                      <a:pPr algn="l">
                        <a:buNone/>
                      </a:pPr>
                      <a:r>
                        <a:rPr sz="1875" b="0">
                          <a:solidFill>
                            <a:srgbClr val="FFFFFF"/>
                          </a:solidFill>
                          <a:latin typeface="JetBrains Mono"/>
                          <a:ea typeface="JetBrains Mono"/>
                          <a:cs typeface="JetBrains Mono"/>
                        </a:rPr>
                        <a:t>15 m³/s</a:t>
                      </a:r>
                    </a:p>
                  </a:txBody>
                  <a:tcPr marL="91440" marR="91440" marT="45720" marB="45720" anchor="ctr">
                    <a:solidFill>
                      <a:srgbClr val="000F29"/>
                    </a:solidFill>
                  </a:tcPr>
                </a:tc>
              </a:tr>
            </a:tbl>
          </a:graphicData>
        </a:graphic>
      </p:graphicFrame>
      <p:sp>
        <p:nvSpPr>
          <p:cNvPr id="49004" name="Uma previsão numérica alimenta o bol">
            <a:extLst xmlns:a="http://schemas.openxmlformats.org/drawingml/2006/main">
              <a:ext uri="{FF2B5EF4-FFF2-40B4-BE49-F238E27FC236}">
                <a16:creationId xmlns:a16="http://schemas.microsoft.com/office/drawing/2014/main" id="{7204C689-A6C0-5A09-BCCE-534576422F51}"/>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Uma previsão numérica alimenta o boletim</a:t>
            </a:r>
          </a:p>
        </p:txBody>
      </p:sp>
      <p:sp>
        <p:nvSpPr>
          <p:cNvPr id="49005" name="Ferramenta de cálculo&#10;V = (10 + 20 +">
            <a:extLst xmlns:a="http://schemas.openxmlformats.org/drawingml/2006/main">
              <a:ext uri="{FF2B5EF4-FFF2-40B4-BE49-F238E27FC236}">
                <a16:creationId xmlns:a16="http://schemas.microsoft.com/office/drawing/2014/main" id="{E2C5F0A7-266B-564F-8AAD-99C9744DB8AA}"/>
              </a:ext>
            </a:extLst>
          </p:cNvPr>
          <p:cNvSpPr>
            <a:spLocks xmlns:a="http://schemas.openxmlformats.org/drawingml/2006/main" noGrp="1"/>
          </p:cNvSpPr>
          <p:nvPr/>
        </p:nvSpPr>
        <p:spPr>
          <a:xfrm xmlns:a="http://schemas.openxmlformats.org/drawingml/2006/main">
            <a:off x="6619875" y="2676525"/>
            <a:ext cx="51149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Ferramenta de cálculo</a:t>
            </a:r>
          </a:p>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V = (10 + 20 + 15) × 3600</a:t>
            </a:r>
          </a:p>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  = 162.000 m³</a:t>
            </a:r>
          </a:p>
        </p:txBody>
      </p:sp>
      <p:sp>
        <p:nvSpPr>
          <p:cNvPr id="49006" name="Texto fundamentado&#10;“Maior vazão médi">
            <a:extLst xmlns:a="http://schemas.openxmlformats.org/drawingml/2006/main">
              <a:ext uri="{FF2B5EF4-FFF2-40B4-BE49-F238E27FC236}">
                <a16:creationId xmlns:a16="http://schemas.microsoft.com/office/drawing/2014/main" id="{FBF2308B-4FE8-56D4-9CCB-D4A24380B18E}"/>
              </a:ext>
            </a:extLst>
          </p:cNvPr>
          <p:cNvSpPr>
            <a:spLocks xmlns:a="http://schemas.openxmlformats.org/drawingml/2006/main" noGrp="1"/>
          </p:cNvSpPr>
          <p:nvPr/>
        </p:nvSpPr>
        <p:spPr>
          <a:xfrm xmlns:a="http://schemas.openxmlformats.org/drawingml/2006/main">
            <a:off x="6619875" y="4352925"/>
            <a:ext cx="51149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Texto fundamentado</a:t>
            </a:r>
          </a:p>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“Maior vazão média prevista</a:t>
            </a:r>
          </a:p>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entre 1 e 2 horas.”</a:t>
            </a:r>
          </a:p>
        </p:txBody>
      </p:sp>
      <p:sp>
        <p:nvSpPr>
          <p:cNvPr id="49007" name="Previsões sintéticas médias por inte">
            <a:extLst xmlns:a="http://schemas.openxmlformats.org/drawingml/2006/main">
              <a:ext uri="{FF2B5EF4-FFF2-40B4-BE49-F238E27FC236}">
                <a16:creationId xmlns:a16="http://schemas.microsoft.com/office/drawing/2014/main" id="{B73640AC-723F-5929-AC2C-FB0381506E1F}"/>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Previsões sintéticas médias por intervalo. Cálculo de volume com duração explícita.</a:t>
            </a:r>
          </a:p>
        </p:txBody>
      </p:sp>
      <p:pic>
        <p:nvPicPr>
          <p:cNvPr id="49008" name="Imagem 13"/>
          <p:cNvPicPr>
            <a:picLocks xmlns:a="http://schemas.openxmlformats.org/drawingml/2006/main" noChangeAspect="1"/>
          </p:cNvPicPr>
          <p:nvPr/>
        </p:nvPicPr>
        <p:blipFill>
          <a:blip xmlns:r="http://schemas.openxmlformats.org/officeDocument/2006/relationships" xmlns:a="http://schemas.openxmlformats.org/drawingml/2006/main" r:embed="R0bb772a1a1884f97"/>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49009" name="Hydro-UAI Modelos de linguagem">
            <a:extLst xmlns:a="http://schemas.openxmlformats.org/drawingml/2006/main">
              <a:ext uri="{FF2B5EF4-FFF2-40B4-BE49-F238E27FC236}">
                <a16:creationId xmlns:a16="http://schemas.microsoft.com/office/drawing/2014/main" id="{2C0D4A5D-ADB7-520A-B986-DE1651381CF2}"/>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Modelos de linguagem</a:t>
            </a:r>
          </a:p>
        </p:txBody>
      </p:sp>
      <p:sp>
        <p:nvSpPr>
          <p:cNvPr id="49010" name="Divisor Hydro-UAI">
            <a:extLst xmlns:a="http://schemas.openxmlformats.org/drawingml/2006/main">
              <a:ext uri="{FF2B5EF4-FFF2-40B4-BE49-F238E27FC236}">
                <a16:creationId xmlns:a16="http://schemas.microsoft.com/office/drawing/2014/main" id="{E3339B5F-6F4B-5E1C-B422-0A7814776467}"/>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49011" name="Hydro-UAI Hydro-UAI Course">
            <a:extLst xmlns:a="http://schemas.openxmlformats.org/drawingml/2006/main">
              <a:ext uri="{FF2B5EF4-FFF2-40B4-BE49-F238E27FC236}">
                <a16:creationId xmlns:a16="http://schemas.microsoft.com/office/drawing/2014/main" id="{96001798-1422-50CB-9862-7ADBBE23A7A3}"/>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49012" name="Hydro-UAI 49 / 62">
            <a:extLst xmlns:a="http://schemas.openxmlformats.org/drawingml/2006/main">
              <a:ext uri="{FF2B5EF4-FFF2-40B4-BE49-F238E27FC236}">
                <a16:creationId xmlns:a16="http://schemas.microsoft.com/office/drawing/2014/main" id="{22893DEE-23B9-5904-8AC7-808C72E8D90D}"/>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55 / 68</a:t>
            </a:r>
          </a:p>
        </p:txBody>
      </p:sp>
    </p:spTree>
    <p:extLst>
      <p:ext uri="{BB962C8B-B14F-4D97-AF65-F5344CB8AC3E}">
        <p14:creationId xmlns:p14="http://schemas.microsoft.com/office/powerpoint/2010/main" val="3991283715"/>
      </p:ext>
    </p:extLst>
  </p:cSld>
</p:sld>
</file>

<file path=ppt/slides/slide50.xml><?xml version="1.0" encoding="utf-8"?>
<p:sld xmlns:p="http://schemas.openxmlformats.org/presentationml/2006/main">
  <p:cSld>
    <p:spTree>
      <p:nvGrpSpPr>
        <p:cNvPr id="50001" name=""/>
        <p:cNvGrpSpPr/>
        <p:nvPr/>
      </p:nvGrpSpPr>
      <p:grpSpPr>
        <a:xfrm xmlns:a="http://schemas.openxmlformats.org/drawingml/2006/main"/>
      </p:grpSpPr>
      <p:sp>
        <p:nvSpPr>
          <p:cNvPr id="50002" name="Retângulo 6">
            <a:extLst xmlns:a="http://schemas.openxmlformats.org/drawingml/2006/main">
              <a:ext uri="{FF2B5EF4-FFF2-40B4-BE49-F238E27FC236}">
                <a16:creationId xmlns:a16="http://schemas.microsoft.com/office/drawing/2014/main" id="{72953271-885D-5ABE-90C7-45182065E9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003" name="Uma instrução útil para gerar um bol">
            <a:extLst xmlns:a="http://schemas.openxmlformats.org/drawingml/2006/main">
              <a:ext uri="{FF2B5EF4-FFF2-40B4-BE49-F238E27FC236}">
                <a16:creationId xmlns:a16="http://schemas.microsoft.com/office/drawing/2014/main" id="{11BF7EBA-1633-5CD5-829D-22B69DBDE2D3}"/>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Uma instrução útil para gerar um boletim</a:t>
            </a:r>
          </a:p>
        </p:txBody>
      </p:sp>
      <p:sp>
        <p:nvSpPr>
          <p:cNvPr id="50004" name="“Use apenas o JSON validado da previ">
            <a:extLst xmlns:a="http://schemas.openxmlformats.org/drawingml/2006/main">
              <a:ext uri="{FF2B5EF4-FFF2-40B4-BE49-F238E27FC236}">
                <a16:creationId xmlns:a16="http://schemas.microsoft.com/office/drawing/2014/main" id="{9F064021-8218-5F4F-88E6-5566349E02A4}"/>
              </a:ext>
            </a:extLst>
          </p:cNvPr>
          <p:cNvSpPr>
            <a:spLocks xmlns:a="http://schemas.openxmlformats.org/drawingml/2006/main" noGrp="1"/>
          </p:cNvSpPr>
          <p:nvPr/>
        </p:nvSpPr>
        <p:spPr>
          <a:xfrm xmlns:a="http://schemas.openxmlformats.org/drawingml/2006/main">
            <a:off x="457200" y="2657475"/>
            <a:ext cx="112776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83DFFF"/>
                </a:solidFill>
                <a:latin typeface="JetBrains Mono"/>
                <a:ea typeface="JetBrains Mono"/>
                <a:cs typeface="JetBrains Mono"/>
              </a:defRPr>
            </a:pPr>
            <a:r>
              <a:rPr sz="2025" b="1">
                <a:solidFill>
                  <a:srgbClr val="83DFFF"/>
                </a:solidFill>
                <a:latin typeface="JetBrains Mono"/>
                <a:ea typeface="JetBrains Mono"/>
                <a:cs typeface="JetBrains Mono"/>
              </a:rPr>
              <a:t>“Use apenas o JSON validado da previsão e os documentos recuperados.</a:t>
            </a:r>
          </a:p>
          <a:p xmlns:a="http://schemas.openxmlformats.org/drawingml/2006/main">
            <a:pPr algn="l">
              <a:buNone/>
              <a:defRPr sz="2025" b="1">
                <a:solidFill>
                  <a:srgbClr val="83DFFF"/>
                </a:solidFill>
                <a:latin typeface="JetBrains Mono"/>
                <a:ea typeface="JetBrains Mono"/>
                <a:cs typeface="JetBrains Mono"/>
              </a:defRPr>
            </a:pPr>
            <a:r>
              <a:rPr sz="2025" b="1">
                <a:solidFill>
                  <a:srgbClr val="83DFFF"/>
                </a:solidFill>
                <a:latin typeface="JetBrains Mono"/>
                <a:ea typeface="JetBrains Mono"/>
                <a:cs typeface="JetBrains Mono"/>
              </a:rPr>
              <a:t>Informe o instante de emissão, o horizonte e as unidades.</a:t>
            </a:r>
          </a:p>
          <a:p xmlns:a="http://schemas.openxmlformats.org/drawingml/2006/main">
            <a:pPr algn="l">
              <a:buNone/>
              <a:defRPr sz="2025" b="1">
                <a:solidFill>
                  <a:srgbClr val="83DFFF"/>
                </a:solidFill>
                <a:latin typeface="JetBrains Mono"/>
                <a:ea typeface="JetBrains Mono"/>
                <a:cs typeface="JetBrains Mono"/>
              </a:defRPr>
            </a:pPr>
            <a:r>
              <a:rPr sz="2025" b="1">
                <a:solidFill>
                  <a:srgbClr val="83DFFF"/>
                </a:solidFill>
                <a:latin typeface="JetBrains Mono"/>
                <a:ea typeface="JetBrains Mono"/>
                <a:cs typeface="JetBrains Mono"/>
              </a:rPr>
              <a:t>Diferencie observações, previsões e dados ausentes.</a:t>
            </a:r>
          </a:p>
          <a:p xmlns:a="http://schemas.openxmlformats.org/drawingml/2006/main">
            <a:pPr algn="l">
              <a:buNone/>
              <a:defRPr sz="2025" b="1">
                <a:solidFill>
                  <a:srgbClr val="83DFFF"/>
                </a:solidFill>
                <a:latin typeface="JetBrains Mono"/>
                <a:ea typeface="JetBrains Mono"/>
                <a:cs typeface="JetBrains Mono"/>
              </a:defRPr>
            </a:pPr>
            <a:r>
              <a:rPr sz="2025" b="1">
                <a:solidFill>
                  <a:srgbClr val="83DFFF"/>
                </a:solidFill>
                <a:latin typeface="JetBrains Mono"/>
                <a:ea typeface="JetBrains Mono"/>
                <a:cs typeface="JetBrains Mono"/>
              </a:rPr>
              <a:t>Associe afirmações aos resultados ou às fontes correspondentes.”</a:t>
            </a:r>
          </a:p>
        </p:txBody>
      </p:sp>
      <p:sp>
        <p:nvSpPr>
          <p:cNvPr id="50005" name="A saída deve permitir conferir cada ">
            <a:extLst xmlns:a="http://schemas.openxmlformats.org/drawingml/2006/main">
              <a:ext uri="{FF2B5EF4-FFF2-40B4-BE49-F238E27FC236}">
                <a16:creationId xmlns:a16="http://schemas.microsoft.com/office/drawing/2014/main" id="{EC41DC72-E358-5981-A4A0-272822E717A3}"/>
              </a:ext>
            </a:extLst>
          </p:cNvPr>
          <p:cNvSpPr>
            <a:spLocks xmlns:a="http://schemas.openxmlformats.org/drawingml/2006/main" noGrp="1"/>
          </p:cNvSpPr>
          <p:nvPr/>
        </p:nvSpPr>
        <p:spPr>
          <a:xfrm xmlns:a="http://schemas.openxmlformats.org/drawingml/2006/main">
            <a:off x="457200" y="5438775"/>
            <a:ext cx="1127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A saída deve permitir conferir cada número e cada afirmação.</a:t>
            </a:r>
          </a:p>
        </p:txBody>
      </p:sp>
      <p:pic>
        <p:nvPicPr>
          <p:cNvPr id="50006" name="Imagem 13"/>
          <p:cNvPicPr>
            <a:picLocks xmlns:a="http://schemas.openxmlformats.org/drawingml/2006/main" noChangeAspect="1"/>
          </p:cNvPicPr>
          <p:nvPr/>
        </p:nvPicPr>
        <p:blipFill>
          <a:blip xmlns:r="http://schemas.openxmlformats.org/officeDocument/2006/relationships" xmlns:a="http://schemas.openxmlformats.org/drawingml/2006/main" r:embed="R4c9100d00aae46ea"/>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50007" name="Hydro-UAI Modelos de linguagem">
            <a:extLst xmlns:a="http://schemas.openxmlformats.org/drawingml/2006/main">
              <a:ext uri="{FF2B5EF4-FFF2-40B4-BE49-F238E27FC236}">
                <a16:creationId xmlns:a16="http://schemas.microsoft.com/office/drawing/2014/main" id="{36C45351-36E9-5EFB-A405-185DD5909654}"/>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Modelos de linguagem</a:t>
            </a:r>
          </a:p>
        </p:txBody>
      </p:sp>
      <p:sp>
        <p:nvSpPr>
          <p:cNvPr id="50008" name="Divisor Hydro-UAI">
            <a:extLst xmlns:a="http://schemas.openxmlformats.org/drawingml/2006/main">
              <a:ext uri="{FF2B5EF4-FFF2-40B4-BE49-F238E27FC236}">
                <a16:creationId xmlns:a16="http://schemas.microsoft.com/office/drawing/2014/main" id="{3B2E4035-6CD2-516D-8538-B6063C3A11D4}"/>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50009" name="Hydro-UAI Hydro-UAI Course">
            <a:extLst xmlns:a="http://schemas.openxmlformats.org/drawingml/2006/main">
              <a:ext uri="{FF2B5EF4-FFF2-40B4-BE49-F238E27FC236}">
                <a16:creationId xmlns:a16="http://schemas.microsoft.com/office/drawing/2014/main" id="{EFABC401-E74B-53A8-A8DA-49363DBCA422}"/>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50010" name="Hydro-UAI 50 / 62">
            <a:extLst xmlns:a="http://schemas.openxmlformats.org/drawingml/2006/main">
              <a:ext uri="{FF2B5EF4-FFF2-40B4-BE49-F238E27FC236}">
                <a16:creationId xmlns:a16="http://schemas.microsoft.com/office/drawing/2014/main" id="{2378DB29-F3B5-5366-93A8-CD9BFA3F5C73}"/>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56 / 68</a:t>
            </a:r>
          </a:p>
        </p:txBody>
      </p:sp>
    </p:spTree>
    <p:extLst>
      <p:ext uri="{BB962C8B-B14F-4D97-AF65-F5344CB8AC3E}">
        <p14:creationId xmlns:p14="http://schemas.microsoft.com/office/powerpoint/2010/main" val="3991283715"/>
      </p:ext>
    </p:extLst>
  </p:cSld>
</p:sld>
</file>

<file path=ppt/slides/slide51.xml><?xml version="1.0" encoding="utf-8"?>
<p:sld xmlns:p="http://schemas.openxmlformats.org/presentationml/2006/main">
  <p:cSld>
    <p:spTree>
      <p:nvGrpSpPr>
        <p:cNvPr id="51001" name=""/>
        <p:cNvGrpSpPr/>
        <p:nvPr/>
      </p:nvGrpSpPr>
      <p:grpSpPr>
        <a:xfrm xmlns:a="http://schemas.openxmlformats.org/drawingml/2006/main"/>
      </p:grpSpPr>
      <p:sp>
        <p:nvSpPr>
          <p:cNvPr id="51002" name="Retângulo 6">
            <a:extLst xmlns:a="http://schemas.openxmlformats.org/drawingml/2006/main">
              <a:ext uri="{FF2B5EF4-FFF2-40B4-BE49-F238E27FC236}">
                <a16:creationId xmlns:a16="http://schemas.microsoft.com/office/drawing/2014/main" id="{DE167B1E-04AB-5AC9-9C19-975F960D20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51003" name=""/>
          <p:cNvGraphicFramePr/>
          <p:nvPr/>
        </p:nvGraphicFramePr>
        <p:xfrm>
          <a:off xmlns:a="http://schemas.openxmlformats.org/drawingml/2006/main" x="457200" y="2962275"/>
          <a:ext xmlns:a="http://schemas.openxmlformats.org/drawingml/2006/main" cx="11277600" cy="2609850"/>
        </p:xfrm>
        <a:graphic xmlns:a="http://schemas.openxmlformats.org/drawingml/2006/main">
          <a:graphicData uri="http://schemas.openxmlformats.org/drawingml/2006/table">
            <a:tbl>
              <a:tblPr/>
              <a:tblGrid>
                <a:gridCol w="3467100"/>
                <a:gridCol w="4514850"/>
                <a:gridCol w="3295650"/>
              </a:tblGrid>
              <a:tr h="869950">
                <a:tc>
                  <a:txBody>
                    <a:bodyPr lIns="85725" tIns="57150" rIns="85725" bIns="57150">
                      <a:noAutofit/>
                    </a:bodyPr>
                    <a:lstStyle/>
                    <a:p>
                      <a:pPr algn="l">
                        <a:buNone/>
                      </a:pPr>
                      <a:r>
                        <a:rPr sz="1575" b="1">
                          <a:solidFill>
                            <a:srgbClr val="FFFFFF"/>
                          </a:solidFill>
                          <a:latin typeface="JetBrains Mono"/>
                          <a:ea typeface="JetBrains Mono"/>
                          <a:cs typeface="JetBrains Mono"/>
                        </a:rPr>
                        <a:t>Estudo</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Aplicação</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Leitura do resultado</a:t>
                      </a:r>
                    </a:p>
                  </a:txBody>
                  <a:tcPr marL="91440" marR="91440" marT="45720" marB="45720" anchor="ctr">
                    <a:solidFill>
                      <a:srgbClr val="0053EB"/>
                    </a:solidFill>
                  </a:tcPr>
                </a:tc>
              </a:tr>
              <a:tr h="869950">
                <a:tc>
                  <a:txBody>
                    <a:bodyPr lIns="85725" tIns="57150" rIns="85725" bIns="57150">
                      <a:noAutofit/>
                    </a:bodyPr>
                    <a:lstStyle/>
                    <a:p>
                      <a:pPr algn="l">
                        <a:buNone/>
                      </a:pPr>
                      <a:r>
                        <a:rPr sz="1575" b="0">
                          <a:solidFill>
                            <a:srgbClr val="FFFFFF"/>
                          </a:solidFill>
                          <a:latin typeface="JetBrains Mono"/>
                          <a:ea typeface="JetBrains Mono"/>
                          <a:cs typeface="JetBrains Mono"/>
                        </a:rPr>
                        <a:t>AQUAH, Yan et al. (2025)</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Dados, configuração, execução e relato de simulações.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Demonstração em artigo de workshop.</a:t>
                      </a:r>
                    </a:p>
                  </a:txBody>
                  <a:tcPr marL="91440" marR="91440" marT="45720" marB="45720" anchor="ctr">
                    <a:solidFill>
                      <a:srgbClr val="000F29"/>
                    </a:solidFill>
                  </a:tcPr>
                </a:tc>
              </a:tr>
              <a:tr h="869950">
                <a:tc>
                  <a:txBody>
                    <a:bodyPr lIns="85725" tIns="57150" rIns="85725" bIns="57150">
                      <a:noAutofit/>
                    </a:bodyPr>
                    <a:lstStyle/>
                    <a:p>
                      <a:pPr algn="l">
                        <a:buNone/>
                      </a:pPr>
                      <a:r>
                        <a:rPr sz="1575" b="0">
                          <a:solidFill>
                            <a:srgbClr val="FFFFFF"/>
                          </a:solidFill>
                          <a:latin typeface="JetBrains Mono"/>
                          <a:ea typeface="JetBrains Mono"/>
                          <a:cs typeface="JetBrains Mono"/>
                        </a:rPr>
                        <a:t>Zhu et al. (2026)</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Agentes LLM na calibração de modelos hidrológicos.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Desempenho variável entre modelos e referências.</a:t>
                      </a:r>
                    </a:p>
                  </a:txBody>
                  <a:tcPr marL="91440" marR="91440" marT="45720" marB="45720" anchor="ctr">
                    <a:solidFill>
                      <a:srgbClr val="000F29"/>
                    </a:solidFill>
                  </a:tcPr>
                </a:tc>
              </a:tr>
            </a:tbl>
          </a:graphicData>
        </a:graphic>
      </p:graphicFrame>
      <p:sp>
        <p:nvSpPr>
          <p:cNvPr id="51004" name="Evidências de LLM em modelagem hidro">
            <a:extLst xmlns:a="http://schemas.openxmlformats.org/drawingml/2006/main">
              <a:ext uri="{FF2B5EF4-FFF2-40B4-BE49-F238E27FC236}">
                <a16:creationId xmlns:a16="http://schemas.microsoft.com/office/drawing/2014/main" id="{5FA4BF0E-F882-5BDF-BC8B-645CF47A9DE1}"/>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Evidências de LLM em modelagem hidrológica</a:t>
            </a:r>
          </a:p>
        </p:txBody>
      </p:sp>
      <p:sp>
        <p:nvSpPr>
          <p:cNvPr id="51005" name="Estudos em contextos específicos. O ">
            <a:extLst xmlns:a="http://schemas.openxmlformats.org/drawingml/2006/main">
              <a:ext uri="{FF2B5EF4-FFF2-40B4-BE49-F238E27FC236}">
                <a16:creationId xmlns:a16="http://schemas.microsoft.com/office/drawing/2014/main" id="{706EEF62-51D6-507D-90A4-B7FEDE072490}"/>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Estudos em contextos específicos. O tipo de publicação e a avaliação importam.</a:t>
            </a:r>
          </a:p>
        </p:txBody>
      </p:sp>
      <p:pic>
        <p:nvPicPr>
          <p:cNvPr id="51006" name="Imagem 13"/>
          <p:cNvPicPr>
            <a:picLocks xmlns:a="http://schemas.openxmlformats.org/drawingml/2006/main" noChangeAspect="1"/>
          </p:cNvPicPr>
          <p:nvPr/>
        </p:nvPicPr>
        <p:blipFill>
          <a:blip xmlns:r="http://schemas.openxmlformats.org/officeDocument/2006/relationships" xmlns:a="http://schemas.openxmlformats.org/drawingml/2006/main" r:embed="Rd9561106ad884b6e"/>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51007" name="Hydro-UAI Modelos de linguagem">
            <a:extLst xmlns:a="http://schemas.openxmlformats.org/drawingml/2006/main">
              <a:ext uri="{FF2B5EF4-FFF2-40B4-BE49-F238E27FC236}">
                <a16:creationId xmlns:a16="http://schemas.microsoft.com/office/drawing/2014/main" id="{D8A1D7BC-1D92-5117-92DC-A5822B0761B2}"/>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Modelos de linguagem</a:t>
            </a:r>
          </a:p>
        </p:txBody>
      </p:sp>
      <p:sp>
        <p:nvSpPr>
          <p:cNvPr id="51008" name="Divisor Hydro-UAI">
            <a:extLst xmlns:a="http://schemas.openxmlformats.org/drawingml/2006/main">
              <a:ext uri="{FF2B5EF4-FFF2-40B4-BE49-F238E27FC236}">
                <a16:creationId xmlns:a16="http://schemas.microsoft.com/office/drawing/2014/main" id="{84C3175B-9443-5BB8-9600-95F8B5CE7207}"/>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51009" name="Hydro-UAI Hydro-UAI Course">
            <a:extLst xmlns:a="http://schemas.openxmlformats.org/drawingml/2006/main">
              <a:ext uri="{FF2B5EF4-FFF2-40B4-BE49-F238E27FC236}">
                <a16:creationId xmlns:a16="http://schemas.microsoft.com/office/drawing/2014/main" id="{D4C173BF-BE34-553B-8C21-6D9FE1A022BC}"/>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51010" name="Hydro-UAI 51 / 62">
            <a:extLst xmlns:a="http://schemas.openxmlformats.org/drawingml/2006/main">
              <a:ext uri="{FF2B5EF4-FFF2-40B4-BE49-F238E27FC236}">
                <a16:creationId xmlns:a16="http://schemas.microsoft.com/office/drawing/2014/main" id="{A2F893DD-9F8D-58C2-9E5B-C6ED407041B9}"/>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57 / 68</a:t>
            </a:r>
          </a:p>
        </p:txBody>
      </p:sp>
    </p:spTree>
    <p:extLst>
      <p:ext uri="{BB962C8B-B14F-4D97-AF65-F5344CB8AC3E}">
        <p14:creationId xmlns:p14="http://schemas.microsoft.com/office/powerpoint/2010/main" val="3991283715"/>
      </p:ext>
    </p:extLst>
  </p:cSld>
</p:sld>
</file>

<file path=ppt/slides/slide52.xml><?xml version="1.0" encoding="utf-8"?>
<p:sld xmlns:p="http://schemas.openxmlformats.org/presentationml/2006/main">
  <p:cSld>
    <p:spTree>
      <p:nvGrpSpPr>
        <p:cNvPr id="52001" name=""/>
        <p:cNvGrpSpPr/>
        <p:nvPr/>
      </p:nvGrpSpPr>
      <p:grpSpPr>
        <a:xfrm xmlns:a="http://schemas.openxmlformats.org/drawingml/2006/main"/>
      </p:grpSpPr>
      <p:sp>
        <p:nvSpPr>
          <p:cNvPr id="52002" name="Retângulo 6">
            <a:extLst xmlns:a="http://schemas.openxmlformats.org/drawingml/2006/main">
              <a:ext uri="{FF2B5EF4-FFF2-40B4-BE49-F238E27FC236}">
                <a16:creationId xmlns:a16="http://schemas.microsoft.com/office/drawing/2014/main" id="{74478093-6994-5003-B52A-1BFF33F18F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003" name="“A fonte é: confia”">
            <a:extLst xmlns:a="http://schemas.openxmlformats.org/drawingml/2006/main">
              <a:ext uri="{FF2B5EF4-FFF2-40B4-BE49-F238E27FC236}">
                <a16:creationId xmlns:a16="http://schemas.microsoft.com/office/drawing/2014/main" id="{B96C9CC0-AE60-5612-AA4A-A3360B3005E7}"/>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 fonte é: confia”</a:t>
            </a:r>
          </a:p>
        </p:txBody>
      </p:sp>
      <p:sp>
        <p:nvSpPr>
          <p:cNvPr id="52004" name="LLM: “Minha explicação&#10;ficou convinc">
            <a:extLst xmlns:a="http://schemas.openxmlformats.org/drawingml/2006/main">
              <a:ext uri="{FF2B5EF4-FFF2-40B4-BE49-F238E27FC236}">
                <a16:creationId xmlns:a16="http://schemas.microsoft.com/office/drawing/2014/main" id="{59FC3A09-8C93-5B66-957D-FD4214371CF8}"/>
              </a:ext>
            </a:extLst>
          </p:cNvPr>
          <p:cNvSpPr>
            <a:spLocks xmlns:a="http://schemas.openxmlformats.org/drawingml/2006/main" noGrp="1"/>
          </p:cNvSpPr>
          <p:nvPr/>
        </p:nvSpPr>
        <p:spPr>
          <a:xfrm xmlns:a="http://schemas.openxmlformats.org/drawingml/2006/main">
            <a:off x="457200" y="2647950"/>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83DFFF"/>
                </a:solidFill>
                <a:latin typeface="JetBrains Mono"/>
                <a:ea typeface="JetBrains Mono"/>
                <a:cs typeface="JetBrains Mono"/>
              </a:defRPr>
            </a:pPr>
            <a:r>
              <a:rPr sz="2175" b="1">
                <a:solidFill>
                  <a:srgbClr val="83DFFF"/>
                </a:solidFill>
                <a:latin typeface="JetBrains Mono"/>
                <a:ea typeface="JetBrains Mono"/>
                <a:cs typeface="JetBrains Mono"/>
              </a:rPr>
              <a:t>LLM: “Minha explicação</a:t>
            </a:r>
          </a:p>
          <a:p xmlns:a="http://schemas.openxmlformats.org/drawingml/2006/main">
            <a:pPr algn="l">
              <a:buNone/>
              <a:defRPr sz="2175" b="1">
                <a:solidFill>
                  <a:srgbClr val="83DFFF"/>
                </a:solidFill>
                <a:latin typeface="JetBrains Mono"/>
                <a:ea typeface="JetBrains Mono"/>
                <a:cs typeface="JetBrains Mono"/>
              </a:defRPr>
            </a:pPr>
            <a:r>
              <a:rPr sz="2175" b="1">
                <a:solidFill>
                  <a:srgbClr val="83DFFF"/>
                </a:solidFill>
                <a:latin typeface="JetBrains Mono"/>
                <a:ea typeface="JetBrains Mono"/>
                <a:cs typeface="JetBrains Mono"/>
              </a:rPr>
              <a:t>ficou convincente.”</a:t>
            </a:r>
          </a:p>
        </p:txBody>
      </p:sp>
      <p:sp>
        <p:nvSpPr>
          <p:cNvPr id="52005" name="Hidrólogo: “Mostre a fonte,&#10;o cálcul">
            <a:extLst xmlns:a="http://schemas.openxmlformats.org/drawingml/2006/main">
              <a:ext uri="{FF2B5EF4-FFF2-40B4-BE49-F238E27FC236}">
                <a16:creationId xmlns:a16="http://schemas.microsoft.com/office/drawing/2014/main" id="{4E61777E-66C4-5EB9-9D4F-3AAC3CBA59D9}"/>
              </a:ext>
            </a:extLst>
          </p:cNvPr>
          <p:cNvSpPr>
            <a:spLocks xmlns:a="http://schemas.openxmlformats.org/drawingml/2006/main" noGrp="1"/>
          </p:cNvSpPr>
          <p:nvPr/>
        </p:nvSpPr>
        <p:spPr>
          <a:xfrm xmlns:a="http://schemas.openxmlformats.org/drawingml/2006/main">
            <a:off x="457200" y="3933825"/>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FFAD62"/>
                </a:solidFill>
                <a:latin typeface="JetBrains Mono"/>
                <a:ea typeface="JetBrains Mono"/>
                <a:cs typeface="JetBrains Mono"/>
              </a:defRPr>
            </a:pPr>
            <a:r>
              <a:rPr sz="2475" b="1">
                <a:solidFill>
                  <a:srgbClr val="FFAD62"/>
                </a:solidFill>
                <a:latin typeface="JetBrains Mono"/>
                <a:ea typeface="JetBrains Mono"/>
                <a:cs typeface="JetBrains Mono"/>
              </a:rPr>
              <a:t>Hidrólogo: “Mostre a fonte,</a:t>
            </a:r>
          </a:p>
          <a:p xmlns:a="http://schemas.openxmlformats.org/drawingml/2006/main">
            <a:pPr algn="l">
              <a:buNone/>
              <a:defRPr sz="2475" b="1">
                <a:solidFill>
                  <a:srgbClr val="FFAD62"/>
                </a:solidFill>
                <a:latin typeface="JetBrains Mono"/>
                <a:ea typeface="JetBrains Mono"/>
                <a:cs typeface="JetBrains Mono"/>
              </a:defRPr>
            </a:pPr>
            <a:r>
              <a:rPr sz="2475" b="1">
                <a:solidFill>
                  <a:srgbClr val="FFAD62"/>
                </a:solidFill>
                <a:latin typeface="JetBrains Mono"/>
                <a:ea typeface="JetBrains Mono"/>
                <a:cs typeface="JetBrains Mono"/>
              </a:rPr>
              <a:t>o cálculo e o horário.”</a:t>
            </a:r>
          </a:p>
        </p:txBody>
      </p:sp>
      <p:sp>
        <p:nvSpPr>
          <p:cNvPr id="52006" name="Fluência do texto e qualidade da pre">
            <a:extLst xmlns:a="http://schemas.openxmlformats.org/drawingml/2006/main">
              <a:ext uri="{FF2B5EF4-FFF2-40B4-BE49-F238E27FC236}">
                <a16:creationId xmlns:a16="http://schemas.microsoft.com/office/drawing/2014/main" id="{42B1D9B9-CA43-5E1E-8271-64D4F83D098C}"/>
              </a:ext>
            </a:extLst>
          </p:cNvPr>
          <p:cNvSpPr>
            <a:spLocks xmlns:a="http://schemas.openxmlformats.org/drawingml/2006/main" noGrp="1"/>
          </p:cNvSpPr>
          <p:nvPr/>
        </p:nvSpPr>
        <p:spPr>
          <a:xfrm xmlns:a="http://schemas.openxmlformats.org/drawingml/2006/main">
            <a:off x="457200" y="5219700"/>
            <a:ext cx="676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FFFFFF"/>
                </a:solidFill>
                <a:latin typeface="JetBrains Mono"/>
                <a:ea typeface="JetBrains Mono"/>
                <a:cs typeface="JetBrains Mono"/>
              </a:defRPr>
            </a:pPr>
            <a:r>
              <a:rPr sz="1650" b="0">
                <a:solidFill>
                  <a:srgbClr val="FFFFFF"/>
                </a:solidFill>
                <a:latin typeface="JetBrains Mono"/>
                <a:ea typeface="JetBrains Mono"/>
                <a:cs typeface="JetBrains Mono"/>
              </a:rPr>
              <a:t>Fluência do texto e qualidade da previsão exigem avaliações próprias.</a:t>
            </a:r>
          </a:p>
        </p:txBody>
      </p:sp>
      <p:pic>
        <p:nvPicPr>
          <p:cNvPr id="52007" name="Imagem 13"/>
          <p:cNvPicPr>
            <a:picLocks xmlns:a="http://schemas.openxmlformats.org/drawingml/2006/main" noChangeAspect="1"/>
          </p:cNvPicPr>
          <p:nvPr/>
        </p:nvPicPr>
        <p:blipFill>
          <a:blip xmlns:r="http://schemas.openxmlformats.org/officeDocument/2006/relationships" xmlns:a="http://schemas.openxmlformats.org/drawingml/2006/main" r:embed="R7cc0eea7ff4440c6"/>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pic>
        <p:nvPicPr>
          <p:cNvPr id="52008" name=""/>
          <p:cNvPicPr>
            <a:picLocks xmlns:a="http://schemas.openxmlformats.org/drawingml/2006/main" noChangeAspect="1"/>
          </p:cNvPicPr>
          <p:nvPr/>
        </p:nvPicPr>
        <p:blipFill>
          <a:blip xmlns:r="http://schemas.openxmlformats.org/officeDocument/2006/relationships" xmlns:a="http://schemas.openxmlformats.org/drawingml/2006/main" r:embed="R6467b23f5faf4caa"/>
          <a:stretch xmlns:a="http://schemas.openxmlformats.org/drawingml/2006/main"/>
        </p:blipFill>
        <p:spPr>
          <a:xfrm xmlns:a="http://schemas.openxmlformats.org/drawingml/2006/main">
            <a:off x="7886700" y="2381250"/>
            <a:ext cx="3543300" cy="3543300"/>
          </a:xfrm>
          <a:prstGeom xmlns:a="http://schemas.openxmlformats.org/drawingml/2006/main" prst="rect">
            <a:avLst/>
          </a:prstGeom>
        </p:spPr>
      </p:pic>
      <p:sp>
        <p:nvSpPr>
          <p:cNvPr id="52009" name="Hydro-UAI Modelos de linguagem">
            <a:extLst xmlns:a="http://schemas.openxmlformats.org/drawingml/2006/main">
              <a:ext uri="{FF2B5EF4-FFF2-40B4-BE49-F238E27FC236}">
                <a16:creationId xmlns:a16="http://schemas.microsoft.com/office/drawing/2014/main" id="{6608BC18-4653-51ED-95EE-9D01D12ABAAB}"/>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Modelos de linguagem</a:t>
            </a:r>
          </a:p>
        </p:txBody>
      </p:sp>
      <p:sp>
        <p:nvSpPr>
          <p:cNvPr id="52010" name="Divisor Hydro-UAI">
            <a:extLst xmlns:a="http://schemas.openxmlformats.org/drawingml/2006/main">
              <a:ext uri="{FF2B5EF4-FFF2-40B4-BE49-F238E27FC236}">
                <a16:creationId xmlns:a16="http://schemas.microsoft.com/office/drawing/2014/main" id="{B07EAD82-7C2E-574D-9930-014FEBD15426}"/>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52011" name="Hydro-UAI Hydro-UAI Course">
            <a:extLst xmlns:a="http://schemas.openxmlformats.org/drawingml/2006/main">
              <a:ext uri="{FF2B5EF4-FFF2-40B4-BE49-F238E27FC236}">
                <a16:creationId xmlns:a16="http://schemas.microsoft.com/office/drawing/2014/main" id="{16D4D922-F310-5608-9B94-00F314BABEDB}"/>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52012" name="Hydro-UAI 52 / 62">
            <a:extLst xmlns:a="http://schemas.openxmlformats.org/drawingml/2006/main">
              <a:ext uri="{FF2B5EF4-FFF2-40B4-BE49-F238E27FC236}">
                <a16:creationId xmlns:a16="http://schemas.microsoft.com/office/drawing/2014/main" id="{C07A0917-A6B9-5A7C-8289-05627420C156}"/>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58 / 68</a:t>
            </a:r>
          </a:p>
        </p:txBody>
      </p:sp>
    </p:spTree>
    <p:extLst>
      <p:ext uri="{BB962C8B-B14F-4D97-AF65-F5344CB8AC3E}">
        <p14:creationId xmlns:p14="http://schemas.microsoft.com/office/powerpoint/2010/main" val="3991283715"/>
      </p:ext>
    </p:extLst>
  </p:cSld>
</p:sld>
</file>

<file path=ppt/slides/slide53.xml><?xml version="1.0" encoding="utf-8"?>
<p:sld xmlns:p="http://schemas.openxmlformats.org/presentationml/2006/main">
  <p:cSld>
    <p:spTree>
      <p:nvGrpSpPr>
        <p:cNvPr id="53001" name=""/>
        <p:cNvGrpSpPr/>
        <p:nvPr/>
      </p:nvGrpSpPr>
      <p:grpSpPr>
        <a:xfrm xmlns:a="http://schemas.openxmlformats.org/drawingml/2006/main"/>
      </p:grpSpPr>
      <p:sp>
        <p:nvSpPr>
          <p:cNvPr id="53002" name="Retângulo 6">
            <a:extLst xmlns:a="http://schemas.openxmlformats.org/drawingml/2006/main">
              <a:ext uri="{FF2B5EF4-FFF2-40B4-BE49-F238E27FC236}">
                <a16:creationId xmlns:a16="http://schemas.microsoft.com/office/drawing/2014/main" id="{B1287A23-954E-5BB0-AF7A-3EF0C35C29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53003" name=""/>
          <p:cNvGraphicFramePr/>
          <p:nvPr/>
        </p:nvGraphicFramePr>
        <p:xfrm>
          <a:off xmlns:a="http://schemas.openxmlformats.org/drawingml/2006/main" x="457200" y="2619375"/>
          <a:ext xmlns:a="http://schemas.openxmlformats.org/drawingml/2006/main" cx="11277600" cy="3190875"/>
        </p:xfrm>
        <a:graphic xmlns:a="http://schemas.openxmlformats.org/drawingml/2006/main">
          <a:graphicData uri="http://schemas.openxmlformats.org/drawingml/2006/table">
            <a:tbl>
              <a:tblPr/>
              <a:tblGrid>
                <a:gridCol w="4286250"/>
                <a:gridCol w="6991350"/>
              </a:tblGrid>
              <a:tr h="638175">
                <a:tc>
                  <a:txBody>
                    <a:bodyPr lIns="85725" tIns="57150" rIns="85725" bIns="57150">
                      <a:noAutofit/>
                    </a:bodyPr>
                    <a:lstStyle/>
                    <a:p>
                      <a:pPr algn="l">
                        <a:buNone/>
                      </a:pPr>
                      <a:r>
                        <a:rPr sz="1725" b="1">
                          <a:solidFill>
                            <a:srgbClr val="FFFFFF"/>
                          </a:solidFill>
                          <a:latin typeface="JetBrains Mono"/>
                          <a:ea typeface="JetBrains Mono"/>
                          <a:cs typeface="JetBrains Mono"/>
                        </a:rPr>
                        <a:t>Objeto avaliado</a:t>
                      </a:r>
                    </a:p>
                  </a:txBody>
                  <a:tcPr marL="91440" marR="91440" marT="45720" marB="45720" anchor="ctr">
                    <a:solidFill>
                      <a:srgbClr val="0053EB"/>
                    </a:solidFill>
                  </a:tcPr>
                </a:tc>
                <a:tc>
                  <a:txBody>
                    <a:bodyPr lIns="85725" tIns="57150" rIns="85725" bIns="57150">
                      <a:noAutofit/>
                    </a:bodyPr>
                    <a:lstStyle/>
                    <a:p>
                      <a:pPr algn="l">
                        <a:buNone/>
                      </a:pPr>
                      <a:r>
                        <a:rPr sz="1725" b="1">
                          <a:solidFill>
                            <a:srgbClr val="FFFFFF"/>
                          </a:solidFill>
                          <a:latin typeface="JetBrains Mono"/>
                          <a:ea typeface="JetBrains Mono"/>
                          <a:cs typeface="JetBrains Mono"/>
                        </a:rPr>
                        <a:t>Verificação</a:t>
                      </a:r>
                    </a:p>
                  </a:txBody>
                  <a:tcPr marL="91440" marR="91440" marT="45720" marB="45720" anchor="ctr">
                    <a:solidFill>
                      <a:srgbClr val="0053EB"/>
                    </a:solidFill>
                  </a:tcPr>
                </a:tc>
              </a:tr>
              <a:tr h="638175">
                <a:tc>
                  <a:txBody>
                    <a:bodyPr lIns="85725" tIns="57150" rIns="85725" bIns="57150">
                      <a:noAutofit/>
                    </a:bodyPr>
                    <a:lstStyle/>
                    <a:p>
                      <a:pPr algn="l">
                        <a:buNone/>
                      </a:pPr>
                      <a:r>
                        <a:rPr sz="1725" b="0">
                          <a:solidFill>
                            <a:srgbClr val="FFFFFF"/>
                          </a:solidFill>
                          <a:latin typeface="JetBrains Mono"/>
                          <a:ea typeface="JetBrains Mono"/>
                          <a:cs typeface="JetBrains Mono"/>
                        </a:rPr>
                        <a:t>Resposta sobre documentos</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Fidelidade ao trecho, fonte e versão.</a:t>
                      </a:r>
                    </a:p>
                  </a:txBody>
                  <a:tcPr marL="91440" marR="91440" marT="45720" marB="45720" anchor="ctr">
                    <a:solidFill>
                      <a:srgbClr val="000F29"/>
                    </a:solidFill>
                  </a:tcPr>
                </a:tc>
              </a:tr>
              <a:tr h="638175">
                <a:tc>
                  <a:txBody>
                    <a:bodyPr lIns="85725" tIns="57150" rIns="85725" bIns="57150">
                      <a:noAutofit/>
                    </a:bodyPr>
                    <a:lstStyle/>
                    <a:p>
                      <a:pPr algn="l">
                        <a:buNone/>
                      </a:pPr>
                      <a:r>
                        <a:rPr sz="1725" b="0">
                          <a:solidFill>
                            <a:srgbClr val="FFFFFF"/>
                          </a:solidFill>
                          <a:latin typeface="JetBrains Mono"/>
                          <a:ea typeface="JetBrains Mono"/>
                          <a:cs typeface="JetBrains Mono"/>
                        </a:rPr>
                        <a:t>Código ou preparação de dados</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Execução, unidades, estrutura e resultado conferível.</a:t>
                      </a:r>
                    </a:p>
                  </a:txBody>
                  <a:tcPr marL="91440" marR="91440" marT="45720" marB="45720" anchor="ctr">
                    <a:solidFill>
                      <a:srgbClr val="000F29"/>
                    </a:solidFill>
                  </a:tcPr>
                </a:tc>
              </a:tr>
              <a:tr h="638175">
                <a:tc>
                  <a:txBody>
                    <a:bodyPr lIns="85725" tIns="57150" rIns="85725" bIns="57150">
                      <a:noAutofit/>
                    </a:bodyPr>
                    <a:lstStyle/>
                    <a:p>
                      <a:pPr algn="l">
                        <a:buNone/>
                      </a:pPr>
                      <a:r>
                        <a:rPr sz="1725" b="0">
                          <a:solidFill>
                            <a:srgbClr val="FFFFFF"/>
                          </a:solidFill>
                          <a:latin typeface="JetBrains Mono"/>
                          <a:ea typeface="JetBrains Mono"/>
                          <a:cs typeface="JetBrains Mono"/>
                        </a:rPr>
                        <a:t>Simulação e previsão</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Métricas numéricas, baseline e dados fora do ajuste.</a:t>
                      </a:r>
                    </a:p>
                  </a:txBody>
                  <a:tcPr marL="91440" marR="91440" marT="45720" marB="45720" anchor="ctr">
                    <a:solidFill>
                      <a:srgbClr val="000F29"/>
                    </a:solidFill>
                  </a:tcPr>
                </a:tc>
              </a:tr>
              <a:tr h="638175">
                <a:tc>
                  <a:txBody>
                    <a:bodyPr lIns="85725" tIns="57150" rIns="85725" bIns="57150">
                      <a:noAutofit/>
                    </a:bodyPr>
                    <a:lstStyle/>
                    <a:p>
                      <a:pPr algn="l">
                        <a:buNone/>
                      </a:pPr>
                      <a:r>
                        <a:rPr sz="1725" b="0">
                          <a:solidFill>
                            <a:srgbClr val="FFFFFF"/>
                          </a:solidFill>
                          <a:latin typeface="JetBrains Mono"/>
                          <a:ea typeface="JetBrains Mono"/>
                          <a:cs typeface="JetBrains Mono"/>
                        </a:rPr>
                        <a:t>Boletim</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Correspondência com números, horizonte e incerteza.</a:t>
                      </a:r>
                    </a:p>
                  </a:txBody>
                  <a:tcPr marL="91440" marR="91440" marT="45720" marB="45720" anchor="ctr">
                    <a:solidFill>
                      <a:srgbClr val="000F29"/>
                    </a:solidFill>
                  </a:tcPr>
                </a:tc>
              </a:tr>
            </a:tbl>
          </a:graphicData>
        </a:graphic>
      </p:graphicFrame>
      <p:sp>
        <p:nvSpPr>
          <p:cNvPr id="53004" name="Avaliação do LLM e do fluxo de model">
            <a:extLst xmlns:a="http://schemas.openxmlformats.org/drawingml/2006/main">
              <a:ext uri="{FF2B5EF4-FFF2-40B4-BE49-F238E27FC236}">
                <a16:creationId xmlns:a16="http://schemas.microsoft.com/office/drawing/2014/main" id="{FB09319E-00B2-58B5-9845-10E492E64C35}"/>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Avaliação do LLM e do fluxo de modelagem</a:t>
            </a:r>
          </a:p>
        </p:txBody>
      </p:sp>
      <p:pic>
        <p:nvPicPr>
          <p:cNvPr id="53005" name="Imagem 13"/>
          <p:cNvPicPr>
            <a:picLocks xmlns:a="http://schemas.openxmlformats.org/drawingml/2006/main" noChangeAspect="1"/>
          </p:cNvPicPr>
          <p:nvPr/>
        </p:nvPicPr>
        <p:blipFill>
          <a:blip xmlns:r="http://schemas.openxmlformats.org/officeDocument/2006/relationships" xmlns:a="http://schemas.openxmlformats.org/drawingml/2006/main" r:embed="R70fbdb17d7844606"/>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53006" name="Hydro-UAI Modelos de linguagem">
            <a:extLst xmlns:a="http://schemas.openxmlformats.org/drawingml/2006/main">
              <a:ext uri="{FF2B5EF4-FFF2-40B4-BE49-F238E27FC236}">
                <a16:creationId xmlns:a16="http://schemas.microsoft.com/office/drawing/2014/main" id="{D07F1208-005B-5165-8DC0-465DED657FFC}"/>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Modelos de linguagem</a:t>
            </a:r>
          </a:p>
        </p:txBody>
      </p:sp>
      <p:sp>
        <p:nvSpPr>
          <p:cNvPr id="53007" name="Divisor Hydro-UAI">
            <a:extLst xmlns:a="http://schemas.openxmlformats.org/drawingml/2006/main">
              <a:ext uri="{FF2B5EF4-FFF2-40B4-BE49-F238E27FC236}">
                <a16:creationId xmlns:a16="http://schemas.microsoft.com/office/drawing/2014/main" id="{EF78149D-6222-5F1B-A353-A8538A3584E5}"/>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53008" name="Hydro-UAI Hydro-UAI Course">
            <a:extLst xmlns:a="http://schemas.openxmlformats.org/drawingml/2006/main">
              <a:ext uri="{FF2B5EF4-FFF2-40B4-BE49-F238E27FC236}">
                <a16:creationId xmlns:a16="http://schemas.microsoft.com/office/drawing/2014/main" id="{607A732F-1A58-5CD6-AA34-420744634901}"/>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53009" name="Hydro-UAI 53 / 62">
            <a:extLst xmlns:a="http://schemas.openxmlformats.org/drawingml/2006/main">
              <a:ext uri="{FF2B5EF4-FFF2-40B4-BE49-F238E27FC236}">
                <a16:creationId xmlns:a16="http://schemas.microsoft.com/office/drawing/2014/main" id="{898D5877-F9D0-5026-AFAA-6C5A29FE3270}"/>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59 / 68</a:t>
            </a:r>
          </a:p>
        </p:txBody>
      </p:sp>
    </p:spTree>
    <p:extLst>
      <p:ext uri="{BB962C8B-B14F-4D97-AF65-F5344CB8AC3E}">
        <p14:creationId xmlns:p14="http://schemas.microsoft.com/office/powerpoint/2010/main" val="3991283715"/>
      </p:ext>
    </p:extLst>
  </p:cSld>
</p:sld>
</file>

<file path=ppt/slides/slide54.xml><?xml version="1.0" encoding="utf-8"?>
<p:sld xmlns:p="http://schemas.openxmlformats.org/presentationml/2006/main">
  <p:cSld>
    <p:spTree>
      <p:nvGrpSpPr>
        <p:cNvPr id="54001" name=""/>
        <p:cNvGrpSpPr/>
        <p:nvPr/>
      </p:nvGrpSpPr>
      <p:grpSpPr>
        <a:xfrm xmlns:a="http://schemas.openxmlformats.org/drawingml/2006/main"/>
      </p:grpSpPr>
      <p:sp>
        <p:nvSpPr>
          <p:cNvPr id="54002" name="Retângulo 6">
            <a:extLst xmlns:a="http://schemas.openxmlformats.org/drawingml/2006/main">
              <a:ext uri="{FF2B5EF4-FFF2-40B4-BE49-F238E27FC236}">
                <a16:creationId xmlns:a16="http://schemas.microsoft.com/office/drawing/2014/main" id="{B00FAB14-4306-5EEC-B6C1-9E00B3F6BE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003" name="Incerteza da previsão e confiança na">
            <a:extLst xmlns:a="http://schemas.openxmlformats.org/drawingml/2006/main">
              <a:ext uri="{FF2B5EF4-FFF2-40B4-BE49-F238E27FC236}">
                <a16:creationId xmlns:a16="http://schemas.microsoft.com/office/drawing/2014/main" id="{890B706A-F6C3-533B-BFCD-73F25AE1B1B0}"/>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Incerteza da previsão e confiança na linguagem</a:t>
            </a:r>
          </a:p>
        </p:txBody>
      </p:sp>
      <p:sp>
        <p:nvSpPr>
          <p:cNvPr id="54004" name="Texto do LLM">
            <a:extLst xmlns:a="http://schemas.openxmlformats.org/drawingml/2006/main">
              <a:ext uri="{FF2B5EF4-FFF2-40B4-BE49-F238E27FC236}">
                <a16:creationId xmlns:a16="http://schemas.microsoft.com/office/drawing/2014/main" id="{8881F2B2-90EB-5A54-BB2E-E2C57F3FB7C5}"/>
              </a:ext>
            </a:extLst>
          </p:cNvPr>
          <p:cNvSpPr>
            <a:spLocks xmlns:a="http://schemas.openxmlformats.org/drawingml/2006/main" noGrp="1"/>
          </p:cNvSpPr>
          <p:nvPr/>
        </p:nvSpPr>
        <p:spPr>
          <a:xfrm xmlns:a="http://schemas.openxmlformats.org/drawingml/2006/main">
            <a:off x="457200" y="261937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Texto do LLM</a:t>
            </a:r>
          </a:p>
        </p:txBody>
      </p:sp>
      <p:sp>
        <p:nvSpPr>
          <p:cNvPr id="54005" name="Probabilidade de tokens condicionada">
            <a:extLst xmlns:a="http://schemas.openxmlformats.org/drawingml/2006/main">
              <a:ext uri="{FF2B5EF4-FFF2-40B4-BE49-F238E27FC236}">
                <a16:creationId xmlns:a16="http://schemas.microsoft.com/office/drawing/2014/main" id="{DFD7B580-0452-5921-BDED-1F3A05F15C77}"/>
              </a:ext>
            </a:extLst>
          </p:cNvPr>
          <p:cNvSpPr>
            <a:spLocks xmlns:a="http://schemas.openxmlformats.org/drawingml/2006/main" noGrp="1"/>
          </p:cNvSpPr>
          <p:nvPr/>
        </p:nvSpPr>
        <p:spPr>
          <a:xfrm xmlns:a="http://schemas.openxmlformats.org/drawingml/2006/main">
            <a:off x="4057650" y="2619375"/>
            <a:ext cx="7677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Probabilidade de tokens condicionada ao contexto.</a:t>
            </a:r>
          </a:p>
        </p:txBody>
      </p:sp>
      <p:sp>
        <p:nvSpPr>
          <p:cNvPr id="54006" name="Previsão hidrológica">
            <a:extLst xmlns:a="http://schemas.openxmlformats.org/drawingml/2006/main">
              <a:ext uri="{FF2B5EF4-FFF2-40B4-BE49-F238E27FC236}">
                <a16:creationId xmlns:a16="http://schemas.microsoft.com/office/drawing/2014/main" id="{7301B4F0-65BE-5C1A-9DDB-BDCBCDD9DCF6}"/>
              </a:ext>
            </a:extLst>
          </p:cNvPr>
          <p:cNvSpPr>
            <a:spLocks xmlns:a="http://schemas.openxmlformats.org/drawingml/2006/main" noGrp="1"/>
          </p:cNvSpPr>
          <p:nvPr/>
        </p:nvSpPr>
        <p:spPr>
          <a:xfrm xmlns:a="http://schemas.openxmlformats.org/drawingml/2006/main">
            <a:off x="457200" y="341947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Previsão hidrológica</a:t>
            </a:r>
          </a:p>
        </p:txBody>
      </p:sp>
      <p:sp>
        <p:nvSpPr>
          <p:cNvPr id="54007" name="Distribuição ou intervalo obtido de ">
            <a:extLst xmlns:a="http://schemas.openxmlformats.org/drawingml/2006/main">
              <a:ext uri="{FF2B5EF4-FFF2-40B4-BE49-F238E27FC236}">
                <a16:creationId xmlns:a16="http://schemas.microsoft.com/office/drawing/2014/main" id="{9419DA7C-E9CB-5527-A4C4-BB4873F6E878}"/>
              </a:ext>
            </a:extLst>
          </p:cNvPr>
          <p:cNvSpPr>
            <a:spLocks xmlns:a="http://schemas.openxmlformats.org/drawingml/2006/main" noGrp="1"/>
          </p:cNvSpPr>
          <p:nvPr/>
        </p:nvSpPr>
        <p:spPr>
          <a:xfrm xmlns:a="http://schemas.openxmlformats.org/drawingml/2006/main">
            <a:off x="4057650" y="3419475"/>
            <a:ext cx="7677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Distribuição ou intervalo obtido de um método numérico.</a:t>
            </a:r>
          </a:p>
        </p:txBody>
      </p:sp>
      <p:sp>
        <p:nvSpPr>
          <p:cNvPr id="54008" name="Conferência do boletim">
            <a:extLst xmlns:a="http://schemas.openxmlformats.org/drawingml/2006/main">
              <a:ext uri="{FF2B5EF4-FFF2-40B4-BE49-F238E27FC236}">
                <a16:creationId xmlns:a16="http://schemas.microsoft.com/office/drawing/2014/main" id="{AD9BDEA6-FC94-50E5-90DF-38C24D8A122D}"/>
              </a:ext>
            </a:extLst>
          </p:cNvPr>
          <p:cNvSpPr>
            <a:spLocks xmlns:a="http://schemas.openxmlformats.org/drawingml/2006/main" noGrp="1"/>
          </p:cNvSpPr>
          <p:nvPr/>
        </p:nvSpPr>
        <p:spPr>
          <a:xfrm xmlns:a="http://schemas.openxmlformats.org/drawingml/2006/main">
            <a:off x="457200" y="421957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Conferência do boletim</a:t>
            </a:r>
          </a:p>
        </p:txBody>
      </p:sp>
      <p:sp>
        <p:nvSpPr>
          <p:cNvPr id="54009" name="Horizonte, cobertura e origem da mar">
            <a:extLst xmlns:a="http://schemas.openxmlformats.org/drawingml/2006/main">
              <a:ext uri="{FF2B5EF4-FFF2-40B4-BE49-F238E27FC236}">
                <a16:creationId xmlns:a16="http://schemas.microsoft.com/office/drawing/2014/main" id="{A2FE123E-E5B1-5455-8BFD-9AAE9B32EF53}"/>
              </a:ext>
            </a:extLst>
          </p:cNvPr>
          <p:cNvSpPr>
            <a:spLocks xmlns:a="http://schemas.openxmlformats.org/drawingml/2006/main" noGrp="1"/>
          </p:cNvSpPr>
          <p:nvPr/>
        </p:nvSpPr>
        <p:spPr>
          <a:xfrm xmlns:a="http://schemas.openxmlformats.org/drawingml/2006/main">
            <a:off x="4057650" y="4219575"/>
            <a:ext cx="7677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Horizonte, cobertura e origem da margem precisam aparecer.</a:t>
            </a:r>
          </a:p>
        </p:txBody>
      </p:sp>
      <p:sp>
        <p:nvSpPr>
          <p:cNvPr id="54010" name="Dado ausente">
            <a:extLst xmlns:a="http://schemas.openxmlformats.org/drawingml/2006/main">
              <a:ext uri="{FF2B5EF4-FFF2-40B4-BE49-F238E27FC236}">
                <a16:creationId xmlns:a16="http://schemas.microsoft.com/office/drawing/2014/main" id="{5ABA428C-5FCC-50F2-B1CC-4CF52B05DD46}"/>
              </a:ext>
            </a:extLst>
          </p:cNvPr>
          <p:cNvSpPr>
            <a:spLocks xmlns:a="http://schemas.openxmlformats.org/drawingml/2006/main" noGrp="1"/>
          </p:cNvSpPr>
          <p:nvPr/>
        </p:nvSpPr>
        <p:spPr>
          <a:xfrm xmlns:a="http://schemas.openxmlformats.org/drawingml/2006/main">
            <a:off x="457200" y="501967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Dado ausente</a:t>
            </a:r>
          </a:p>
        </p:txBody>
      </p:sp>
      <p:sp>
        <p:nvSpPr>
          <p:cNvPr id="54011" name="O texto deve preservar a lacuna e su">
            <a:extLst xmlns:a="http://schemas.openxmlformats.org/drawingml/2006/main">
              <a:ext uri="{FF2B5EF4-FFF2-40B4-BE49-F238E27FC236}">
                <a16:creationId xmlns:a16="http://schemas.microsoft.com/office/drawing/2014/main" id="{0246A108-3283-5465-BD42-1F695F5175AA}"/>
              </a:ext>
            </a:extLst>
          </p:cNvPr>
          <p:cNvSpPr>
            <a:spLocks xmlns:a="http://schemas.openxmlformats.org/drawingml/2006/main" noGrp="1"/>
          </p:cNvSpPr>
          <p:nvPr/>
        </p:nvSpPr>
        <p:spPr>
          <a:xfrm xmlns:a="http://schemas.openxmlformats.org/drawingml/2006/main">
            <a:off x="4057650" y="5019675"/>
            <a:ext cx="7677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O texto deve preservar a lacuna e sua consequência.</a:t>
            </a:r>
          </a:p>
        </p:txBody>
      </p:sp>
      <p:pic>
        <p:nvPicPr>
          <p:cNvPr id="54012" name="Imagem 13"/>
          <p:cNvPicPr>
            <a:picLocks xmlns:a="http://schemas.openxmlformats.org/drawingml/2006/main" noChangeAspect="1"/>
          </p:cNvPicPr>
          <p:nvPr/>
        </p:nvPicPr>
        <p:blipFill>
          <a:blip xmlns:r="http://schemas.openxmlformats.org/officeDocument/2006/relationships" xmlns:a="http://schemas.openxmlformats.org/drawingml/2006/main" r:embed="R98ba9ac4ffb942b2"/>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54013" name="Hydro-UAI Modelos de linguagem">
            <a:extLst xmlns:a="http://schemas.openxmlformats.org/drawingml/2006/main">
              <a:ext uri="{FF2B5EF4-FFF2-40B4-BE49-F238E27FC236}">
                <a16:creationId xmlns:a16="http://schemas.microsoft.com/office/drawing/2014/main" id="{090DFF6A-AA7B-5D24-98EA-CC7E9E70E622}"/>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Modelos de linguagem</a:t>
            </a:r>
          </a:p>
        </p:txBody>
      </p:sp>
      <p:sp>
        <p:nvSpPr>
          <p:cNvPr id="54014" name="Divisor Hydro-UAI">
            <a:extLst xmlns:a="http://schemas.openxmlformats.org/drawingml/2006/main">
              <a:ext uri="{FF2B5EF4-FFF2-40B4-BE49-F238E27FC236}">
                <a16:creationId xmlns:a16="http://schemas.microsoft.com/office/drawing/2014/main" id="{74F91932-266E-57CF-8CCA-12E38CF6B00B}"/>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54015" name="Hydro-UAI Hydro-UAI Course">
            <a:extLst xmlns:a="http://schemas.openxmlformats.org/drawingml/2006/main">
              <a:ext uri="{FF2B5EF4-FFF2-40B4-BE49-F238E27FC236}">
                <a16:creationId xmlns:a16="http://schemas.microsoft.com/office/drawing/2014/main" id="{C2F6FB7D-9B07-5FB7-AEE4-D0D2CC59377E}"/>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54016" name="Hydro-UAI 54 / 62">
            <a:extLst xmlns:a="http://schemas.openxmlformats.org/drawingml/2006/main">
              <a:ext uri="{FF2B5EF4-FFF2-40B4-BE49-F238E27FC236}">
                <a16:creationId xmlns:a16="http://schemas.microsoft.com/office/drawing/2014/main" id="{EE23B631-C25F-5D1C-AE48-1262135E1170}"/>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60 / 68</a:t>
            </a:r>
          </a:p>
        </p:txBody>
      </p:sp>
    </p:spTree>
    <p:extLst>
      <p:ext uri="{BB962C8B-B14F-4D97-AF65-F5344CB8AC3E}">
        <p14:creationId xmlns:p14="http://schemas.microsoft.com/office/powerpoint/2010/main" val="3991283715"/>
      </p:ext>
    </p:extLst>
  </p:cSld>
</p:sld>
</file>

<file path=ppt/slides/slide55.xml><?xml version="1.0" encoding="utf-8"?>
<p:sld xmlns:p="http://schemas.openxmlformats.org/presentationml/2006/main">
  <p:cSld>
    <p:spTree>
      <p:nvGrpSpPr>
        <p:cNvPr id="55001" name=""/>
        <p:cNvGrpSpPr/>
        <p:nvPr/>
      </p:nvGrpSpPr>
      <p:grpSpPr>
        <a:xfrm xmlns:a="http://schemas.openxmlformats.org/drawingml/2006/main"/>
      </p:grpSpPr>
      <p:sp>
        <p:nvSpPr>
          <p:cNvPr id="55002" name="Retângulo 6">
            <a:extLst xmlns:a="http://schemas.openxmlformats.org/drawingml/2006/main">
              <a:ext uri="{FF2B5EF4-FFF2-40B4-BE49-F238E27FC236}">
                <a16:creationId xmlns:a16="http://schemas.microsoft.com/office/drawing/2014/main" id="{054C37C9-673A-5577-A5FE-9D5796B886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003" name="Um fluxo que reúne as ferramentas">
            <a:extLst xmlns:a="http://schemas.openxmlformats.org/drawingml/2006/main">
              <a:ext uri="{FF2B5EF4-FFF2-40B4-BE49-F238E27FC236}">
                <a16:creationId xmlns:a16="http://schemas.microsoft.com/office/drawing/2014/main" id="{A9A0CE02-51EC-5EE6-B797-B6AD0AF7EEFB}"/>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Um fluxo que reúne as ferramentas</a:t>
            </a:r>
          </a:p>
        </p:txBody>
      </p:sp>
      <p:sp>
        <p:nvSpPr>
          <p:cNvPr id="55004" name="Mapas e&#10;séries">
            <a:extLst xmlns:a="http://schemas.openxmlformats.org/drawingml/2006/main">
              <a:ext uri="{FF2B5EF4-FFF2-40B4-BE49-F238E27FC236}">
                <a16:creationId xmlns:a16="http://schemas.microsoft.com/office/drawing/2014/main" id="{BAC0AE73-E985-5D65-A635-4B8FE8B89069}"/>
              </a:ext>
            </a:extLst>
          </p:cNvPr>
          <p:cNvSpPr>
            <a:spLocks xmlns:a="http://schemas.openxmlformats.org/drawingml/2006/main" noGrp="1"/>
          </p:cNvSpPr>
          <p:nvPr/>
        </p:nvSpPr>
        <p:spPr>
          <a:xfrm xmlns:a="http://schemas.openxmlformats.org/drawingml/2006/main">
            <a:off x="457200" y="2781300"/>
            <a:ext cx="2305050" cy="90487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Mapas e</a:t>
            </a:r>
          </a:p>
          <a:p xmlns:a="http://schemas.openxmlformats.org/drawingml/2006/main">
            <a:pPr algn="ctr">
              <a:buNone/>
              <a:defRPr sz="1875" b="1">
                <a:solidFill>
                  <a:srgbClr val="FFFFFF"/>
                </a:solidFill>
                <a:latin typeface="JetBrains Mono"/>
                <a:ea typeface="JetBrains Mono"/>
                <a:cs typeface="JetBrains Mono"/>
              </a:defRPr>
            </a:pPr>
            <a:r>
              <a:rPr sz="1875" b="1">
                <a:solidFill>
                  <a:srgbClr val="FFFFFF"/>
                </a:solidFill>
                <a:latin typeface="JetBrains Mono"/>
                <a:ea typeface="JetBrains Mono"/>
                <a:cs typeface="JetBrains Mono"/>
              </a:rPr>
              <a:t>séries</a:t>
            </a:r>
          </a:p>
        </p:txBody>
      </p:sp>
      <p:sp>
        <p:nvSpPr>
          <p:cNvPr id="55005" name="Modelo de&#10;previsão com CNN">
            <a:extLst xmlns:a="http://schemas.openxmlformats.org/drawingml/2006/main">
              <a:ext uri="{FF2B5EF4-FFF2-40B4-BE49-F238E27FC236}">
                <a16:creationId xmlns:a16="http://schemas.microsoft.com/office/drawing/2014/main" id="{3B0CEA5A-D9E1-5C08-9205-7FA8A0039B7D}"/>
              </a:ext>
            </a:extLst>
          </p:cNvPr>
          <p:cNvSpPr>
            <a:spLocks xmlns:a="http://schemas.openxmlformats.org/drawingml/2006/main" noGrp="1"/>
          </p:cNvSpPr>
          <p:nvPr/>
        </p:nvSpPr>
        <p:spPr>
          <a:xfrm xmlns:a="http://schemas.openxmlformats.org/drawingml/2006/main">
            <a:off x="3505200" y="2781300"/>
            <a:ext cx="2933700" cy="904875"/>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Modelo de</a:t>
            </a:r>
          </a:p>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previsão com CNN</a:t>
            </a:r>
          </a:p>
        </p:txBody>
      </p:sp>
      <p:sp>
        <p:nvSpPr>
          <p:cNvPr id="55006" name="Q prevista e&#10;incerteza avaliada">
            <a:extLst xmlns:a="http://schemas.openxmlformats.org/drawingml/2006/main">
              <a:ext uri="{FF2B5EF4-FFF2-40B4-BE49-F238E27FC236}">
                <a16:creationId xmlns:a16="http://schemas.microsoft.com/office/drawing/2014/main" id="{581A7A68-8C47-54FE-AB45-96152D21DB3D}"/>
              </a:ext>
            </a:extLst>
          </p:cNvPr>
          <p:cNvSpPr>
            <a:spLocks xmlns:a="http://schemas.openxmlformats.org/drawingml/2006/main" noGrp="1"/>
          </p:cNvSpPr>
          <p:nvPr/>
        </p:nvSpPr>
        <p:spPr>
          <a:xfrm xmlns:a="http://schemas.openxmlformats.org/drawingml/2006/main">
            <a:off x="7543800" y="2781300"/>
            <a:ext cx="3676650" cy="904875"/>
          </a:xfrm>
          <a:prstGeom xmlns:a="http://schemas.openxmlformats.org/drawingml/2006/main" prst="rect">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Q prevista e</a:t>
            </a:r>
          </a:p>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incerteza avaliada</a:t>
            </a:r>
          </a:p>
        </p:txBody>
      </p:sp>
      <p:cxnSp>
        <p:nvCxnSpPr>
          <p:cNvPr id="55007" name=""/>
          <p:cNvCxnSpPr>
            <a:stCxn xmlns:a="http://schemas.openxmlformats.org/drawingml/2006/main" id="55004" idx="3"/>
            <a:endCxn xmlns:a="http://schemas.openxmlformats.org/drawingml/2006/main" id="55005" idx="1"/>
          </p:cNvCxnSpPr>
          <p:nvPr/>
        </p:nvCxnSpPr>
        <p:spPr>
          <a:xfrm xmlns:a="http://schemas.openxmlformats.org/drawingml/2006/main">
            <a:off x="2762250" y="3233738"/>
            <a:ext cx="742950" cy="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55008" name=""/>
          <p:cNvCxnSpPr>
            <a:stCxn xmlns:a="http://schemas.openxmlformats.org/drawingml/2006/main" id="55005" idx="3"/>
            <a:endCxn xmlns:a="http://schemas.openxmlformats.org/drawingml/2006/main" id="55006" idx="1"/>
          </p:cNvCxnSpPr>
          <p:nvPr/>
        </p:nvCxnSpPr>
        <p:spPr>
          <a:xfrm xmlns:a="http://schemas.openxmlformats.org/drawingml/2006/main">
            <a:off x="6438900" y="3233738"/>
            <a:ext cx="1104900" cy="0"/>
          </a:xfrm>
          <a:prstGeom xmlns:a="http://schemas.openxmlformats.org/drawingml/2006/main" prst="straightConnector1">
            <a:avLst/>
          </a:prstGeom>
          <a:ln xmlns:a="http://schemas.openxmlformats.org/drawingml/2006/main" w="19050">
            <a:solidFill>
              <a:srgbClr val="71E7BD"/>
            </a:solidFill>
            <a:tailEnd type="triangle" w="sm" len="sm"/>
          </a:ln>
        </p:spPr>
      </p:cxnSp>
      <p:sp>
        <p:nvSpPr>
          <p:cNvPr id="55009" name="XAI investiga&#10;as entradas">
            <a:extLst xmlns:a="http://schemas.openxmlformats.org/drawingml/2006/main">
              <a:ext uri="{FF2B5EF4-FFF2-40B4-BE49-F238E27FC236}">
                <a16:creationId xmlns:a16="http://schemas.microsoft.com/office/drawing/2014/main" id="{E8DB40E3-31E9-5A6B-9A4D-01056F0EB6CC}"/>
              </a:ext>
            </a:extLst>
          </p:cNvPr>
          <p:cNvSpPr>
            <a:spLocks xmlns:a="http://schemas.openxmlformats.org/drawingml/2006/main" noGrp="1"/>
          </p:cNvSpPr>
          <p:nvPr/>
        </p:nvSpPr>
        <p:spPr>
          <a:xfrm xmlns:a="http://schemas.openxmlformats.org/drawingml/2006/main">
            <a:off x="3505200" y="4714875"/>
            <a:ext cx="2933700" cy="90487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XAI investiga</a:t>
            </a:r>
          </a:p>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as entradas</a:t>
            </a:r>
          </a:p>
        </p:txBody>
      </p:sp>
      <p:sp>
        <p:nvSpPr>
          <p:cNvPr id="55010" name="LLM + ferramentas&#10;produzem o boletim">
            <a:extLst xmlns:a="http://schemas.openxmlformats.org/drawingml/2006/main">
              <a:ext uri="{FF2B5EF4-FFF2-40B4-BE49-F238E27FC236}">
                <a16:creationId xmlns:a16="http://schemas.microsoft.com/office/drawing/2014/main" id="{D2366D34-80B6-5F7B-BB0D-69DB9567BEF6}"/>
              </a:ext>
            </a:extLst>
          </p:cNvPr>
          <p:cNvSpPr>
            <a:spLocks xmlns:a="http://schemas.openxmlformats.org/drawingml/2006/main" noGrp="1"/>
          </p:cNvSpPr>
          <p:nvPr/>
        </p:nvSpPr>
        <p:spPr>
          <a:xfrm xmlns:a="http://schemas.openxmlformats.org/drawingml/2006/main">
            <a:off x="7543800" y="4714875"/>
            <a:ext cx="3676650" cy="904875"/>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LLM + ferramentas</a:t>
            </a:r>
          </a:p>
          <a:p xmlns:a="http://schemas.openxmlformats.org/drawingml/2006/main">
            <a:pPr algn="ctr">
              <a:buNone/>
              <a:defRPr sz="1650" b="1">
                <a:solidFill>
                  <a:srgbClr val="FFFFFF"/>
                </a:solidFill>
                <a:latin typeface="JetBrains Mono"/>
                <a:ea typeface="JetBrains Mono"/>
                <a:cs typeface="JetBrains Mono"/>
              </a:defRPr>
            </a:pPr>
            <a:r>
              <a:rPr sz="1650" b="1">
                <a:solidFill>
                  <a:srgbClr val="FFFFFF"/>
                </a:solidFill>
                <a:latin typeface="JetBrains Mono"/>
                <a:ea typeface="JetBrains Mono"/>
                <a:cs typeface="JetBrains Mono"/>
              </a:rPr>
              <a:t>produzem o boletim</a:t>
            </a:r>
          </a:p>
        </p:txBody>
      </p:sp>
      <p:cxnSp>
        <p:nvCxnSpPr>
          <p:cNvPr id="55011" name=""/>
          <p:cNvCxnSpPr>
            <a:stCxn xmlns:a="http://schemas.openxmlformats.org/drawingml/2006/main" id="55005" idx="2"/>
            <a:endCxn xmlns:a="http://schemas.openxmlformats.org/drawingml/2006/main" id="55009" idx="0"/>
          </p:cNvCxnSpPr>
          <p:nvPr/>
        </p:nvCxnSpPr>
        <p:spPr>
          <a:xfrm xmlns:a="http://schemas.openxmlformats.org/drawingml/2006/main">
            <a:off x="4972050" y="3686175"/>
            <a:ext cx="0" cy="1028700"/>
          </a:xfrm>
          <a:prstGeom xmlns:a="http://schemas.openxmlformats.org/drawingml/2006/main" prst="straightConnector1">
            <a:avLst/>
          </a:prstGeom>
          <a:ln xmlns:a="http://schemas.openxmlformats.org/drawingml/2006/main" w="19050">
            <a:solidFill>
              <a:srgbClr val="83DFFF"/>
            </a:solidFill>
            <a:tailEnd type="triangle" w="sm" len="sm"/>
          </a:ln>
        </p:spPr>
      </p:cxnSp>
      <p:cxnSp>
        <p:nvCxnSpPr>
          <p:cNvPr id="55012" name=""/>
          <p:cNvCxnSpPr>
            <a:stCxn xmlns:a="http://schemas.openxmlformats.org/drawingml/2006/main" id="55006" idx="2"/>
            <a:endCxn xmlns:a="http://schemas.openxmlformats.org/drawingml/2006/main" id="55010" idx="0"/>
          </p:cNvCxnSpPr>
          <p:nvPr/>
        </p:nvCxnSpPr>
        <p:spPr>
          <a:xfrm xmlns:a="http://schemas.openxmlformats.org/drawingml/2006/main">
            <a:off x="9382125" y="3686175"/>
            <a:ext cx="0" cy="1028700"/>
          </a:xfrm>
          <a:prstGeom xmlns:a="http://schemas.openxmlformats.org/drawingml/2006/main" prst="straightConnector1">
            <a:avLst/>
          </a:prstGeom>
          <a:ln xmlns:a="http://schemas.openxmlformats.org/drawingml/2006/main" w="19050">
            <a:solidFill>
              <a:srgbClr val="71E7BD"/>
            </a:solidFill>
            <a:tailEnd type="triangle" w="sm" len="sm"/>
          </a:ln>
        </p:spPr>
      </p:cxnSp>
      <p:sp>
        <p:nvSpPr>
          <p:cNvPr id="55013" name="Física pode entrar no modelo&#10;ou em u">
            <a:extLst xmlns:a="http://schemas.openxmlformats.org/drawingml/2006/main">
              <a:ext uri="{FF2B5EF4-FFF2-40B4-BE49-F238E27FC236}">
                <a16:creationId xmlns:a16="http://schemas.microsoft.com/office/drawing/2014/main" id="{468BD037-1583-5DC1-84C0-5F2636042262}"/>
              </a:ext>
            </a:extLst>
          </p:cNvPr>
          <p:cNvSpPr>
            <a:spLocks xmlns:a="http://schemas.openxmlformats.org/drawingml/2006/main" noGrp="1"/>
          </p:cNvSpPr>
          <p:nvPr/>
        </p:nvSpPr>
        <p:spPr>
          <a:xfrm xmlns:a="http://schemas.openxmlformats.org/drawingml/2006/main">
            <a:off x="457200" y="4752975"/>
            <a:ext cx="26860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FFFFFF"/>
                </a:solidFill>
                <a:latin typeface="JetBrains Mono"/>
                <a:ea typeface="JetBrains Mono"/>
                <a:cs typeface="JetBrains Mono"/>
              </a:defRPr>
            </a:pPr>
            <a:r>
              <a:rPr sz="1575" b="0">
                <a:solidFill>
                  <a:srgbClr val="FFFFFF"/>
                </a:solidFill>
                <a:latin typeface="JetBrains Mono"/>
                <a:ea typeface="JetBrains Mono"/>
                <a:cs typeface="JetBrains Mono"/>
              </a:rPr>
              <a:t>Física pode entrar no modelo</a:t>
            </a:r>
          </a:p>
          <a:p xmlns:a="http://schemas.openxmlformats.org/drawingml/2006/main">
            <a:pPr algn="l">
              <a:buNone/>
              <a:defRPr sz="1575" b="0">
                <a:solidFill>
                  <a:srgbClr val="FFFFFF"/>
                </a:solidFill>
                <a:latin typeface="JetBrains Mono"/>
                <a:ea typeface="JetBrains Mono"/>
                <a:cs typeface="JetBrains Mono"/>
              </a:defRPr>
            </a:pPr>
            <a:r>
              <a:rPr sz="1575" b="0">
                <a:solidFill>
                  <a:srgbClr val="FFFFFF"/>
                </a:solidFill>
                <a:latin typeface="JetBrains Mono"/>
                <a:ea typeface="JetBrains Mono"/>
                <a:cs typeface="JetBrains Mono"/>
              </a:rPr>
              <a:t>ou em uma análise adicional.</a:t>
            </a:r>
          </a:p>
        </p:txBody>
      </p:sp>
      <p:pic>
        <p:nvPicPr>
          <p:cNvPr id="55014" name="Imagem 13"/>
          <p:cNvPicPr>
            <a:picLocks xmlns:a="http://schemas.openxmlformats.org/drawingml/2006/main" noChangeAspect="1"/>
          </p:cNvPicPr>
          <p:nvPr/>
        </p:nvPicPr>
        <p:blipFill>
          <a:blip xmlns:r="http://schemas.openxmlformats.org/officeDocument/2006/relationships" xmlns:a="http://schemas.openxmlformats.org/drawingml/2006/main" r:embed="R3c4bf74562bb450b"/>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55015" name="Hydro-UAI Integração e aplicações">
            <a:extLst xmlns:a="http://schemas.openxmlformats.org/drawingml/2006/main">
              <a:ext uri="{FF2B5EF4-FFF2-40B4-BE49-F238E27FC236}">
                <a16:creationId xmlns:a16="http://schemas.microsoft.com/office/drawing/2014/main" id="{23AF5397-5930-5C65-995C-DB2427D2F6D6}"/>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Integração e aplicações</a:t>
            </a:r>
          </a:p>
        </p:txBody>
      </p:sp>
      <p:sp>
        <p:nvSpPr>
          <p:cNvPr id="55016" name="Divisor Hydro-UAI">
            <a:extLst xmlns:a="http://schemas.openxmlformats.org/drawingml/2006/main">
              <a:ext uri="{FF2B5EF4-FFF2-40B4-BE49-F238E27FC236}">
                <a16:creationId xmlns:a16="http://schemas.microsoft.com/office/drawing/2014/main" id="{00F98E75-0415-5125-91E6-D5F194EF944E}"/>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55017" name="Hydro-UAI Hydro-UAI Course">
            <a:extLst xmlns:a="http://schemas.openxmlformats.org/drawingml/2006/main">
              <a:ext uri="{FF2B5EF4-FFF2-40B4-BE49-F238E27FC236}">
                <a16:creationId xmlns:a16="http://schemas.microsoft.com/office/drawing/2014/main" id="{706917B2-4E77-5A10-97B8-D9CE028C587C}"/>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55018" name="Hydro-UAI 55 / 62">
            <a:extLst xmlns:a="http://schemas.openxmlformats.org/drawingml/2006/main">
              <a:ext uri="{FF2B5EF4-FFF2-40B4-BE49-F238E27FC236}">
                <a16:creationId xmlns:a16="http://schemas.microsoft.com/office/drawing/2014/main" id="{83962CB4-D9FF-5C52-98DD-667F940C141D}"/>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61 / 68</a:t>
            </a:r>
          </a:p>
        </p:txBody>
      </p:sp>
    </p:spTree>
    <p:extLst>
      <p:ext uri="{BB962C8B-B14F-4D97-AF65-F5344CB8AC3E}">
        <p14:creationId xmlns:p14="http://schemas.microsoft.com/office/powerpoint/2010/main" val="3991283715"/>
      </p:ext>
    </p:extLst>
  </p:cSld>
</p:sld>
</file>

<file path=ppt/slides/slide56.xml><?xml version="1.0" encoding="utf-8"?>
<p:sld xmlns:p="http://schemas.openxmlformats.org/presentationml/2006/main">
  <p:cSld>
    <p:spTree>
      <p:nvGrpSpPr>
        <p:cNvPr id="56001" name=""/>
        <p:cNvGrpSpPr/>
        <p:nvPr/>
      </p:nvGrpSpPr>
      <p:grpSpPr>
        <a:xfrm xmlns:a="http://schemas.openxmlformats.org/drawingml/2006/main"/>
      </p:grpSpPr>
      <p:sp>
        <p:nvSpPr>
          <p:cNvPr id="56002" name="Retângulo 6">
            <a:extLst xmlns:a="http://schemas.openxmlformats.org/drawingml/2006/main">
              <a:ext uri="{FF2B5EF4-FFF2-40B4-BE49-F238E27FC236}">
                <a16:creationId xmlns:a16="http://schemas.microsoft.com/office/drawing/2014/main" id="{89B2E2C8-7D74-5F50-A15B-0AF77DC494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56003" name=""/>
          <p:cNvGraphicFramePr/>
          <p:nvPr/>
        </p:nvGraphicFramePr>
        <p:xfrm>
          <a:off xmlns:a="http://schemas.openxmlformats.org/drawingml/2006/main" x="457200" y="2600325"/>
          <a:ext xmlns:a="http://schemas.openxmlformats.org/drawingml/2006/main" cx="11277600" cy="3267075"/>
        </p:xfrm>
        <a:graphic xmlns:a="http://schemas.openxmlformats.org/drawingml/2006/main">
          <a:graphicData uri="http://schemas.openxmlformats.org/drawingml/2006/table">
            <a:tbl>
              <a:tblPr/>
              <a:tblGrid>
                <a:gridCol w="3581400"/>
                <a:gridCol w="4029075"/>
                <a:gridCol w="3667125"/>
              </a:tblGrid>
              <a:tr h="653415">
                <a:tc>
                  <a:txBody>
                    <a:bodyPr lIns="85725" tIns="57150" rIns="85725" bIns="57150">
                      <a:noAutofit/>
                    </a:bodyPr>
                    <a:lstStyle/>
                    <a:p>
                      <a:pPr algn="l">
                        <a:buNone/>
                      </a:pPr>
                      <a:r>
                        <a:rPr sz="1575" b="1">
                          <a:solidFill>
                            <a:srgbClr val="FFFFFF"/>
                          </a:solidFill>
                          <a:latin typeface="JetBrains Mono"/>
                          <a:ea typeface="JetBrains Mono"/>
                          <a:cs typeface="JetBrains Mono"/>
                        </a:rPr>
                        <a:t>Tarefa</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Ferramenta possível</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Avaliação</a:t>
                      </a:r>
                    </a:p>
                  </a:txBody>
                  <a:tcPr marL="91440" marR="91440" marT="45720" marB="45720" anchor="ctr">
                    <a:solidFill>
                      <a:srgbClr val="0053EB"/>
                    </a:solidFill>
                  </a:tcPr>
                </a:tc>
              </a:tr>
              <a:tr h="653415">
                <a:tc>
                  <a:txBody>
                    <a:bodyPr lIns="85725" tIns="57150" rIns="85725" bIns="57150">
                      <a:noAutofit/>
                    </a:bodyPr>
                    <a:lstStyle/>
                    <a:p>
                      <a:pPr algn="l">
                        <a:buNone/>
                      </a:pPr>
                      <a:r>
                        <a:rPr sz="1575" b="0">
                          <a:solidFill>
                            <a:srgbClr val="FFFFFF"/>
                          </a:solidFill>
                          <a:latin typeface="JetBrains Mono"/>
                          <a:ea typeface="JetBrains Mono"/>
                          <a:cs typeface="JetBrains Mono"/>
                        </a:rPr>
                        <a:t>Chuva futura em mapas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ConvLSTM ou outra rede espacial temporal.</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Erro por evento, horizonte e localização.</a:t>
                      </a:r>
                    </a:p>
                  </a:txBody>
                  <a:tcPr marL="91440" marR="91440" marT="45720" marB="45720" anchor="ctr">
                    <a:solidFill>
                      <a:srgbClr val="000F29"/>
                    </a:solidFill>
                  </a:tcPr>
                </a:tc>
              </a:tr>
              <a:tr h="653415">
                <a:tc>
                  <a:txBody>
                    <a:bodyPr lIns="85725" tIns="57150" rIns="85725" bIns="57150">
                      <a:noAutofit/>
                    </a:bodyPr>
                    <a:lstStyle/>
                    <a:p>
                      <a:pPr algn="l">
                        <a:buNone/>
                      </a:pPr>
                      <a:r>
                        <a:rPr sz="1575" b="0">
                          <a:solidFill>
                            <a:srgbClr val="FFFFFF"/>
                          </a:solidFill>
                          <a:latin typeface="JetBrains Mono"/>
                          <a:ea typeface="JetBrains Mono"/>
                          <a:cs typeface="JetBrains Mono"/>
                        </a:rPr>
                        <a:t>Vazão com chuva distribuída</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CNN com modelo temporal.</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Erro de Q, pico, volume e timing.</a:t>
                      </a:r>
                    </a:p>
                  </a:txBody>
                  <a:tcPr marL="91440" marR="91440" marT="45720" marB="45720" anchor="ctr">
                    <a:solidFill>
                      <a:srgbClr val="000F29"/>
                    </a:solidFill>
                  </a:tcPr>
                </a:tc>
              </a:tr>
              <a:tr h="653415">
                <a:tc>
                  <a:txBody>
                    <a:bodyPr lIns="85725" tIns="57150" rIns="85725" bIns="57150">
                      <a:noAutofit/>
                    </a:bodyPr>
                    <a:lstStyle/>
                    <a:p>
                      <a:pPr algn="l">
                        <a:buNone/>
                      </a:pPr>
                      <a:r>
                        <a:rPr sz="1575" b="0">
                          <a:solidFill>
                            <a:srgbClr val="FFFFFF"/>
                          </a:solidFill>
                          <a:latin typeface="JetBrains Mono"/>
                          <a:ea typeface="JetBrains Mono"/>
                          <a:cs typeface="JetBrains Mono"/>
                        </a:rPr>
                        <a:t>Estado ou parâmetro físico</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PINN ou modelo híbrido.</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Erro dos dados, resíduos e identificabilidade.</a:t>
                      </a:r>
                    </a:p>
                  </a:txBody>
                  <a:tcPr marL="91440" marR="91440" marT="45720" marB="45720" anchor="ctr">
                    <a:solidFill>
                      <a:srgbClr val="000F29"/>
                    </a:solidFill>
                  </a:tcPr>
                </a:tc>
              </a:tr>
              <a:tr h="653415">
                <a:tc>
                  <a:txBody>
                    <a:bodyPr lIns="85725" tIns="57150" rIns="85725" bIns="57150">
                      <a:noAutofit/>
                    </a:bodyPr>
                    <a:lstStyle/>
                    <a:p>
                      <a:pPr algn="l">
                        <a:buNone/>
                      </a:pPr>
                      <a:r>
                        <a:rPr sz="1575" b="0">
                          <a:solidFill>
                            <a:srgbClr val="FFFFFF"/>
                          </a:solidFill>
                          <a:latin typeface="JetBrains Mono"/>
                          <a:ea typeface="JetBrains Mono"/>
                          <a:cs typeface="JetBrains Mono"/>
                        </a:rPr>
                        <a:t>Fluxo de trabalho e boletim</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LLM com documentos e ferramentas.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Rastreabilidade, execução e consistência.</a:t>
                      </a:r>
                    </a:p>
                  </a:txBody>
                  <a:tcPr marL="91440" marR="91440" marT="45720" marB="45720" anchor="ctr">
                    <a:solidFill>
                      <a:srgbClr val="000F29"/>
                    </a:solidFill>
                  </a:tcPr>
                </a:tc>
              </a:tr>
            </a:tbl>
          </a:graphicData>
        </a:graphic>
      </p:graphicFrame>
      <p:sp>
        <p:nvSpPr>
          <p:cNvPr id="56004" name="Ferramenta, tarefa e critério de ava">
            <a:extLst xmlns:a="http://schemas.openxmlformats.org/drawingml/2006/main">
              <a:ext uri="{FF2B5EF4-FFF2-40B4-BE49-F238E27FC236}">
                <a16:creationId xmlns:a16="http://schemas.microsoft.com/office/drawing/2014/main" id="{BB9E0AC6-3176-57E0-8431-0A1AB7C17550}"/>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Ferramenta, tarefa e critério de avaliação</a:t>
            </a:r>
          </a:p>
        </p:txBody>
      </p:sp>
      <p:pic>
        <p:nvPicPr>
          <p:cNvPr id="56005" name="Imagem 13"/>
          <p:cNvPicPr>
            <a:picLocks xmlns:a="http://schemas.openxmlformats.org/drawingml/2006/main" noChangeAspect="1"/>
          </p:cNvPicPr>
          <p:nvPr/>
        </p:nvPicPr>
        <p:blipFill>
          <a:blip xmlns:r="http://schemas.openxmlformats.org/officeDocument/2006/relationships" xmlns:a="http://schemas.openxmlformats.org/drawingml/2006/main" r:embed="Rdc82b16e6613460c"/>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56006" name="Hydro-UAI Integração e aplicações">
            <a:extLst xmlns:a="http://schemas.openxmlformats.org/drawingml/2006/main">
              <a:ext uri="{FF2B5EF4-FFF2-40B4-BE49-F238E27FC236}">
                <a16:creationId xmlns:a16="http://schemas.microsoft.com/office/drawing/2014/main" id="{63ED8128-C7EA-582B-A62B-406C8369FFB2}"/>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Integração e aplicações</a:t>
            </a:r>
          </a:p>
        </p:txBody>
      </p:sp>
      <p:sp>
        <p:nvSpPr>
          <p:cNvPr id="56007" name="Divisor Hydro-UAI">
            <a:extLst xmlns:a="http://schemas.openxmlformats.org/drawingml/2006/main">
              <a:ext uri="{FF2B5EF4-FFF2-40B4-BE49-F238E27FC236}">
                <a16:creationId xmlns:a16="http://schemas.microsoft.com/office/drawing/2014/main" id="{4BFCE811-E401-5773-9F0D-EC5D2029B864}"/>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56008" name="Hydro-UAI Hydro-UAI Course">
            <a:extLst xmlns:a="http://schemas.openxmlformats.org/drawingml/2006/main">
              <a:ext uri="{FF2B5EF4-FFF2-40B4-BE49-F238E27FC236}">
                <a16:creationId xmlns:a16="http://schemas.microsoft.com/office/drawing/2014/main" id="{21236BE1-31EE-5B84-8662-0D3698B96414}"/>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56009" name="Hydro-UAI 56 / 62">
            <a:extLst xmlns:a="http://schemas.openxmlformats.org/drawingml/2006/main">
              <a:ext uri="{FF2B5EF4-FFF2-40B4-BE49-F238E27FC236}">
                <a16:creationId xmlns:a16="http://schemas.microsoft.com/office/drawing/2014/main" id="{09D6EF39-EE05-5A21-9E4F-07D28985413A}"/>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62 / 68</a:t>
            </a:r>
          </a:p>
        </p:txBody>
      </p:sp>
    </p:spTree>
    <p:extLst>
      <p:ext uri="{BB962C8B-B14F-4D97-AF65-F5344CB8AC3E}">
        <p14:creationId xmlns:p14="http://schemas.microsoft.com/office/powerpoint/2010/main" val="3991283715"/>
      </p:ext>
    </p:extLst>
  </p:cSld>
</p:sld>
</file>

<file path=ppt/slides/slide57.xml><?xml version="1.0" encoding="utf-8"?>
<p:sld xmlns:p="http://schemas.openxmlformats.org/presentationml/2006/main">
  <p:cSld>
    <p:spTree>
      <p:nvGrpSpPr>
        <p:cNvPr id="57001" name=""/>
        <p:cNvGrpSpPr/>
        <p:nvPr/>
      </p:nvGrpSpPr>
      <p:grpSpPr>
        <a:xfrm xmlns:a="http://schemas.openxmlformats.org/drawingml/2006/main"/>
      </p:grpSpPr>
      <p:sp>
        <p:nvSpPr>
          <p:cNvPr id="57002" name="Retângulo 6">
            <a:extLst xmlns:a="http://schemas.openxmlformats.org/drawingml/2006/main">
              <a:ext uri="{FF2B5EF4-FFF2-40B4-BE49-F238E27FC236}">
                <a16:creationId xmlns:a16="http://schemas.microsoft.com/office/drawing/2014/main" id="{2B5E84EA-69A5-50F5-9565-2653B47E11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57003" name=""/>
          <p:cNvGraphicFramePr/>
          <p:nvPr/>
        </p:nvGraphicFramePr>
        <p:xfrm>
          <a:off xmlns:a="http://schemas.openxmlformats.org/drawingml/2006/main" x="457200" y="2609850"/>
          <a:ext xmlns:a="http://schemas.openxmlformats.org/drawingml/2006/main" cx="11277600" cy="3228975"/>
        </p:xfrm>
        <a:graphic xmlns:a="http://schemas.openxmlformats.org/drawingml/2006/main">
          <a:graphicData uri="http://schemas.openxmlformats.org/drawingml/2006/table">
            <a:tbl>
              <a:tblPr/>
              <a:tblGrid>
                <a:gridCol w="3209925"/>
                <a:gridCol w="8067675"/>
              </a:tblGrid>
              <a:tr h="645795">
                <a:tc>
                  <a:txBody>
                    <a:bodyPr lIns="85725" tIns="57150" rIns="85725" bIns="57150">
                      <a:noAutofit/>
                    </a:bodyPr>
                    <a:lstStyle/>
                    <a:p>
                      <a:pPr algn="l">
                        <a:buNone/>
                      </a:pPr>
                      <a:r>
                        <a:rPr sz="1725" b="1">
                          <a:solidFill>
                            <a:srgbClr val="FFFFFF"/>
                          </a:solidFill>
                          <a:latin typeface="JetBrains Mono"/>
                          <a:ea typeface="JetBrains Mono"/>
                          <a:cs typeface="JetBrains Mono"/>
                        </a:rPr>
                        <a:t>Etapa</a:t>
                      </a:r>
                    </a:p>
                  </a:txBody>
                  <a:tcPr marL="91440" marR="91440" marT="45720" marB="45720" anchor="ctr">
                    <a:solidFill>
                      <a:srgbClr val="0053EB"/>
                    </a:solidFill>
                  </a:tcPr>
                </a:tc>
                <a:tc>
                  <a:txBody>
                    <a:bodyPr lIns="85725" tIns="57150" rIns="85725" bIns="57150">
                      <a:noAutofit/>
                    </a:bodyPr>
                    <a:lstStyle/>
                    <a:p>
                      <a:pPr algn="l">
                        <a:buNone/>
                      </a:pPr>
                      <a:r>
                        <a:rPr sz="1725" b="1">
                          <a:solidFill>
                            <a:srgbClr val="FFFFFF"/>
                          </a:solidFill>
                          <a:latin typeface="JetBrains Mono"/>
                          <a:ea typeface="JetBrains Mono"/>
                          <a:cs typeface="JetBrains Mono"/>
                        </a:rPr>
                        <a:t>O que precisa ficar definido</a:t>
                      </a:r>
                    </a:p>
                  </a:txBody>
                  <a:tcPr marL="91440" marR="91440" marT="45720" marB="45720" anchor="ctr">
                    <a:solidFill>
                      <a:srgbClr val="0053EB"/>
                    </a:solidFill>
                  </a:tcPr>
                </a:tc>
              </a:tr>
              <a:tr h="645795">
                <a:tc>
                  <a:txBody>
                    <a:bodyPr lIns="85725" tIns="57150" rIns="85725" bIns="57150">
                      <a:noAutofit/>
                    </a:bodyPr>
                    <a:lstStyle/>
                    <a:p>
                      <a:pPr algn="l">
                        <a:buNone/>
                      </a:pPr>
                      <a:r>
                        <a:rPr sz="1725" b="0">
                          <a:solidFill>
                            <a:srgbClr val="FFFFFF"/>
                          </a:solidFill>
                          <a:latin typeface="JetBrains Mono"/>
                          <a:ea typeface="JetBrains Mono"/>
                          <a:cs typeface="JetBrains Mono"/>
                        </a:rPr>
                        <a:t>Problema</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Alvo, horizonte, resolução, unidades e emissão.</a:t>
                      </a:r>
                    </a:p>
                  </a:txBody>
                  <a:tcPr marL="91440" marR="91440" marT="45720" marB="45720" anchor="ctr">
                    <a:solidFill>
                      <a:srgbClr val="000F29"/>
                    </a:solidFill>
                  </a:tcPr>
                </a:tc>
              </a:tr>
              <a:tr h="645795">
                <a:tc>
                  <a:txBody>
                    <a:bodyPr lIns="85725" tIns="57150" rIns="85725" bIns="57150">
                      <a:noAutofit/>
                    </a:bodyPr>
                    <a:lstStyle/>
                    <a:p>
                      <a:pPr algn="l">
                        <a:buNone/>
                      </a:pPr>
                      <a:r>
                        <a:rPr sz="1725" b="0">
                          <a:solidFill>
                            <a:srgbClr val="FFFFFF"/>
                          </a:solidFill>
                          <a:latin typeface="JetBrains Mono"/>
                          <a:ea typeface="JetBrains Mono"/>
                          <a:cs typeface="JetBrains Mono"/>
                        </a:rPr>
                        <a:t>Dados</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Disponibilidade, qualidade, máscaras e alinhamento.</a:t>
                      </a:r>
                    </a:p>
                  </a:txBody>
                  <a:tcPr marL="91440" marR="91440" marT="45720" marB="45720" anchor="ctr">
                    <a:solidFill>
                      <a:srgbClr val="000F29"/>
                    </a:solidFill>
                  </a:tcPr>
                </a:tc>
              </a:tr>
              <a:tr h="645795">
                <a:tc>
                  <a:txBody>
                    <a:bodyPr lIns="85725" tIns="57150" rIns="85725" bIns="57150">
                      <a:noAutofit/>
                    </a:bodyPr>
                    <a:lstStyle/>
                    <a:p>
                      <a:pPr algn="l">
                        <a:buNone/>
                      </a:pPr>
                      <a:r>
                        <a:rPr sz="1725" b="0">
                          <a:solidFill>
                            <a:srgbClr val="FFFFFF"/>
                          </a:solidFill>
                          <a:latin typeface="JetBrains Mono"/>
                          <a:ea typeface="JetBrains Mono"/>
                          <a:cs typeface="JetBrains Mono"/>
                        </a:rPr>
                        <a:t>Experimento</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Baseline, ajuste no treino e validação independente.</a:t>
                      </a:r>
                    </a:p>
                  </a:txBody>
                  <a:tcPr marL="91440" marR="91440" marT="45720" marB="45720" anchor="ctr">
                    <a:solidFill>
                      <a:srgbClr val="000F29"/>
                    </a:solidFill>
                  </a:tcPr>
                </a:tc>
              </a:tr>
              <a:tr h="645795">
                <a:tc>
                  <a:txBody>
                    <a:bodyPr lIns="85725" tIns="57150" rIns="85725" bIns="57150">
                      <a:noAutofit/>
                    </a:bodyPr>
                    <a:lstStyle/>
                    <a:p>
                      <a:pPr algn="l">
                        <a:buNone/>
                      </a:pPr>
                      <a:r>
                        <a:rPr sz="1725" b="0">
                          <a:solidFill>
                            <a:srgbClr val="FFFFFF"/>
                          </a:solidFill>
                          <a:latin typeface="JetBrains Mono"/>
                          <a:ea typeface="JetBrains Mono"/>
                          <a:cs typeface="JetBrains Mono"/>
                        </a:rPr>
                        <a:t>Diagnóstico</a:t>
                      </a:r>
                    </a:p>
                  </a:txBody>
                  <a:tcPr marL="91440" marR="91440" marT="45720" marB="45720" anchor="ctr">
                    <a:solidFill>
                      <a:srgbClr val="000F29"/>
                    </a:solidFill>
                  </a:tcPr>
                </a:tc>
                <a:tc>
                  <a:txBody>
                    <a:bodyPr lIns="85725" tIns="57150" rIns="85725" bIns="57150">
                      <a:noAutofit/>
                    </a:bodyPr>
                    <a:lstStyle/>
                    <a:p>
                      <a:pPr algn="l">
                        <a:buNone/>
                      </a:pPr>
                      <a:r>
                        <a:rPr sz="1725" b="0">
                          <a:solidFill>
                            <a:srgbClr val="FFFFFF"/>
                          </a:solidFill>
                          <a:latin typeface="JetBrains Mono"/>
                          <a:ea typeface="JetBrains Mono"/>
                          <a:cs typeface="JetBrains Mono"/>
                        </a:rPr>
                        <a:t>Extremos, vieses, física, incerteza e explicações.</a:t>
                      </a:r>
                    </a:p>
                  </a:txBody>
                  <a:tcPr marL="91440" marR="91440" marT="45720" marB="45720" anchor="ctr">
                    <a:solidFill>
                      <a:srgbClr val="000F29"/>
                    </a:solidFill>
                  </a:tcPr>
                </a:tc>
              </a:tr>
            </a:tbl>
          </a:graphicData>
        </a:graphic>
      </p:graphicFrame>
      <p:sp>
        <p:nvSpPr>
          <p:cNvPr id="57004" name="Um protocolo comum de validação hidr">
            <a:extLst xmlns:a="http://schemas.openxmlformats.org/drawingml/2006/main">
              <a:ext uri="{FF2B5EF4-FFF2-40B4-BE49-F238E27FC236}">
                <a16:creationId xmlns:a16="http://schemas.microsoft.com/office/drawing/2014/main" id="{DD22CA51-7809-59E1-8652-CDA8F9E15513}"/>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Um protocolo comum de validação hidrológica</a:t>
            </a:r>
          </a:p>
        </p:txBody>
      </p:sp>
      <p:pic>
        <p:nvPicPr>
          <p:cNvPr id="57005" name="Imagem 13"/>
          <p:cNvPicPr>
            <a:picLocks xmlns:a="http://schemas.openxmlformats.org/drawingml/2006/main" noChangeAspect="1"/>
          </p:cNvPicPr>
          <p:nvPr/>
        </p:nvPicPr>
        <p:blipFill>
          <a:blip xmlns:r="http://schemas.openxmlformats.org/officeDocument/2006/relationships" xmlns:a="http://schemas.openxmlformats.org/drawingml/2006/main" r:embed="R07a0198ef6bf4787"/>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57006" name="Hydro-UAI Integração e aplicações">
            <a:extLst xmlns:a="http://schemas.openxmlformats.org/drawingml/2006/main">
              <a:ext uri="{FF2B5EF4-FFF2-40B4-BE49-F238E27FC236}">
                <a16:creationId xmlns:a16="http://schemas.microsoft.com/office/drawing/2014/main" id="{C04BEA7B-4A8E-5226-A473-4688D3D17E72}"/>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Integração e aplicações</a:t>
            </a:r>
          </a:p>
        </p:txBody>
      </p:sp>
      <p:sp>
        <p:nvSpPr>
          <p:cNvPr id="57007" name="Divisor Hydro-UAI">
            <a:extLst xmlns:a="http://schemas.openxmlformats.org/drawingml/2006/main">
              <a:ext uri="{FF2B5EF4-FFF2-40B4-BE49-F238E27FC236}">
                <a16:creationId xmlns:a16="http://schemas.microsoft.com/office/drawing/2014/main" id="{0E6157CC-FA48-5192-99AA-2856243FE15F}"/>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57008" name="Hydro-UAI Hydro-UAI Course">
            <a:extLst xmlns:a="http://schemas.openxmlformats.org/drawingml/2006/main">
              <a:ext uri="{FF2B5EF4-FFF2-40B4-BE49-F238E27FC236}">
                <a16:creationId xmlns:a16="http://schemas.microsoft.com/office/drawing/2014/main" id="{86E943D7-5BA1-56F6-91E8-DAD75346B16D}"/>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57009" name="Hydro-UAI 57 / 62">
            <a:extLst xmlns:a="http://schemas.openxmlformats.org/drawingml/2006/main">
              <a:ext uri="{FF2B5EF4-FFF2-40B4-BE49-F238E27FC236}">
                <a16:creationId xmlns:a16="http://schemas.microsoft.com/office/drawing/2014/main" id="{090DBAD9-C99C-5A13-BCA7-477FCAE1B523}"/>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63 / 68</a:t>
            </a:r>
          </a:p>
        </p:txBody>
      </p:sp>
    </p:spTree>
    <p:extLst>
      <p:ext uri="{BB962C8B-B14F-4D97-AF65-F5344CB8AC3E}">
        <p14:creationId xmlns:p14="http://schemas.microsoft.com/office/powerpoint/2010/main" val="3991283715"/>
      </p:ext>
    </p:extLst>
  </p:cSld>
</p:sld>
</file>

<file path=ppt/slides/slide58.xml><?xml version="1.0" encoding="utf-8"?>
<p:sld xmlns:p="http://schemas.openxmlformats.org/presentationml/2006/main">
  <p:cSld>
    <p:spTree>
      <p:nvGrpSpPr>
        <p:cNvPr id="58001" name=""/>
        <p:cNvGrpSpPr/>
        <p:nvPr/>
      </p:nvGrpSpPr>
      <p:grpSpPr>
        <a:xfrm xmlns:a="http://schemas.openxmlformats.org/drawingml/2006/main"/>
      </p:grpSpPr>
      <p:sp>
        <p:nvSpPr>
          <p:cNvPr id="58002" name="Retângulo 6">
            <a:extLst xmlns:a="http://schemas.openxmlformats.org/drawingml/2006/main">
              <a:ext uri="{FF2B5EF4-FFF2-40B4-BE49-F238E27FC236}">
                <a16:creationId xmlns:a16="http://schemas.microsoft.com/office/drawing/2014/main" id="{0648E2AE-B45E-587C-957C-9E42226BFE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58003" name=""/>
          <p:cNvGraphicFramePr/>
          <p:nvPr/>
        </p:nvGraphicFramePr>
        <p:xfrm>
          <a:off xmlns:a="http://schemas.openxmlformats.org/drawingml/2006/main" x="457200" y="2676525"/>
          <a:ext xmlns:a="http://schemas.openxmlformats.org/drawingml/2006/main" cx="11277600" cy="2400300"/>
        </p:xfrm>
        <a:graphic xmlns:a="http://schemas.openxmlformats.org/drawingml/2006/main">
          <a:graphicData uri="http://schemas.openxmlformats.org/drawingml/2006/table">
            <a:tbl>
              <a:tblPr/>
              <a:tblGrid>
                <a:gridCol w="2371725"/>
                <a:gridCol w="8905875"/>
              </a:tblGrid>
              <a:tr h="480060">
                <a:tc>
                  <a:txBody>
                    <a:bodyPr lIns="85725" tIns="57150" rIns="85725" bIns="57150">
                      <a:noAutofit/>
                    </a:bodyPr>
                    <a:lstStyle/>
                    <a:p>
                      <a:pPr algn="l">
                        <a:buNone/>
                      </a:pPr>
                      <a:r>
                        <a:rPr sz="1800" b="1">
                          <a:solidFill>
                            <a:srgbClr val="FFFFFF"/>
                          </a:solidFill>
                          <a:latin typeface="JetBrains Mono"/>
                          <a:ea typeface="JetBrains Mono"/>
                          <a:cs typeface="JetBrains Mono"/>
                        </a:rPr>
                        <a:t>Grupo</a:t>
                      </a:r>
                    </a:p>
                  </a:txBody>
                  <a:tcPr marL="91440" marR="91440" marT="45720" marB="45720" anchor="ctr">
                    <a:solidFill>
                      <a:srgbClr val="0053EB"/>
                    </a:solidFill>
                  </a:tcPr>
                </a:tc>
                <a:tc>
                  <a:txBody>
                    <a:bodyPr lIns="85725" tIns="57150" rIns="85725" bIns="57150">
                      <a:noAutofit/>
                    </a:bodyPr>
                    <a:lstStyle/>
                    <a:p>
                      <a:pPr algn="l">
                        <a:buNone/>
                      </a:pPr>
                      <a:r>
                        <a:rPr sz="1800" b="1">
                          <a:solidFill>
                            <a:srgbClr val="FFFFFF"/>
                          </a:solidFill>
                          <a:latin typeface="JetBrains Mono"/>
                          <a:ea typeface="JetBrains Mono"/>
                          <a:cs typeface="JetBrains Mono"/>
                        </a:rPr>
                        <a:t>Problema</a:t>
                      </a:r>
                    </a:p>
                  </a:txBody>
                  <a:tcPr marL="91440" marR="91440" marT="45720" marB="45720" anchor="ctr">
                    <a:solidFill>
                      <a:srgbClr val="0053EB"/>
                    </a:solidFill>
                  </a:tcPr>
                </a:tc>
              </a:tr>
              <a:tr h="480060">
                <a:tc>
                  <a:txBody>
                    <a:bodyPr lIns="85725" tIns="57150" rIns="85725" bIns="57150">
                      <a:noAutofit/>
                    </a:bodyPr>
                    <a:lstStyle/>
                    <a:p>
                      <a:pPr algn="l">
                        <a:buNone/>
                      </a:pPr>
                      <a:r>
                        <a:rPr sz="1800" b="0">
                          <a:solidFill>
                            <a:srgbClr val="FFFFFF"/>
                          </a:solidFill>
                          <a:latin typeface="JetBrains Mono"/>
                          <a:ea typeface="JetBrains Mono"/>
                          <a:cs typeface="JetBrains Mono"/>
                        </a:rPr>
                        <a:t>1</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Previsão de vazão em uma bacia com radar.</a:t>
                      </a:r>
                    </a:p>
                  </a:txBody>
                  <a:tcPr marL="91440" marR="91440" marT="45720" marB="45720" anchor="ctr">
                    <a:solidFill>
                      <a:srgbClr val="000F29"/>
                    </a:solidFill>
                  </a:tcPr>
                </a:tc>
              </a:tr>
              <a:tr h="480060">
                <a:tc>
                  <a:txBody>
                    <a:bodyPr lIns="85725" tIns="57150" rIns="85725" bIns="57150">
                      <a:noAutofit/>
                    </a:bodyPr>
                    <a:lstStyle/>
                    <a:p>
                      <a:pPr algn="l">
                        <a:buNone/>
                      </a:pPr>
                      <a:r>
                        <a:rPr sz="1800" b="0">
                          <a:solidFill>
                            <a:srgbClr val="FFFFFF"/>
                          </a:solidFill>
                          <a:latin typeface="JetBrains Mono"/>
                          <a:ea typeface="JetBrains Mono"/>
                          <a:cs typeface="JetBrains Mono"/>
                        </a:rPr>
                        <a:t>2</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Mapa de inundação para um evento fora do treino.</a:t>
                      </a:r>
                    </a:p>
                  </a:txBody>
                  <a:tcPr marL="91440" marR="91440" marT="45720" marB="45720" anchor="ctr">
                    <a:solidFill>
                      <a:srgbClr val="000F29"/>
                    </a:solidFill>
                  </a:tcPr>
                </a:tc>
              </a:tr>
              <a:tr h="480060">
                <a:tc>
                  <a:txBody>
                    <a:bodyPr lIns="85725" tIns="57150" rIns="85725" bIns="57150">
                      <a:noAutofit/>
                    </a:bodyPr>
                    <a:lstStyle/>
                    <a:p>
                      <a:pPr algn="l">
                        <a:buNone/>
                      </a:pPr>
                      <a:r>
                        <a:rPr sz="1800" b="0">
                          <a:solidFill>
                            <a:srgbClr val="FFFFFF"/>
                          </a:solidFill>
                          <a:latin typeface="JetBrains Mono"/>
                          <a:ea typeface="JetBrains Mono"/>
                          <a:cs typeface="JetBrains Mono"/>
                        </a:rPr>
                        <a:t>3</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Estimativa de condutividade com dados incompletos.</a:t>
                      </a:r>
                    </a:p>
                  </a:txBody>
                  <a:tcPr marL="91440" marR="91440" marT="45720" marB="45720" anchor="ctr">
                    <a:solidFill>
                      <a:srgbClr val="000F29"/>
                    </a:solidFill>
                  </a:tcPr>
                </a:tc>
              </a:tr>
              <a:tr h="480060">
                <a:tc>
                  <a:txBody>
                    <a:bodyPr lIns="85725" tIns="57150" rIns="85725" bIns="57150">
                      <a:noAutofit/>
                    </a:bodyPr>
                    <a:lstStyle/>
                    <a:p>
                      <a:pPr algn="l">
                        <a:buNone/>
                      </a:pPr>
                      <a:r>
                        <a:rPr sz="1800" b="0">
                          <a:solidFill>
                            <a:srgbClr val="FFFFFF"/>
                          </a:solidFill>
                          <a:latin typeface="JetBrains Mono"/>
                          <a:ea typeface="JetBrains Mono"/>
                          <a:cs typeface="JetBrains Mono"/>
                        </a:rPr>
                        <a:t>4</a:t>
                      </a:r>
                    </a:p>
                  </a:txBody>
                  <a:tcPr marL="91440" marR="91440" marT="45720" marB="45720" anchor="ctr">
                    <a:solidFill>
                      <a:srgbClr val="000F29"/>
                    </a:solidFill>
                  </a:tcPr>
                </a:tc>
                <a:tc>
                  <a:txBody>
                    <a:bodyPr lIns="85725" tIns="57150" rIns="85725" bIns="57150">
                      <a:noAutofit/>
                    </a:bodyPr>
                    <a:lstStyle/>
                    <a:p>
                      <a:pPr algn="l">
                        <a:buNone/>
                      </a:pPr>
                      <a:r>
                        <a:rPr sz="1800" b="0">
                          <a:solidFill>
                            <a:srgbClr val="FFFFFF"/>
                          </a:solidFill>
                          <a:latin typeface="JetBrains Mono"/>
                          <a:ea typeface="JetBrains Mono"/>
                          <a:cs typeface="JetBrains Mono"/>
                        </a:rPr>
                        <a:t>Boletim hidrológico com dados e documentos.</a:t>
                      </a:r>
                    </a:p>
                  </a:txBody>
                  <a:tcPr marL="91440" marR="91440" marT="45720" marB="45720" anchor="ctr">
                    <a:solidFill>
                      <a:srgbClr val="000F29"/>
                    </a:solidFill>
                  </a:tcPr>
                </a:tc>
              </a:tr>
            </a:tbl>
          </a:graphicData>
        </a:graphic>
      </p:graphicFrame>
      <p:sp>
        <p:nvSpPr>
          <p:cNvPr id="58004" name="Atividade em grupos: desenho de uma ">
            <a:extLst xmlns:a="http://schemas.openxmlformats.org/drawingml/2006/main">
              <a:ext uri="{FF2B5EF4-FFF2-40B4-BE49-F238E27FC236}">
                <a16:creationId xmlns:a16="http://schemas.microsoft.com/office/drawing/2014/main" id="{0A1F36BB-28FA-5BE1-91FB-7FB01C3ED1D9}"/>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Atividade em grupos: desenho de uma aplicação</a:t>
            </a:r>
          </a:p>
        </p:txBody>
      </p:sp>
      <p:sp>
        <p:nvSpPr>
          <p:cNvPr id="58005" name="Cada grupo define entradas, saída, m">
            <a:extLst xmlns:a="http://schemas.openxmlformats.org/drawingml/2006/main">
              <a:ext uri="{FF2B5EF4-FFF2-40B4-BE49-F238E27FC236}">
                <a16:creationId xmlns:a16="http://schemas.microsoft.com/office/drawing/2014/main" id="{1A0E59A0-B184-5F59-9CF5-4C434E4140B2}"/>
              </a:ext>
            </a:extLst>
          </p:cNvPr>
          <p:cNvSpPr>
            <a:spLocks xmlns:a="http://schemas.openxmlformats.org/drawingml/2006/main" noGrp="1"/>
          </p:cNvSpPr>
          <p:nvPr/>
        </p:nvSpPr>
        <p:spPr>
          <a:xfrm xmlns:a="http://schemas.openxmlformats.org/drawingml/2006/main">
            <a:off x="457200" y="5391150"/>
            <a:ext cx="11277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Cada grupo define entradas, saída, método, baseline e um teste decisivo.</a:t>
            </a:r>
          </a:p>
        </p:txBody>
      </p:sp>
      <p:pic>
        <p:nvPicPr>
          <p:cNvPr id="58006" name="Imagem 13"/>
          <p:cNvPicPr>
            <a:picLocks xmlns:a="http://schemas.openxmlformats.org/drawingml/2006/main" noChangeAspect="1"/>
          </p:cNvPicPr>
          <p:nvPr/>
        </p:nvPicPr>
        <p:blipFill>
          <a:blip xmlns:r="http://schemas.openxmlformats.org/officeDocument/2006/relationships" xmlns:a="http://schemas.openxmlformats.org/drawingml/2006/main" r:embed="Rf7460c398d2f473a"/>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58007" name="Hydro-UAI Integração e aplicações">
            <a:extLst xmlns:a="http://schemas.openxmlformats.org/drawingml/2006/main">
              <a:ext uri="{FF2B5EF4-FFF2-40B4-BE49-F238E27FC236}">
                <a16:creationId xmlns:a16="http://schemas.microsoft.com/office/drawing/2014/main" id="{4CF87E35-CDFE-59DC-B3FD-F9024EEDFACA}"/>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Integração e aplicações</a:t>
            </a:r>
          </a:p>
        </p:txBody>
      </p:sp>
      <p:sp>
        <p:nvSpPr>
          <p:cNvPr id="58008" name="Divisor Hydro-UAI">
            <a:extLst xmlns:a="http://schemas.openxmlformats.org/drawingml/2006/main">
              <a:ext uri="{FF2B5EF4-FFF2-40B4-BE49-F238E27FC236}">
                <a16:creationId xmlns:a16="http://schemas.microsoft.com/office/drawing/2014/main" id="{7867DCCA-8CB0-501F-816D-23C5BDA05FAB}"/>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58009" name="Hydro-UAI Hydro-UAI Course">
            <a:extLst xmlns:a="http://schemas.openxmlformats.org/drawingml/2006/main">
              <a:ext uri="{FF2B5EF4-FFF2-40B4-BE49-F238E27FC236}">
                <a16:creationId xmlns:a16="http://schemas.microsoft.com/office/drawing/2014/main" id="{563B523B-2CE1-55D7-A88F-CDA4784D82D2}"/>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58010" name="Hydro-UAI 58 / 62">
            <a:extLst xmlns:a="http://schemas.openxmlformats.org/drawingml/2006/main">
              <a:ext uri="{FF2B5EF4-FFF2-40B4-BE49-F238E27FC236}">
                <a16:creationId xmlns:a16="http://schemas.microsoft.com/office/drawing/2014/main" id="{63A369F8-AF82-5AF3-8AA6-265770281FB7}"/>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64 / 68</a:t>
            </a:r>
          </a:p>
        </p:txBody>
      </p:sp>
    </p:spTree>
    <p:extLst>
      <p:ext uri="{BB962C8B-B14F-4D97-AF65-F5344CB8AC3E}">
        <p14:creationId xmlns:p14="http://schemas.microsoft.com/office/powerpoint/2010/main" val="3991283715"/>
      </p:ext>
    </p:extLst>
  </p:cSld>
</p:sld>
</file>

<file path=ppt/slides/slide59.xml><?xml version="1.0" encoding="utf-8"?>
<p:sld xmlns:p="http://schemas.openxmlformats.org/presentationml/2006/main">
  <p:cSld>
    <p:spTree>
      <p:nvGrpSpPr>
        <p:cNvPr id="59001" name=""/>
        <p:cNvGrpSpPr/>
        <p:nvPr/>
      </p:nvGrpSpPr>
      <p:grpSpPr>
        <a:xfrm xmlns:a="http://schemas.openxmlformats.org/drawingml/2006/main"/>
      </p:grpSpPr>
      <p:sp>
        <p:nvSpPr>
          <p:cNvPr id="59002" name="Retângulo 6">
            <a:extLst xmlns:a="http://schemas.openxmlformats.org/drawingml/2006/main">
              <a:ext uri="{FF2B5EF4-FFF2-40B4-BE49-F238E27FC236}">
                <a16:creationId xmlns:a16="http://schemas.microsoft.com/office/drawing/2014/main" id="{CEBFDD6C-8A38-5E61-8741-CD3B11AA1F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003" name="Checagem de compreensão">
            <a:extLst xmlns:a="http://schemas.openxmlformats.org/drawingml/2006/main">
              <a:ext uri="{FF2B5EF4-FFF2-40B4-BE49-F238E27FC236}">
                <a16:creationId xmlns:a16="http://schemas.microsoft.com/office/drawing/2014/main" id="{48CC17EB-A251-554B-83FF-D268B8441715}"/>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Checagem de compreensão</a:t>
            </a:r>
          </a:p>
        </p:txBody>
      </p:sp>
      <p:sp>
        <p:nvSpPr>
          <p:cNvPr id="59004" name="1. Uma resposta de filtro já é uma p">
            <a:extLst xmlns:a="http://schemas.openxmlformats.org/drawingml/2006/main">
              <a:ext uri="{FF2B5EF4-FFF2-40B4-BE49-F238E27FC236}">
                <a16:creationId xmlns:a16="http://schemas.microsoft.com/office/drawing/2014/main" id="{AD646715-339E-5F51-A20A-761072C9846E}"/>
              </a:ext>
            </a:extLst>
          </p:cNvPr>
          <p:cNvSpPr>
            <a:spLocks xmlns:a="http://schemas.openxmlformats.org/drawingml/2006/main" noGrp="1"/>
          </p:cNvSpPr>
          <p:nvPr/>
        </p:nvSpPr>
        <p:spPr>
          <a:xfrm xmlns:a="http://schemas.openxmlformats.org/drawingml/2006/main">
            <a:off x="457200" y="2571750"/>
            <a:ext cx="112776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1. Uma resposta de filtro já é uma previsão de vazão?</a:t>
            </a:r>
          </a:p>
          <a:p xmlns:a="http://schemas.openxmlformats.org/drawingml/2006/main">
            <a:r>
              <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2. Uma contribuição SHAP demonstra um efeito causal?</a:t>
            </a:r>
          </a:p>
          <a:p xmlns:a="http://schemas.openxmlformats.org/drawingml/2006/main">
            <a:r>
              <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3. Resíduo físico pequeno garante uma solução correta?</a:t>
            </a:r>
          </a:p>
          <a:p xmlns:a="http://schemas.openxmlformats.org/drawingml/2006/main">
            <a:r>
              <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4. Um texto confiante indica baixa incerteza de Q?</a:t>
            </a:r>
          </a:p>
          <a:p xmlns:a="http://schemas.openxmlformats.org/drawingml/2006/main">
            <a:r>
              <a:t/>
            </a:r>
          </a:p>
          <a:p xmlns:a="http://schemas.openxmlformats.org/drawingml/2006/main">
            <a:pPr algn="l">
              <a:buNone/>
              <a:defRPr sz="1875" b="0">
                <a:solidFill>
                  <a:srgbClr val="FFFFFF"/>
                </a:solidFill>
                <a:latin typeface="JetBrains Mono"/>
                <a:ea typeface="JetBrains Mono"/>
                <a:cs typeface="JetBrains Mono"/>
              </a:defRPr>
            </a:pPr>
            <a:r>
              <a:rPr sz="1875" b="0">
                <a:solidFill>
                  <a:srgbClr val="FFFFFF"/>
                </a:solidFill>
                <a:latin typeface="JetBrains Mono"/>
                <a:ea typeface="JetBrains Mono"/>
                <a:cs typeface="JetBrains Mono"/>
              </a:rPr>
              <a:t>5. Qual comparação mostraria o ganho da ferramenta escolhida?</a:t>
            </a:r>
          </a:p>
        </p:txBody>
      </p:sp>
      <p:pic>
        <p:nvPicPr>
          <p:cNvPr id="59005" name="Imagem 13"/>
          <p:cNvPicPr>
            <a:picLocks xmlns:a="http://schemas.openxmlformats.org/drawingml/2006/main" noChangeAspect="1"/>
          </p:cNvPicPr>
          <p:nvPr/>
        </p:nvPicPr>
        <p:blipFill>
          <a:blip xmlns:r="http://schemas.openxmlformats.org/officeDocument/2006/relationships" xmlns:a="http://schemas.openxmlformats.org/drawingml/2006/main" r:embed="R78abae98b5b8449c"/>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59006" name="Hydro-UAI Integração e aplicações">
            <a:extLst xmlns:a="http://schemas.openxmlformats.org/drawingml/2006/main">
              <a:ext uri="{FF2B5EF4-FFF2-40B4-BE49-F238E27FC236}">
                <a16:creationId xmlns:a16="http://schemas.microsoft.com/office/drawing/2014/main" id="{27A1C0E6-D101-565D-98D2-06CA913F232E}"/>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Integração e aplicações</a:t>
            </a:r>
          </a:p>
        </p:txBody>
      </p:sp>
      <p:sp>
        <p:nvSpPr>
          <p:cNvPr id="59007" name="Divisor Hydro-UAI">
            <a:extLst xmlns:a="http://schemas.openxmlformats.org/drawingml/2006/main">
              <a:ext uri="{FF2B5EF4-FFF2-40B4-BE49-F238E27FC236}">
                <a16:creationId xmlns:a16="http://schemas.microsoft.com/office/drawing/2014/main" id="{76E81935-693B-527D-85D1-E5BB5F19579B}"/>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59008" name="Hydro-UAI Hydro-UAI Course">
            <a:extLst xmlns:a="http://schemas.openxmlformats.org/drawingml/2006/main">
              <a:ext uri="{FF2B5EF4-FFF2-40B4-BE49-F238E27FC236}">
                <a16:creationId xmlns:a16="http://schemas.microsoft.com/office/drawing/2014/main" id="{39DC0642-2508-56B2-B58B-9F5379A4CDFC}"/>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59009" name="Hydro-UAI 59 / 62">
            <a:extLst xmlns:a="http://schemas.openxmlformats.org/drawingml/2006/main">
              <a:ext uri="{FF2B5EF4-FFF2-40B4-BE49-F238E27FC236}">
                <a16:creationId xmlns:a16="http://schemas.microsoft.com/office/drawing/2014/main" id="{5B06FDAB-D446-543F-A0E3-2C48343BD253}"/>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65 / 68</a:t>
            </a:r>
          </a:p>
        </p:txBody>
      </p:sp>
    </p:spTree>
    <p:extLst>
      <p:ext uri="{BB962C8B-B14F-4D97-AF65-F5344CB8AC3E}">
        <p14:creationId xmlns:p14="http://schemas.microsoft.com/office/powerpoint/2010/main" val="3991283715"/>
      </p:ext>
    </p:extLst>
  </p:cSld>
</p:sld>
</file>

<file path=ppt/slides/slide60.xml><?xml version="1.0" encoding="utf-8"?>
<p:sld xmlns:p="http://schemas.openxmlformats.org/presentationml/2006/main">
  <p:cSld>
    <p:spTree>
      <p:nvGrpSpPr>
        <p:cNvPr id="60001" name=""/>
        <p:cNvGrpSpPr/>
        <p:nvPr/>
      </p:nvGrpSpPr>
      <p:grpSpPr>
        <a:xfrm xmlns:a="http://schemas.openxmlformats.org/drawingml/2006/main"/>
      </p:grpSpPr>
      <p:sp>
        <p:nvSpPr>
          <p:cNvPr id="60002" name="Retângulo 6">
            <a:extLst xmlns:a="http://schemas.openxmlformats.org/drawingml/2006/main">
              <a:ext uri="{FF2B5EF4-FFF2-40B4-BE49-F238E27FC236}">
                <a16:creationId xmlns:a16="http://schemas.microsoft.com/office/drawing/2014/main" id="{BBEA02BD-C1B5-5ED8-B68F-FA756262A6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003" name="Síntese: cada componente tem um pape">
            <a:extLst xmlns:a="http://schemas.openxmlformats.org/drawingml/2006/main">
              <a:ext uri="{FF2B5EF4-FFF2-40B4-BE49-F238E27FC236}">
                <a16:creationId xmlns:a16="http://schemas.microsoft.com/office/drawing/2014/main" id="{A2F64C7D-4227-5307-8F4F-1C7B9CAB27A7}"/>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Síntese: cada componente tem um papel verificável</a:t>
            </a:r>
          </a:p>
        </p:txBody>
      </p:sp>
      <p:sp>
        <p:nvSpPr>
          <p:cNvPr id="60004" name="CNN">
            <a:extLst xmlns:a="http://schemas.openxmlformats.org/drawingml/2006/main">
              <a:ext uri="{FF2B5EF4-FFF2-40B4-BE49-F238E27FC236}">
                <a16:creationId xmlns:a16="http://schemas.microsoft.com/office/drawing/2014/main" id="{52833145-305B-547F-AA65-79B1C3334134}"/>
              </a:ext>
            </a:extLst>
          </p:cNvPr>
          <p:cNvSpPr>
            <a:spLocks xmlns:a="http://schemas.openxmlformats.org/drawingml/2006/main" noGrp="1"/>
          </p:cNvSpPr>
          <p:nvPr/>
        </p:nvSpPr>
        <p:spPr>
          <a:xfrm xmlns:a="http://schemas.openxmlformats.org/drawingml/2006/main">
            <a:off x="457200" y="2619375"/>
            <a:ext cx="3114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CNN</a:t>
            </a:r>
          </a:p>
        </p:txBody>
      </p:sp>
      <p:sp>
        <p:nvSpPr>
          <p:cNvPr id="60005" name="Aprende características de entradas ">
            <a:extLst xmlns:a="http://schemas.openxmlformats.org/drawingml/2006/main">
              <a:ext uri="{FF2B5EF4-FFF2-40B4-BE49-F238E27FC236}">
                <a16:creationId xmlns:a16="http://schemas.microsoft.com/office/drawing/2014/main" id="{6727C2FA-81B7-5379-A3E5-EA09B06D1975}"/>
              </a:ext>
            </a:extLst>
          </p:cNvPr>
          <p:cNvSpPr>
            <a:spLocks xmlns:a="http://schemas.openxmlformats.org/drawingml/2006/main" noGrp="1"/>
          </p:cNvSpPr>
          <p:nvPr/>
        </p:nvSpPr>
        <p:spPr>
          <a:xfrm xmlns:a="http://schemas.openxmlformats.org/drawingml/2006/main">
            <a:off x="3714750" y="2619375"/>
            <a:ext cx="8020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Aprende características de entradas organizadas em vizinhanças.</a:t>
            </a:r>
          </a:p>
        </p:txBody>
      </p:sp>
      <p:sp>
        <p:nvSpPr>
          <p:cNvPr id="60006" name="Explicabilidade">
            <a:extLst xmlns:a="http://schemas.openxmlformats.org/drawingml/2006/main">
              <a:ext uri="{FF2B5EF4-FFF2-40B4-BE49-F238E27FC236}">
                <a16:creationId xmlns:a16="http://schemas.microsoft.com/office/drawing/2014/main" id="{CF135D00-DE94-5E40-A3D8-2A34C09D25E3}"/>
              </a:ext>
            </a:extLst>
          </p:cNvPr>
          <p:cNvSpPr>
            <a:spLocks xmlns:a="http://schemas.openxmlformats.org/drawingml/2006/main" noGrp="1"/>
          </p:cNvSpPr>
          <p:nvPr/>
        </p:nvSpPr>
        <p:spPr>
          <a:xfrm xmlns:a="http://schemas.openxmlformats.org/drawingml/2006/main">
            <a:off x="457200" y="3419475"/>
            <a:ext cx="3114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Explicabilidade</a:t>
            </a:r>
          </a:p>
        </p:txBody>
      </p:sp>
      <p:sp>
        <p:nvSpPr>
          <p:cNvPr id="60007" name="Ajuda a investigar como o modelo usa">
            <a:extLst xmlns:a="http://schemas.openxmlformats.org/drawingml/2006/main">
              <a:ext uri="{FF2B5EF4-FFF2-40B4-BE49-F238E27FC236}">
                <a16:creationId xmlns:a16="http://schemas.microsoft.com/office/drawing/2014/main" id="{A40057BC-44A6-513A-9993-888C7CC3623C}"/>
              </a:ext>
            </a:extLst>
          </p:cNvPr>
          <p:cNvSpPr>
            <a:spLocks xmlns:a="http://schemas.openxmlformats.org/drawingml/2006/main" noGrp="1"/>
          </p:cNvSpPr>
          <p:nvPr/>
        </p:nvSpPr>
        <p:spPr>
          <a:xfrm xmlns:a="http://schemas.openxmlformats.org/drawingml/2006/main">
            <a:off x="3714750" y="3419475"/>
            <a:ext cx="8020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Ajuda a investigar como o modelo usa essas entradas.</a:t>
            </a:r>
          </a:p>
        </p:txBody>
      </p:sp>
      <p:sp>
        <p:nvSpPr>
          <p:cNvPr id="60008" name="PINN">
            <a:extLst xmlns:a="http://schemas.openxmlformats.org/drawingml/2006/main">
              <a:ext uri="{FF2B5EF4-FFF2-40B4-BE49-F238E27FC236}">
                <a16:creationId xmlns:a16="http://schemas.microsoft.com/office/drawing/2014/main" id="{42D45B03-6F82-5730-86F6-CA535CE2034E}"/>
              </a:ext>
            </a:extLst>
          </p:cNvPr>
          <p:cNvSpPr>
            <a:spLocks xmlns:a="http://schemas.openxmlformats.org/drawingml/2006/main" noGrp="1"/>
          </p:cNvSpPr>
          <p:nvPr/>
        </p:nvSpPr>
        <p:spPr>
          <a:xfrm xmlns:a="http://schemas.openxmlformats.org/drawingml/2006/main">
            <a:off x="457200" y="4219575"/>
            <a:ext cx="3114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PINN</a:t>
            </a:r>
          </a:p>
        </p:txBody>
      </p:sp>
      <p:sp>
        <p:nvSpPr>
          <p:cNvPr id="60009" name="Combina observações e resíduos de eq">
            <a:extLst xmlns:a="http://schemas.openxmlformats.org/drawingml/2006/main">
              <a:ext uri="{FF2B5EF4-FFF2-40B4-BE49-F238E27FC236}">
                <a16:creationId xmlns:a16="http://schemas.microsoft.com/office/drawing/2014/main" id="{B92075D6-94BB-5DB5-984D-8A1BAC7F5CFB}"/>
              </a:ext>
            </a:extLst>
          </p:cNvPr>
          <p:cNvSpPr>
            <a:spLocks xmlns:a="http://schemas.openxmlformats.org/drawingml/2006/main" noGrp="1"/>
          </p:cNvSpPr>
          <p:nvPr/>
        </p:nvSpPr>
        <p:spPr>
          <a:xfrm xmlns:a="http://schemas.openxmlformats.org/drawingml/2006/main">
            <a:off x="3714750" y="4219575"/>
            <a:ext cx="8020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Combina observações e resíduos de equações definidas.</a:t>
            </a:r>
          </a:p>
        </p:txBody>
      </p:sp>
      <p:sp>
        <p:nvSpPr>
          <p:cNvPr id="60010" name="LLM">
            <a:extLst xmlns:a="http://schemas.openxmlformats.org/drawingml/2006/main">
              <a:ext uri="{FF2B5EF4-FFF2-40B4-BE49-F238E27FC236}">
                <a16:creationId xmlns:a16="http://schemas.microsoft.com/office/drawing/2014/main" id="{C320C18C-691A-5460-B2C9-9935A7C1F4F3}"/>
              </a:ext>
            </a:extLst>
          </p:cNvPr>
          <p:cNvSpPr>
            <a:spLocks xmlns:a="http://schemas.openxmlformats.org/drawingml/2006/main" noGrp="1"/>
          </p:cNvSpPr>
          <p:nvPr/>
        </p:nvSpPr>
        <p:spPr>
          <a:xfrm xmlns:a="http://schemas.openxmlformats.org/drawingml/2006/main">
            <a:off x="457200" y="5019675"/>
            <a:ext cx="3114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LLM</a:t>
            </a:r>
          </a:p>
        </p:txBody>
      </p:sp>
      <p:sp>
        <p:nvSpPr>
          <p:cNvPr id="60011" name="Apoia linguagem, documentos e uso de">
            <a:extLst xmlns:a="http://schemas.openxmlformats.org/drawingml/2006/main">
              <a:ext uri="{FF2B5EF4-FFF2-40B4-BE49-F238E27FC236}">
                <a16:creationId xmlns:a16="http://schemas.microsoft.com/office/drawing/2014/main" id="{2F7C5351-1A2E-59B7-A69E-F86950AD6505}"/>
              </a:ext>
            </a:extLst>
          </p:cNvPr>
          <p:cNvSpPr>
            <a:spLocks xmlns:a="http://schemas.openxmlformats.org/drawingml/2006/main" noGrp="1"/>
          </p:cNvSpPr>
          <p:nvPr/>
        </p:nvSpPr>
        <p:spPr>
          <a:xfrm xmlns:a="http://schemas.openxmlformats.org/drawingml/2006/main">
            <a:off x="3714750" y="5019675"/>
            <a:ext cx="8020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FFFFFF"/>
                </a:solidFill>
                <a:latin typeface="JetBrains Mono"/>
                <a:ea typeface="JetBrains Mono"/>
                <a:cs typeface="JetBrains Mono"/>
              </a:defRPr>
            </a:pPr>
            <a:r>
              <a:rPr sz="1800" b="0">
                <a:solidFill>
                  <a:srgbClr val="FFFFFF"/>
                </a:solidFill>
                <a:latin typeface="JetBrains Mono"/>
                <a:ea typeface="JetBrains Mono"/>
                <a:cs typeface="JetBrains Mono"/>
              </a:rPr>
              <a:t>Apoia linguagem, documentos e uso de ferramentas.</a:t>
            </a:r>
          </a:p>
        </p:txBody>
      </p:sp>
      <p:pic>
        <p:nvPicPr>
          <p:cNvPr id="60012" name="Imagem 13"/>
          <p:cNvPicPr>
            <a:picLocks xmlns:a="http://schemas.openxmlformats.org/drawingml/2006/main" noChangeAspect="1"/>
          </p:cNvPicPr>
          <p:nvPr/>
        </p:nvPicPr>
        <p:blipFill>
          <a:blip xmlns:r="http://schemas.openxmlformats.org/officeDocument/2006/relationships" xmlns:a="http://schemas.openxmlformats.org/drawingml/2006/main" r:embed="R0b4b23a14a4d4686"/>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60013" name="Hydro-UAI Integração e aplicações">
            <a:extLst xmlns:a="http://schemas.openxmlformats.org/drawingml/2006/main">
              <a:ext uri="{FF2B5EF4-FFF2-40B4-BE49-F238E27FC236}">
                <a16:creationId xmlns:a16="http://schemas.microsoft.com/office/drawing/2014/main" id="{1F52518E-F83B-5313-86C9-C3EE1E23DC5B}"/>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Integração e aplicações</a:t>
            </a:r>
          </a:p>
        </p:txBody>
      </p:sp>
      <p:sp>
        <p:nvSpPr>
          <p:cNvPr id="60014" name="Divisor Hydro-UAI">
            <a:extLst xmlns:a="http://schemas.openxmlformats.org/drawingml/2006/main">
              <a:ext uri="{FF2B5EF4-FFF2-40B4-BE49-F238E27FC236}">
                <a16:creationId xmlns:a16="http://schemas.microsoft.com/office/drawing/2014/main" id="{32519D9C-7B69-5D1A-94D7-6A701C9C6F92}"/>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60015" name="Hydro-UAI Hydro-UAI Course">
            <a:extLst xmlns:a="http://schemas.openxmlformats.org/drawingml/2006/main">
              <a:ext uri="{FF2B5EF4-FFF2-40B4-BE49-F238E27FC236}">
                <a16:creationId xmlns:a16="http://schemas.microsoft.com/office/drawing/2014/main" id="{66385AC6-29C1-594F-99ED-E10530D25B6D}"/>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60016" name="Hydro-UAI 60 / 62">
            <a:extLst xmlns:a="http://schemas.openxmlformats.org/drawingml/2006/main">
              <a:ext uri="{FF2B5EF4-FFF2-40B4-BE49-F238E27FC236}">
                <a16:creationId xmlns:a16="http://schemas.microsoft.com/office/drawing/2014/main" id="{AA12B470-CC5F-5DF4-98D9-89190470906C}"/>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66 / 68</a:t>
            </a:r>
          </a:p>
        </p:txBody>
      </p:sp>
    </p:spTree>
    <p:extLst>
      <p:ext uri="{BB962C8B-B14F-4D97-AF65-F5344CB8AC3E}">
        <p14:creationId xmlns:p14="http://schemas.microsoft.com/office/powerpoint/2010/main" val="3991283715"/>
      </p:ext>
    </p:extLst>
  </p:cSld>
</p:sld>
</file>

<file path=ppt/slides/slide61.xml><?xml version="1.0" encoding="utf-8"?>
<p:sld xmlns:p="http://schemas.openxmlformats.org/presentationml/2006/main">
  <p:cSld>
    <p:spTree>
      <p:nvGrpSpPr>
        <p:cNvPr id="61001" name=""/>
        <p:cNvGrpSpPr/>
        <p:nvPr/>
      </p:nvGrpSpPr>
      <p:grpSpPr>
        <a:xfrm xmlns:a="http://schemas.openxmlformats.org/drawingml/2006/main"/>
      </p:grpSpPr>
      <p:sp>
        <p:nvSpPr>
          <p:cNvPr id="61002" name="Retângulo 6">
            <a:extLst xmlns:a="http://schemas.openxmlformats.org/drawingml/2006/main">
              <a:ext uri="{FF2B5EF4-FFF2-40B4-BE49-F238E27FC236}">
                <a16:creationId xmlns:a16="http://schemas.microsoft.com/office/drawing/2014/main" id="{C5B3E868-8083-5631-B6EB-6EC6CA98FF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61003" name=""/>
          <p:cNvGraphicFramePr/>
          <p:nvPr/>
        </p:nvGraphicFramePr>
        <p:xfrm>
          <a:off xmlns:a="http://schemas.openxmlformats.org/drawingml/2006/main" x="457200" y="2590800"/>
          <a:ext xmlns:a="http://schemas.openxmlformats.org/drawingml/2006/main" cx="11277600" cy="3352800"/>
        </p:xfrm>
        <a:graphic xmlns:a="http://schemas.openxmlformats.org/drawingml/2006/main">
          <a:graphicData uri="http://schemas.openxmlformats.org/drawingml/2006/table">
            <a:tbl>
              <a:tblPr/>
              <a:tblGrid>
                <a:gridCol w="4095750"/>
                <a:gridCol w="7181850"/>
              </a:tblGrid>
              <a:tr h="419100">
                <a:tc>
                  <a:txBody>
                    <a:bodyPr lIns="85725" tIns="57150" rIns="85725" bIns="57150">
                      <a:noAutofit/>
                    </a:bodyPr>
                    <a:lstStyle/>
                    <a:p>
                      <a:pPr algn="l">
                        <a:buNone/>
                      </a:pPr>
                      <a:r>
                        <a:rPr sz="1575" b="1">
                          <a:solidFill>
                            <a:srgbClr val="FFFFFF"/>
                          </a:solidFill>
                          <a:latin typeface="JetBrains Mono"/>
                          <a:ea typeface="JetBrains Mono"/>
                          <a:cs typeface="JetBrains Mono"/>
                        </a:rPr>
                        <a:t>Tema</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Fonte</a:t>
                      </a:r>
                    </a:p>
                  </a:txBody>
                  <a:tcPr marL="91440" marR="91440" marT="45720" marB="45720" anchor="ctr">
                    <a:solidFill>
                      <a:srgbClr val="0053EB"/>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Convoluções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Keras 3, documentação Conv1D e Conv2D.</a:t>
                      </a:r>
                    </a:p>
                  </a:txBody>
                  <a:tcPr marL="91440" marR="91440" marT="45720" marB="45720" anchor="ctr">
                    <a:solidFill>
                      <a:srgbClr val="000F29"/>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ConvLSTM</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Shi et al. (2015), NeurIPS.</a:t>
                      </a:r>
                    </a:p>
                  </a:txBody>
                  <a:tcPr marL="91440" marR="91440" marT="45720" marB="45720" anchor="ctr">
                    <a:solidFill>
                      <a:srgbClr val="000F29"/>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U-Net</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Ronneberger, Fischer e Brox (2015), MICCAI.</a:t>
                      </a:r>
                    </a:p>
                  </a:txBody>
                  <a:tcPr marL="91440" marR="91440" marT="45720" marB="45720" anchor="ctr">
                    <a:solidFill>
                      <a:srgbClr val="000F29"/>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SHAP</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Lundberg e Lee (2017), NeurIPS.</a:t>
                      </a:r>
                    </a:p>
                  </a:txBody>
                  <a:tcPr marL="91440" marR="91440" marT="45720" marB="45720" anchor="ctr">
                    <a:solidFill>
                      <a:srgbClr val="000F29"/>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Integrated Gradients</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Sundararajan, Taly e Yan (2017), ICML.</a:t>
                      </a:r>
                    </a:p>
                  </a:txBody>
                  <a:tcPr marL="91440" marR="91440" marT="45720" marB="45720" anchor="ctr">
                    <a:solidFill>
                      <a:srgbClr val="000F29"/>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Grad-CAM</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Selvaraju et al. (2017), ICCV.</a:t>
                      </a:r>
                    </a:p>
                  </a:txBody>
                  <a:tcPr marL="91440" marR="91440" marT="45720" marB="45720" anchor="ctr">
                    <a:solidFill>
                      <a:srgbClr val="000F29"/>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Explicabilidade em hidrologia</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Yang e Chui (2021), HESS.</a:t>
                      </a:r>
                    </a:p>
                  </a:txBody>
                  <a:tcPr marL="91440" marR="91440" marT="45720" marB="45720" anchor="ctr">
                    <a:solidFill>
                      <a:srgbClr val="000F29"/>
                    </a:solidFill>
                  </a:tcPr>
                </a:tc>
              </a:tr>
            </a:tbl>
          </a:graphicData>
        </a:graphic>
      </p:graphicFrame>
      <p:sp>
        <p:nvSpPr>
          <p:cNvPr id="61004" name="CNN e explicabilidade: fontes para c">
            <a:extLst xmlns:a="http://schemas.openxmlformats.org/drawingml/2006/main">
              <a:ext uri="{FF2B5EF4-FFF2-40B4-BE49-F238E27FC236}">
                <a16:creationId xmlns:a16="http://schemas.microsoft.com/office/drawing/2014/main" id="{BB4F39F9-29D3-57E5-B733-8BCF02710C33}"/>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CNN e explicabilidade: fontes para consulta</a:t>
            </a:r>
          </a:p>
        </p:txBody>
      </p:sp>
      <p:sp>
        <p:nvSpPr>
          <p:cNvPr id="61005" name="Links completos nas notas. Exemplos ">
            <a:extLst xmlns:a="http://schemas.openxmlformats.org/drawingml/2006/main">
              <a:ext uri="{FF2B5EF4-FFF2-40B4-BE49-F238E27FC236}">
                <a16:creationId xmlns:a16="http://schemas.microsoft.com/office/drawing/2014/main" id="{9B8C4197-60A1-5111-9E82-379C581EE3CF}"/>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Links completos nas notas. Exemplos numéricos e gráficos da aula usam dados sintéticos.</a:t>
            </a:r>
          </a:p>
        </p:txBody>
      </p:sp>
      <p:pic>
        <p:nvPicPr>
          <p:cNvPr id="61006" name="Imagem 13"/>
          <p:cNvPicPr>
            <a:picLocks xmlns:a="http://schemas.openxmlformats.org/drawingml/2006/main" noChangeAspect="1"/>
          </p:cNvPicPr>
          <p:nvPr/>
        </p:nvPicPr>
        <p:blipFill>
          <a:blip xmlns:r="http://schemas.openxmlformats.org/officeDocument/2006/relationships" xmlns:a="http://schemas.openxmlformats.org/drawingml/2006/main" r:embed="Rd5c43204bd5b4b6e"/>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61007" name="Hydro-UAI Referências">
            <a:extLst xmlns:a="http://schemas.openxmlformats.org/drawingml/2006/main">
              <a:ext uri="{FF2B5EF4-FFF2-40B4-BE49-F238E27FC236}">
                <a16:creationId xmlns:a16="http://schemas.microsoft.com/office/drawing/2014/main" id="{059FDA61-3ABD-5590-9CDA-0559AC8F13B3}"/>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Referências</a:t>
            </a:r>
          </a:p>
        </p:txBody>
      </p:sp>
      <p:sp>
        <p:nvSpPr>
          <p:cNvPr id="61008" name="Divisor Hydro-UAI">
            <a:extLst xmlns:a="http://schemas.openxmlformats.org/drawingml/2006/main">
              <a:ext uri="{FF2B5EF4-FFF2-40B4-BE49-F238E27FC236}">
                <a16:creationId xmlns:a16="http://schemas.microsoft.com/office/drawing/2014/main" id="{E1D23EDC-85C8-5742-B8FE-7CDD9E35F682}"/>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61009" name="Hydro-UAI Hydro-UAI Course">
            <a:extLst xmlns:a="http://schemas.openxmlformats.org/drawingml/2006/main">
              <a:ext uri="{FF2B5EF4-FFF2-40B4-BE49-F238E27FC236}">
                <a16:creationId xmlns:a16="http://schemas.microsoft.com/office/drawing/2014/main" id="{5FBE59CF-6CF1-59B3-A3DA-5456AFDC6518}"/>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61010" name="Hydro-UAI 61 / 62">
            <a:extLst xmlns:a="http://schemas.openxmlformats.org/drawingml/2006/main">
              <a:ext uri="{FF2B5EF4-FFF2-40B4-BE49-F238E27FC236}">
                <a16:creationId xmlns:a16="http://schemas.microsoft.com/office/drawing/2014/main" id="{1BE6926F-7B7F-53A4-8036-525ABAA39E9B}"/>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67 / 68</a:t>
            </a:r>
          </a:p>
        </p:txBody>
      </p:sp>
    </p:spTree>
    <p:extLst>
      <p:ext uri="{BB962C8B-B14F-4D97-AF65-F5344CB8AC3E}">
        <p14:creationId xmlns:p14="http://schemas.microsoft.com/office/powerpoint/2010/main" val="3991283715"/>
      </p:ext>
    </p:extLst>
  </p:cSld>
</p:sld>
</file>

<file path=ppt/slides/slide62.xml><?xml version="1.0" encoding="utf-8"?>
<p:sld xmlns:p="http://schemas.openxmlformats.org/presentationml/2006/main">
  <p:cSld>
    <p:spTree>
      <p:nvGrpSpPr>
        <p:cNvPr id="62001" name=""/>
        <p:cNvGrpSpPr/>
        <p:nvPr/>
      </p:nvGrpSpPr>
      <p:grpSpPr>
        <a:xfrm xmlns:a="http://schemas.openxmlformats.org/drawingml/2006/main"/>
      </p:grpSpPr>
      <p:sp>
        <p:nvSpPr>
          <p:cNvPr id="62002" name="Retângulo 6">
            <a:extLst xmlns:a="http://schemas.openxmlformats.org/drawingml/2006/main">
              <a:ext uri="{FF2B5EF4-FFF2-40B4-BE49-F238E27FC236}">
                <a16:creationId xmlns:a16="http://schemas.microsoft.com/office/drawing/2014/main" id="{2C1708E3-900E-55F6-9C9B-B10F3AFC65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62003" name=""/>
          <p:cNvGraphicFramePr/>
          <p:nvPr/>
        </p:nvGraphicFramePr>
        <p:xfrm>
          <a:off xmlns:a="http://schemas.openxmlformats.org/drawingml/2006/main" x="457200" y="2590800"/>
          <a:ext xmlns:a="http://schemas.openxmlformats.org/drawingml/2006/main" cx="11277600" cy="3352800"/>
        </p:xfrm>
        <a:graphic xmlns:a="http://schemas.openxmlformats.org/drawingml/2006/main">
          <a:graphicData uri="http://schemas.openxmlformats.org/drawingml/2006/table">
            <a:tbl>
              <a:tblPr/>
              <a:tblGrid>
                <a:gridCol w="4095750"/>
                <a:gridCol w="7181850"/>
              </a:tblGrid>
              <a:tr h="419100">
                <a:tc>
                  <a:txBody>
                    <a:bodyPr lIns="85725" tIns="57150" rIns="85725" bIns="57150">
                      <a:noAutofit/>
                    </a:bodyPr>
                    <a:lstStyle/>
                    <a:p>
                      <a:pPr algn="l">
                        <a:buNone/>
                      </a:pPr>
                      <a:r>
                        <a:rPr sz="1575" b="1">
                          <a:solidFill>
                            <a:srgbClr val="FFFFFF"/>
                          </a:solidFill>
                          <a:latin typeface="JetBrains Mono"/>
                          <a:ea typeface="JetBrains Mono"/>
                          <a:cs typeface="JetBrains Mono"/>
                        </a:rPr>
                        <a:t>Tema</a:t>
                      </a:r>
                    </a:p>
                  </a:txBody>
                  <a:tcPr marL="91440" marR="91440" marT="45720" marB="45720" anchor="ctr">
                    <a:solidFill>
                      <a:srgbClr val="0053EB"/>
                    </a:solidFill>
                  </a:tcPr>
                </a:tc>
                <a:tc>
                  <a:txBody>
                    <a:bodyPr lIns="85725" tIns="57150" rIns="85725" bIns="57150">
                      <a:noAutofit/>
                    </a:bodyPr>
                    <a:lstStyle/>
                    <a:p>
                      <a:pPr algn="l">
                        <a:buNone/>
                      </a:pPr>
                      <a:r>
                        <a:rPr sz="1575" b="1">
                          <a:solidFill>
                            <a:srgbClr val="FFFFFF"/>
                          </a:solidFill>
                          <a:latin typeface="JetBrains Mono"/>
                          <a:ea typeface="JetBrains Mono"/>
                          <a:cs typeface="JetBrains Mono"/>
                        </a:rPr>
                        <a:t>Fonte</a:t>
                      </a:r>
                    </a:p>
                  </a:txBody>
                  <a:tcPr marL="91440" marR="91440" marT="45720" marB="45720" anchor="ctr">
                    <a:solidFill>
                      <a:srgbClr val="0053EB"/>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PINN</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Raissi, Perdikaris e Karniadakis (2019), JCP.</a:t>
                      </a:r>
                    </a:p>
                  </a:txBody>
                  <a:tcPr marL="91440" marR="91440" marT="45720" marB="45720" anchor="ctr">
                    <a:solidFill>
                      <a:srgbClr val="000F29"/>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Escoamento subterrâneo</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Tartakovsky et al. (2020), Water Resources Research.</a:t>
                      </a:r>
                    </a:p>
                  </a:txBody>
                  <a:tcPr marL="91440" marR="91440" marT="45720" marB="45720" anchor="ctr">
                    <a:solidFill>
                      <a:srgbClr val="000F29"/>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Treinamento de PINN</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Wang, Teng e Perdikaris (2021), SIAM J. Sci. Comp.</a:t>
                      </a:r>
                    </a:p>
                  </a:txBody>
                  <a:tcPr marL="91440" marR="91440" marT="45720" marB="45720" anchor="ctr">
                    <a:solidFill>
                      <a:srgbClr val="000F29"/>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Transformer</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Vaswani et al. (2017), NeurIPS.</a:t>
                      </a:r>
                    </a:p>
                  </a:txBody>
                  <a:tcPr marL="91440" marR="91440" marT="45720" marB="45720" anchor="ctr">
                    <a:solidFill>
                      <a:srgbClr val="000F29"/>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RAG</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Lewis et al. (2020), NeurIPS.</a:t>
                      </a:r>
                    </a:p>
                  </a:txBody>
                  <a:tcPr marL="91440" marR="91440" marT="45720" marB="45720" anchor="ctr">
                    <a:solidFill>
                      <a:srgbClr val="000F29"/>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Agente em hidrologia</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Yan et al. (2025), AQUAH, workshop e preprint.</a:t>
                      </a:r>
                    </a:p>
                  </a:txBody>
                  <a:tcPr marL="91440" marR="91440" marT="45720" marB="45720" anchor="ctr">
                    <a:solidFill>
                      <a:srgbClr val="000F29"/>
                    </a:solidFill>
                  </a:tcPr>
                </a:tc>
              </a:tr>
              <a:tr h="419100">
                <a:tc>
                  <a:txBody>
                    <a:bodyPr lIns="85725" tIns="57150" rIns="85725" bIns="57150">
                      <a:noAutofit/>
                    </a:bodyPr>
                    <a:lstStyle/>
                    <a:p>
                      <a:pPr algn="l">
                        <a:buNone/>
                      </a:pPr>
                      <a:r>
                        <a:rPr sz="1575" b="0">
                          <a:solidFill>
                            <a:srgbClr val="FFFFFF"/>
                          </a:solidFill>
                          <a:latin typeface="JetBrains Mono"/>
                          <a:ea typeface="JetBrains Mono"/>
                          <a:cs typeface="JetBrains Mono"/>
                        </a:rPr>
                        <a:t>Calibração com LLM</a:t>
                      </a:r>
                    </a:p>
                  </a:txBody>
                  <a:tcPr marL="91440" marR="91440" marT="45720" marB="45720" anchor="ctr">
                    <a:solidFill>
                      <a:srgbClr val="000F29"/>
                    </a:solidFill>
                  </a:tcPr>
                </a:tc>
                <a:tc>
                  <a:txBody>
                    <a:bodyPr lIns="85725" tIns="57150" rIns="85725" bIns="57150">
                      <a:noAutofit/>
                    </a:bodyPr>
                    <a:lstStyle/>
                    <a:p>
                      <a:pPr algn="l">
                        <a:buNone/>
                      </a:pPr>
                      <a:r>
                        <a:rPr sz="1575" b="0">
                          <a:solidFill>
                            <a:srgbClr val="FFFFFF"/>
                          </a:solidFill>
                          <a:latin typeface="JetBrains Mono"/>
                          <a:ea typeface="JetBrains Mono"/>
                          <a:cs typeface="JetBrains Mono"/>
                        </a:rPr>
                        <a:t>Zhu et al. (2026), Geophysical Research Letters.</a:t>
                      </a:r>
                    </a:p>
                  </a:txBody>
                  <a:tcPr marL="91440" marR="91440" marT="45720" marB="45720" anchor="ctr">
                    <a:solidFill>
                      <a:srgbClr val="000F29"/>
                    </a:solidFill>
                  </a:tcPr>
                </a:tc>
              </a:tr>
            </a:tbl>
          </a:graphicData>
        </a:graphic>
      </p:graphicFrame>
      <p:sp>
        <p:nvSpPr>
          <p:cNvPr id="62004" name="PINN e LLM: fontes para consulta">
            <a:extLst xmlns:a="http://schemas.openxmlformats.org/drawingml/2006/main">
              <a:ext uri="{FF2B5EF4-FFF2-40B4-BE49-F238E27FC236}">
                <a16:creationId xmlns:a16="http://schemas.microsoft.com/office/drawing/2014/main" id="{AC1DD401-77CD-5608-9F4A-4532C4AAB990}"/>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PINN e LLM: fontes para consulta</a:t>
            </a:r>
          </a:p>
        </p:txBody>
      </p:sp>
      <p:sp>
        <p:nvSpPr>
          <p:cNvPr id="62005" name="Links completos nas notas. Estudos c">
            <a:extLst xmlns:a="http://schemas.openxmlformats.org/drawingml/2006/main">
              <a:ext uri="{FF2B5EF4-FFF2-40B4-BE49-F238E27FC236}">
                <a16:creationId xmlns:a16="http://schemas.microsoft.com/office/drawing/2014/main" id="{68512C7C-B979-5A42-A01D-DE0EE5A49B52}"/>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91A4BD"/>
                </a:solidFill>
                <a:latin typeface="JetBrains Mono"/>
                <a:ea typeface="JetBrains Mono"/>
                <a:cs typeface="JetBrains Mono"/>
              </a:defRPr>
            </a:pPr>
            <a:r>
              <a:rPr sz="1125" b="0">
                <a:solidFill>
                  <a:srgbClr val="91A4BD"/>
                </a:solidFill>
                <a:latin typeface="JetBrains Mono"/>
                <a:ea typeface="JetBrains Mono"/>
                <a:cs typeface="JetBrains Mono"/>
              </a:rPr>
              <a:t>Links completos nas notas. Estudos citados têm contexto e limites próprios.</a:t>
            </a:r>
          </a:p>
        </p:txBody>
      </p:sp>
      <p:pic>
        <p:nvPicPr>
          <p:cNvPr id="62006" name="Imagem 13"/>
          <p:cNvPicPr>
            <a:picLocks xmlns:a="http://schemas.openxmlformats.org/drawingml/2006/main" noChangeAspect="1"/>
          </p:cNvPicPr>
          <p:nvPr/>
        </p:nvPicPr>
        <p:blipFill>
          <a:blip xmlns:r="http://schemas.openxmlformats.org/officeDocument/2006/relationships" xmlns:a="http://schemas.openxmlformats.org/drawingml/2006/main" r:embed="Rc55fe58925884187"/>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62007" name="Hydro-UAI Referências">
            <a:extLst xmlns:a="http://schemas.openxmlformats.org/drawingml/2006/main">
              <a:ext uri="{FF2B5EF4-FFF2-40B4-BE49-F238E27FC236}">
                <a16:creationId xmlns:a16="http://schemas.microsoft.com/office/drawing/2014/main" id="{406D8F03-5937-5E4A-AF86-1836377AD77E}"/>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Referências</a:t>
            </a:r>
          </a:p>
        </p:txBody>
      </p:sp>
      <p:sp>
        <p:nvSpPr>
          <p:cNvPr id="62008" name="Divisor Hydro-UAI">
            <a:extLst xmlns:a="http://schemas.openxmlformats.org/drawingml/2006/main">
              <a:ext uri="{FF2B5EF4-FFF2-40B4-BE49-F238E27FC236}">
                <a16:creationId xmlns:a16="http://schemas.microsoft.com/office/drawing/2014/main" id="{5B2702DF-B135-5154-9242-CB4270A73EA0}"/>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62009" name="Hydro-UAI Hydro-UAI Course">
            <a:extLst xmlns:a="http://schemas.openxmlformats.org/drawingml/2006/main">
              <a:ext uri="{FF2B5EF4-FFF2-40B4-BE49-F238E27FC236}">
                <a16:creationId xmlns:a16="http://schemas.microsoft.com/office/drawing/2014/main" id="{27EEF7C7-7B0A-5A32-B7DE-1125739AA26A}"/>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62010" name="Hydro-UAI 62 / 62">
            <a:extLst xmlns:a="http://schemas.openxmlformats.org/drawingml/2006/main">
              <a:ext uri="{FF2B5EF4-FFF2-40B4-BE49-F238E27FC236}">
                <a16:creationId xmlns:a16="http://schemas.microsoft.com/office/drawing/2014/main" id="{D167C5D7-D194-57D2-8A61-03D7D48B0284}"/>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68 / 68</a:t>
            </a:r>
          </a:p>
        </p:txBody>
      </p:sp>
    </p:spTree>
    <p:extLst>
      <p:ext uri="{BB962C8B-B14F-4D97-AF65-F5344CB8AC3E}">
        <p14:creationId xmlns:p14="http://schemas.microsoft.com/office/powerpoint/2010/main" val="3991283715"/>
      </p:ext>
    </p:extLst>
  </p:cSld>
</p:sld>
</file>

<file path=ppt/slides/slide63.xml><?xml version="1.0" encoding="utf-8"?>
<p:sld xmlns:p="http://schemas.openxmlformats.org/presentationml/2006/main">
  <p:cSld>
    <p:spTree>
      <p:nvGrpSpPr>
        <p:cNvPr id="630000" name=""/>
        <p:cNvGrpSpPr/>
        <p:nvPr/>
      </p:nvGrpSpPr>
      <p:grpSpPr>
        <a:xfrm xmlns:a="http://schemas.openxmlformats.org/drawingml/2006/main"/>
      </p:grpSpPr>
      <p:sp>
        <p:nvSpPr>
          <p:cNvPr id="630001" name="Retângulo 6">
            <a:extLst xmlns:a="http://schemas.openxmlformats.org/drawingml/2006/main">
              <a:ext uri="{FF2B5EF4-FFF2-40B4-BE49-F238E27FC236}">
                <a16:creationId xmlns:a16="http://schemas.microsoft.com/office/drawing/2014/main" id="{C908A31A-A344-48AB-A625-DE178F6A39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30002" name="Imagem 13"/>
          <p:cNvPicPr>
            <a:picLocks xmlns:a="http://schemas.openxmlformats.org/drawingml/2006/main" noChangeAspect="1"/>
          </p:cNvPicPr>
          <p:nvPr/>
        </p:nvPicPr>
        <p:blipFill>
          <a:blip xmlns:r="http://schemas.openxmlformats.org/officeDocument/2006/relationships" xmlns:a="http://schemas.openxmlformats.org/drawingml/2006/main" r:embed="R54fa4a0c52b94b48"/>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630003" name="Hydro-UAI IA aplicada à hidrologia">
            <a:extLst xmlns:a="http://schemas.openxmlformats.org/drawingml/2006/main">
              <a:ext uri="{FF2B5EF4-FFF2-40B4-BE49-F238E27FC236}">
                <a16:creationId xmlns:a16="http://schemas.microsoft.com/office/drawing/2014/main" id="{2078823A-B519-4048-A328-BC802C5DE717}"/>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630004" name="Divisor Hydro-UAI">
            <a:extLst xmlns:a="http://schemas.openxmlformats.org/drawingml/2006/main">
              <a:ext uri="{FF2B5EF4-FFF2-40B4-BE49-F238E27FC236}">
                <a16:creationId xmlns:a16="http://schemas.microsoft.com/office/drawing/2014/main" id="{BFD84F77-A8EE-4E72-A780-D53D3356EAEB}"/>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630005" name="Hydro-UAI Hydro-UAI Course">
            <a:extLst xmlns:a="http://schemas.openxmlformats.org/drawingml/2006/main">
              <a:ext uri="{FF2B5EF4-FFF2-40B4-BE49-F238E27FC236}">
                <a16:creationId xmlns:a16="http://schemas.microsoft.com/office/drawing/2014/main" id="{68A8FAF6-8938-41C9-8E72-9AC3817C2366}"/>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630006" name="Hydro-UAI 02 / 62">
            <a:extLst xmlns:a="http://schemas.openxmlformats.org/drawingml/2006/main">
              <a:ext uri="{FF2B5EF4-FFF2-40B4-BE49-F238E27FC236}">
                <a16:creationId xmlns:a16="http://schemas.microsoft.com/office/drawing/2014/main" id="{78019198-471F-4CC2-9654-35177F8EF61D}"/>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08 / 68</a:t>
            </a:r>
          </a:p>
        </p:txBody>
      </p:sp>
      <p:sp>
        <p:nvSpPr>
          <p:cNvPr id="630007" name="Arquitetura de uma CNN: convoluções, redução e saída">
            <a:extLst xmlns:a="http://schemas.openxmlformats.org/drawingml/2006/main">
              <a:ext uri="{FF2B5EF4-FFF2-40B4-BE49-F238E27FC236}">
                <a16:creationId xmlns:a16="http://schemas.microsoft.com/office/drawing/2014/main" id="{D98AACA6-E091-4977-AC4F-1B6DCE5DB83F}"/>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Arquitetura de uma CNN: convoluções, redução e saída</a:t>
            </a:r>
          </a:p>
        </p:txBody>
      </p:sp>
      <p:pic>
        <p:nvPicPr>
          <p:cNvPr id="630008" name=""/>
          <p:cNvPicPr>
            <a:picLocks xmlns:a="http://schemas.openxmlformats.org/drawingml/2006/main" noChangeAspect="1"/>
          </p:cNvPicPr>
          <p:nvPr/>
        </p:nvPicPr>
        <p:blipFill>
          <a:blip xmlns:r="http://schemas.openxmlformats.org/officeDocument/2006/relationships" xmlns:a="http://schemas.openxmlformats.org/drawingml/2006/main" r:embed="R860f36812d614652"/>
          <a:stretch xmlns:a="http://schemas.openxmlformats.org/drawingml/2006/main"/>
        </p:blipFill>
        <p:spPr>
          <a:xfrm xmlns:a="http://schemas.openxmlformats.org/drawingml/2006/main">
            <a:off x="907382" y="2428875"/>
            <a:ext cx="10377237" cy="2857500"/>
          </a:xfrm>
          <a:prstGeom xmlns:a="http://schemas.openxmlformats.org/drawingml/2006/main" prst="rect">
            <a:avLst/>
          </a:prstGeom>
        </p:spPr>
      </p:pic>
      <p:sp>
        <p:nvSpPr>
          <p:cNvPr id="630009" name="Na hidrologia: mapas de chuva entram na CNN.&#10;A camada de saída pode es">
            <a:extLst xmlns:a="http://schemas.openxmlformats.org/drawingml/2006/main">
              <a:ext uri="{FF2B5EF4-FFF2-40B4-BE49-F238E27FC236}">
                <a16:creationId xmlns:a16="http://schemas.microsoft.com/office/drawing/2014/main" id="{28F1889C-1F70-4C6F-B13C-C000D9231EF2}"/>
              </a:ext>
            </a:extLst>
          </p:cNvPr>
          <p:cNvSpPr>
            <a:spLocks xmlns:a="http://schemas.openxmlformats.org/drawingml/2006/main" noGrp="1"/>
          </p:cNvSpPr>
          <p:nvPr/>
        </p:nvSpPr>
        <p:spPr>
          <a:xfrm xmlns:a="http://schemas.openxmlformats.org/drawingml/2006/main">
            <a:off x="457200" y="5457825"/>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83DFFF"/>
                </a:solidFill>
                <a:latin typeface="JetBrains Mono"/>
                <a:ea typeface="JetBrains Mono"/>
                <a:cs typeface="JetBrains Mono"/>
              </a:defRPr>
            </a:pPr>
            <a:r>
              <a:rPr sz="1650" b="0">
                <a:solidFill>
                  <a:srgbClr val="83DFFF"/>
                </a:solidFill>
                <a:latin typeface="JetBrains Mono"/>
                <a:ea typeface="JetBrains Mono"/>
                <a:cs typeface="JetBrains Mono"/>
              </a:rPr>
              <a:t>Na hidrologia: mapas de chuva entram na CNN.</a:t>
            </a:r>
          </a:p>
          <a:p xmlns:a="http://schemas.openxmlformats.org/drawingml/2006/main">
            <a:pPr>
              <a:defRPr sz="1650" b="0">
                <a:solidFill>
                  <a:srgbClr val="83DFFF"/>
                </a:solidFill>
                <a:latin typeface="JetBrains Mono"/>
                <a:ea typeface="JetBrains Mono"/>
                <a:cs typeface="JetBrains Mono"/>
              </a:defRPr>
            </a:pPr>
            <a:r>
              <a:rPr sz="1650" b="0">
                <a:solidFill>
                  <a:srgbClr val="83DFFF"/>
                </a:solidFill>
                <a:latin typeface="JetBrains Mono"/>
                <a:ea typeface="JetBrains Mono"/>
                <a:cs typeface="JetBrains Mono"/>
              </a:rPr>
              <a:t>A camada de saída pode estimar Q(t + h).</a:t>
            </a:r>
          </a:p>
        </p:txBody>
      </p:sp>
      <p:sp>
        <p:nvSpPr>
          <p:cNvPr id="630010" name="Esquema clássico LeNet-5, reproduzido no tutorial do PyTorch.">
            <a:extLst xmlns:a="http://schemas.openxmlformats.org/drawingml/2006/main">
              <a:ext uri="{FF2B5EF4-FFF2-40B4-BE49-F238E27FC236}">
                <a16:creationId xmlns:a16="http://schemas.microsoft.com/office/drawing/2014/main" id="{E753542B-FB87-4CF9-AC8F-44CAA9E9A815}"/>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91A4BD"/>
                </a:solidFill>
                <a:latin typeface="JetBrains Mono"/>
                <a:ea typeface="JetBrains Mono"/>
                <a:cs typeface="JetBrains Mono"/>
              </a:defRPr>
            </a:pPr>
            <a:r>
              <a:rPr sz="1050" b="0">
                <a:solidFill>
                  <a:srgbClr val="91A4BD"/>
                </a:solidFill>
                <a:latin typeface="JetBrains Mono"/>
                <a:ea typeface="JetBrains Mono"/>
                <a:cs typeface="JetBrains Mono"/>
              </a:rPr>
              <a:t>Esquema clássico LeNet-5, reproduzido no tutorial do PyTorch.</a:t>
            </a:r>
          </a:p>
        </p:txBody>
      </p:sp>
    </p:spTree>
    <p:extLst>
      <p:ext uri="{BB962C8B-B14F-4D97-AF65-F5344CB8AC3E}">
        <p14:creationId xmlns:p14="http://schemas.microsoft.com/office/powerpoint/2010/main" val="3991283715"/>
      </p:ext>
    </p:extLst>
  </p:cSld>
</p:sld>
</file>

<file path=ppt/slides/slide64.xml><?xml version="1.0" encoding="utf-8"?>
<p:sld xmlns:p="http://schemas.openxmlformats.org/presentationml/2006/main">
  <p:cSld>
    <p:spTree>
      <p:nvGrpSpPr>
        <p:cNvPr id="640000" name=""/>
        <p:cNvGrpSpPr/>
        <p:nvPr/>
      </p:nvGrpSpPr>
      <p:grpSpPr>
        <a:xfrm xmlns:a="http://schemas.openxmlformats.org/drawingml/2006/main"/>
      </p:grpSpPr>
      <p:sp>
        <p:nvSpPr>
          <p:cNvPr id="640001" name="Retângulo 6">
            <a:extLst xmlns:a="http://schemas.openxmlformats.org/drawingml/2006/main">
              <a:ext uri="{FF2B5EF4-FFF2-40B4-BE49-F238E27FC236}">
                <a16:creationId xmlns:a16="http://schemas.microsoft.com/office/drawing/2014/main" id="{66942393-0F84-46DB-8256-44A6576BDA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0002" name="Imagem 13"/>
          <p:cNvPicPr>
            <a:picLocks xmlns:a="http://schemas.openxmlformats.org/drawingml/2006/main" noChangeAspect="1"/>
          </p:cNvPicPr>
          <p:nvPr/>
        </p:nvPicPr>
        <p:blipFill>
          <a:blip xmlns:r="http://schemas.openxmlformats.org/officeDocument/2006/relationships" xmlns:a="http://schemas.openxmlformats.org/drawingml/2006/main" r:embed="R3f0b51323d174c0f"/>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640003" name="Hydro-UAI IA aplicada à hidrologia">
            <a:extLst xmlns:a="http://schemas.openxmlformats.org/drawingml/2006/main">
              <a:ext uri="{FF2B5EF4-FFF2-40B4-BE49-F238E27FC236}">
                <a16:creationId xmlns:a16="http://schemas.microsoft.com/office/drawing/2014/main" id="{4B4DFC77-24D0-4FAF-938F-569EBF9C78D5}"/>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640004" name="Divisor Hydro-UAI">
            <a:extLst xmlns:a="http://schemas.openxmlformats.org/drawingml/2006/main">
              <a:ext uri="{FF2B5EF4-FFF2-40B4-BE49-F238E27FC236}">
                <a16:creationId xmlns:a16="http://schemas.microsoft.com/office/drawing/2014/main" id="{EF49256D-271C-4660-BC58-BFCDC0CDCB3C}"/>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640005" name="Hydro-UAI Hydro-UAI Course">
            <a:extLst xmlns:a="http://schemas.openxmlformats.org/drawingml/2006/main">
              <a:ext uri="{FF2B5EF4-FFF2-40B4-BE49-F238E27FC236}">
                <a16:creationId xmlns:a16="http://schemas.microsoft.com/office/drawing/2014/main" id="{AB467702-939E-415D-B041-1425A28E00DE}"/>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640006" name="Hydro-UAI 02 / 62">
            <a:extLst xmlns:a="http://schemas.openxmlformats.org/drawingml/2006/main">
              <a:ext uri="{FF2B5EF4-FFF2-40B4-BE49-F238E27FC236}">
                <a16:creationId xmlns:a16="http://schemas.microsoft.com/office/drawing/2014/main" id="{B1AB4AAF-39D1-44D3-AF86-D90BBF1DBB3B}"/>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11 / 68</a:t>
            </a:r>
          </a:p>
        </p:txBody>
      </p:sp>
      <p:sp>
        <p:nvSpPr>
          <p:cNvPr id="640007" name="Mapas de características ao longo de uma CNN">
            <a:extLst xmlns:a="http://schemas.openxmlformats.org/drawingml/2006/main">
              <a:ext uri="{FF2B5EF4-FFF2-40B4-BE49-F238E27FC236}">
                <a16:creationId xmlns:a16="http://schemas.microsoft.com/office/drawing/2014/main" id="{A38EAAAF-A6FD-4239-B1CA-0C206B849E2D}"/>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Mapas de características ao longo de uma CNN</a:t>
            </a:r>
          </a:p>
        </p:txBody>
      </p:sp>
      <p:pic>
        <p:nvPicPr>
          <p:cNvPr id="640008" name=""/>
          <p:cNvPicPr>
            <a:picLocks xmlns:a="http://schemas.openxmlformats.org/drawingml/2006/main" noChangeAspect="1"/>
          </p:cNvPicPr>
          <p:nvPr/>
        </p:nvPicPr>
        <p:blipFill>
          <a:blip xmlns:r="http://schemas.openxmlformats.org/officeDocument/2006/relationships" xmlns:a="http://schemas.openxmlformats.org/drawingml/2006/main" r:embed="R4bcad79707c84000"/>
          <a:stretch xmlns:a="http://schemas.openxmlformats.org/drawingml/2006/main"/>
        </p:blipFill>
        <p:spPr>
          <a:xfrm xmlns:a="http://schemas.openxmlformats.org/drawingml/2006/main">
            <a:off x="912807" y="2333625"/>
            <a:ext cx="7518411" cy="3600450"/>
          </a:xfrm>
          <a:prstGeom xmlns:a="http://schemas.openxmlformats.org/drawingml/2006/main" prst="rect">
            <a:avLst/>
          </a:prstGeom>
        </p:spPr>
      </p:pic>
      <p:sp>
        <p:nvSpPr>
          <p:cNvPr id="640009" name="CONV">
            <a:extLst xmlns:a="http://schemas.openxmlformats.org/drawingml/2006/main">
              <a:ext uri="{FF2B5EF4-FFF2-40B4-BE49-F238E27FC236}">
                <a16:creationId xmlns:a16="http://schemas.microsoft.com/office/drawing/2014/main" id="{D163F34C-6C21-4275-A120-C94B2E037FE0}"/>
              </a:ext>
            </a:extLst>
          </p:cNvPr>
          <p:cNvSpPr>
            <a:spLocks xmlns:a="http://schemas.openxmlformats.org/drawingml/2006/main" noGrp="1"/>
          </p:cNvSpPr>
          <p:nvPr/>
        </p:nvSpPr>
        <p:spPr>
          <a:xfrm xmlns:a="http://schemas.openxmlformats.org/drawingml/2006/main">
            <a:off x="9220200" y="2495550"/>
            <a:ext cx="251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CONV</a:t>
            </a:r>
          </a:p>
        </p:txBody>
      </p:sp>
      <p:sp>
        <p:nvSpPr>
          <p:cNvPr id="640010" name="Filtros geram mapas.">
            <a:extLst xmlns:a="http://schemas.openxmlformats.org/drawingml/2006/main">
              <a:ext uri="{FF2B5EF4-FFF2-40B4-BE49-F238E27FC236}">
                <a16:creationId xmlns:a16="http://schemas.microsoft.com/office/drawing/2014/main" id="{09031685-30D1-4F17-9731-23475423EE0A}"/>
              </a:ext>
            </a:extLst>
          </p:cNvPr>
          <p:cNvSpPr>
            <a:spLocks xmlns:a="http://schemas.openxmlformats.org/drawingml/2006/main" noGrp="1"/>
          </p:cNvSpPr>
          <p:nvPr/>
        </p:nvSpPr>
        <p:spPr>
          <a:xfrm xmlns:a="http://schemas.openxmlformats.org/drawingml/2006/main">
            <a:off x="9220200" y="2867025"/>
            <a:ext cx="2514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FFFFFF"/>
                </a:solidFill>
                <a:latin typeface="JetBrains Mono"/>
                <a:ea typeface="JetBrains Mono"/>
                <a:cs typeface="JetBrains Mono"/>
              </a:defRPr>
            </a:pPr>
            <a:r>
              <a:rPr sz="1500" b="0">
                <a:solidFill>
                  <a:srgbClr val="FFFFFF"/>
                </a:solidFill>
                <a:latin typeface="JetBrains Mono"/>
                <a:ea typeface="JetBrains Mono"/>
                <a:cs typeface="JetBrains Mono"/>
              </a:rPr>
              <a:t>Filtros geram mapas.</a:t>
            </a:r>
          </a:p>
        </p:txBody>
      </p:sp>
      <p:sp>
        <p:nvSpPr>
          <p:cNvPr id="640011" name="ReLU">
            <a:extLst xmlns:a="http://schemas.openxmlformats.org/drawingml/2006/main">
              <a:ext uri="{FF2B5EF4-FFF2-40B4-BE49-F238E27FC236}">
                <a16:creationId xmlns:a16="http://schemas.microsoft.com/office/drawing/2014/main" id="{6CB88BC4-3A8E-44BC-B156-4D2FE251EB1B}"/>
              </a:ext>
            </a:extLst>
          </p:cNvPr>
          <p:cNvSpPr>
            <a:spLocks xmlns:a="http://schemas.openxmlformats.org/drawingml/2006/main" noGrp="1"/>
          </p:cNvSpPr>
          <p:nvPr/>
        </p:nvSpPr>
        <p:spPr>
          <a:xfrm xmlns:a="http://schemas.openxmlformats.org/drawingml/2006/main">
            <a:off x="9220200" y="3305175"/>
            <a:ext cx="251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ReLU</a:t>
            </a:r>
          </a:p>
        </p:txBody>
      </p:sp>
      <p:sp>
        <p:nvSpPr>
          <p:cNvPr id="640012" name="Zera negativos.">
            <a:extLst xmlns:a="http://schemas.openxmlformats.org/drawingml/2006/main">
              <a:ext uri="{FF2B5EF4-FFF2-40B4-BE49-F238E27FC236}">
                <a16:creationId xmlns:a16="http://schemas.microsoft.com/office/drawing/2014/main" id="{0833672C-A458-49F3-8C11-942905B5911D}"/>
              </a:ext>
            </a:extLst>
          </p:cNvPr>
          <p:cNvSpPr>
            <a:spLocks xmlns:a="http://schemas.openxmlformats.org/drawingml/2006/main" noGrp="1"/>
          </p:cNvSpPr>
          <p:nvPr/>
        </p:nvSpPr>
        <p:spPr>
          <a:xfrm xmlns:a="http://schemas.openxmlformats.org/drawingml/2006/main">
            <a:off x="9220200" y="3676650"/>
            <a:ext cx="2514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FFFFFF"/>
                </a:solidFill>
                <a:latin typeface="JetBrains Mono"/>
                <a:ea typeface="JetBrains Mono"/>
                <a:cs typeface="JetBrains Mono"/>
              </a:defRPr>
            </a:pPr>
            <a:r>
              <a:rPr sz="1500" b="0">
                <a:solidFill>
                  <a:srgbClr val="FFFFFF"/>
                </a:solidFill>
                <a:latin typeface="JetBrains Mono"/>
                <a:ea typeface="JetBrains Mono"/>
                <a:cs typeface="JetBrains Mono"/>
              </a:rPr>
              <a:t>Zera negativos.</a:t>
            </a:r>
          </a:p>
        </p:txBody>
      </p:sp>
      <p:sp>
        <p:nvSpPr>
          <p:cNvPr id="640013" name="POOL">
            <a:extLst xmlns:a="http://schemas.openxmlformats.org/drawingml/2006/main">
              <a:ext uri="{FF2B5EF4-FFF2-40B4-BE49-F238E27FC236}">
                <a16:creationId xmlns:a16="http://schemas.microsoft.com/office/drawing/2014/main" id="{F4D2A21A-97EE-4368-B1D7-6B86646BDFC1}"/>
              </a:ext>
            </a:extLst>
          </p:cNvPr>
          <p:cNvSpPr>
            <a:spLocks xmlns:a="http://schemas.openxmlformats.org/drawingml/2006/main" noGrp="1"/>
          </p:cNvSpPr>
          <p:nvPr/>
        </p:nvSpPr>
        <p:spPr>
          <a:xfrm xmlns:a="http://schemas.openxmlformats.org/drawingml/2006/main">
            <a:off x="9220200" y="4114800"/>
            <a:ext cx="251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POOL</a:t>
            </a:r>
          </a:p>
        </p:txBody>
      </p:sp>
      <p:sp>
        <p:nvSpPr>
          <p:cNvPr id="640014" name="Reduz a resolução.">
            <a:extLst xmlns:a="http://schemas.openxmlformats.org/drawingml/2006/main">
              <a:ext uri="{FF2B5EF4-FFF2-40B4-BE49-F238E27FC236}">
                <a16:creationId xmlns:a16="http://schemas.microsoft.com/office/drawing/2014/main" id="{F61968DE-F196-48B4-84E1-FF8C0737EA79}"/>
              </a:ext>
            </a:extLst>
          </p:cNvPr>
          <p:cNvSpPr>
            <a:spLocks xmlns:a="http://schemas.openxmlformats.org/drawingml/2006/main" noGrp="1"/>
          </p:cNvSpPr>
          <p:nvPr/>
        </p:nvSpPr>
        <p:spPr>
          <a:xfrm xmlns:a="http://schemas.openxmlformats.org/drawingml/2006/main">
            <a:off x="9220200" y="4486275"/>
            <a:ext cx="2514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FFFFFF"/>
                </a:solidFill>
                <a:latin typeface="JetBrains Mono"/>
                <a:ea typeface="JetBrains Mono"/>
                <a:cs typeface="JetBrains Mono"/>
              </a:defRPr>
            </a:pPr>
            <a:r>
              <a:rPr sz="1500" b="0">
                <a:solidFill>
                  <a:srgbClr val="FFFFFF"/>
                </a:solidFill>
                <a:latin typeface="JetBrains Mono"/>
                <a:ea typeface="JetBrains Mono"/>
                <a:cs typeface="JetBrains Mono"/>
              </a:rPr>
              <a:t>Reduz a resolução.</a:t>
            </a:r>
          </a:p>
        </p:txBody>
      </p:sp>
      <p:sp>
        <p:nvSpPr>
          <p:cNvPr id="640015" name="FC">
            <a:extLst xmlns:a="http://schemas.openxmlformats.org/drawingml/2006/main">
              <a:ext uri="{FF2B5EF4-FFF2-40B4-BE49-F238E27FC236}">
                <a16:creationId xmlns:a16="http://schemas.microsoft.com/office/drawing/2014/main" id="{A10174D2-5EEA-4C50-B31A-2E574A907CC4}"/>
              </a:ext>
            </a:extLst>
          </p:cNvPr>
          <p:cNvSpPr>
            <a:spLocks xmlns:a="http://schemas.openxmlformats.org/drawingml/2006/main" noGrp="1"/>
          </p:cNvSpPr>
          <p:nvPr/>
        </p:nvSpPr>
        <p:spPr>
          <a:xfrm xmlns:a="http://schemas.openxmlformats.org/drawingml/2006/main">
            <a:off x="9220200" y="4924425"/>
            <a:ext cx="251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FC</a:t>
            </a:r>
          </a:p>
        </p:txBody>
      </p:sp>
      <p:sp>
        <p:nvSpPr>
          <p:cNvPr id="640016" name="Combina os mapas.">
            <a:extLst xmlns:a="http://schemas.openxmlformats.org/drawingml/2006/main">
              <a:ext uri="{FF2B5EF4-FFF2-40B4-BE49-F238E27FC236}">
                <a16:creationId xmlns:a16="http://schemas.microsoft.com/office/drawing/2014/main" id="{D1416B6C-9B9E-4151-98E6-196868796AF6}"/>
              </a:ext>
            </a:extLst>
          </p:cNvPr>
          <p:cNvSpPr>
            <a:spLocks xmlns:a="http://schemas.openxmlformats.org/drawingml/2006/main" noGrp="1"/>
          </p:cNvSpPr>
          <p:nvPr/>
        </p:nvSpPr>
        <p:spPr>
          <a:xfrm xmlns:a="http://schemas.openxmlformats.org/drawingml/2006/main">
            <a:off x="9220200" y="5295900"/>
            <a:ext cx="2514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FFFFFF"/>
                </a:solidFill>
                <a:latin typeface="JetBrains Mono"/>
                <a:ea typeface="JetBrains Mono"/>
                <a:cs typeface="JetBrains Mono"/>
              </a:defRPr>
            </a:pPr>
            <a:r>
              <a:rPr sz="1500" b="0">
                <a:solidFill>
                  <a:srgbClr val="FFFFFF"/>
                </a:solidFill>
                <a:latin typeface="JetBrains Mono"/>
                <a:ea typeface="JetBrains Mono"/>
                <a:cs typeface="JetBrains Mono"/>
              </a:rPr>
              <a:t>Combina os mapas.</a:t>
            </a:r>
          </a:p>
        </p:txBody>
      </p:sp>
      <p:sp>
        <p:nvSpPr>
          <p:cNvPr id="640017" name="Figura de classificação de imagens, Stanford CS231n. A aplicação hidro">
            <a:extLst xmlns:a="http://schemas.openxmlformats.org/drawingml/2006/main">
              <a:ext uri="{FF2B5EF4-FFF2-40B4-BE49-F238E27FC236}">
                <a16:creationId xmlns:a16="http://schemas.microsoft.com/office/drawing/2014/main" id="{ECD9EEFD-842F-45F0-AEEB-B5F38BAA831E}"/>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91A4BD"/>
                </a:solidFill>
                <a:latin typeface="JetBrains Mono"/>
                <a:ea typeface="JetBrains Mono"/>
                <a:cs typeface="JetBrains Mono"/>
              </a:defRPr>
            </a:pPr>
            <a:r>
              <a:rPr sz="1050" b="0">
                <a:solidFill>
                  <a:srgbClr val="91A4BD"/>
                </a:solidFill>
                <a:latin typeface="JetBrains Mono"/>
                <a:ea typeface="JetBrains Mono"/>
                <a:cs typeface="JetBrains Mono"/>
              </a:rPr>
              <a:t>Figura de classificação de imagens, Stanford CS231n. A aplicação hidrológica exige outra entrada e outro alvo.</a:t>
            </a:r>
          </a:p>
        </p:txBody>
      </p:sp>
    </p:spTree>
    <p:extLst>
      <p:ext uri="{BB962C8B-B14F-4D97-AF65-F5344CB8AC3E}">
        <p14:creationId xmlns:p14="http://schemas.microsoft.com/office/powerpoint/2010/main" val="3991283715"/>
      </p:ext>
    </p:extLst>
  </p:cSld>
</p:sld>
</file>

<file path=ppt/slides/slide65.xml><?xml version="1.0" encoding="utf-8"?>
<p:sld xmlns:p="http://schemas.openxmlformats.org/presentationml/2006/main">
  <p:cSld>
    <p:spTree>
      <p:nvGrpSpPr>
        <p:cNvPr id="650000" name=""/>
        <p:cNvGrpSpPr/>
        <p:nvPr/>
      </p:nvGrpSpPr>
      <p:grpSpPr>
        <a:xfrm xmlns:a="http://schemas.openxmlformats.org/drawingml/2006/main"/>
      </p:grpSpPr>
      <p:sp>
        <p:nvSpPr>
          <p:cNvPr id="650001" name="Retângulo 6">
            <a:extLst xmlns:a="http://schemas.openxmlformats.org/drawingml/2006/main">
              <a:ext uri="{FF2B5EF4-FFF2-40B4-BE49-F238E27FC236}">
                <a16:creationId xmlns:a16="http://schemas.microsoft.com/office/drawing/2014/main" id="{C95195F4-696F-4803-A898-3B043E7715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50002" name="Imagem 13"/>
          <p:cNvPicPr>
            <a:picLocks xmlns:a="http://schemas.openxmlformats.org/drawingml/2006/main" noChangeAspect="1"/>
          </p:cNvPicPr>
          <p:nvPr/>
        </p:nvPicPr>
        <p:blipFill>
          <a:blip xmlns:r="http://schemas.openxmlformats.org/officeDocument/2006/relationships" xmlns:a="http://schemas.openxmlformats.org/drawingml/2006/main" r:embed="Redbef8212a6f4c37"/>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650003" name="Hydro-UAI IA aplicada à hidrologia">
            <a:extLst xmlns:a="http://schemas.openxmlformats.org/drawingml/2006/main">
              <a:ext uri="{FF2B5EF4-FFF2-40B4-BE49-F238E27FC236}">
                <a16:creationId xmlns:a16="http://schemas.microsoft.com/office/drawing/2014/main" id="{CFFDB8E2-CA98-42BB-AD6B-E6BAE2FC892A}"/>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650004" name="Divisor Hydro-UAI">
            <a:extLst xmlns:a="http://schemas.openxmlformats.org/drawingml/2006/main">
              <a:ext uri="{FF2B5EF4-FFF2-40B4-BE49-F238E27FC236}">
                <a16:creationId xmlns:a16="http://schemas.microsoft.com/office/drawing/2014/main" id="{4EA2E800-4318-4345-8374-49BEC22A0B4C}"/>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650005" name="Hydro-UAI Hydro-UAI Course">
            <a:extLst xmlns:a="http://schemas.openxmlformats.org/drawingml/2006/main">
              <a:ext uri="{FF2B5EF4-FFF2-40B4-BE49-F238E27FC236}">
                <a16:creationId xmlns:a16="http://schemas.microsoft.com/office/drawing/2014/main" id="{5DB919C6-7410-4455-9CB3-FCC398C5847C}"/>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650006" name="Hydro-UAI 02 / 62">
            <a:extLst xmlns:a="http://schemas.openxmlformats.org/drawingml/2006/main">
              <a:ext uri="{FF2B5EF4-FFF2-40B4-BE49-F238E27FC236}">
                <a16:creationId xmlns:a16="http://schemas.microsoft.com/office/drawing/2014/main" id="{9ADB05ED-719B-4C85-BEE3-5BCFB8CD4905}"/>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14 / 68</a:t>
            </a:r>
          </a:p>
        </p:txBody>
      </p:sp>
      <p:sp>
        <p:nvSpPr>
          <p:cNvPr id="650007" name="Max pooling: redução espacial com janelas locais">
            <a:extLst xmlns:a="http://schemas.openxmlformats.org/drawingml/2006/main">
              <a:ext uri="{FF2B5EF4-FFF2-40B4-BE49-F238E27FC236}">
                <a16:creationId xmlns:a16="http://schemas.microsoft.com/office/drawing/2014/main" id="{C44077D4-CC95-4BD0-8924-4888B5A99FFA}"/>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Max pooling: redução espacial com janelas locais</a:t>
            </a:r>
          </a:p>
        </p:txBody>
      </p:sp>
      <p:pic>
        <p:nvPicPr>
          <p:cNvPr id="650008" name=""/>
          <p:cNvPicPr>
            <a:picLocks xmlns:a="http://schemas.openxmlformats.org/drawingml/2006/main" noChangeAspect="1"/>
          </p:cNvPicPr>
          <p:nvPr/>
        </p:nvPicPr>
        <p:blipFill>
          <a:blip xmlns:r="http://schemas.openxmlformats.org/officeDocument/2006/relationships" xmlns:a="http://schemas.openxmlformats.org/drawingml/2006/main" r:embed="Rbaf18a9c0cb54cf5"/>
          <a:stretch xmlns:a="http://schemas.openxmlformats.org/drawingml/2006/main"/>
        </p:blipFill>
        <p:spPr>
          <a:xfrm xmlns:a="http://schemas.openxmlformats.org/drawingml/2006/main">
            <a:off x="457200" y="2374569"/>
            <a:ext cx="7524750" cy="3518562"/>
          </a:xfrm>
          <a:prstGeom xmlns:a="http://schemas.openxmlformats.org/drawingml/2006/main" prst="rect">
            <a:avLst/>
          </a:prstGeom>
        </p:spPr>
      </p:pic>
      <p:sp>
        <p:nvSpPr>
          <p:cNvPr id="650009" name="Janela 2 × 2">
            <a:extLst xmlns:a="http://schemas.openxmlformats.org/drawingml/2006/main">
              <a:ext uri="{FF2B5EF4-FFF2-40B4-BE49-F238E27FC236}">
                <a16:creationId xmlns:a16="http://schemas.microsoft.com/office/drawing/2014/main" id="{28622A1D-8019-4432-9B3E-88764CAA2203}"/>
              </a:ext>
            </a:extLst>
          </p:cNvPr>
          <p:cNvSpPr>
            <a:spLocks xmlns:a="http://schemas.openxmlformats.org/drawingml/2006/main" noGrp="1"/>
          </p:cNvSpPr>
          <p:nvPr/>
        </p:nvSpPr>
        <p:spPr>
          <a:xfrm xmlns:a="http://schemas.openxmlformats.org/drawingml/2006/main">
            <a:off x="8448675" y="249555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Janela 2 × 2</a:t>
            </a:r>
          </a:p>
        </p:txBody>
      </p:sp>
      <p:sp>
        <p:nvSpPr>
          <p:cNvPr id="650010" name="Retém o maior valor.">
            <a:extLst xmlns:a="http://schemas.openxmlformats.org/drawingml/2006/main">
              <a:ext uri="{FF2B5EF4-FFF2-40B4-BE49-F238E27FC236}">
                <a16:creationId xmlns:a16="http://schemas.microsoft.com/office/drawing/2014/main" id="{94C1040F-C53C-4295-AB85-53095A3DE8B3}"/>
              </a:ext>
            </a:extLst>
          </p:cNvPr>
          <p:cNvSpPr>
            <a:spLocks xmlns:a="http://schemas.openxmlformats.org/drawingml/2006/main" noGrp="1"/>
          </p:cNvSpPr>
          <p:nvPr/>
        </p:nvSpPr>
        <p:spPr>
          <a:xfrm xmlns:a="http://schemas.openxmlformats.org/drawingml/2006/main">
            <a:off x="8448675" y="286702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FFFFFF"/>
                </a:solidFill>
                <a:latin typeface="JetBrains Mono"/>
                <a:ea typeface="JetBrains Mono"/>
                <a:cs typeface="JetBrains Mono"/>
              </a:defRPr>
            </a:pPr>
            <a:r>
              <a:rPr sz="1500" b="0">
                <a:solidFill>
                  <a:srgbClr val="FFFFFF"/>
                </a:solidFill>
                <a:latin typeface="JetBrains Mono"/>
                <a:ea typeface="JetBrains Mono"/>
                <a:cs typeface="JetBrains Mono"/>
              </a:rPr>
              <a:t>Retém o maior valor.</a:t>
            </a:r>
          </a:p>
        </p:txBody>
      </p:sp>
      <p:sp>
        <p:nvSpPr>
          <p:cNvPr id="650011" name="Passo 2">
            <a:extLst xmlns:a="http://schemas.openxmlformats.org/drawingml/2006/main">
              <a:ext uri="{FF2B5EF4-FFF2-40B4-BE49-F238E27FC236}">
                <a16:creationId xmlns:a16="http://schemas.microsoft.com/office/drawing/2014/main" id="{2E1673E3-A25A-4FFB-8105-431FB008158E}"/>
              </a:ext>
            </a:extLst>
          </p:cNvPr>
          <p:cNvSpPr>
            <a:spLocks xmlns:a="http://schemas.openxmlformats.org/drawingml/2006/main" noGrp="1"/>
          </p:cNvSpPr>
          <p:nvPr/>
        </p:nvSpPr>
        <p:spPr>
          <a:xfrm xmlns:a="http://schemas.openxmlformats.org/drawingml/2006/main">
            <a:off x="8448675" y="356235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Passo 2</a:t>
            </a:r>
          </a:p>
        </p:txBody>
      </p:sp>
      <p:sp>
        <p:nvSpPr>
          <p:cNvPr id="650012" name="Janelas sem sobreposição.">
            <a:extLst xmlns:a="http://schemas.openxmlformats.org/drawingml/2006/main">
              <a:ext uri="{FF2B5EF4-FFF2-40B4-BE49-F238E27FC236}">
                <a16:creationId xmlns:a16="http://schemas.microsoft.com/office/drawing/2014/main" id="{7DCCE27B-47BE-441F-B544-F05BFCCED9A7}"/>
              </a:ext>
            </a:extLst>
          </p:cNvPr>
          <p:cNvSpPr>
            <a:spLocks xmlns:a="http://schemas.openxmlformats.org/drawingml/2006/main" noGrp="1"/>
          </p:cNvSpPr>
          <p:nvPr/>
        </p:nvSpPr>
        <p:spPr>
          <a:xfrm xmlns:a="http://schemas.openxmlformats.org/drawingml/2006/main">
            <a:off x="8448675" y="393382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FFFFFF"/>
                </a:solidFill>
                <a:latin typeface="JetBrains Mono"/>
                <a:ea typeface="JetBrains Mono"/>
                <a:cs typeface="JetBrains Mono"/>
              </a:defRPr>
            </a:pPr>
            <a:r>
              <a:rPr sz="1500" b="0">
                <a:solidFill>
                  <a:srgbClr val="FFFFFF"/>
                </a:solidFill>
                <a:latin typeface="JetBrains Mono"/>
                <a:ea typeface="JetBrains Mono"/>
                <a:cs typeface="JetBrains Mono"/>
              </a:rPr>
              <a:t>Janelas sem sobreposição.</a:t>
            </a:r>
          </a:p>
        </p:txBody>
      </p:sp>
      <p:sp>
        <p:nvSpPr>
          <p:cNvPr id="650013" name="Grade 4 × 4">
            <a:extLst xmlns:a="http://schemas.openxmlformats.org/drawingml/2006/main">
              <a:ext uri="{FF2B5EF4-FFF2-40B4-BE49-F238E27FC236}">
                <a16:creationId xmlns:a16="http://schemas.microsoft.com/office/drawing/2014/main" id="{F97F56C3-99AD-4CD5-92C4-354C4CDEE1E4}"/>
              </a:ext>
            </a:extLst>
          </p:cNvPr>
          <p:cNvSpPr>
            <a:spLocks xmlns:a="http://schemas.openxmlformats.org/drawingml/2006/main" noGrp="1"/>
          </p:cNvSpPr>
          <p:nvPr/>
        </p:nvSpPr>
        <p:spPr>
          <a:xfrm xmlns:a="http://schemas.openxmlformats.org/drawingml/2006/main">
            <a:off x="8448675" y="462915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Grade 4 × 4</a:t>
            </a:r>
          </a:p>
        </p:txBody>
      </p:sp>
      <p:sp>
        <p:nvSpPr>
          <p:cNvPr id="650014" name="Produz uma grade 2 × 2.">
            <a:extLst xmlns:a="http://schemas.openxmlformats.org/drawingml/2006/main">
              <a:ext uri="{FF2B5EF4-FFF2-40B4-BE49-F238E27FC236}">
                <a16:creationId xmlns:a16="http://schemas.microsoft.com/office/drawing/2014/main" id="{BBBFF4DD-E930-464E-9938-43D68F3F6E7C}"/>
              </a:ext>
            </a:extLst>
          </p:cNvPr>
          <p:cNvSpPr>
            <a:spLocks xmlns:a="http://schemas.openxmlformats.org/drawingml/2006/main" noGrp="1"/>
          </p:cNvSpPr>
          <p:nvPr/>
        </p:nvSpPr>
        <p:spPr>
          <a:xfrm xmlns:a="http://schemas.openxmlformats.org/drawingml/2006/main">
            <a:off x="8448675" y="500062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FFFFFF"/>
                </a:solidFill>
                <a:latin typeface="JetBrains Mono"/>
                <a:ea typeface="JetBrains Mono"/>
                <a:cs typeface="JetBrains Mono"/>
              </a:defRPr>
            </a:pPr>
            <a:r>
              <a:rPr sz="1500" b="0">
                <a:solidFill>
                  <a:srgbClr val="FFFFFF"/>
                </a:solidFill>
                <a:latin typeface="JetBrains Mono"/>
                <a:ea typeface="JetBrains Mono"/>
                <a:cs typeface="JetBrains Mono"/>
              </a:rPr>
              <a:t>Produz uma grade 2 × 2.</a:t>
            </a:r>
          </a:p>
        </p:txBody>
      </p:sp>
      <p:sp>
        <p:nvSpPr>
          <p:cNvPr id="650015" name="Esquema: Stanford CS231n. Valores são ativações. Pooling não represent">
            <a:extLst xmlns:a="http://schemas.openxmlformats.org/drawingml/2006/main">
              <a:ext uri="{FF2B5EF4-FFF2-40B4-BE49-F238E27FC236}">
                <a16:creationId xmlns:a16="http://schemas.microsoft.com/office/drawing/2014/main" id="{6335C72D-405D-4B3B-A5BC-ED532E3C49B2}"/>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91A4BD"/>
                </a:solidFill>
                <a:latin typeface="JetBrains Mono"/>
                <a:ea typeface="JetBrains Mono"/>
                <a:cs typeface="JetBrains Mono"/>
              </a:defRPr>
            </a:pPr>
            <a:r>
              <a:rPr sz="1050" b="0">
                <a:solidFill>
                  <a:srgbClr val="91A4BD"/>
                </a:solidFill>
                <a:latin typeface="JetBrains Mono"/>
                <a:ea typeface="JetBrains Mono"/>
                <a:cs typeface="JetBrains Mono"/>
              </a:rPr>
              <a:t>Esquema: Stanford CS231n. Valores são ativações. Pooling não representa conservação de volume.</a:t>
            </a:r>
          </a:p>
        </p:txBody>
      </p:sp>
    </p:spTree>
    <p:extLst>
      <p:ext uri="{BB962C8B-B14F-4D97-AF65-F5344CB8AC3E}">
        <p14:creationId xmlns:p14="http://schemas.microsoft.com/office/powerpoint/2010/main" val="3991283715"/>
      </p:ext>
    </p:extLst>
  </p:cSld>
</p:sld>
</file>

<file path=ppt/slides/slide66.xml><?xml version="1.0" encoding="utf-8"?>
<p:sld xmlns:p="http://schemas.openxmlformats.org/presentationml/2006/main">
  <p:cSld>
    <p:spTree>
      <p:nvGrpSpPr>
        <p:cNvPr id="660000" name=""/>
        <p:cNvGrpSpPr/>
        <p:nvPr/>
      </p:nvGrpSpPr>
      <p:grpSpPr>
        <a:xfrm xmlns:a="http://schemas.openxmlformats.org/drawingml/2006/main"/>
      </p:grpSpPr>
      <p:sp>
        <p:nvSpPr>
          <p:cNvPr id="660001" name="Retângulo 6">
            <a:extLst xmlns:a="http://schemas.openxmlformats.org/drawingml/2006/main">
              <a:ext uri="{FF2B5EF4-FFF2-40B4-BE49-F238E27FC236}">
                <a16:creationId xmlns:a16="http://schemas.microsoft.com/office/drawing/2014/main" id="{66A0CE51-9DFE-427F-A4AD-19A8A9FE80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60002" name="Imagem 13"/>
          <p:cNvPicPr>
            <a:picLocks xmlns:a="http://schemas.openxmlformats.org/drawingml/2006/main" noChangeAspect="1"/>
          </p:cNvPicPr>
          <p:nvPr/>
        </p:nvPicPr>
        <p:blipFill>
          <a:blip xmlns:r="http://schemas.openxmlformats.org/officeDocument/2006/relationships" xmlns:a="http://schemas.openxmlformats.org/drawingml/2006/main" r:embed="Rdc26a7aeb1f0492a"/>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660003" name="Hydro-UAI IA aplicada à hidrologia">
            <a:extLst xmlns:a="http://schemas.openxmlformats.org/drawingml/2006/main">
              <a:ext uri="{FF2B5EF4-FFF2-40B4-BE49-F238E27FC236}">
                <a16:creationId xmlns:a16="http://schemas.microsoft.com/office/drawing/2014/main" id="{D7FAF866-3B50-46CD-B1A6-87E1C54221C3}"/>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660004" name="Divisor Hydro-UAI">
            <a:extLst xmlns:a="http://schemas.openxmlformats.org/drawingml/2006/main">
              <a:ext uri="{FF2B5EF4-FFF2-40B4-BE49-F238E27FC236}">
                <a16:creationId xmlns:a16="http://schemas.microsoft.com/office/drawing/2014/main" id="{0DD844E7-DEDC-48C3-90B8-272BD0830EB8}"/>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660005" name="Hydro-UAI Hydro-UAI Course">
            <a:extLst xmlns:a="http://schemas.openxmlformats.org/drawingml/2006/main">
              <a:ext uri="{FF2B5EF4-FFF2-40B4-BE49-F238E27FC236}">
                <a16:creationId xmlns:a16="http://schemas.microsoft.com/office/drawing/2014/main" id="{9006059F-DD72-4687-A835-5C2C02EDBBEF}"/>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660006" name="Hydro-UAI 02 / 62">
            <a:extLst xmlns:a="http://schemas.openxmlformats.org/drawingml/2006/main">
              <a:ext uri="{FF2B5EF4-FFF2-40B4-BE49-F238E27FC236}">
                <a16:creationId xmlns:a16="http://schemas.microsoft.com/office/drawing/2014/main" id="{6E985B5C-9F32-4C50-A075-DE66CF30452A}"/>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18 / 68</a:t>
            </a:r>
          </a:p>
        </p:txBody>
      </p:sp>
      <p:sp>
        <p:nvSpPr>
          <p:cNvPr id="660007" name="U-Net: a arquitetura clássica de segmentação">
            <a:extLst xmlns:a="http://schemas.openxmlformats.org/drawingml/2006/main">
              <a:ext uri="{FF2B5EF4-FFF2-40B4-BE49-F238E27FC236}">
                <a16:creationId xmlns:a16="http://schemas.microsoft.com/office/drawing/2014/main" id="{DE7C8740-9C2D-4794-86D4-6B0E194963BB}"/>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U-Net: a arquitetura clássica de segmentação</a:t>
            </a:r>
          </a:p>
        </p:txBody>
      </p:sp>
      <p:pic>
        <p:nvPicPr>
          <p:cNvPr id="660008" name=""/>
          <p:cNvPicPr>
            <a:picLocks xmlns:a="http://schemas.openxmlformats.org/drawingml/2006/main" noChangeAspect="1"/>
          </p:cNvPicPr>
          <p:nvPr/>
        </p:nvPicPr>
        <p:blipFill>
          <a:blip xmlns:r="http://schemas.openxmlformats.org/officeDocument/2006/relationships" xmlns:a="http://schemas.openxmlformats.org/drawingml/2006/main" r:embed="R63362bf67e5b452d"/>
          <a:stretch xmlns:a="http://schemas.openxmlformats.org/drawingml/2006/main"/>
        </p:blipFill>
        <p:spPr>
          <a:xfrm xmlns:a="http://schemas.openxmlformats.org/drawingml/2006/main">
            <a:off x="757895" y="2352675"/>
            <a:ext cx="5361260" cy="3571875"/>
          </a:xfrm>
          <a:prstGeom xmlns:a="http://schemas.openxmlformats.org/drawingml/2006/main" prst="rect">
            <a:avLst/>
          </a:prstGeom>
        </p:spPr>
      </p:pic>
      <p:sp>
        <p:nvSpPr>
          <p:cNvPr id="660009" name="Encoder">
            <a:extLst xmlns:a="http://schemas.openxmlformats.org/drawingml/2006/main">
              <a:ext uri="{FF2B5EF4-FFF2-40B4-BE49-F238E27FC236}">
                <a16:creationId xmlns:a16="http://schemas.microsoft.com/office/drawing/2014/main" id="{4C03FB97-6356-4B55-957D-86953A53F76C}"/>
              </a:ext>
            </a:extLst>
          </p:cNvPr>
          <p:cNvSpPr>
            <a:spLocks xmlns:a="http://schemas.openxmlformats.org/drawingml/2006/main" noGrp="1"/>
          </p:cNvSpPr>
          <p:nvPr/>
        </p:nvSpPr>
        <p:spPr>
          <a:xfrm xmlns:a="http://schemas.openxmlformats.org/drawingml/2006/main">
            <a:off x="6800850" y="2495550"/>
            <a:ext cx="493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Encoder</a:t>
            </a:r>
          </a:p>
        </p:txBody>
      </p:sp>
      <p:sp>
        <p:nvSpPr>
          <p:cNvPr id="660010" name="Reduz a resolução&#10;e amplia o contexto.">
            <a:extLst xmlns:a="http://schemas.openxmlformats.org/drawingml/2006/main">
              <a:ext uri="{FF2B5EF4-FFF2-40B4-BE49-F238E27FC236}">
                <a16:creationId xmlns:a16="http://schemas.microsoft.com/office/drawing/2014/main" id="{54DFD4C8-3FA6-481A-A6E6-908D2C3402F3}"/>
              </a:ext>
            </a:extLst>
          </p:cNvPr>
          <p:cNvSpPr>
            <a:spLocks xmlns:a="http://schemas.openxmlformats.org/drawingml/2006/main" noGrp="1"/>
          </p:cNvSpPr>
          <p:nvPr/>
        </p:nvSpPr>
        <p:spPr>
          <a:xfrm xmlns:a="http://schemas.openxmlformats.org/drawingml/2006/main">
            <a:off x="6800850" y="2867025"/>
            <a:ext cx="4933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FFFFFF"/>
                </a:solidFill>
                <a:latin typeface="JetBrains Mono"/>
                <a:ea typeface="JetBrains Mono"/>
                <a:cs typeface="JetBrains Mono"/>
              </a:defRPr>
            </a:pPr>
            <a:r>
              <a:rPr sz="1500" b="0">
                <a:solidFill>
                  <a:srgbClr val="FFFFFF"/>
                </a:solidFill>
                <a:latin typeface="JetBrains Mono"/>
                <a:ea typeface="JetBrains Mono"/>
                <a:cs typeface="JetBrains Mono"/>
              </a:rPr>
              <a:t>Reduz a resolução</a:t>
            </a:r>
          </a:p>
          <a:p xmlns:a="http://schemas.openxmlformats.org/drawingml/2006/main">
            <a:pPr>
              <a:defRPr sz="1500" b="0">
                <a:solidFill>
                  <a:srgbClr val="FFFFFF"/>
                </a:solidFill>
                <a:latin typeface="JetBrains Mono"/>
                <a:ea typeface="JetBrains Mono"/>
                <a:cs typeface="JetBrains Mono"/>
              </a:defRPr>
            </a:pPr>
            <a:r>
              <a:rPr sz="1500" b="0">
                <a:solidFill>
                  <a:srgbClr val="FFFFFF"/>
                </a:solidFill>
                <a:latin typeface="JetBrains Mono"/>
                <a:ea typeface="JetBrains Mono"/>
                <a:cs typeface="JetBrains Mono"/>
              </a:rPr>
              <a:t>e amplia o contexto.</a:t>
            </a:r>
          </a:p>
        </p:txBody>
      </p:sp>
      <p:sp>
        <p:nvSpPr>
          <p:cNvPr id="660011" name="Conexões de salto">
            <a:extLst xmlns:a="http://schemas.openxmlformats.org/drawingml/2006/main">
              <a:ext uri="{FF2B5EF4-FFF2-40B4-BE49-F238E27FC236}">
                <a16:creationId xmlns:a16="http://schemas.microsoft.com/office/drawing/2014/main" id="{1D32A864-4AEA-48CC-BBD0-556956F262E6}"/>
              </a:ext>
            </a:extLst>
          </p:cNvPr>
          <p:cNvSpPr>
            <a:spLocks xmlns:a="http://schemas.openxmlformats.org/drawingml/2006/main" noGrp="1"/>
          </p:cNvSpPr>
          <p:nvPr/>
        </p:nvSpPr>
        <p:spPr>
          <a:xfrm xmlns:a="http://schemas.openxmlformats.org/drawingml/2006/main">
            <a:off x="6800850" y="3562350"/>
            <a:ext cx="493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Conexões de salto</a:t>
            </a:r>
          </a:p>
        </p:txBody>
      </p:sp>
      <p:sp>
        <p:nvSpPr>
          <p:cNvPr id="660012" name="Copiam características&#10;para o decoder.">
            <a:extLst xmlns:a="http://schemas.openxmlformats.org/drawingml/2006/main">
              <a:ext uri="{FF2B5EF4-FFF2-40B4-BE49-F238E27FC236}">
                <a16:creationId xmlns:a16="http://schemas.microsoft.com/office/drawing/2014/main" id="{A8BCC886-510B-4838-A63F-91E0982D6F94}"/>
              </a:ext>
            </a:extLst>
          </p:cNvPr>
          <p:cNvSpPr>
            <a:spLocks xmlns:a="http://schemas.openxmlformats.org/drawingml/2006/main" noGrp="1"/>
          </p:cNvSpPr>
          <p:nvPr/>
        </p:nvSpPr>
        <p:spPr>
          <a:xfrm xmlns:a="http://schemas.openxmlformats.org/drawingml/2006/main">
            <a:off x="6800850" y="3933825"/>
            <a:ext cx="4933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FFFFFF"/>
                </a:solidFill>
                <a:latin typeface="JetBrains Mono"/>
                <a:ea typeface="JetBrains Mono"/>
                <a:cs typeface="JetBrains Mono"/>
              </a:defRPr>
            </a:pPr>
            <a:r>
              <a:rPr sz="1500" b="0">
                <a:solidFill>
                  <a:srgbClr val="FFFFFF"/>
                </a:solidFill>
                <a:latin typeface="JetBrains Mono"/>
                <a:ea typeface="JetBrains Mono"/>
                <a:cs typeface="JetBrains Mono"/>
              </a:rPr>
              <a:t>Copiam características</a:t>
            </a:r>
          </a:p>
          <a:p xmlns:a="http://schemas.openxmlformats.org/drawingml/2006/main">
            <a:pPr>
              <a:defRPr sz="1500" b="0">
                <a:solidFill>
                  <a:srgbClr val="FFFFFF"/>
                </a:solidFill>
                <a:latin typeface="JetBrains Mono"/>
                <a:ea typeface="JetBrains Mono"/>
                <a:cs typeface="JetBrains Mono"/>
              </a:defRPr>
            </a:pPr>
            <a:r>
              <a:rPr sz="1500" b="0">
                <a:solidFill>
                  <a:srgbClr val="FFFFFF"/>
                </a:solidFill>
                <a:latin typeface="JetBrains Mono"/>
                <a:ea typeface="JetBrains Mono"/>
                <a:cs typeface="JetBrains Mono"/>
              </a:rPr>
              <a:t>para o decoder.</a:t>
            </a:r>
          </a:p>
        </p:txBody>
      </p:sp>
      <p:sp>
        <p:nvSpPr>
          <p:cNvPr id="660013" name="Decoder">
            <a:extLst xmlns:a="http://schemas.openxmlformats.org/drawingml/2006/main">
              <a:ext uri="{FF2B5EF4-FFF2-40B4-BE49-F238E27FC236}">
                <a16:creationId xmlns:a16="http://schemas.microsoft.com/office/drawing/2014/main" id="{73AC7ABA-0451-48A1-94EA-B0E71FE91C8A}"/>
              </a:ext>
            </a:extLst>
          </p:cNvPr>
          <p:cNvSpPr>
            <a:spLocks xmlns:a="http://schemas.openxmlformats.org/drawingml/2006/main" noGrp="1"/>
          </p:cNvSpPr>
          <p:nvPr/>
        </p:nvSpPr>
        <p:spPr>
          <a:xfrm xmlns:a="http://schemas.openxmlformats.org/drawingml/2006/main">
            <a:off x="6800850" y="4629150"/>
            <a:ext cx="493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Decoder</a:t>
            </a:r>
          </a:p>
        </p:txBody>
      </p:sp>
      <p:sp>
        <p:nvSpPr>
          <p:cNvPr id="660014" name="Recupera a localização&#10;para classificar pixels.">
            <a:extLst xmlns:a="http://schemas.openxmlformats.org/drawingml/2006/main">
              <a:ext uri="{FF2B5EF4-FFF2-40B4-BE49-F238E27FC236}">
                <a16:creationId xmlns:a16="http://schemas.microsoft.com/office/drawing/2014/main" id="{1BC5FE70-AD9A-4BDC-94DB-D078BB93322D}"/>
              </a:ext>
            </a:extLst>
          </p:cNvPr>
          <p:cNvSpPr>
            <a:spLocks xmlns:a="http://schemas.openxmlformats.org/drawingml/2006/main" noGrp="1"/>
          </p:cNvSpPr>
          <p:nvPr/>
        </p:nvSpPr>
        <p:spPr>
          <a:xfrm xmlns:a="http://schemas.openxmlformats.org/drawingml/2006/main">
            <a:off x="6800850" y="5000625"/>
            <a:ext cx="4933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FFFFFF"/>
                </a:solidFill>
                <a:latin typeface="JetBrains Mono"/>
                <a:ea typeface="JetBrains Mono"/>
                <a:cs typeface="JetBrains Mono"/>
              </a:defRPr>
            </a:pPr>
            <a:r>
              <a:rPr sz="1500" b="0">
                <a:solidFill>
                  <a:srgbClr val="FFFFFF"/>
                </a:solidFill>
                <a:latin typeface="JetBrains Mono"/>
                <a:ea typeface="JetBrains Mono"/>
                <a:cs typeface="JetBrains Mono"/>
              </a:rPr>
              <a:t>Recupera a localização</a:t>
            </a:r>
          </a:p>
          <a:p xmlns:a="http://schemas.openxmlformats.org/drawingml/2006/main">
            <a:pPr>
              <a:defRPr sz="1500" b="0">
                <a:solidFill>
                  <a:srgbClr val="FFFFFF"/>
                </a:solidFill>
                <a:latin typeface="JetBrains Mono"/>
                <a:ea typeface="JetBrains Mono"/>
                <a:cs typeface="JetBrains Mono"/>
              </a:defRPr>
            </a:pPr>
            <a:r>
              <a:rPr sz="1500" b="0">
                <a:solidFill>
                  <a:srgbClr val="FFFFFF"/>
                </a:solidFill>
                <a:latin typeface="JetBrains Mono"/>
                <a:ea typeface="JetBrains Mono"/>
                <a:cs typeface="JetBrains Mono"/>
              </a:rPr>
              <a:t>para classificar pixels.</a:t>
            </a:r>
          </a:p>
        </p:txBody>
      </p:sp>
      <p:sp>
        <p:nvSpPr>
          <p:cNvPr id="660015" name="Ronneberger, Fischer e Brox (2015). Figura original de segmentação bio">
            <a:extLst xmlns:a="http://schemas.openxmlformats.org/drawingml/2006/main">
              <a:ext uri="{FF2B5EF4-FFF2-40B4-BE49-F238E27FC236}">
                <a16:creationId xmlns:a16="http://schemas.microsoft.com/office/drawing/2014/main" id="{070B27B9-7620-4E4F-817E-460C1820687D}"/>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91A4BD"/>
                </a:solidFill>
                <a:latin typeface="JetBrains Mono"/>
                <a:ea typeface="JetBrains Mono"/>
                <a:cs typeface="JetBrains Mono"/>
              </a:defRPr>
            </a:pPr>
            <a:r>
              <a:rPr sz="1050" b="0">
                <a:solidFill>
                  <a:srgbClr val="91A4BD"/>
                </a:solidFill>
                <a:latin typeface="JetBrains Mono"/>
                <a:ea typeface="JetBrains Mono"/>
                <a:cs typeface="JetBrains Mono"/>
              </a:rPr>
              <a:t>Ronneberger, Fischer e Brox (2015). Figura original de segmentação biomédica.</a:t>
            </a:r>
          </a:p>
        </p:txBody>
      </p:sp>
    </p:spTree>
    <p:extLst>
      <p:ext uri="{BB962C8B-B14F-4D97-AF65-F5344CB8AC3E}">
        <p14:creationId xmlns:p14="http://schemas.microsoft.com/office/powerpoint/2010/main" val="3991283715"/>
      </p:ext>
    </p:extLst>
  </p:cSld>
</p:sld>
</file>

<file path=ppt/slides/slide67.xml><?xml version="1.0" encoding="utf-8"?>
<p:sld xmlns:p="http://schemas.openxmlformats.org/presentationml/2006/main">
  <p:cSld>
    <p:spTree>
      <p:nvGrpSpPr>
        <p:cNvPr id="670000" name=""/>
        <p:cNvGrpSpPr/>
        <p:nvPr/>
      </p:nvGrpSpPr>
      <p:grpSpPr>
        <a:xfrm xmlns:a="http://schemas.openxmlformats.org/drawingml/2006/main"/>
      </p:grpSpPr>
      <p:sp>
        <p:nvSpPr>
          <p:cNvPr id="670001" name="Retângulo 6">
            <a:extLst xmlns:a="http://schemas.openxmlformats.org/drawingml/2006/main">
              <a:ext uri="{FF2B5EF4-FFF2-40B4-BE49-F238E27FC236}">
                <a16:creationId xmlns:a16="http://schemas.microsoft.com/office/drawing/2014/main" id="{98B2935A-9005-4A7D-85FD-85A7549EB49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70002" name="Imagem 13"/>
          <p:cNvPicPr>
            <a:picLocks xmlns:a="http://schemas.openxmlformats.org/drawingml/2006/main" noChangeAspect="1"/>
          </p:cNvPicPr>
          <p:nvPr/>
        </p:nvPicPr>
        <p:blipFill>
          <a:blip xmlns:r="http://schemas.openxmlformats.org/officeDocument/2006/relationships" xmlns:a="http://schemas.openxmlformats.org/drawingml/2006/main" r:embed="R18beedb91b1048df"/>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670003" name="Hydro-UAI IA aplicada à hidrologia">
            <a:extLst xmlns:a="http://schemas.openxmlformats.org/drawingml/2006/main">
              <a:ext uri="{FF2B5EF4-FFF2-40B4-BE49-F238E27FC236}">
                <a16:creationId xmlns:a16="http://schemas.microsoft.com/office/drawing/2014/main" id="{8CD71C6E-A7FF-4BA5-9AA3-92941F9AAEE7}"/>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convolucionais</a:t>
            </a:r>
          </a:p>
        </p:txBody>
      </p:sp>
      <p:sp>
        <p:nvSpPr>
          <p:cNvPr id="670004" name="Divisor Hydro-UAI">
            <a:extLst xmlns:a="http://schemas.openxmlformats.org/drawingml/2006/main">
              <a:ext uri="{FF2B5EF4-FFF2-40B4-BE49-F238E27FC236}">
                <a16:creationId xmlns:a16="http://schemas.microsoft.com/office/drawing/2014/main" id="{29BFF017-DE90-40AB-86D3-481D9DBD64EA}"/>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670005" name="Hydro-UAI Hydro-UAI Course">
            <a:extLst xmlns:a="http://schemas.openxmlformats.org/drawingml/2006/main">
              <a:ext uri="{FF2B5EF4-FFF2-40B4-BE49-F238E27FC236}">
                <a16:creationId xmlns:a16="http://schemas.microsoft.com/office/drawing/2014/main" id="{9279A636-6D0B-4CFE-8F1A-D85EA037D426}"/>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670006" name="Hydro-UAI 02 / 62">
            <a:extLst xmlns:a="http://schemas.openxmlformats.org/drawingml/2006/main">
              <a:ext uri="{FF2B5EF4-FFF2-40B4-BE49-F238E27FC236}">
                <a16:creationId xmlns:a16="http://schemas.microsoft.com/office/drawing/2014/main" id="{2AA722CA-6392-4FD4-8DB7-E7041D1A4DAA}"/>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19 / 68</a:t>
            </a:r>
          </a:p>
        </p:txBody>
      </p:sp>
      <p:sp>
        <p:nvSpPr>
          <p:cNvPr id="670007" name="Mapeamento de inundação: imagem e rótulo por pixel">
            <a:extLst xmlns:a="http://schemas.openxmlformats.org/drawingml/2006/main">
              <a:ext uri="{FF2B5EF4-FFF2-40B4-BE49-F238E27FC236}">
                <a16:creationId xmlns:a16="http://schemas.microsoft.com/office/drawing/2014/main" id="{0E87F1FA-54E0-4F53-8B39-5EFF47A4B168}"/>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Mapeamento de inundação: imagem e rótulo por pixel</a:t>
            </a:r>
          </a:p>
        </p:txBody>
      </p:sp>
      <p:pic>
        <p:nvPicPr>
          <p:cNvPr id="670008" name=""/>
          <p:cNvPicPr>
            <a:picLocks xmlns:a="http://schemas.openxmlformats.org/drawingml/2006/main" noChangeAspect="1"/>
          </p:cNvPicPr>
          <p:nvPr/>
        </p:nvPicPr>
        <p:blipFill>
          <a:blip xmlns:r="http://schemas.openxmlformats.org/officeDocument/2006/relationships" xmlns:a="http://schemas.openxmlformats.org/drawingml/2006/main" r:embed="Rff0c775a11a54367"/>
          <a:srcRect xmlns:a="http://schemas.openxmlformats.org/drawingml/2006/main" l="4900" t="68400" r="47600" b="5500"/>
          <a:stretch xmlns:a="http://schemas.openxmlformats.org/drawingml/2006/main"/>
        </p:blipFill>
        <p:spPr>
          <a:xfrm xmlns:a="http://schemas.openxmlformats.org/drawingml/2006/main">
            <a:off x="457200" y="2933700"/>
            <a:ext cx="8572500" cy="2667000"/>
          </a:xfrm>
          <a:prstGeom xmlns:a="http://schemas.openxmlformats.org/drawingml/2006/main" prst="rect">
            <a:avLst/>
          </a:prstGeom>
        </p:spPr>
      </p:pic>
      <p:sp>
        <p:nvSpPr>
          <p:cNvPr id="670009" name="Imagem aérea">
            <a:extLst xmlns:a="http://schemas.openxmlformats.org/drawingml/2006/main">
              <a:ext uri="{FF2B5EF4-FFF2-40B4-BE49-F238E27FC236}">
                <a16:creationId xmlns:a16="http://schemas.microsoft.com/office/drawing/2014/main" id="{033214C5-9093-490E-94DF-FD3380799D7C}"/>
              </a:ext>
            </a:extLst>
          </p:cNvPr>
          <p:cNvSpPr>
            <a:spLocks xmlns:a="http://schemas.openxmlformats.org/drawingml/2006/main" noGrp="1"/>
          </p:cNvSpPr>
          <p:nvPr/>
        </p:nvSpPr>
        <p:spPr>
          <a:xfrm xmlns:a="http://schemas.openxmlformats.org/drawingml/2006/main">
            <a:off x="457200" y="255270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Imagem aérea</a:t>
            </a:r>
          </a:p>
        </p:txBody>
      </p:sp>
      <p:sp>
        <p:nvSpPr>
          <p:cNvPr id="670010" name="Máscara de referência">
            <a:extLst xmlns:a="http://schemas.openxmlformats.org/drawingml/2006/main">
              <a:ext uri="{FF2B5EF4-FFF2-40B4-BE49-F238E27FC236}">
                <a16:creationId xmlns:a16="http://schemas.microsoft.com/office/drawing/2014/main" id="{712E8EFE-A952-44F3-8469-225147CDFE02}"/>
              </a:ext>
            </a:extLst>
          </p:cNvPr>
          <p:cNvSpPr>
            <a:spLocks xmlns:a="http://schemas.openxmlformats.org/drawingml/2006/main" noGrp="1"/>
          </p:cNvSpPr>
          <p:nvPr/>
        </p:nvSpPr>
        <p:spPr>
          <a:xfrm xmlns:a="http://schemas.openxmlformats.org/drawingml/2006/main">
            <a:off x="5048250" y="255270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83DFFF"/>
                </a:solidFill>
                <a:latin typeface="JetBrains Mono"/>
                <a:ea typeface="JetBrains Mono"/>
                <a:cs typeface="JetBrains Mono"/>
              </a:defRPr>
            </a:pPr>
            <a:r>
              <a:rPr sz="1650" b="1">
                <a:solidFill>
                  <a:srgbClr val="83DFFF"/>
                </a:solidFill>
                <a:latin typeface="JetBrains Mono"/>
                <a:ea typeface="JetBrains Mono"/>
                <a:cs typeface="JetBrains Mono"/>
              </a:rPr>
              <a:t>Máscara de referência</a:t>
            </a:r>
          </a:p>
        </p:txBody>
      </p:sp>
      <p:sp>
        <p:nvSpPr>
          <p:cNvPr id="670011" name="Cor da classe Água">
            <a:extLst xmlns:a="http://schemas.openxmlformats.org/drawingml/2006/main">
              <a:ext uri="{FF2B5EF4-FFF2-40B4-BE49-F238E27FC236}">
                <a16:creationId xmlns:a16="http://schemas.microsoft.com/office/drawing/2014/main" id="{3D08C28F-609B-4102-8905-E45F06730E2B}"/>
              </a:ext>
            </a:extLst>
          </p:cNvPr>
          <p:cNvSpPr>
            <a:spLocks xmlns:a="http://schemas.openxmlformats.org/drawingml/2006/main" noGrp="1"/>
          </p:cNvSpPr>
          <p:nvPr/>
        </p:nvSpPr>
        <p:spPr>
          <a:xfrm xmlns:a="http://schemas.openxmlformats.org/drawingml/2006/main">
            <a:off x="9391650" y="3124200"/>
            <a:ext cx="171450" cy="171450"/>
          </a:xfrm>
          <a:prstGeom xmlns:a="http://schemas.openxmlformats.org/drawingml/2006/main" prst="rect">
            <a:avLst/>
          </a:prstGeom>
          <a:solidFill xmlns:a="http://schemas.openxmlformats.org/drawingml/2006/main">
            <a:srgbClr val="00FFFF"/>
          </a:solidFill>
          <a:ln xmlns:a="http://schemas.openxmlformats.org/drawingml/2006/main" w="0">
            <a:noFill/>
          </a:ln>
        </p:spPr>
      </p:sp>
      <p:sp>
        <p:nvSpPr>
          <p:cNvPr id="670012" name="Água">
            <a:extLst xmlns:a="http://schemas.openxmlformats.org/drawingml/2006/main">
              <a:ext uri="{FF2B5EF4-FFF2-40B4-BE49-F238E27FC236}">
                <a16:creationId xmlns:a16="http://schemas.microsoft.com/office/drawing/2014/main" id="{840AB7A1-6896-45E2-9D4B-1DE13004D7DA}"/>
              </a:ext>
            </a:extLst>
          </p:cNvPr>
          <p:cNvSpPr>
            <a:spLocks xmlns:a="http://schemas.openxmlformats.org/drawingml/2006/main" noGrp="1"/>
          </p:cNvSpPr>
          <p:nvPr/>
        </p:nvSpPr>
        <p:spPr>
          <a:xfrm xmlns:a="http://schemas.openxmlformats.org/drawingml/2006/main">
            <a:off x="9658350" y="3067050"/>
            <a:ext cx="2076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FFFFF"/>
                </a:solidFill>
                <a:latin typeface="JetBrains Mono"/>
                <a:ea typeface="JetBrains Mono"/>
                <a:cs typeface="JetBrains Mono"/>
              </a:defRPr>
            </a:pPr>
            <a:r>
              <a:rPr sz="1500" b="1">
                <a:solidFill>
                  <a:srgbClr val="FFFFFF"/>
                </a:solidFill>
                <a:latin typeface="JetBrains Mono"/>
                <a:ea typeface="JetBrains Mono"/>
                <a:cs typeface="JetBrains Mono"/>
              </a:rPr>
              <a:t>Água</a:t>
            </a:r>
          </a:p>
        </p:txBody>
      </p:sp>
      <p:sp>
        <p:nvSpPr>
          <p:cNvPr id="670013" name="Cor da classe Edifício inundado">
            <a:extLst xmlns:a="http://schemas.openxmlformats.org/drawingml/2006/main">
              <a:ext uri="{FF2B5EF4-FFF2-40B4-BE49-F238E27FC236}">
                <a16:creationId xmlns:a16="http://schemas.microsoft.com/office/drawing/2014/main" id="{B9A3BEB8-F1CC-41CE-91A5-B07148FE69B8}"/>
              </a:ext>
            </a:extLst>
          </p:cNvPr>
          <p:cNvSpPr>
            <a:spLocks xmlns:a="http://schemas.openxmlformats.org/drawingml/2006/main" noGrp="1"/>
          </p:cNvSpPr>
          <p:nvPr/>
        </p:nvSpPr>
        <p:spPr>
          <a:xfrm xmlns:a="http://schemas.openxmlformats.org/drawingml/2006/main">
            <a:off x="9391650" y="3676650"/>
            <a:ext cx="171450" cy="171450"/>
          </a:xfrm>
          <a:prstGeom xmlns:a="http://schemas.openxmlformats.org/drawingml/2006/main" prst="rect">
            <a:avLst/>
          </a:prstGeom>
          <a:solidFill xmlns:a="http://schemas.openxmlformats.org/drawingml/2006/main">
            <a:srgbClr val="FF0000"/>
          </a:solidFill>
          <a:ln xmlns:a="http://schemas.openxmlformats.org/drawingml/2006/main" w="0">
            <a:noFill/>
          </a:ln>
        </p:spPr>
      </p:sp>
      <p:sp>
        <p:nvSpPr>
          <p:cNvPr id="670014" name="Edifício inundado">
            <a:extLst xmlns:a="http://schemas.openxmlformats.org/drawingml/2006/main">
              <a:ext uri="{FF2B5EF4-FFF2-40B4-BE49-F238E27FC236}">
                <a16:creationId xmlns:a16="http://schemas.microsoft.com/office/drawing/2014/main" id="{2183F6F4-13A0-4A48-8BE6-24DD5BCCEE98}"/>
              </a:ext>
            </a:extLst>
          </p:cNvPr>
          <p:cNvSpPr>
            <a:spLocks xmlns:a="http://schemas.openxmlformats.org/drawingml/2006/main" noGrp="1"/>
          </p:cNvSpPr>
          <p:nvPr/>
        </p:nvSpPr>
        <p:spPr>
          <a:xfrm xmlns:a="http://schemas.openxmlformats.org/drawingml/2006/main">
            <a:off x="9658350" y="3619500"/>
            <a:ext cx="2076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FFFFF"/>
                </a:solidFill>
                <a:latin typeface="JetBrains Mono"/>
                <a:ea typeface="JetBrains Mono"/>
                <a:cs typeface="JetBrains Mono"/>
              </a:defRPr>
            </a:pPr>
            <a:r>
              <a:rPr sz="1500" b="1">
                <a:solidFill>
                  <a:srgbClr val="FFFFFF"/>
                </a:solidFill>
                <a:latin typeface="JetBrains Mono"/>
                <a:ea typeface="JetBrains Mono"/>
                <a:cs typeface="JetBrains Mono"/>
              </a:rPr>
              <a:t>Edifício inundado</a:t>
            </a:r>
          </a:p>
        </p:txBody>
      </p:sp>
      <p:sp>
        <p:nvSpPr>
          <p:cNvPr id="670015" name="Cor da classe Gramínea">
            <a:extLst xmlns:a="http://schemas.openxmlformats.org/drawingml/2006/main">
              <a:ext uri="{FF2B5EF4-FFF2-40B4-BE49-F238E27FC236}">
                <a16:creationId xmlns:a16="http://schemas.microsoft.com/office/drawing/2014/main" id="{1B488B0B-951D-4FDB-86CD-74C8449E7A92}"/>
              </a:ext>
            </a:extLst>
          </p:cNvPr>
          <p:cNvSpPr>
            <a:spLocks xmlns:a="http://schemas.openxmlformats.org/drawingml/2006/main" noGrp="1"/>
          </p:cNvSpPr>
          <p:nvPr/>
        </p:nvSpPr>
        <p:spPr>
          <a:xfrm xmlns:a="http://schemas.openxmlformats.org/drawingml/2006/main">
            <a:off x="9391650" y="4229100"/>
            <a:ext cx="171450" cy="171450"/>
          </a:xfrm>
          <a:prstGeom xmlns:a="http://schemas.openxmlformats.org/drawingml/2006/main" prst="rect">
            <a:avLst/>
          </a:prstGeom>
          <a:solidFill xmlns:a="http://schemas.openxmlformats.org/drawingml/2006/main">
            <a:srgbClr val="00FF00"/>
          </a:solidFill>
          <a:ln xmlns:a="http://schemas.openxmlformats.org/drawingml/2006/main" w="0">
            <a:noFill/>
          </a:ln>
        </p:spPr>
      </p:sp>
      <p:sp>
        <p:nvSpPr>
          <p:cNvPr id="670016" name="Gramínea">
            <a:extLst xmlns:a="http://schemas.openxmlformats.org/drawingml/2006/main">
              <a:ext uri="{FF2B5EF4-FFF2-40B4-BE49-F238E27FC236}">
                <a16:creationId xmlns:a16="http://schemas.microsoft.com/office/drawing/2014/main" id="{C55D506B-6D60-4AF4-87B2-6C716A022615}"/>
              </a:ext>
            </a:extLst>
          </p:cNvPr>
          <p:cNvSpPr>
            <a:spLocks xmlns:a="http://schemas.openxmlformats.org/drawingml/2006/main" noGrp="1"/>
          </p:cNvSpPr>
          <p:nvPr/>
        </p:nvSpPr>
        <p:spPr>
          <a:xfrm xmlns:a="http://schemas.openxmlformats.org/drawingml/2006/main">
            <a:off x="9658350" y="4171950"/>
            <a:ext cx="2076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FFFFF"/>
                </a:solidFill>
                <a:latin typeface="JetBrains Mono"/>
                <a:ea typeface="JetBrains Mono"/>
                <a:cs typeface="JetBrains Mono"/>
              </a:defRPr>
            </a:pPr>
            <a:r>
              <a:rPr sz="1500" b="1">
                <a:solidFill>
                  <a:srgbClr val="FFFFFF"/>
                </a:solidFill>
                <a:latin typeface="JetBrains Mono"/>
                <a:ea typeface="JetBrains Mono"/>
                <a:cs typeface="JetBrains Mono"/>
              </a:rPr>
              <a:t>Gramínea</a:t>
            </a:r>
          </a:p>
        </p:txBody>
      </p:sp>
      <p:sp>
        <p:nvSpPr>
          <p:cNvPr id="670017" name="Cor da classe Árvores">
            <a:extLst xmlns:a="http://schemas.openxmlformats.org/drawingml/2006/main">
              <a:ext uri="{FF2B5EF4-FFF2-40B4-BE49-F238E27FC236}">
                <a16:creationId xmlns:a16="http://schemas.microsoft.com/office/drawing/2014/main" id="{648A9EE9-C7EF-42D6-ABAA-D019A4E68E30}"/>
              </a:ext>
            </a:extLst>
          </p:cNvPr>
          <p:cNvSpPr>
            <a:spLocks xmlns:a="http://schemas.openxmlformats.org/drawingml/2006/main" noGrp="1"/>
          </p:cNvSpPr>
          <p:nvPr/>
        </p:nvSpPr>
        <p:spPr>
          <a:xfrm xmlns:a="http://schemas.openxmlformats.org/drawingml/2006/main">
            <a:off x="9391650" y="4781550"/>
            <a:ext cx="171450" cy="171450"/>
          </a:xfrm>
          <a:prstGeom xmlns:a="http://schemas.openxmlformats.org/drawingml/2006/main" prst="rect">
            <a:avLst/>
          </a:prstGeom>
          <a:solidFill xmlns:a="http://schemas.openxmlformats.org/drawingml/2006/main">
            <a:srgbClr val="0000FF"/>
          </a:solidFill>
          <a:ln xmlns:a="http://schemas.openxmlformats.org/drawingml/2006/main" w="0">
            <a:noFill/>
          </a:ln>
        </p:spPr>
      </p:sp>
      <p:sp>
        <p:nvSpPr>
          <p:cNvPr id="670018" name="Árvores">
            <a:extLst xmlns:a="http://schemas.openxmlformats.org/drawingml/2006/main">
              <a:ext uri="{FF2B5EF4-FFF2-40B4-BE49-F238E27FC236}">
                <a16:creationId xmlns:a16="http://schemas.microsoft.com/office/drawing/2014/main" id="{95024729-1FC4-48D9-B917-9E9ADCF71292}"/>
              </a:ext>
            </a:extLst>
          </p:cNvPr>
          <p:cNvSpPr>
            <a:spLocks xmlns:a="http://schemas.openxmlformats.org/drawingml/2006/main" noGrp="1"/>
          </p:cNvSpPr>
          <p:nvPr/>
        </p:nvSpPr>
        <p:spPr>
          <a:xfrm xmlns:a="http://schemas.openxmlformats.org/drawingml/2006/main">
            <a:off x="9658350" y="4724400"/>
            <a:ext cx="2076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FFFFF"/>
                </a:solidFill>
                <a:latin typeface="JetBrains Mono"/>
                <a:ea typeface="JetBrains Mono"/>
                <a:cs typeface="JetBrains Mono"/>
              </a:defRPr>
            </a:pPr>
            <a:r>
              <a:rPr sz="1500" b="1">
                <a:solidFill>
                  <a:srgbClr val="FFFFFF"/>
                </a:solidFill>
                <a:latin typeface="JetBrains Mono"/>
                <a:ea typeface="JetBrains Mono"/>
                <a:cs typeface="JetBrains Mono"/>
              </a:rPr>
              <a:t>Árvores</a:t>
            </a:r>
          </a:p>
        </p:txBody>
      </p:sp>
      <p:sp>
        <p:nvSpPr>
          <p:cNvPr id="670019" name="O modelo aprende a estimar a classe de cada pixel.">
            <a:extLst xmlns:a="http://schemas.openxmlformats.org/drawingml/2006/main">
              <a:ext uri="{FF2B5EF4-FFF2-40B4-BE49-F238E27FC236}">
                <a16:creationId xmlns:a16="http://schemas.microsoft.com/office/drawing/2014/main" id="{DF74993B-B190-42D3-ADA4-B94FE127FE4B}"/>
              </a:ext>
            </a:extLst>
          </p:cNvPr>
          <p:cNvSpPr>
            <a:spLocks xmlns:a="http://schemas.openxmlformats.org/drawingml/2006/main" noGrp="1"/>
          </p:cNvSpPr>
          <p:nvPr/>
        </p:nvSpPr>
        <p:spPr>
          <a:xfrm xmlns:a="http://schemas.openxmlformats.org/drawingml/2006/main">
            <a:off x="457200" y="5724525"/>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83DFFF"/>
                </a:solidFill>
                <a:latin typeface="JetBrains Mono"/>
                <a:ea typeface="JetBrains Mono"/>
                <a:cs typeface="JetBrains Mono"/>
              </a:defRPr>
            </a:pPr>
            <a:r>
              <a:rPr sz="1575" b="0">
                <a:solidFill>
                  <a:srgbClr val="83DFFF"/>
                </a:solidFill>
                <a:latin typeface="JetBrains Mono"/>
                <a:ea typeface="JetBrains Mono"/>
                <a:cs typeface="JetBrains Mono"/>
              </a:rPr>
              <a:t>O modelo aprende a estimar a classe de cada pixel.</a:t>
            </a:r>
          </a:p>
        </p:txBody>
      </p:sp>
      <p:sp>
        <p:nvSpPr>
          <p:cNvPr id="670020" name="FloodNet, Rahnemoonfar et al. (2021). Recorte da amostra oficial. A má">
            <a:extLst xmlns:a="http://schemas.openxmlformats.org/drawingml/2006/main">
              <a:ext uri="{FF2B5EF4-FFF2-40B4-BE49-F238E27FC236}">
                <a16:creationId xmlns:a16="http://schemas.microsoft.com/office/drawing/2014/main" id="{C52370BD-4BF8-4D56-9260-628121CF4F01}"/>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91A4BD"/>
                </a:solidFill>
                <a:latin typeface="JetBrains Mono"/>
                <a:ea typeface="JetBrains Mono"/>
                <a:cs typeface="JetBrains Mono"/>
              </a:defRPr>
            </a:pPr>
            <a:r>
              <a:rPr sz="1050" b="0">
                <a:solidFill>
                  <a:srgbClr val="91A4BD"/>
                </a:solidFill>
                <a:latin typeface="JetBrains Mono"/>
                <a:ea typeface="JetBrains Mono"/>
                <a:cs typeface="JetBrains Mono"/>
              </a:rPr>
              <a:t>FloodNet, Rahnemoonfar et al. (2021). Recorte da amostra oficial. A máscara é uma anotação de referência.</a:t>
            </a:r>
          </a:p>
        </p:txBody>
      </p:sp>
    </p:spTree>
    <p:extLst>
      <p:ext uri="{BB962C8B-B14F-4D97-AF65-F5344CB8AC3E}">
        <p14:creationId xmlns:p14="http://schemas.microsoft.com/office/powerpoint/2010/main" val="3991283715"/>
      </p:ext>
    </p:extLst>
  </p:cSld>
</p:sld>
</file>

<file path=ppt/slides/slide68.xml><?xml version="1.0" encoding="utf-8"?>
<p:sld xmlns:p="http://schemas.openxmlformats.org/presentationml/2006/main">
  <p:cSld>
    <p:spTree>
      <p:nvGrpSpPr>
        <p:cNvPr id="680000" name=""/>
        <p:cNvGrpSpPr/>
        <p:nvPr/>
      </p:nvGrpSpPr>
      <p:grpSpPr>
        <a:xfrm xmlns:a="http://schemas.openxmlformats.org/drawingml/2006/main"/>
      </p:grpSpPr>
      <p:sp>
        <p:nvSpPr>
          <p:cNvPr id="680001" name="Retângulo 6">
            <a:extLst xmlns:a="http://schemas.openxmlformats.org/drawingml/2006/main">
              <a:ext uri="{FF2B5EF4-FFF2-40B4-BE49-F238E27FC236}">
                <a16:creationId xmlns:a16="http://schemas.microsoft.com/office/drawing/2014/main" id="{744032A1-E3C8-4D81-A10D-AF9D7EE0BE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80002" name="Imagem 13"/>
          <p:cNvPicPr>
            <a:picLocks xmlns:a="http://schemas.openxmlformats.org/drawingml/2006/main" noChangeAspect="1"/>
          </p:cNvPicPr>
          <p:nvPr/>
        </p:nvPicPr>
        <p:blipFill>
          <a:blip xmlns:r="http://schemas.openxmlformats.org/officeDocument/2006/relationships" xmlns:a="http://schemas.openxmlformats.org/drawingml/2006/main" r:embed="Re00c1ad6478b430c"/>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680003" name="Hydro-UAI IA aplicada à hidrologia">
            <a:extLst xmlns:a="http://schemas.openxmlformats.org/drawingml/2006/main">
              <a:ext uri="{FF2B5EF4-FFF2-40B4-BE49-F238E27FC236}">
                <a16:creationId xmlns:a16="http://schemas.microsoft.com/office/drawing/2014/main" id="{0151F886-1900-4285-945F-FAA74FE6C929}"/>
              </a:ext>
            </a:extLst>
          </p:cNvPr>
          <p:cNvSpPr>
            <a:spLocks xmlns:a="http://schemas.openxmlformats.org/drawingml/2006/main" noGrp="1"/>
          </p:cNvSpPr>
          <p:nvPr/>
        </p:nvSpPr>
        <p:spPr>
          <a:xfrm xmlns:a="http://schemas.openxmlformats.org/drawingml/2006/main">
            <a:off x="453676" y="741617"/>
            <a:ext cx="11284553" cy="485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Explicabilidade</a:t>
            </a:r>
          </a:p>
        </p:txBody>
      </p:sp>
      <p:sp>
        <p:nvSpPr>
          <p:cNvPr id="680004" name="Divisor Hydro-UAI">
            <a:extLst xmlns:a="http://schemas.openxmlformats.org/drawingml/2006/main">
              <a:ext uri="{FF2B5EF4-FFF2-40B4-BE49-F238E27FC236}">
                <a16:creationId xmlns:a16="http://schemas.microsoft.com/office/drawing/2014/main" id="{863871F6-A608-49B4-9088-EFD98EA78877}"/>
              </a:ext>
            </a:extLst>
          </p:cNvPr>
          <p:cNvSpPr>
            <a:spLocks xmlns:a="http://schemas.openxmlformats.org/drawingml/2006/main" noGrp="1"/>
          </p:cNvSpPr>
          <p:nvPr/>
        </p:nvSpPr>
        <p:spPr>
          <a:xfrm xmlns:a="http://schemas.openxmlformats.org/drawingml/2006/main">
            <a:off x="0" y="1308259"/>
            <a:ext cx="12192000" cy="0"/>
          </a:xfrm>
          <a:prstGeom xmlns:a="http://schemas.openxmlformats.org/drawingml/2006/main" prst="line">
            <a:avLst/>
          </a:prstGeom>
          <a:noFill xmlns:a="http://schemas.openxmlformats.org/drawingml/2006/main"/>
          <a:ln xmlns:a="http://schemas.openxmlformats.org/drawingml/2006/main" w="12668">
            <a:solidFill>
              <a:srgbClr val="FFFFFF"/>
            </a:solidFill>
          </a:ln>
        </p:spPr>
      </p:sp>
      <p:sp>
        <p:nvSpPr>
          <p:cNvPr id="680005" name="Hydro-UAI Hydro-UAI Course">
            <a:extLst xmlns:a="http://schemas.openxmlformats.org/drawingml/2006/main">
              <a:ext uri="{FF2B5EF4-FFF2-40B4-BE49-F238E27FC236}">
                <a16:creationId xmlns:a16="http://schemas.microsoft.com/office/drawing/2014/main" id="{C4B774B7-2B1F-4864-9470-38C231081211}"/>
              </a:ext>
            </a:extLst>
          </p:cNvPr>
          <p:cNvSpPr>
            <a:spLocks xmlns:a="http://schemas.openxmlformats.org/drawingml/2006/main" noGrp="1"/>
          </p:cNvSpPr>
          <p:nvPr/>
        </p:nvSpPr>
        <p:spPr>
          <a:xfrm xmlns:a="http://schemas.openxmlformats.org/drawingml/2006/main">
            <a:off x="847725" y="6343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680006" name="Hydro-UAI 02 / 62">
            <a:extLst xmlns:a="http://schemas.openxmlformats.org/drawingml/2006/main">
              <a:ext uri="{FF2B5EF4-FFF2-40B4-BE49-F238E27FC236}">
                <a16:creationId xmlns:a16="http://schemas.microsoft.com/office/drawing/2014/main" id="{B307A0C5-6779-4908-906B-A266B4A97F52}"/>
              </a:ext>
            </a:extLst>
          </p:cNvPr>
          <p:cNvSpPr>
            <a:spLocks xmlns:a="http://schemas.openxmlformats.org/drawingml/2006/main" noGrp="1"/>
          </p:cNvSpPr>
          <p:nvPr/>
        </p:nvSpPr>
        <p:spPr>
          <a:xfrm xmlns:a="http://schemas.openxmlformats.org/drawingml/2006/main">
            <a:off x="10515600" y="63436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i="0">
                <a:solidFill>
                  <a:srgbClr val="91A4BD"/>
                </a:solidFill>
                <a:latin typeface="JetBrains Mono"/>
                <a:ea typeface="JetBrains Mono"/>
                <a:cs typeface="JetBrains Mono"/>
              </a:defRPr>
            </a:pPr>
            <a:r>
              <a:rPr sz="975" b="0" i="0">
                <a:solidFill>
                  <a:srgbClr val="91A4BD"/>
                </a:solidFill>
                <a:latin typeface="JetBrains Mono"/>
                <a:ea typeface="JetBrains Mono"/>
                <a:cs typeface="JetBrains Mono"/>
              </a:rPr>
              <a:t>31 / 68</a:t>
            </a:r>
          </a:p>
        </p:txBody>
      </p:sp>
      <p:sp>
        <p:nvSpPr>
          <p:cNvPr id="680007" name="Grad-CAM: o fluxo de uma explicação visual">
            <a:extLst xmlns:a="http://schemas.openxmlformats.org/drawingml/2006/main">
              <a:ext uri="{FF2B5EF4-FFF2-40B4-BE49-F238E27FC236}">
                <a16:creationId xmlns:a16="http://schemas.microsoft.com/office/drawing/2014/main" id="{DCDC61D9-6AFC-4831-B800-71EEF22AD8EA}"/>
              </a:ext>
            </a:extLst>
          </p:cNvPr>
          <p:cNvSpPr>
            <a:spLocks xmlns:a="http://schemas.openxmlformats.org/drawingml/2006/main" noGrp="1"/>
          </p:cNvSpPr>
          <p:nvPr/>
        </p:nvSpPr>
        <p:spPr>
          <a:xfrm xmlns:a="http://schemas.openxmlformats.org/drawingml/2006/main">
            <a:off x="457200" y="1790700"/>
            <a:ext cx="11277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FFFFFF"/>
                </a:solidFill>
                <a:latin typeface="JetBrains Mono"/>
                <a:ea typeface="JetBrains Mono"/>
                <a:cs typeface="JetBrains Mono"/>
              </a:defRPr>
            </a:pPr>
            <a:r>
              <a:rPr sz="2025" b="1">
                <a:solidFill>
                  <a:srgbClr val="FFFFFF"/>
                </a:solidFill>
                <a:latin typeface="JetBrains Mono"/>
                <a:ea typeface="JetBrains Mono"/>
                <a:cs typeface="JetBrains Mono"/>
              </a:rPr>
              <a:t>Grad-CAM: o fluxo de uma explicação visual</a:t>
            </a:r>
          </a:p>
        </p:txBody>
      </p:sp>
      <p:pic>
        <p:nvPicPr>
          <p:cNvPr id="680008" name=""/>
          <p:cNvPicPr>
            <a:picLocks xmlns:a="http://schemas.openxmlformats.org/drawingml/2006/main" noChangeAspect="1"/>
          </p:cNvPicPr>
          <p:nvPr/>
        </p:nvPicPr>
        <p:blipFill>
          <a:blip xmlns:r="http://schemas.openxmlformats.org/officeDocument/2006/relationships" xmlns:a="http://schemas.openxmlformats.org/drawingml/2006/main" r:embed="R4658a271c46c44ec"/>
          <a:stretch xmlns:a="http://schemas.openxmlformats.org/drawingml/2006/main"/>
        </p:blipFill>
        <p:spPr>
          <a:xfrm xmlns:a="http://schemas.openxmlformats.org/drawingml/2006/main">
            <a:off x="1446770" y="2352675"/>
            <a:ext cx="9298459" cy="3333750"/>
          </a:xfrm>
          <a:prstGeom xmlns:a="http://schemas.openxmlformats.org/drawingml/2006/main" prst="rect">
            <a:avLst/>
          </a:prstGeom>
        </p:spPr>
      </p:pic>
      <p:sp>
        <p:nvSpPr>
          <p:cNvPr id="680009" name="O alvo selecionado define os gradientes e o mapa de relevância.">
            <a:extLst xmlns:a="http://schemas.openxmlformats.org/drawingml/2006/main">
              <a:ext uri="{FF2B5EF4-FFF2-40B4-BE49-F238E27FC236}">
                <a16:creationId xmlns:a16="http://schemas.microsoft.com/office/drawing/2014/main" id="{3E3E0D65-B8F3-4236-98BE-A652A05B37C3}"/>
              </a:ext>
            </a:extLst>
          </p:cNvPr>
          <p:cNvSpPr>
            <a:spLocks xmlns:a="http://schemas.openxmlformats.org/drawingml/2006/main" noGrp="1"/>
          </p:cNvSpPr>
          <p:nvPr/>
        </p:nvSpPr>
        <p:spPr>
          <a:xfrm xmlns:a="http://schemas.openxmlformats.org/drawingml/2006/main">
            <a:off x="457200" y="5762625"/>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83DFFF"/>
                </a:solidFill>
                <a:latin typeface="JetBrains Mono"/>
                <a:ea typeface="JetBrains Mono"/>
                <a:cs typeface="JetBrains Mono"/>
              </a:defRPr>
            </a:pPr>
            <a:r>
              <a:rPr sz="1500" b="0">
                <a:solidFill>
                  <a:srgbClr val="83DFFF"/>
                </a:solidFill>
                <a:latin typeface="JetBrains Mono"/>
                <a:ea typeface="JetBrains Mono"/>
                <a:cs typeface="JetBrains Mono"/>
              </a:rPr>
              <a:t>O alvo selecionado define os gradientes e o mapa de relevância.</a:t>
            </a:r>
          </a:p>
        </p:txBody>
      </p:sp>
      <p:sp>
        <p:nvSpPr>
          <p:cNvPr id="680010" name="Selvaraju et al. (2017), figura 2. Exemplo original em visão computaci">
            <a:extLst xmlns:a="http://schemas.openxmlformats.org/drawingml/2006/main">
              <a:ext uri="{FF2B5EF4-FFF2-40B4-BE49-F238E27FC236}">
                <a16:creationId xmlns:a16="http://schemas.microsoft.com/office/drawing/2014/main" id="{442459DA-3C98-4C8D-84DF-4D950F45184E}"/>
              </a:ext>
            </a:extLst>
          </p:cNvPr>
          <p:cNvSpPr>
            <a:spLocks xmlns:a="http://schemas.openxmlformats.org/drawingml/2006/main" noGrp="1"/>
          </p:cNvSpPr>
          <p:nvPr/>
        </p:nvSpPr>
        <p:spPr>
          <a:xfrm xmlns:a="http://schemas.openxmlformats.org/drawingml/2006/main">
            <a:off x="457200" y="602932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91A4BD"/>
                </a:solidFill>
                <a:latin typeface="JetBrains Mono"/>
                <a:ea typeface="JetBrains Mono"/>
                <a:cs typeface="JetBrains Mono"/>
              </a:defRPr>
            </a:pPr>
            <a:r>
              <a:rPr sz="1050" b="0">
                <a:solidFill>
                  <a:srgbClr val="91A4BD"/>
                </a:solidFill>
                <a:latin typeface="JetBrains Mono"/>
                <a:ea typeface="JetBrains Mono"/>
                <a:cs typeface="JetBrains Mono"/>
              </a:rPr>
              <a:t>Selvaraju et al. (2017), figura 2. Exemplo original em visão computacional.</a:t>
            </a:r>
          </a:p>
        </p:txBody>
      </p:sp>
    </p:spTree>
    <p:extLst>
      <p:ext uri="{BB962C8B-B14F-4D97-AF65-F5344CB8AC3E}">
        <p14:creationId xmlns:p14="http://schemas.microsoft.com/office/powerpoint/2010/main" val="3991283715"/>
      </p:ext>
    </p:extLst>
  </p:cSld>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68</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2026-10-07T18:53:05.6930000Z</dcterms:created>
  <dcterms:modified xsi:type="dcterms:W3CDTF">2026-10-07T18:53:05.6930000Z</dcterms:modified>
</coreProperties>
</file>